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ca288ab2-c61d-c366-68a5-59e0182e7a75}">
          <p14:sldIdLst>
            <p14:sldId id="256"/>
            <p14:sldId id="257"/>
            <p14:sldId id="258"/>
          </p14:sldIdLst>
        </p14:section>
        <p14:section name="L2 데이터링크 계층" id="{a9125e93-6685-fc42-61a4-cce63d66aaa4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L3 네트워크 계층" id="{a9518527-87b6-f759-fd04-59e97f3b4286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L4 전송 계층" id="{ff6d99e8-ca87-a855-98dd-02983881f8fa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L7 응용 계층" id="{4deb7077-b2d7-bcbb-b678-b28192edcb1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정리" id="{54a9ffb3-fb0d-fcc2-7807-7596747328f3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TCP/IP 프로토콜 패킷 헤더 구조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L2 ~ L7 주요 프로토콜 13종 · 필드 단위 정리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캡슐화: 계층을 내려가며 헤더가 앞에 붙는다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송신 측은 위에서 아래로 헤더를 추가하고, 수신 측은 아래에서 위로 헤더를 벗겨낸다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응용 (L7)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데이터</a:t>
            </a:r>
            <a:endParaRPr lang="en-US" sz="1600" dirty="0"/>
          </a:p>
        </p:txBody>
      </p:sp>
      <p:sp>
        <p:nvSpPr>
          <p:cNvPr id="5" name="enc-0-data"/>
          <p:cNvSpPr/>
          <p:nvPr/>
        </p:nvSpPr>
        <p:spPr>
          <a:xfrm>
            <a:off x="7040880" y="1691640"/>
            <a:ext cx="310896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691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데이터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전송 (L4)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세그먼트</a:t>
            </a:r>
            <a:endParaRPr lang="en-US" sz="1600" dirty="0"/>
          </a:p>
        </p:txBody>
      </p:sp>
      <p:sp>
        <p:nvSpPr>
          <p:cNvPr id="8" name="enc-1-h0"/>
          <p:cNvSpPr/>
          <p:nvPr/>
        </p:nvSpPr>
        <p:spPr>
          <a:xfrm>
            <a:off x="5577840" y="274320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2743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TCP/UDP 헤더</a:t>
            </a:r>
            <a:endParaRPr lang="en-US" sz="1400" dirty="0"/>
          </a:p>
        </p:txBody>
      </p:sp>
      <p:sp>
        <p:nvSpPr>
          <p:cNvPr id="10" name="enc-1-data"/>
          <p:cNvSpPr/>
          <p:nvPr/>
        </p:nvSpPr>
        <p:spPr>
          <a:xfrm>
            <a:off x="7040880" y="2743200"/>
            <a:ext cx="310896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2743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데이터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네트워크 (L3)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패킷</a:t>
            </a:r>
            <a:endParaRPr lang="en-US" sz="1600" dirty="0"/>
          </a:p>
        </p:txBody>
      </p:sp>
      <p:sp>
        <p:nvSpPr>
          <p:cNvPr id="13" name="enc-2-h0"/>
          <p:cNvSpPr/>
          <p:nvPr/>
        </p:nvSpPr>
        <p:spPr>
          <a:xfrm>
            <a:off x="4114800" y="379476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37947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 헤더</a:t>
            </a:r>
            <a:endParaRPr lang="en-US" sz="1400" dirty="0"/>
          </a:p>
        </p:txBody>
      </p:sp>
      <p:sp>
        <p:nvSpPr>
          <p:cNvPr id="15" name="enc-2-h1"/>
          <p:cNvSpPr/>
          <p:nvPr/>
        </p:nvSpPr>
        <p:spPr>
          <a:xfrm>
            <a:off x="5577840" y="379476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37947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TCP/UDP 헤더</a:t>
            </a:r>
            <a:endParaRPr lang="en-US" sz="1400" dirty="0"/>
          </a:p>
        </p:txBody>
      </p:sp>
      <p:sp>
        <p:nvSpPr>
          <p:cNvPr id="17" name="enc-2-data"/>
          <p:cNvSpPr/>
          <p:nvPr/>
        </p:nvSpPr>
        <p:spPr>
          <a:xfrm>
            <a:off x="7040880" y="3794760"/>
            <a:ext cx="310896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3794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데이터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46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데이터링크 (L2)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프레임</a:t>
            </a:r>
            <a:endParaRPr lang="en-US" sz="1600" dirty="0"/>
          </a:p>
        </p:txBody>
      </p:sp>
      <p:sp>
        <p:nvSpPr>
          <p:cNvPr id="20" name="enc-3-h0"/>
          <p:cNvSpPr/>
          <p:nvPr/>
        </p:nvSpPr>
        <p:spPr>
          <a:xfrm>
            <a:off x="2651760" y="484632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4846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Ethernet 헤더</a:t>
            </a:r>
            <a:endParaRPr lang="en-US" sz="1400" dirty="0"/>
          </a:p>
        </p:txBody>
      </p:sp>
      <p:sp>
        <p:nvSpPr>
          <p:cNvPr id="22" name="enc-3-h1"/>
          <p:cNvSpPr/>
          <p:nvPr/>
        </p:nvSpPr>
        <p:spPr>
          <a:xfrm>
            <a:off x="4114800" y="484632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4846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 헤더</a:t>
            </a:r>
            <a:endParaRPr lang="en-US" sz="1400" dirty="0"/>
          </a:p>
        </p:txBody>
      </p:sp>
      <p:sp>
        <p:nvSpPr>
          <p:cNvPr id="24" name="enc-3-h2"/>
          <p:cNvSpPr/>
          <p:nvPr/>
        </p:nvSpPr>
        <p:spPr>
          <a:xfrm>
            <a:off x="5577840" y="4846320"/>
            <a:ext cx="146304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48463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TCP/UDP 헤더</a:t>
            </a:r>
            <a:endParaRPr lang="en-US" sz="1400" dirty="0"/>
          </a:p>
        </p:txBody>
      </p:sp>
      <p:sp>
        <p:nvSpPr>
          <p:cNvPr id="26" name="enc-3-data"/>
          <p:cNvSpPr/>
          <p:nvPr/>
        </p:nvSpPr>
        <p:spPr>
          <a:xfrm>
            <a:off x="7040880" y="4846320"/>
            <a:ext cx="310896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4846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데이터</a:t>
            </a:r>
            <a:endParaRPr lang="en-US" sz="1400" dirty="0"/>
          </a:p>
        </p:txBody>
      </p:sp>
      <p:sp>
        <p:nvSpPr>
          <p:cNvPr id="28" name="enc-fcs"/>
          <p:cNvSpPr/>
          <p:nvPr/>
        </p:nvSpPr>
        <p:spPr>
          <a:xfrm>
            <a:off x="10149840" y="4846320"/>
            <a:ext cx="9144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0" y="48463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FCS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FCS(Frame Check Sequence)는 데이터링크 계층에서만 프레임 뒤에 붙는 트레일러입니다.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 자료에서 다루는 프로토콜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계층별 13종 · 각 프로토콜마다 헤더 구조도와 필드 설명을 이어서 제시</a:t>
            </a:r>
            <a:endParaRPr lang="en-US" sz="1400" dirty="0"/>
          </a:p>
        </p:txBody>
      </p:sp>
      <p:sp>
        <p:nvSpPr>
          <p:cNvPr id="4" name="map-card-0"/>
          <p:cNvSpPr/>
          <p:nvPr/>
        </p:nvSpPr>
        <p:spPr>
          <a:xfrm>
            <a:off x="457200" y="1600200"/>
            <a:ext cx="260604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240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L2 데이터링크 계층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Ethernet II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LAN 프레임 전달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802.1Q VLAN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VLAN 태그 삽입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IP → MAC 주소 해석</a:t>
            </a:r>
            <a:endParaRPr lang="en-US" sz="1600" dirty="0"/>
          </a:p>
        </p:txBody>
      </p:sp>
      <p:sp>
        <p:nvSpPr>
          <p:cNvPr id="6" name="map-card-1"/>
          <p:cNvSpPr/>
          <p:nvPr/>
        </p:nvSpPr>
        <p:spPr>
          <a:xfrm>
            <a:off x="3337560" y="1600200"/>
            <a:ext cx="260604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240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L3 네트워크 계층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IPv4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32비트 주소 라우팅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IPv6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128비트 주소 라우팅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ICMP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오류 보고 · ping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IGMP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멀티캐스트 그룹 관리</a:t>
            </a:r>
            <a:endParaRPr lang="en-US" sz="1600" dirty="0"/>
          </a:p>
        </p:txBody>
      </p:sp>
      <p:sp>
        <p:nvSpPr>
          <p:cNvPr id="8" name="map-card-2"/>
          <p:cNvSpPr/>
          <p:nvPr/>
        </p:nvSpPr>
        <p:spPr>
          <a:xfrm>
            <a:off x="6217920" y="1600200"/>
            <a:ext cx="260604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783080"/>
            <a:ext cx="2240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L4 전송 계층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TCP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연결형 · 신뢰성 전송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UDP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비연결형 · 경량 전송</a:t>
            </a:r>
            <a:endParaRPr lang="en-US" sz="1600" dirty="0"/>
          </a:p>
        </p:txBody>
      </p:sp>
      <p:sp>
        <p:nvSpPr>
          <p:cNvPr id="10" name="map-card-3"/>
          <p:cNvSpPr/>
          <p:nvPr/>
        </p:nvSpPr>
        <p:spPr>
          <a:xfrm>
            <a:off x="9098280" y="1600200"/>
            <a:ext cx="260604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81160" y="1783080"/>
            <a:ext cx="2240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L7 응용 계층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DNS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도메인 → IP 조회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DHCP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IP 주소 자동 할당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TLS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암호화 통신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웹 요청 · 응답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L2 데이터링크 계층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Ethernet II · 802.1Q VLAN · ARP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Ethernet II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데이터링크 · 헤더 14B + FCS 4B · 앞에 프리앰블 7B+SFD 1B(캡처에는 표시되지 않음)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3" name="g-1-1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46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49" name="g-3-0"/>
          <p:cNvSpPr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EtherType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51" name="g-3-1"/>
          <p:cNvSpPr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46–1500B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54" name="g-4-0"/>
          <p:cNvSpPr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FCS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" y="475488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Ethernet II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 장비 MAC. FF:FF:FF:FF:FF:FF = 브로드캐스트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장비 MAC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EtherType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0x0800 IPv4 · 0x0806 ARP · 0x86DD IPv6 · 0x8100 VLAN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46–1500B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상위 패킷(IP 등), 46~1500B (MTU)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FCS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CRC-32 프레임 오류 검출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802.1Q VLAN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데이터링크 · 출발지 MAC 뒤에 4바이트 VLAN 태그 삽입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3" name="g-1-1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46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49" name="g-3-0"/>
          <p:cNvSpPr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TPID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51" name="g-3-1"/>
          <p:cNvSpPr/>
          <p:nvPr/>
        </p:nvSpPr>
        <p:spPr>
          <a:xfrm>
            <a:off x="6377940" y="3483864"/>
            <a:ext cx="998696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77940" y="3483864"/>
            <a:ext cx="998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PCP</a:t>
            </a:r>
            <a:endParaRPr lang="en-US" sz="1000" dirty="0"/>
          </a:p>
        </p:txBody>
      </p:sp>
      <p:sp>
        <p:nvSpPr>
          <p:cNvPr id="53" name="g-3-2"/>
          <p:cNvSpPr/>
          <p:nvPr/>
        </p:nvSpPr>
        <p:spPr>
          <a:xfrm>
            <a:off x="7376636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76636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DEI</a:t>
            </a:r>
            <a:endParaRPr lang="en-US" sz="1000" dirty="0"/>
          </a:p>
        </p:txBody>
      </p:sp>
      <p:sp>
        <p:nvSpPr>
          <p:cNvPr id="55" name="g-3-3"/>
          <p:cNvSpPr/>
          <p:nvPr/>
        </p:nvSpPr>
        <p:spPr>
          <a:xfrm>
            <a:off x="7709535" y="3483864"/>
            <a:ext cx="399478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709535" y="3483864"/>
            <a:ext cx="399478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VLAN ID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12비트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</a:t>
            </a:r>
            <a:endParaRPr lang="en-US" sz="1100" dirty="0"/>
          </a:p>
        </p:txBody>
      </p:sp>
      <p:sp>
        <p:nvSpPr>
          <p:cNvPr id="58" name="g-4-0"/>
          <p:cNvSpPr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EtherType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60" name="g-4-1"/>
          <p:cNvSpPr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42–1500B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6177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63" name="g-5-0"/>
          <p:cNvSpPr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FCS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1051560" y="532180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802.1Q VLAN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 장비 MAC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장비 MAC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TPID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태그 식별자 = 0x8100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PCP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우선순위 0~7 (QoS, 802.1p)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DEI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14B+3비트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혼잡 시 폐기 가능 표시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VLAN 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VLAN 번호 1~4094 (0, 4095 예약)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EtherType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상위 프로토콜 (0x0800 등)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42–1500B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상위 패킷, 42~1500B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FCS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CRC-32 프레임 오류 검출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IP→MAC 주소 해석 · 28B · EtherType 0x0806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HW 타입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프로토콜 타입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g-1-0"/>
          <p:cNvSpPr/>
          <p:nvPr/>
        </p:nvSpPr>
        <p:spPr>
          <a:xfrm>
            <a:off x="105156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HW 길이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5" name="g-1-1"/>
          <p:cNvSpPr/>
          <p:nvPr/>
        </p:nvSpPr>
        <p:spPr>
          <a:xfrm>
            <a:off x="371475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1475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 길이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7" name="g-1-2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Opcode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송신자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53" name="g-3-0"/>
          <p:cNvSpPr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5156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송신자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55" name="g-3-1"/>
          <p:cNvSpPr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송신자 IP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</a:t>
            </a:r>
            <a:endParaRPr lang="en-US" sz="1100" dirty="0"/>
          </a:p>
        </p:txBody>
      </p:sp>
      <p:sp>
        <p:nvSpPr>
          <p:cNvPr id="58" name="g-4-0"/>
          <p:cNvSpPr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송신자 IP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60" name="g-4-1"/>
          <p:cNvSpPr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대상 MAC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6177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</a:t>
            </a:r>
            <a:endParaRPr lang="en-US" sz="1100" dirty="0"/>
          </a:p>
        </p:txBody>
      </p:sp>
      <p:sp>
        <p:nvSpPr>
          <p:cNvPr id="63" name="g-5-0"/>
          <p:cNvSpPr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대상 MAC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48비트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411480" y="51846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</a:t>
            </a:r>
            <a:endParaRPr lang="en-US" sz="1100" dirty="0"/>
          </a:p>
        </p:txBody>
      </p:sp>
      <p:sp>
        <p:nvSpPr>
          <p:cNvPr id="66" name="g-6-0"/>
          <p:cNvSpPr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대상 IP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1051560" y="5888736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ARP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HW 타입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= Ethernet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프로토콜 타입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0x0800 = IPv4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HW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MAC 길이 = 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 길이 = 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Opcode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요청 · 2 응답 (3/4 RARP)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송신자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요청한 장비의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송신자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요청한 장비의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대상 MAC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 시 00:00:00:00:00:00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대상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MAC을 알고 싶은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L3 네트워크 계층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IPv4 · IPv6 · ICMP · IGMP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IPv4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네트워크 · 기본 헤더 20B, 옵션 포함 최대 60B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2383155" y="1783080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83155" y="1783080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IHL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42" name="g-0-2"/>
          <p:cNvSpPr/>
          <p:nvPr/>
        </p:nvSpPr>
        <p:spPr>
          <a:xfrm>
            <a:off x="3714750" y="1783080"/>
            <a:ext cx="1997393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14750" y="1783080"/>
            <a:ext cx="1997393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DSCP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6비트</a:t>
            </a:r>
            <a:endParaRPr lang="en-US" sz="1300" dirty="0"/>
          </a:p>
        </p:txBody>
      </p:sp>
      <p:sp>
        <p:nvSpPr>
          <p:cNvPr id="44" name="g-0-3"/>
          <p:cNvSpPr/>
          <p:nvPr/>
        </p:nvSpPr>
        <p:spPr>
          <a:xfrm>
            <a:off x="5712142" y="1783080"/>
            <a:ext cx="665798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12142" y="1783080"/>
            <a:ext cx="665798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ECN</a:t>
            </a:r>
            <a:endParaRPr lang="en-US" sz="1000" dirty="0"/>
          </a:p>
        </p:txBody>
      </p:sp>
      <p:sp>
        <p:nvSpPr>
          <p:cNvPr id="46" name="g-0-4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전체 길이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9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51" name="g-1-1"/>
          <p:cNvSpPr/>
          <p:nvPr/>
        </p:nvSpPr>
        <p:spPr>
          <a:xfrm>
            <a:off x="6377940" y="2350008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77940" y="2350008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</a:t>
            </a:r>
            <a:endParaRPr lang="en-US" sz="1000" dirty="0"/>
          </a:p>
        </p:txBody>
      </p:sp>
      <p:sp>
        <p:nvSpPr>
          <p:cNvPr id="53" name="g-1-2"/>
          <p:cNvSpPr/>
          <p:nvPr/>
        </p:nvSpPr>
        <p:spPr>
          <a:xfrm>
            <a:off x="6710839" y="2350008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710839" y="2350008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DF</a:t>
            </a:r>
            <a:endParaRPr lang="en-US" sz="1000" dirty="0"/>
          </a:p>
        </p:txBody>
      </p:sp>
      <p:sp>
        <p:nvSpPr>
          <p:cNvPr id="55" name="g-1-3"/>
          <p:cNvSpPr/>
          <p:nvPr/>
        </p:nvSpPr>
        <p:spPr>
          <a:xfrm>
            <a:off x="7043738" y="2350008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43738" y="2350008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MF</a:t>
            </a:r>
            <a:endParaRPr lang="en-US" sz="1000" dirty="0"/>
          </a:p>
        </p:txBody>
      </p:sp>
      <p:sp>
        <p:nvSpPr>
          <p:cNvPr id="57" name="g-1-4"/>
          <p:cNvSpPr/>
          <p:nvPr/>
        </p:nvSpPr>
        <p:spPr>
          <a:xfrm>
            <a:off x="7376636" y="2350008"/>
            <a:ext cx="4327684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76636" y="2350008"/>
            <a:ext cx="4327684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Fragment Offset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13비트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g-2-0"/>
          <p:cNvSpPr/>
          <p:nvPr/>
        </p:nvSpPr>
        <p:spPr>
          <a:xfrm>
            <a:off x="1051560" y="2916936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51560" y="2916936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TTL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62" name="g-2-1"/>
          <p:cNvSpPr/>
          <p:nvPr/>
        </p:nvSpPr>
        <p:spPr>
          <a:xfrm>
            <a:off x="3714750" y="2916936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14750" y="2916936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Protocol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64" name="g-2-2"/>
          <p:cNvSpPr/>
          <p:nvPr/>
        </p:nvSpPr>
        <p:spPr>
          <a:xfrm>
            <a:off x="6377940" y="2916936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77940" y="2916936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헤더 체크섬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67" name="g-3-0"/>
          <p:cNvSpPr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IP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</a:t>
            </a:r>
            <a:endParaRPr lang="en-US" sz="1100" dirty="0"/>
          </a:p>
        </p:txBody>
      </p:sp>
      <p:sp>
        <p:nvSpPr>
          <p:cNvPr id="70" name="g-4-0"/>
          <p:cNvSpPr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IP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11480" y="46177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</a:t>
            </a:r>
            <a:endParaRPr lang="en-US" sz="1100" dirty="0"/>
          </a:p>
        </p:txBody>
      </p:sp>
      <p:sp>
        <p:nvSpPr>
          <p:cNvPr id="73" name="g-5-0"/>
          <p:cNvSpPr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옵션 + 패딩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0–40B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1051560" y="532180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IPv4 필드 설명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IHL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 길이(4바이트 단위). 기본 5 = 20B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DSCP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QoS 우선순위 (구 TOS)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ECN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1B+6비트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혼잡 통지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전체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헤더+데이터 바이트 수, 최대 65,535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Identification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단편화 조각을 묶는 식별 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예약 비트, 항상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DF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6B+1비트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Don't Fragment, 단편화 금지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MF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6B+2비트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More Fragments, 뒤에 조각 더 있음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Fragment Offset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6B+3비트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 데이터 내 조각 위치(8B 단위)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TTL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라우터 통과마다 1 감소, 0이면 폐기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IPv4 필드 설명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Protocol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ICMP · 2 IGMP · 6 TCP · 17 UDP · 50 ESP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헤더 체크섬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 오류 검출, 홉마다 재계산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호스트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 호스트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옵션 + 패딩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0–40B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IHL&gt;5일 때만 존재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IPv6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네트워크 · 고정 헤더 40B, 체크섬·단편화 필드 없음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2383155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83155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Traffic Class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2" name="g-0-2"/>
          <p:cNvSpPr/>
          <p:nvPr/>
        </p:nvSpPr>
        <p:spPr>
          <a:xfrm>
            <a:off x="5046345" y="1783080"/>
            <a:ext cx="665797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46345" y="1783080"/>
            <a:ext cx="665797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Flow Label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20비트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Payload 길이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7" name="g-1-1"/>
          <p:cNvSpPr/>
          <p:nvPr/>
        </p:nvSpPr>
        <p:spPr>
          <a:xfrm>
            <a:off x="637794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7794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Header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9" name="g-1-2"/>
          <p:cNvSpPr/>
          <p:nvPr/>
        </p:nvSpPr>
        <p:spPr>
          <a:xfrm>
            <a:off x="904113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4113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Hop Limit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52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IPv6 주소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128비트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</a:t>
            </a:r>
            <a:endParaRPr lang="en-US" sz="1100" dirty="0"/>
          </a:p>
        </p:txBody>
      </p:sp>
      <p:sp>
        <p:nvSpPr>
          <p:cNvPr id="55" name="g-3-0"/>
          <p:cNvSpPr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IPv6 주소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128비트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4187952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IPv6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Traffic Class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QoS (DSCP 6 + ECN 2)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Flow Label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같은 흐름 패킷 식별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Payload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 뒤 데이터 바이트 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Next Header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다음 헤더: 6 TCP · 17 UDP · 58 ICMPv6 · 확장 헤더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Hop Limit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IPv4 TTL과 같은 역할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IPv6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주소 128비트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IPv6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 주소 128비트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ICMP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네트워크 보조 · IP 프로토콜 1 · ping, traceroute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371475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1475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Code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2" name="g-0-2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체크섬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7" name="g-1-1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Sequence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362102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ICMP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Echo응답 · 3 도달불가 · 5 Redirect · 8 Echo요청 · 11 시간초과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세부 원인. 예: Type3/Code3 포트 도달 불가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체크섬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ICMP 전체 오류 검출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Echo 요청·응답 짝 맞춤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Sequence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ping 순번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Echo: 임의 데이터 / 오류: 원래 IP헤더+8B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IGMP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네트워크 보조 · IP 프로토콜 2 · 멀티캐스트 그룹 가입 (v2, 8B)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371475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1475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Max Resp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2" name="g-0-2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체크섬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g-1-0"/>
          <p:cNvSpPr/>
          <p:nvPr/>
        </p:nvSpPr>
        <p:spPr>
          <a:xfrm>
            <a:off x="1051560" y="2350008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1560" y="2350008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그룹 주소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3054096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IGMP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0x11 조회 · 0x16 v2 가입 보고 · 0x17 탈퇴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Max Resp Time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응답 최대 대기 시간 (0.1초 단위)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체크섬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오류 검출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그룹 주소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멀티캐스트 그룹 IP (224.0.0.0/4)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L4 전송 계층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TCP · UDP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TCP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전송 · 연결형·신뢰성 · 기본 헤더 20B, 최대 60B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g-1-0"/>
          <p:cNvSpPr/>
          <p:nvPr/>
        </p:nvSpPr>
        <p:spPr>
          <a:xfrm>
            <a:off x="1051560" y="2350008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" y="2350008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Sequence Number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46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Ack Number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32비트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49" name="g-3-0"/>
          <p:cNvSpPr/>
          <p:nvPr/>
        </p:nvSpPr>
        <p:spPr>
          <a:xfrm>
            <a:off x="1051560" y="3483864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1560" y="3483864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Offset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51" name="g-3-1"/>
          <p:cNvSpPr/>
          <p:nvPr/>
        </p:nvSpPr>
        <p:spPr>
          <a:xfrm>
            <a:off x="2383155" y="3483864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383155" y="3483864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예약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53" name="g-3-2"/>
          <p:cNvSpPr/>
          <p:nvPr/>
        </p:nvSpPr>
        <p:spPr>
          <a:xfrm>
            <a:off x="3714750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714750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CWR</a:t>
            </a:r>
            <a:endParaRPr lang="en-US" sz="1000" dirty="0"/>
          </a:p>
        </p:txBody>
      </p:sp>
      <p:sp>
        <p:nvSpPr>
          <p:cNvPr id="55" name="g-3-3"/>
          <p:cNvSpPr/>
          <p:nvPr/>
        </p:nvSpPr>
        <p:spPr>
          <a:xfrm>
            <a:off x="4047649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047649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ECE</a:t>
            </a:r>
            <a:endParaRPr lang="en-US" sz="1000" dirty="0"/>
          </a:p>
        </p:txBody>
      </p:sp>
      <p:sp>
        <p:nvSpPr>
          <p:cNvPr id="57" name="g-3-4"/>
          <p:cNvSpPr/>
          <p:nvPr/>
        </p:nvSpPr>
        <p:spPr>
          <a:xfrm>
            <a:off x="4380548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380548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URG</a:t>
            </a:r>
            <a:endParaRPr lang="en-US" sz="1000" dirty="0"/>
          </a:p>
        </p:txBody>
      </p:sp>
      <p:sp>
        <p:nvSpPr>
          <p:cNvPr id="59" name="g-3-5"/>
          <p:cNvSpPr/>
          <p:nvPr/>
        </p:nvSpPr>
        <p:spPr>
          <a:xfrm>
            <a:off x="4713446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13446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ACK</a:t>
            </a:r>
            <a:endParaRPr lang="en-US" sz="1000" dirty="0"/>
          </a:p>
        </p:txBody>
      </p:sp>
      <p:sp>
        <p:nvSpPr>
          <p:cNvPr id="61" name="g-3-6"/>
          <p:cNvSpPr/>
          <p:nvPr/>
        </p:nvSpPr>
        <p:spPr>
          <a:xfrm>
            <a:off x="5046345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46345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PSH</a:t>
            </a:r>
            <a:endParaRPr lang="en-US" sz="1000" dirty="0"/>
          </a:p>
        </p:txBody>
      </p:sp>
      <p:sp>
        <p:nvSpPr>
          <p:cNvPr id="63" name="g-3-7"/>
          <p:cNvSpPr/>
          <p:nvPr/>
        </p:nvSpPr>
        <p:spPr>
          <a:xfrm>
            <a:off x="5379244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379244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RST</a:t>
            </a:r>
            <a:endParaRPr lang="en-US" sz="1000" dirty="0"/>
          </a:p>
        </p:txBody>
      </p:sp>
      <p:sp>
        <p:nvSpPr>
          <p:cNvPr id="65" name="g-3-8"/>
          <p:cNvSpPr/>
          <p:nvPr/>
        </p:nvSpPr>
        <p:spPr>
          <a:xfrm>
            <a:off x="5712142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712142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SYN</a:t>
            </a:r>
            <a:endParaRPr lang="en-US" sz="1000" dirty="0"/>
          </a:p>
        </p:txBody>
      </p:sp>
      <p:sp>
        <p:nvSpPr>
          <p:cNvPr id="67" name="g-3-9"/>
          <p:cNvSpPr/>
          <p:nvPr/>
        </p:nvSpPr>
        <p:spPr>
          <a:xfrm>
            <a:off x="6045041" y="3483864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045041" y="3483864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</a:t>
            </a:r>
            <a:endParaRPr lang="en-US" sz="1000" dirty="0"/>
          </a:p>
        </p:txBody>
      </p:sp>
      <p:sp>
        <p:nvSpPr>
          <p:cNvPr id="69" name="g-3-10"/>
          <p:cNvSpPr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77940" y="3483864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Window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</a:t>
            </a:r>
            <a:endParaRPr lang="en-US" sz="1100" dirty="0"/>
          </a:p>
        </p:txBody>
      </p:sp>
      <p:sp>
        <p:nvSpPr>
          <p:cNvPr id="72" name="g-4-0"/>
          <p:cNvSpPr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5156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체크섬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74" name="g-4-1"/>
          <p:cNvSpPr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377940" y="4050792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긴급 포인터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11480" y="46177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</a:t>
            </a:r>
            <a:endParaRPr lang="en-US" sz="1100" dirty="0"/>
          </a:p>
        </p:txBody>
      </p:sp>
      <p:sp>
        <p:nvSpPr>
          <p:cNvPr id="77" name="g-5-0"/>
          <p:cNvSpPr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옵션 + 패딩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0–40B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11480" y="51846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80" name="g-6-0"/>
          <p:cNvSpPr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1051560" y="5888736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TCP 필드 설명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포트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포트 (클라이언트는 임시 포트)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포트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 HTTP · 443 HTTPS · 22 SSH · 25 SMTP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Sequence Number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세그먼트 첫 바이트 번호, SYN 시 ISN 랜덤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Ack Number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다음에 받을 바이트 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Data Offset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 길이(4B 단위), 기본 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예약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CWR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혼잡 윈도우 감소 알림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ECE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ECN 혼잡 경고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URG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긴급 포인터 유효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확인 응답 번호 유효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PSH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버퍼링 없이 즉시 전달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TCP 필드 설명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RST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13B+5비트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연결 강제 리셋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SYN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연결 시작 (3-way handshake)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13B+7비트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연결 정상 종료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Window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수신 버퍼 여유, 흐름 제어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체크섬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의사헤더+헤더+데이터 검증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긴급 포인터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URG 시 긴급 데이터 끝 위치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옵션 + 패딩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0–40B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MSS · Window Scale · SACK · Timestamp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애플리케이션 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UDP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전송 · 비연결형·경량 · 헤더 8B 고정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출발지 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794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목적지 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길이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5" name="g-1-1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체크섬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48" name="g-2-0"/>
          <p:cNvSpPr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1051560" y="2916936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데이터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362102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UDP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출발지 포트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송신 포트 (0 가능)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목적지 포트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 DNS · 67/68 DHCP · 69 TFTP · 123 NTP · 161 SNMP · 514 Syslog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헤더+데이터 바이트 수 (최소 8)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체크섬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IPv4 선택 · IPv6 필수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애플리케이션 데이터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L7 응용 계층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DNS · DHCP · TLS · HTTP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DNS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응용 · UDP/TCP 53 · 헤더 12B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Transaction ID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6377940" y="1783080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7940" y="1783080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QR</a:t>
            </a:r>
            <a:endParaRPr lang="en-US" sz="1000" dirty="0"/>
          </a:p>
        </p:txBody>
      </p:sp>
      <p:sp>
        <p:nvSpPr>
          <p:cNvPr id="42" name="g-0-2"/>
          <p:cNvSpPr/>
          <p:nvPr/>
        </p:nvSpPr>
        <p:spPr>
          <a:xfrm>
            <a:off x="6710839" y="1783080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10839" y="1783080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Opcode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44" name="g-0-3"/>
          <p:cNvSpPr/>
          <p:nvPr/>
        </p:nvSpPr>
        <p:spPr>
          <a:xfrm>
            <a:off x="8042434" y="1783080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2434" y="1783080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AA</a:t>
            </a:r>
            <a:endParaRPr lang="en-US" sz="1000" dirty="0"/>
          </a:p>
        </p:txBody>
      </p:sp>
      <p:sp>
        <p:nvSpPr>
          <p:cNvPr id="46" name="g-0-4"/>
          <p:cNvSpPr/>
          <p:nvPr/>
        </p:nvSpPr>
        <p:spPr>
          <a:xfrm>
            <a:off x="8375333" y="1783080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75333" y="1783080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TC</a:t>
            </a:r>
            <a:endParaRPr lang="en-US" sz="1000" dirty="0"/>
          </a:p>
        </p:txBody>
      </p:sp>
      <p:sp>
        <p:nvSpPr>
          <p:cNvPr id="48" name="g-0-5"/>
          <p:cNvSpPr/>
          <p:nvPr/>
        </p:nvSpPr>
        <p:spPr>
          <a:xfrm>
            <a:off x="8708231" y="1783080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708231" y="1783080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RD</a:t>
            </a:r>
            <a:endParaRPr lang="en-US" sz="1000" dirty="0"/>
          </a:p>
        </p:txBody>
      </p:sp>
      <p:sp>
        <p:nvSpPr>
          <p:cNvPr id="50" name="g-0-6"/>
          <p:cNvSpPr/>
          <p:nvPr/>
        </p:nvSpPr>
        <p:spPr>
          <a:xfrm>
            <a:off x="9041130" y="1783080"/>
            <a:ext cx="332899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41130" y="1783080"/>
            <a:ext cx="332899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RA</a:t>
            </a:r>
            <a:endParaRPr lang="en-US" sz="1000" dirty="0"/>
          </a:p>
        </p:txBody>
      </p:sp>
      <p:sp>
        <p:nvSpPr>
          <p:cNvPr id="52" name="g-0-7"/>
          <p:cNvSpPr/>
          <p:nvPr/>
        </p:nvSpPr>
        <p:spPr>
          <a:xfrm>
            <a:off x="9374029" y="1783080"/>
            <a:ext cx="998696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74029" y="1783080"/>
            <a:ext cx="998696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Z</a:t>
            </a:r>
            <a:endParaRPr lang="en-US" sz="1000" dirty="0"/>
          </a:p>
        </p:txBody>
      </p:sp>
      <p:sp>
        <p:nvSpPr>
          <p:cNvPr id="54" name="g-0-8"/>
          <p:cNvSpPr/>
          <p:nvPr/>
        </p:nvSpPr>
        <p:spPr>
          <a:xfrm>
            <a:off x="10372725" y="1783080"/>
            <a:ext cx="1331595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372725" y="1783080"/>
            <a:ext cx="1331595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RCODE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4비트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57" name="g-1-0"/>
          <p:cNvSpPr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5156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QDCOUNT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59" name="g-1-1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62" name="g-2-0"/>
          <p:cNvSpPr/>
          <p:nvPr/>
        </p:nvSpPr>
        <p:spPr>
          <a:xfrm>
            <a:off x="1051560" y="2916936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51560" y="2916936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NSCOUNT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64" name="g-2-1"/>
          <p:cNvSpPr/>
          <p:nvPr/>
        </p:nvSpPr>
        <p:spPr>
          <a:xfrm>
            <a:off x="6377940" y="2916936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77940" y="2916936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34838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67" name="g-3-0"/>
          <p:cNvSpPr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1051560" y="3483864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1148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70" name="g-4-0"/>
          <p:cNvSpPr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1051560" y="4050792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Answer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411480" y="46177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73" name="g-5-0"/>
          <p:cNvSpPr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1051560" y="4617720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Authority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11480" y="51846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…</a:t>
            </a:r>
            <a:endParaRPr lang="en-US" sz="1100" dirty="0"/>
          </a:p>
        </p:txBody>
      </p:sp>
      <p:sp>
        <p:nvSpPr>
          <p:cNvPr id="76" name="g-6-0"/>
          <p:cNvSpPr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1051560" y="5184648"/>
            <a:ext cx="10652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Additional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1051560" y="5888736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DNS 필드 설명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Transaction 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질의·응답 짝 맞춤 (스푸핑 방지에 중요)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질의 · 1 응답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Opcode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2B+1비트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표준 질의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2B+5비트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권한 있는 응답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2B+6비트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잘림, TCP로 재요청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2B+7비트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재귀 질의 요청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재귀 가능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3B+1비트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예약 (AD·CD 포함)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RCODE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3B+4비트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정상 · 2 서버 실패 · 3 NXDOMAIN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QDCOUNT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질문 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ANCOUNT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응답 레코드 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DNS 필드 설명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NSCOUNT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권한 레코드 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ARCOUNT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추가 레코드 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이름·타입(A, AAAA, MX…)·클래스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리소스 레코드 (이름·타입·TTL·데이터)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Authority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권한 네임서버 레코드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Additional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추가 레코드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DHCP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응용 · UDP 67(서버)/68(클라이언트) · DORA(Discover-Offer-Request-Ack) 과정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266319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266319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8비트</a:t>
            </a:r>
            <a:endParaRPr lang="en-US" sz="1200" dirty="0"/>
          </a:p>
        </p:txBody>
      </p:sp>
      <p:sp>
        <p:nvSpPr>
          <p:cNvPr id="40" name="g-0-1"/>
          <p:cNvSpPr/>
          <p:nvPr/>
        </p:nvSpPr>
        <p:spPr>
          <a:xfrm>
            <a:off x="3714750" y="1783080"/>
            <a:ext cx="266319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14750" y="1783080"/>
            <a:ext cx="266319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htype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8비트</a:t>
            </a:r>
            <a:endParaRPr lang="en-US" sz="1200" dirty="0"/>
          </a:p>
        </p:txBody>
      </p:sp>
      <p:sp>
        <p:nvSpPr>
          <p:cNvPr id="42" name="g-0-2"/>
          <p:cNvSpPr/>
          <p:nvPr/>
        </p:nvSpPr>
        <p:spPr>
          <a:xfrm>
            <a:off x="6377940" y="1783080"/>
            <a:ext cx="266319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77940" y="1783080"/>
            <a:ext cx="266319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hlen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8비트</a:t>
            </a:r>
            <a:endParaRPr lang="en-US" sz="1200" dirty="0"/>
          </a:p>
        </p:txBody>
      </p:sp>
      <p:sp>
        <p:nvSpPr>
          <p:cNvPr id="44" name="g-0-3"/>
          <p:cNvSpPr/>
          <p:nvPr/>
        </p:nvSpPr>
        <p:spPr>
          <a:xfrm>
            <a:off x="9041130" y="1783080"/>
            <a:ext cx="266319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41130" y="1783080"/>
            <a:ext cx="266319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hops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8비트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214122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g-1-0"/>
          <p:cNvSpPr/>
          <p:nvPr/>
        </p:nvSpPr>
        <p:spPr>
          <a:xfrm>
            <a:off x="1051560" y="214122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51560" y="214122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xid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249936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g-2-0"/>
          <p:cNvSpPr/>
          <p:nvPr/>
        </p:nvSpPr>
        <p:spPr>
          <a:xfrm>
            <a:off x="1051560" y="2499360"/>
            <a:ext cx="532638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51560" y="2499360"/>
            <a:ext cx="532638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secs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16비트</a:t>
            </a:r>
            <a:endParaRPr lang="en-US" sz="1200" dirty="0"/>
          </a:p>
        </p:txBody>
      </p:sp>
      <p:sp>
        <p:nvSpPr>
          <p:cNvPr id="52" name="g-2-1"/>
          <p:cNvSpPr/>
          <p:nvPr/>
        </p:nvSpPr>
        <p:spPr>
          <a:xfrm>
            <a:off x="6377940" y="2499360"/>
            <a:ext cx="532638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77940" y="2499360"/>
            <a:ext cx="532638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flags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16비트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11480" y="285750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</a:t>
            </a:r>
            <a:endParaRPr lang="en-US" sz="1100" dirty="0"/>
          </a:p>
        </p:txBody>
      </p:sp>
      <p:sp>
        <p:nvSpPr>
          <p:cNvPr id="55" name="g-3-0"/>
          <p:cNvSpPr/>
          <p:nvPr/>
        </p:nvSpPr>
        <p:spPr>
          <a:xfrm>
            <a:off x="1051560" y="285750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1560" y="285750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ciaddr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21564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</a:t>
            </a:r>
            <a:endParaRPr lang="en-US" sz="1100" dirty="0"/>
          </a:p>
        </p:txBody>
      </p:sp>
      <p:sp>
        <p:nvSpPr>
          <p:cNvPr id="58" name="g-4-0"/>
          <p:cNvSpPr/>
          <p:nvPr/>
        </p:nvSpPr>
        <p:spPr>
          <a:xfrm>
            <a:off x="1051560" y="321564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1560" y="321564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yiaddr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357378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</a:t>
            </a:r>
            <a:endParaRPr lang="en-US" sz="1100" dirty="0"/>
          </a:p>
        </p:txBody>
      </p:sp>
      <p:sp>
        <p:nvSpPr>
          <p:cNvPr id="61" name="g-5-0"/>
          <p:cNvSpPr/>
          <p:nvPr/>
        </p:nvSpPr>
        <p:spPr>
          <a:xfrm>
            <a:off x="1051560" y="357378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1560" y="357378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siaddr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411480" y="393192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</a:t>
            </a:r>
            <a:endParaRPr lang="en-US" sz="1100" dirty="0"/>
          </a:p>
        </p:txBody>
      </p:sp>
      <p:sp>
        <p:nvSpPr>
          <p:cNvPr id="64" name="g-6-0"/>
          <p:cNvSpPr/>
          <p:nvPr/>
        </p:nvSpPr>
        <p:spPr>
          <a:xfrm>
            <a:off x="1051560" y="393192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51560" y="393192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giaddr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411480" y="429006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28</a:t>
            </a:r>
            <a:endParaRPr lang="en-US" sz="1100" dirty="0"/>
          </a:p>
        </p:txBody>
      </p:sp>
      <p:sp>
        <p:nvSpPr>
          <p:cNvPr id="67" name="g-7-0"/>
          <p:cNvSpPr/>
          <p:nvPr/>
        </p:nvSpPr>
        <p:spPr>
          <a:xfrm>
            <a:off x="1051560" y="4290060"/>
            <a:ext cx="10652760" cy="3581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51560" y="429006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chaddr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16B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11480" y="464820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44</a:t>
            </a:r>
            <a:endParaRPr lang="en-US" sz="1100" dirty="0"/>
          </a:p>
        </p:txBody>
      </p:sp>
      <p:sp>
        <p:nvSpPr>
          <p:cNvPr id="70" name="g-8-0"/>
          <p:cNvSpPr/>
          <p:nvPr/>
        </p:nvSpPr>
        <p:spPr>
          <a:xfrm>
            <a:off x="1051560" y="4648200"/>
            <a:ext cx="10652760" cy="3581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51560" y="464820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sname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64B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411480" y="500634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108</a:t>
            </a:r>
            <a:endParaRPr lang="en-US" sz="1100" dirty="0"/>
          </a:p>
        </p:txBody>
      </p:sp>
      <p:sp>
        <p:nvSpPr>
          <p:cNvPr id="73" name="g-9-0"/>
          <p:cNvSpPr/>
          <p:nvPr/>
        </p:nvSpPr>
        <p:spPr>
          <a:xfrm>
            <a:off x="1051560" y="5006340"/>
            <a:ext cx="10652760" cy="3581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51560" y="500634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128B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411480" y="536448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236</a:t>
            </a:r>
            <a:endParaRPr lang="en-US" sz="1100" dirty="0"/>
          </a:p>
        </p:txBody>
      </p:sp>
      <p:sp>
        <p:nvSpPr>
          <p:cNvPr id="76" name="g-10-0"/>
          <p:cNvSpPr/>
          <p:nvPr/>
        </p:nvSpPr>
        <p:spPr>
          <a:xfrm>
            <a:off x="1051560" y="536448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51560" y="536448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Magic Cookie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32비트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411480" y="5722620"/>
            <a:ext cx="5486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240</a:t>
            </a:r>
            <a:endParaRPr lang="en-US" sz="1100" dirty="0"/>
          </a:p>
        </p:txBody>
      </p:sp>
      <p:sp>
        <p:nvSpPr>
          <p:cNvPr id="79" name="g-11-0"/>
          <p:cNvSpPr/>
          <p:nvPr/>
        </p:nvSpPr>
        <p:spPr>
          <a:xfrm>
            <a:off x="1051560" y="5722620"/>
            <a:ext cx="10652760" cy="3581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80" name="Text 78"/>
          <p:cNvSpPr txBox="1"/>
          <p:nvPr/>
        </p:nvSpPr>
        <p:spPr>
          <a:xfrm>
            <a:off x="1051560" y="5722620"/>
            <a:ext cx="10652760" cy="358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옵션</a:t>
            </a:r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가변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51560" y="621792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DHCP 필드 설명 (1/2)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요청 · 2 응답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= Ethernet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hlen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MAC 길이 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hops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릴레이 통과 횟수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xid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트랜잭션 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secs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 시작 후 경과 초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flags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최상위 비트 B = 브로드캐스트 응답 요청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ciaddr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클라이언트 현재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yiaddr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서버가 할당하는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siaddr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다음 서버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giaddr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릴레이 에이전트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DHCP 필드 설명 (2/2)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chaddr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클라이언트 MAC (16B 중 6B 사용)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sname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서버 호스트명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108B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부팅 파일명 (PXE)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Magic Cookie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0x63825363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옵션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 메시지타입 · 1 서브넷 · 3 게이트웨이 · 6 DNS · 51 임대시간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TLS 헤더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응용 보안 · TCP 443 · 레코드 헤더 5B + 핸드셰이크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38445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17357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025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8315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1605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895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185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1475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04764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054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1344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634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7924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12142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4504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1083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373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7663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0953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243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7533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0823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41130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74029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06928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39826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72725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705624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38523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71421" y="1463040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1463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바이트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</a:t>
            </a:r>
            <a:endParaRPr lang="en-US" sz="1100" dirty="0"/>
          </a:p>
        </p:txBody>
      </p:sp>
      <p:sp>
        <p:nvSpPr>
          <p:cNvPr id="38" name="g-0-0"/>
          <p:cNvSpPr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Content 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0" name="g-0-1"/>
          <p:cNvSpPr/>
          <p:nvPr/>
        </p:nvSpPr>
        <p:spPr>
          <a:xfrm>
            <a:off x="3714750" y="1783080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14750" y="1783080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2" name="g-0-2"/>
          <p:cNvSpPr/>
          <p:nvPr/>
        </p:nvSpPr>
        <p:spPr>
          <a:xfrm>
            <a:off x="9041130" y="1783080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41130" y="1783080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Length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11480" y="23500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g-1-0"/>
          <p:cNvSpPr/>
          <p:nvPr/>
        </p:nvSpPr>
        <p:spPr>
          <a:xfrm>
            <a:off x="105156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156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Length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16비트</a:t>
            </a:r>
            <a:endParaRPr lang="en-US" sz="1300" dirty="0"/>
          </a:p>
        </p:txBody>
      </p:sp>
      <p:sp>
        <p:nvSpPr>
          <p:cNvPr id="47" name="g-1-1"/>
          <p:cNvSpPr/>
          <p:nvPr/>
        </p:nvSpPr>
        <p:spPr>
          <a:xfrm>
            <a:off x="3714750" y="2350008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14750" y="2350008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Handshake Type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8비트</a:t>
            </a:r>
            <a:endParaRPr lang="en-US" sz="1300" dirty="0"/>
          </a:p>
        </p:txBody>
      </p:sp>
      <p:sp>
        <p:nvSpPr>
          <p:cNvPr id="49" name="g-1-2"/>
          <p:cNvSpPr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77940" y="2350008"/>
            <a:ext cx="53263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Handshake Length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24비트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</a:t>
            </a:r>
            <a:endParaRPr lang="en-US" sz="1100" dirty="0"/>
          </a:p>
        </p:txBody>
      </p:sp>
      <p:sp>
        <p:nvSpPr>
          <p:cNvPr id="52" name="g-2-0"/>
          <p:cNvSpPr/>
          <p:nvPr/>
        </p:nvSpPr>
        <p:spPr>
          <a:xfrm>
            <a:off x="1051560" y="2916936"/>
            <a:ext cx="266319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51560" y="2916936"/>
            <a:ext cx="266319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Handshake Length (계속)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24비트</a:t>
            </a:r>
            <a:endParaRPr lang="en-US" sz="1300" dirty="0"/>
          </a:p>
        </p:txBody>
      </p:sp>
      <p:sp>
        <p:nvSpPr>
          <p:cNvPr id="54" name="g-2-1"/>
          <p:cNvSpPr/>
          <p:nvPr/>
        </p:nvSpPr>
        <p:spPr>
          <a:xfrm>
            <a:off x="3714750" y="2916936"/>
            <a:ext cx="7989570" cy="5669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3714750" y="2916936"/>
            <a:ext cx="798957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핸드셰이크 본문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가변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" y="362102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실선: 고정 길이   점선: 가변 길이   음영: 길이가 커서 한 줄로 줄여 그린 고정 필드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TLS 필드 설명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오프셋은 헤더 시작점 기준 · 가변 영역 이후는 "가변"으로 표기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97280"/>
                <a:gridCol w="10972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필드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크기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오프셋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Content 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CCS · 21 Alert · 22 Handshake · 23 App Data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0x0303 (TLS 1.2 / 1.3 호환 표기)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Length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레코드 데이터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Handshake Type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ClientHello · 2 ServerHello · 11 Certificate · 16 ClientKeyExchange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Handshake Length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24비트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핸드셰이크 메시지 길이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핸드셰이크 본문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9B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버전·난수·세션ID·암호 스위트·확장(SNI 등)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HTTP 메시지 구조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응용 · TCP 80 · 비트 구조가 아닌 텍스트 줄 단위 프로토콜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요청 (Request)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440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/index.html HTTP/1.1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 라인: 메서드 · 경로 · 버전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Host: www.example.com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대상 호스트 (HTTP/1.1 필수)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User-Agent: Mozilla/5.0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클라이언트 정보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Accept: text/html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받을 수 있는 형식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Cookie: sid=abc123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세션 쿠키 (평문 노출 위험 → HTTPS 필요)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(빈 줄 CRLF)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헤더 끝 표시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본문 (POST 시)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폼 데이터 등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응답 (Response)</a:t>
            </a:r>
            <a:endParaRPr lang="en-US" sz="16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20240"/>
          <a:ext cx="5440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HTTP/1.1 200 OK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응답 상태 라인: 200 · 301 · 404 · 500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Content-Type: text/html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응답 본문 형식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Set-Cookie: sid=abc123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쿠키 설정 (HttpOnly · Secure 속성)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402336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HTTP는 비트 단위 헤더가 아니라 CRLF로 구분되는 텍스트 줄로 이루어집니다. 평문이므로 쿠키·자격 증명이 노출될 수 있어 HTTPS(TLS)가 필요합니다.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자주 보는 식별 값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패킷 분석 시 다음 계층을 판단하는 기준 값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EtherType (L2 → L3)</a:t>
            </a:r>
            <a:endParaRPr lang="en-US" sz="1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0x0800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IPv4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0x0806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0x86DD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IPv6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0x8100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802.1Q VLAN 태그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IP Protocol (L3 → L4)</a:t>
            </a:r>
            <a:endParaRPr lang="en-US" sz="16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92024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ICMP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IGMP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TCP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UDP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ESP (IPsec)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ICMPv6 (IPv6)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381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포트 번호 (L4 → L7)</a:t>
            </a:r>
            <a:endParaRPr lang="en-US" sz="1600" dirty="0"/>
          </a:p>
        </p:txBody>
      </p:sp>
      <p:graphicFrame>
        <p:nvGraphicFramePr>
          <p:cNvPr id="11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92024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20/21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FTP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SSH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Telnet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SMTP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DNS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67/68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DHCP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NTP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161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SNMP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443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cket Mono">
  <a:themeElements>
    <a:clrScheme name="Packet Mono">
      <a:dk1>
        <a:srgbClr val="222222"/>
      </a:dk1>
      <a:lt1>
        <a:srgbClr val="FFFFFF"/>
      </a:lt1>
      <a:dk2>
        <a:srgbClr val="5A5A5A"/>
      </a:dk2>
      <a:lt2>
        <a:srgbClr val="F2F2F2"/>
      </a:lt2>
      <a:accent1>
        <a:srgbClr val="7F7F7F"/>
      </a:accent1>
      <a:accent2>
        <a:srgbClr val="E4EAF0"/>
      </a:accent2>
      <a:accent3>
        <a:srgbClr val="A6A6A6"/>
      </a:accent3>
      <a:accent4>
        <a:srgbClr val="BFBFBF"/>
      </a:accent4>
      <a:accent5>
        <a:srgbClr val="404040"/>
      </a:accent5>
      <a:accent6>
        <a:srgbClr val="D9D9D9"/>
      </a:accent6>
      <a:hlink>
        <a:srgbClr val="404040"/>
      </a:hlink>
      <a:folHlink>
        <a:srgbClr val="7F7F7F"/>
      </a:folHlink>
    </a:clrScheme>
    <a:fontScheme name="Packet Mon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 프로토콜 패킷 헤더 구조</dc:title>
  <dc:subject>PptxGenJS Presentation</dc:subject>
  <dc:creator>PptxGenJS</dc:creator>
  <cp:lastModifiedBy>PptxGenJS</cp:lastModifiedBy>
  <cp:revision>1</cp:revision>
  <dcterms:created xsi:type="dcterms:W3CDTF">2026-10-13T09:42:47Z</dcterms:created>
  <dcterms:modified xsi:type="dcterms:W3CDTF">2026-10-13T09:42:47Z</dcterms:modified>
</cp:coreProperties>
</file>