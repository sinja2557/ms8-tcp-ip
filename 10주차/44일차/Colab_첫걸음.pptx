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6bbd2200-d40f-d475-9871-fd2247cfa3b5}">
          <p14:sldIdLst>
            <p14:sldId id="256"/>
            <p14:sldId id="257"/>
            <p14:sldId id="258"/>
          </p14:sldIdLst>
        </p14:section>
        <p14:section name="기본 사용" id="{4f02d6aa-f776-9648-27c0-d7a0ea62738f}">
          <p14:sldIdLst>
            <p14:sldId id="259"/>
            <p14:sldId id="260"/>
            <p14:sldId id="261"/>
            <p14:sldId id="262"/>
            <p14:sldId id="263"/>
          </p14:sldIdLst>
        </p14:section>
        <p14:section name="런타임과 파일" id="{7a5f38d3-6887-208a-7311-921f4f2f6986}">
          <p14:sldIdLst>
            <p14:sldId id="264"/>
            <p14:sldId id="265"/>
            <p14:sldId id="266"/>
          </p14:sldIdLst>
        </p14:section>
        <p14:section name="저장과 주의" id="{f4408f36-8de0-d40d-f980-532aa2948978}">
          <p14:sldIdLst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Google Colab을 처음 사용하는 분을 위해, 접속부터 첫 코드 실행, 저장·공유, 주의사항까지 순서대로 살펴봅니다.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Colab(Colaboratory)은 Jupyter 노트북을 구글 서버에서 실행해 주는 서비스입니다. 내 컴퓨터 사양과 관계없이 같은 환경에서 실습할 수 있다는 점이 교육용으로 가장 큰 장점입니다.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 전에 수강생 전원이 구글 계정으로 로그인할 수 있는지 먼저 확인해 두면 진행이 매끄럽습니다.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새 노트북은 자동으로 구글 드라이브의 'Colab Notebooks' 폴더에 저장됩니다. 파일명은 수업 회차나 주제로 바꾸게 하면 나중에 찾기 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화면을 띄워 놓고 이 그림의 번호 순서대로 가리키며 설명하면 좋습니다. 화면 디자인은 업데이트로 조금씩 바뀔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코드 셀과 텍스트 셀을 섞어 쓰면 '설명 + 코드 + 결과'가 한 문서에 정리된 학습 노트가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셀 마지막 줄의 값은 print 없이도 출력된다는 점(1 + 2 → 3)을 함께 보여 주세요. 처음 실행할 때 'Colab에서 만든 노트가 아닙니다' 같은 경고가 뜨면 내용을 확인한 뒤 실행을 누르면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Ctrl+M은 '누르고 뗀 다음' 두 번째 키를 누르는 방식입니다. 동시에 누르는 것이 아니라는 점을 꼭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초보자가 가장 많이 겪는 문제가 '셀을 건너뛰고 실행해서 변수가 정의되지 않음(NameError)'입니다. 셀 왼쪽의 [1], [2] 실행 번호로 실행 순서를 확인하는 습관을 들이게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느낌표(!)로 시작하는 줄은 파이썬이 아니라 리눅스 명령으로 실행됩니다. 기초 수업에서는 GPU를 켜지 않는 것이 연결 제한을 덜 받습니다.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드라이브 마운트 시 권한 허용 창이 뜹니다. 본인 계정인지 확인하고 허용하도록 안내하세요.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다른 사람이 만든 노트북을 열었다면 [파일] → [드라이브에 사본 저장]을 먼저 해야 내 것으로 수정·저장할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사용 한도와 시간 제한은 구글 정책에 따라 바뀔 수 있습니다. 중요한 결과물은 수시로 드라이브에 저장하는 습관을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2025년부터 AI 기능이 강화된 Colab이 모든 사용자에게 제공되고 있습니다. 메뉴 위치와 이름은 업데이트로 바뀔 수 있으니 수업 직전에 실제 화면을 확인하세요.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마지막에 체크리스트를 한 항목씩 확인하며 마무리합니다. 다음 시간부터는 이 노트북 환경에서 파이썬 기초 문법을 실습합니다.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4320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Colab 첫걸음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Colab 첫걸음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743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없이 브라우저에서 바로 시작하는 파이썬 — 처음 사용자를 위한 안내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73152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85039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Colab은 구글이 제공하는 온라인 파이썬 노트북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브라우저만 있으면 파이썬 코드를 작성·실행할 수 있는 클라우드 Jupyter 노트북 환경입니다.</a:t>
            </a:r>
            <a:endParaRPr lang="en-US" sz="1400" dirty="0"/>
          </a:p>
        </p:txBody>
      </p:sp>
      <p:sp>
        <p:nvSpPr>
          <p:cNvPr id="4" name="card"/>
          <p:cNvSpPr/>
          <p:nvPr/>
        </p:nvSpPr>
        <p:spPr>
          <a:xfrm>
            <a:off x="457200" y="164592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5" name="icon-bg"/>
          <p:cNvSpPr/>
          <p:nvPr/>
        </p:nvSpPr>
        <p:spPr>
          <a:xfrm>
            <a:off x="685800" y="1920240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6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" y="20509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697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 불필요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1546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파이썬·개발도구 설치 없이 브라우저에서 바로 실행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2560320" y="164592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0" name="icon-bg"/>
          <p:cNvSpPr/>
          <p:nvPr/>
        </p:nvSpPr>
        <p:spPr>
          <a:xfrm>
            <a:off x="2788920" y="1920240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9679" y="20509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88920" y="2697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무료로 시작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788920" y="31546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구글 계정만 있으면 기본 기능을 무료로 사용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4663440" y="164592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5" name="icon-bg"/>
          <p:cNvSpPr/>
          <p:nvPr/>
        </p:nvSpPr>
        <p:spPr>
          <a:xfrm>
            <a:off x="4892040" y="1920240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6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799" y="205099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92040" y="2697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GPU·TPU 제공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892040" y="31546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딥러닝처럼 연산이 많은 작업도 실습 가능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6766560" y="1645920"/>
            <a:ext cx="1920240" cy="27432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20" name="icon-bg"/>
          <p:cNvSpPr/>
          <p:nvPr/>
        </p:nvSpPr>
        <p:spPr>
          <a:xfrm>
            <a:off x="6995160" y="1920240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1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919" y="205099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995160" y="26974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라이브러리 내장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995160" y="315468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NumPy, Pandas, TensorFlow, PyTorch 등이 미리 설치됨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시작 전 준비물은 세 가지뿐</a:t>
            </a:r>
            <a:endParaRPr lang="en-US" sz="2800" dirty="0"/>
          </a:p>
        </p:txBody>
      </p:sp>
      <p:sp>
        <p:nvSpPr>
          <p:cNvPr id="3" name="icon-bg"/>
          <p:cNvSpPr/>
          <p:nvPr/>
        </p:nvSpPr>
        <p:spPr>
          <a:xfrm>
            <a:off x="640080" y="132588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4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898" y="1466698"/>
            <a:ext cx="358445" cy="35844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2801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구글 계정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1691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Gmail 계정이 있으면 됩니다. 노트북은 이 계정의 구글 드라이브에 저장됩니다.</a:t>
            </a:r>
            <a:endParaRPr lang="en-US" sz="1400" dirty="0"/>
          </a:p>
        </p:txBody>
      </p:sp>
      <p:sp>
        <p:nvSpPr>
          <p:cNvPr id="7" name="icon-bg"/>
          <p:cNvSpPr/>
          <p:nvPr/>
        </p:nvSpPr>
        <p:spPr>
          <a:xfrm>
            <a:off x="640080" y="242316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898" y="2563978"/>
            <a:ext cx="358445" cy="35844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2377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 브라우저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554480" y="2788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크롬(Chrome) 권장. 엣지·사파리도 사용 가능합니다.</a:t>
            </a:r>
            <a:endParaRPr lang="en-US" sz="1400" dirty="0"/>
          </a:p>
        </p:txBody>
      </p:sp>
      <p:sp>
        <p:nvSpPr>
          <p:cNvPr id="11" name="icon-bg"/>
          <p:cNvSpPr/>
          <p:nvPr/>
        </p:nvSpPr>
        <p:spPr>
          <a:xfrm>
            <a:off x="640080" y="352044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8" y="3661258"/>
            <a:ext cx="358445" cy="35844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54480" y="3474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인터넷 연결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554480" y="3886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코드는 구글 서버에서 실행되므로 연결이 끊기면 실행도 멈춥니다.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접속해서 새 노트북 만들기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51560" y="137160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5156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783080" y="1691640"/>
            <a:ext cx="1280160" cy="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45720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접속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colab.research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.google.com 접속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137160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1546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886200" y="1691640"/>
            <a:ext cx="1280160" cy="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256032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위에서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구글 계정 로그인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257800" y="137160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2578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989320" y="1691640"/>
            <a:ext cx="1280160" cy="0"/>
          </a:xfrm>
          <a:prstGeom prst="line">
            <a:avLst/>
          </a:prstGeom>
          <a:noFill/>
          <a:ln w="19050">
            <a:solidFill>
              <a:srgbClr val="BFBFBF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466344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노트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[파일] → [새 노트]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또는 '새 노트' 버튼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60920" y="1371600"/>
            <a:ext cx="640080" cy="64008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609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0" y="2240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변경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265176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위 Untitled0.ipynb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클릭 → 이름 입력</a:t>
            </a:r>
            <a:endParaRPr lang="en-US" sz="1200" dirty="0"/>
          </a:p>
        </p:txBody>
      </p:sp>
      <p:sp>
        <p:nvSpPr>
          <p:cNvPr id="22" name="card"/>
          <p:cNvSpPr/>
          <p:nvPr/>
        </p:nvSpPr>
        <p:spPr>
          <a:xfrm>
            <a:off x="457200" y="379476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5800" y="37947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화면에 안내 노트(Welcome to Colab)가 열려도 당황하지 마세요. 닫고 [파일] → [새 노트]를 누르면 됩니다.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구성 한눈에 보기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212080" cy="3474720"/>
          </a:xfrm>
          <a:prstGeom prst="rect">
            <a:avLst/>
          </a:prstGeom>
          <a:solidFill>
            <a:schemeClr val="bg1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5212080" cy="502920"/>
          </a:xfrm>
          <a:prstGeom prst="rect">
            <a:avLst/>
          </a:prstGeom>
          <a:solidFill>
            <a:schemeClr val="bg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0972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❶ 파일명 · 메뉴바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097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❹ 연결 상태 RAM/디스크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91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❷ + 코드   + 텍스트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548640" cy="2971800"/>
          </a:xfrm>
          <a:prstGeom prst="rect">
            <a:avLst/>
          </a:prstGeom>
          <a:solidFill>
            <a:schemeClr val="bg2"/>
          </a:solidFill>
          <a:ln w="12700">
            <a:solidFill>
              <a:srgbClr val="BFBFB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0116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24231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❺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188720" y="2148840"/>
            <a:ext cx="4297680" cy="685800"/>
          </a:xfrm>
          <a:prstGeom prst="rect">
            <a:avLst/>
          </a:prstGeom>
          <a:solidFill>
            <a:schemeClr val="bg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98448" y="2313432"/>
            <a:ext cx="347472" cy="347472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12" y="236829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783080" y="21488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print("Hello")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297680" y="21488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❸ 코드 셀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1188720" y="3017520"/>
            <a:ext cx="4297680" cy="548640"/>
          </a:xfrm>
          <a:prstGeom prst="rect">
            <a:avLst/>
          </a:prstGeom>
          <a:solidFill>
            <a:schemeClr val="bg1"/>
          </a:solidFill>
          <a:ln w="12700">
            <a:solidFill>
              <a:srgbClr val="BFBFBF"/>
            </a:solidFill>
            <a:prstDash val="dash"/>
          </a:ln>
        </p:spPr>
      </p:sp>
      <p:sp>
        <p:nvSpPr>
          <p:cNvPr id="17" name="Text 13"/>
          <p:cNvSpPr txBox="1"/>
          <p:nvPr/>
        </p:nvSpPr>
        <p:spPr>
          <a:xfrm>
            <a:off x="1371600" y="3017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셀 (설명·제목)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5943600" y="1097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❶ 파일명·메뉴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5943600" y="138988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변경, 파일·런타임 메뉴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5943600" y="18013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❷ + 코드 / + 텍스트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5943600" y="209397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셀 추가 버튼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5943600" y="250545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❸ 셀과 ▶ 실행 버튼</a:t>
            </a:r>
            <a:endParaRPr lang="en-US" sz="1300" dirty="0"/>
          </a:p>
        </p:txBody>
      </p:sp>
      <p:sp>
        <p:nvSpPr>
          <p:cNvPr id="23" name="Text 19"/>
          <p:cNvSpPr txBox="1"/>
          <p:nvPr/>
        </p:nvSpPr>
        <p:spPr>
          <a:xfrm>
            <a:off x="5943600" y="27980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코드를 쓰고 실행하는 칸</a:t>
            </a:r>
            <a:endParaRPr lang="en-US" sz="1100" dirty="0"/>
          </a:p>
        </p:txBody>
      </p:sp>
      <p:sp>
        <p:nvSpPr>
          <p:cNvPr id="24" name="Text 20"/>
          <p:cNvSpPr txBox="1"/>
          <p:nvPr/>
        </p:nvSpPr>
        <p:spPr>
          <a:xfrm>
            <a:off x="5943600" y="320954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❹ 연결 상태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5943600" y="3502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연결과 자원 사용량 표시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5943600" y="39136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❺ 왼쪽 사이드바</a:t>
            </a:r>
            <a:endParaRPr lang="en-US" sz="1300" dirty="0"/>
          </a:p>
        </p:txBody>
      </p:sp>
      <p:sp>
        <p:nvSpPr>
          <p:cNvPr id="27" name="Text 23"/>
          <p:cNvSpPr txBox="1"/>
          <p:nvPr/>
        </p:nvSpPr>
        <p:spPr>
          <a:xfrm>
            <a:off x="59436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파일·목차·검색·비밀 키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셀은 두 종류 — 코드 셀과 텍스트 셀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chemeClr val="bg2"/>
          </a:solidFill>
          <a:ln/>
        </p:spPr>
      </p:sp>
      <p:sp>
        <p:nvSpPr>
          <p:cNvPr id="4" name="icon-bg"/>
          <p:cNvSpPr/>
          <p:nvPr/>
        </p:nvSpPr>
        <p:spPr>
          <a:xfrm>
            <a:off x="731520" y="14173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5380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417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셀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파이썬 코드를 입력하고 실행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974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결과가 셀 바로 아래 출력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추가: [+ 코드] 또는 Ctrl+M → B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▶ 버튼으로 실행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4663440" y="1143000"/>
            <a:ext cx="4023360" cy="3383280"/>
          </a:xfrm>
          <a:prstGeom prst="roundRect">
            <a:avLst>
              <a:gd name="adj" fmla="val 2162"/>
            </a:avLst>
          </a:prstGeom>
          <a:solidFill>
            <a:schemeClr val="bg1"/>
          </a:solidFill>
          <a:ln/>
        </p:spPr>
      </p:sp>
      <p:sp>
        <p:nvSpPr>
          <p:cNvPr id="10" name="Shape 7"/>
          <p:cNvSpPr/>
          <p:nvPr/>
        </p:nvSpPr>
        <p:spPr>
          <a:xfrm>
            <a:off x="4663440" y="1143000"/>
            <a:ext cx="4023360" cy="3383280"/>
          </a:xfrm>
          <a:prstGeom prst="roundRect">
            <a:avLst>
              <a:gd name="adj" fmla="val 2162"/>
            </a:avLst>
          </a:prstGeom>
          <a:ln w="12700">
            <a:solidFill>
              <a:srgbClr val="BFBFBF"/>
            </a:solidFill>
            <a:prstDash val="solid"/>
          </a:ln>
        </p:spPr>
      </p:sp>
      <p:sp>
        <p:nvSpPr>
          <p:cNvPr id="11" name="icon-bg"/>
          <p:cNvSpPr/>
          <p:nvPr/>
        </p:nvSpPr>
        <p:spPr>
          <a:xfrm>
            <a:off x="4937760" y="14173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461" y="15380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669280" y="14173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셀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937760" y="21945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설명·제목·수식을 작성 (마크다운)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937760" y="269748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 제목, **굵게**, - 목록 사용 가능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추가: [+ 텍스트]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더블클릭하면 편집, Shift+Enter로 완료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코드 실행해 보기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셀에 입력</a:t>
            </a:r>
            <a:endParaRPr lang="en-US" sz="1300" dirty="0"/>
          </a:p>
        </p:txBody>
      </p:sp>
      <p:sp>
        <p:nvSpPr>
          <p:cNvPr id="4" name="code-bg"/>
          <p:cNvSpPr/>
          <p:nvPr/>
        </p:nvSpPr>
        <p:spPr>
          <a:xfrm>
            <a:off x="457200" y="1463040"/>
            <a:ext cx="4206240" cy="1188720"/>
          </a:xfrm>
          <a:prstGeom prst="roundRect">
            <a:avLst>
              <a:gd name="adj" fmla="val 4615"/>
            </a:avLst>
          </a:prstGeom>
          <a:solidFill>
            <a:schemeClr val="tx1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685800" y="15544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print("Hello, Colab!")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880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결과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4206240" cy="100584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2918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Hello, Colab!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5029200" y="1463040"/>
            <a:ext cx="3657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257800" y="14630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버튼 클릭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14630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 왼쪽의 재생 아이콘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5029200" y="2423160"/>
            <a:ext cx="3657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57800" y="24231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Ctrl + Enter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4231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셀 실행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5029200" y="3383280"/>
            <a:ext cx="3657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57800" y="338328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Shift + Enter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338328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후 다음 셀로 이동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실행은 서버 연결 때문에 몇 초 걸릴 수 있습니다.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꼭 알아 둘 단축키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2377440"/>
                <a:gridCol w="2377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동작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Windows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Mac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현재 셀 실행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Ctrl + Enter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⌘ + Enter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 후 다음 셀로 이동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Shift + Enter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Shift + Enter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실행 후 아래에 새 셀 추가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Alt + Enter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Option + Enter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 / 아래에 코드 셀 추가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Ctrl + M → A / B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⌘ + M → A / B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코드 셀 ↔ 텍스트 셀 전환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Ctrl + M → Y / M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⌘ + M → Y / M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셀 삭제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Ctrl + M → D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⌘ + M → D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주석 처리 / 해제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Ctrl + /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⌘ + /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전체 단축키 보기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Ctrl + M → H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1F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⌘ + M → H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런타임 — 코드를 실행하는 구글의 임시 컴퓨터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셀을 실행하면 구글 서버의 가상 컴퓨터(런타임)에 연결됩니다.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변수는 실행한 '순서'대로 기억됩니다 — 화면 위아래 순서가 아닙니다.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연결이 끊기거나 다시 시작하면 변수와 업로드한 파일이 사라집니다.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394960" y="1143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[런타임] 메뉴에서 자주 쓰는 것</a:t>
            </a:r>
            <a:endParaRPr lang="en-US" sz="1300" dirty="0"/>
          </a:p>
        </p:txBody>
      </p:sp>
      <p:sp>
        <p:nvSpPr>
          <p:cNvPr id="5" name="card"/>
          <p:cNvSpPr/>
          <p:nvPr/>
        </p:nvSpPr>
        <p:spPr>
          <a:xfrm>
            <a:off x="5394960" y="1554480"/>
            <a:ext cx="32918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577840" y="16276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실행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9476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처음부터 끝까지 순서대로</a:t>
            </a:r>
            <a:endParaRPr lang="en-US" sz="1100" dirty="0"/>
          </a:p>
        </p:txBody>
      </p:sp>
      <p:sp>
        <p:nvSpPr>
          <p:cNvPr id="8" name="card"/>
          <p:cNvSpPr/>
          <p:nvPr/>
        </p:nvSpPr>
        <p:spPr>
          <a:xfrm>
            <a:off x="5394960" y="2423160"/>
            <a:ext cx="32918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577840" y="24963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세션 다시 시작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577840" y="2816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 초기화, 꼬였을 때</a:t>
            </a:r>
            <a:endParaRPr lang="en-US" sz="1100" dirty="0"/>
          </a:p>
        </p:txBody>
      </p:sp>
      <p:sp>
        <p:nvSpPr>
          <p:cNvPr id="11" name="card"/>
          <p:cNvSpPr/>
          <p:nvPr/>
        </p:nvSpPr>
        <p:spPr>
          <a:xfrm>
            <a:off x="5394960" y="3291840"/>
            <a:ext cx="32918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577840" y="3364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런타임 유형 변경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36850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CPU / GPU / TPU 선택</a:t>
            </a:r>
            <a:endParaRPr lang="en-US" sz="1100" dirty="0"/>
          </a:p>
        </p:txBody>
      </p:sp>
      <p:sp>
        <p:nvSpPr>
          <p:cNvPr id="14" name="card"/>
          <p:cNvSpPr/>
          <p:nvPr/>
        </p:nvSpPr>
        <p:spPr>
          <a:xfrm>
            <a:off x="457200" y="3657600"/>
            <a:ext cx="45720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36576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오류가 이상하게 날 때: [런타임] → 세션 다시 시작 → 모두 실행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GPU 켜는 방법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188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[런타임] 메뉴 클릭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0116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[런타임 유형 변경] 선택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834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하드웨어 가속기에서 'T4 GPU' 선택 → 저장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GPU 연결 확인</a:t>
            </a:r>
            <a:endParaRPr lang="en-US" sz="1300" dirty="0"/>
          </a:p>
        </p:txBody>
      </p:sp>
      <p:sp>
        <p:nvSpPr>
          <p:cNvPr id="13" name="code-bg"/>
          <p:cNvSpPr/>
          <p:nvPr/>
        </p:nvSpPr>
        <p:spPr>
          <a:xfrm>
            <a:off x="5029200" y="1554480"/>
            <a:ext cx="3657600" cy="731520"/>
          </a:xfrm>
          <a:prstGeom prst="roundRect">
            <a:avLst>
              <a:gd name="adj" fmla="val 7500"/>
            </a:avLst>
          </a:prstGeom>
          <a:solidFill>
            <a:schemeClr val="tx1"/>
          </a:solidFill>
          <a:ln/>
        </p:spPr>
      </p:sp>
      <p:sp>
        <p:nvSpPr>
          <p:cNvPr id="14" name="code"/>
          <p:cNvSpPr txBox="1"/>
          <p:nvPr/>
        </p:nvSpPr>
        <p:spPr>
          <a:xfrm>
            <a:off x="5257800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!nvidia-smi</a:t>
            </a:r>
            <a:endParaRPr lang="en-US" sz="1600" dirty="0"/>
          </a:p>
        </p:txBody>
      </p:sp>
      <p:sp>
        <p:nvSpPr>
          <p:cNvPr id="15" name="card"/>
          <p:cNvSpPr/>
          <p:nvPr/>
        </p:nvSpPr>
        <p:spPr>
          <a:xfrm>
            <a:off x="5029200" y="2560320"/>
            <a:ext cx="365760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57800" y="265176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알아 둘 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유형을 바꾸면 런타임이 새로 시작되어 변수가 초기화됩니다.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 사용자는 GPU를 항상 받을 수 있는 것은 아닙니다.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기초 파이썬 실습에는 GPU가 필요 없습니다.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라이브러리 설치와 파일 다루기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라이브러리 설치</a:t>
            </a:r>
            <a:endParaRPr lang="en-US" sz="1400" dirty="0"/>
          </a:p>
        </p:txBody>
      </p:sp>
      <p:sp>
        <p:nvSpPr>
          <p:cNvPr id="4" name="code-bg"/>
          <p:cNvSpPr/>
          <p:nvPr/>
        </p:nvSpPr>
        <p:spPr>
          <a:xfrm>
            <a:off x="457200" y="1463040"/>
            <a:ext cx="4023360" cy="640080"/>
          </a:xfrm>
          <a:prstGeom prst="roundRect">
            <a:avLst>
              <a:gd name="adj" fmla="val 8571"/>
            </a:avLst>
          </a:prstGeom>
          <a:solidFill>
            <a:schemeClr val="tx1"/>
          </a:solidFill>
          <a:ln/>
        </p:spPr>
      </p:sp>
      <p:sp>
        <p:nvSpPr>
          <p:cNvPr id="5" name="code"/>
          <p:cNvSpPr txBox="1"/>
          <p:nvPr/>
        </p:nvSpPr>
        <p:spPr>
          <a:xfrm>
            <a:off x="685800" y="1554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패키지이름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9456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대부분 미리 설치되어 있으니, import에서 오류가 날 때만 설치합니다.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834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구글 드라이브 연결 (마운트)</a:t>
            </a:r>
            <a:endParaRPr lang="en-US" sz="1400" dirty="0"/>
          </a:p>
        </p:txBody>
      </p:sp>
      <p:sp>
        <p:nvSpPr>
          <p:cNvPr id="8" name="code-bg"/>
          <p:cNvSpPr/>
          <p:nvPr/>
        </p:nvSpPr>
        <p:spPr>
          <a:xfrm>
            <a:off x="457200" y="3200400"/>
            <a:ext cx="4023360" cy="914400"/>
          </a:xfrm>
          <a:prstGeom prst="roundRect">
            <a:avLst>
              <a:gd name="adj" fmla="val 6000"/>
            </a:avLst>
          </a:prstGeom>
          <a:solidFill>
            <a:schemeClr val="tx1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685800" y="32918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google.colab import drive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drive.mount('/content/drive')</a:t>
            </a:r>
            <a:endParaRPr lang="en-US" sz="1300" dirty="0"/>
          </a:p>
        </p:txBody>
      </p:sp>
      <p:sp>
        <p:nvSpPr>
          <p:cNvPr id="10" name="icon-bg"/>
          <p:cNvSpPr/>
          <p:nvPr/>
        </p:nvSpPr>
        <p:spPr>
          <a:xfrm>
            <a:off x="4937760" y="109728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58461" y="1217981"/>
            <a:ext cx="307238" cy="307238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669280" y="1097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업로드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5669280" y="1691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사이드바의 폴더 아이콘 → 업로드 버튼 또는 끌어다 놓기</a:t>
            </a:r>
            <a:endParaRPr lang="en-US" sz="1200" dirty="0"/>
          </a:p>
        </p:txBody>
      </p:sp>
      <p:sp>
        <p:nvSpPr>
          <p:cNvPr id="14" name="icon-bg"/>
          <p:cNvSpPr/>
          <p:nvPr/>
        </p:nvSpPr>
        <p:spPr>
          <a:xfrm>
            <a:off x="4937760" y="25603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461" y="2681021"/>
            <a:ext cx="307238" cy="30723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669280" y="2560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드라이브 파일 사용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5669280" y="3154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마운트 후 /content/drive/MyDrive/ 경로로 내 드라이브 파일을 읽고 저장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4937760" y="39319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업로드한 파일은 세션이 끝나면 삭제됩니다. 보관할 파일은 드라이브에!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저장과 공유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icon-bg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5837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463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 저장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2011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드라이브 &gt; Colab Notebooks 폴더에 저장. 수동 저장은 Ctrl+S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4663440" y="118872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icon-bg"/>
          <p:cNvSpPr/>
          <p:nvPr/>
        </p:nvSpPr>
        <p:spPr>
          <a:xfrm>
            <a:off x="4937760" y="146304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461" y="158374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4630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공유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669280" y="2011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위 [공유] 버튼 → 사람 추가 또는 링크 복사 (구글 문서와 동일)</a:t>
            </a:r>
            <a:endParaRPr lang="en-US" sz="1200" dirty="0"/>
          </a:p>
        </p:txBody>
      </p:sp>
      <p:sp>
        <p:nvSpPr>
          <p:cNvPr id="13" name="card"/>
          <p:cNvSpPr/>
          <p:nvPr/>
        </p:nvSpPr>
        <p:spPr>
          <a:xfrm>
            <a:off x="457200" y="288036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icon-bg"/>
          <p:cNvSpPr/>
          <p:nvPr/>
        </p:nvSpPr>
        <p:spPr>
          <a:xfrm>
            <a:off x="731520" y="315468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327538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내려받기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3703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[파일] → [다운로드] → .ipynb 또는 .py 형식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4663440" y="288036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icon-bg"/>
          <p:cNvSpPr/>
          <p:nvPr/>
        </p:nvSpPr>
        <p:spPr>
          <a:xfrm>
            <a:off x="4937760" y="315468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20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8461" y="327538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692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저장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5669280" y="3703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[파일] → [GitHub에 사본 저장]으로 저장소에 올리기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 버전 사용 시 주의할 점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2926080" cy="3291840"/>
          </a:xfrm>
          <a:prstGeom prst="roundRect">
            <a:avLst>
              <a:gd name="adj" fmla="val 2500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최대 12시간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3774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 세션은 오래 켜 두어도 일정 시간이 지나면 연결이 종료됩니다.</a:t>
            </a:r>
            <a:endParaRPr lang="en-US" sz="1300" dirty="0"/>
          </a:p>
        </p:txBody>
      </p:sp>
      <p:sp>
        <p:nvSpPr>
          <p:cNvPr id="6" name="icon-bg"/>
          <p:cNvSpPr/>
          <p:nvPr/>
        </p:nvSpPr>
        <p:spPr>
          <a:xfrm>
            <a:off x="3749040" y="123444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9741" y="13551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480560" y="1188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 비우면 끊김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480560" y="1600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한동안 아무 작업도 하지 않으면 런타임 연결이 해제됩니다.</a:t>
            </a:r>
            <a:endParaRPr lang="en-US" sz="1200" dirty="0"/>
          </a:p>
        </p:txBody>
      </p:sp>
      <p:sp>
        <p:nvSpPr>
          <p:cNvPr id="10" name="icon-bg"/>
          <p:cNvSpPr/>
          <p:nvPr/>
        </p:nvSpPr>
        <p:spPr>
          <a:xfrm>
            <a:off x="3749040" y="233172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741" y="245242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8056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 해제 = 초기화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480560" y="26974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변수·설치한 패키지·업로드 파일이 모두 사라집니다.</a:t>
            </a:r>
            <a:endParaRPr lang="en-US" sz="1200" dirty="0"/>
          </a:p>
        </p:txBody>
      </p:sp>
      <p:sp>
        <p:nvSpPr>
          <p:cNvPr id="14" name="icon-bg"/>
          <p:cNvSpPr/>
          <p:nvPr/>
        </p:nvSpPr>
        <p:spPr>
          <a:xfrm>
            <a:off x="3749040" y="3429000"/>
            <a:ext cx="548640" cy="54864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9741" y="354970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480560" y="33832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썼으면 종료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480560" y="37947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[런타임] → [런타임 연결 해제 및 삭제]로 자원을 반납합니다.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도우미(Gemini)도 함께 쓸 수 있어요</a:t>
            </a:r>
            <a:endParaRPr lang="en-US" sz="2800" dirty="0"/>
          </a:p>
        </p:txBody>
      </p:sp>
      <p:sp>
        <p:nvSpPr>
          <p:cNvPr id="3" name="icon-bg"/>
          <p:cNvSpPr/>
          <p:nvPr/>
        </p:nvSpPr>
        <p:spPr>
          <a:xfrm>
            <a:off x="457200" y="1234440"/>
            <a:ext cx="914400" cy="914400"/>
          </a:xfrm>
          <a:prstGeom prst="ellipse">
            <a:avLst/>
          </a:prstGeom>
          <a:solidFill>
            <a:schemeClr val="tx1"/>
          </a:solidFill>
          <a:ln/>
        </p:spPr>
      </p:sp>
      <p:pic>
        <p:nvPicPr>
          <p:cNvPr id="4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35608"/>
            <a:ext cx="512064" cy="5120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45920" y="1234440"/>
            <a:ext cx="7040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Colab에는 구글의 AI(Gemini)가 들어 있어 코드 작성과 오류 해결을 도와줍니다.</a:t>
            </a:r>
            <a:endParaRPr lang="en-US" sz="1500" dirty="0"/>
          </a:p>
        </p:txBody>
      </p:sp>
      <p:sp>
        <p:nvSpPr>
          <p:cNvPr id="6" name="card"/>
          <p:cNvSpPr/>
          <p:nvPr/>
        </p:nvSpPr>
        <p:spPr>
          <a:xfrm>
            <a:off x="457200" y="251460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580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만들기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2004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'CSV 파일 읽어서 평균 구해줘'처럼 말로 요청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3246120" y="251460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47472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오류 설명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32004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에러가 나면 원인과 수정 방법을 제안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6035040" y="2514600"/>
            <a:ext cx="260604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263640" y="2743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설명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263640" y="320040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코드를 한 줄씩 풀어서 설명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만든 코드도 반드시 직접 읽고 실행 결과를 확인하세요.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체크리스트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17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구글 계정으로 Colab에 접속했다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663440" y="1417320"/>
            <a:ext cx="457200" cy="45720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50876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303520" y="1417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노트북을 만들고 이름을 바꿨다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6888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2377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셀에서 print()를 실행했다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663440" y="2377440"/>
            <a:ext cx="457200" cy="45720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46888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303520" y="2377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텍스트 셀로 제목과 설명을 적었다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42900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3337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Ctrl+Enter / Shift+Enter를 써 봤다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663440" y="3337560"/>
            <a:ext cx="457200" cy="457200"/>
          </a:xfrm>
          <a:prstGeom prst="ellipse">
            <a:avLst/>
          </a:prstGeom>
          <a:ln w="19050">
            <a:solidFill>
              <a:srgbClr val="FFFFFF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429000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303520" y="3337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드라이브의 Colab Notebooks 폴더를 확인했다</a:t>
            </a:r>
            <a:endParaRPr lang="en-US" sz="1400" dirty="0"/>
          </a:p>
        </p:txBody>
      </p:sp>
      <p:sp>
        <p:nvSpPr>
          <p:cNvPr id="21" name="Text 13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colab.research.google.com</a:t>
            </a:r>
            <a:endParaRPr lang="en-US" sz="1200" dirty="0"/>
          </a:p>
        </p:txBody>
      </p:sp>
      <p:sp>
        <p:nvSpPr>
          <p:cNvPr id="23" name="Text 0"/>
          <p:cNvSpPr/>
          <p:nvPr>
            <p:ph idx="100" type="title" hasCustomPrompt="1"/>
          </p:nvPr>
        </p:nvSpPr>
        <p:spPr>
          <a:xfrm>
            <a:off x="640080" y="14173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endParaRPr lang="en-US" sz="3800" dirty="0"/>
          </a:p>
        </p:txBody>
      </p:sp>
      <p:sp>
        <p:nvSpPr>
          <p:cNvPr id="24" name="Text 0"/>
          <p:cNvSpPr/>
          <p:nvPr>
            <p:ph idx="101" type="body" hasCustomPrompt="1"/>
          </p:nvPr>
        </p:nvSpPr>
        <p:spPr>
          <a:xfrm>
            <a:off x="640080" y="2743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lab Mono">
  <a:themeElements>
    <a:clrScheme name="Colab Mono">
      <a:dk1>
        <a:srgbClr val="1F1F1F"/>
      </a:dk1>
      <a:lt1>
        <a:srgbClr val="FFFFFF"/>
      </a:lt1>
      <a:dk2>
        <a:srgbClr val="3A3A3A"/>
      </a:dk2>
      <a:lt2>
        <a:srgbClr val="F2F2F2"/>
      </a:lt2>
      <a:accent1>
        <a:srgbClr val="1F1F1F"/>
      </a:accent1>
      <a:accent2>
        <a:srgbClr val="5A5A5A"/>
      </a:accent2>
      <a:accent3>
        <a:srgbClr val="8C8C8C"/>
      </a:accent3>
      <a:accent4>
        <a:srgbClr val="BFBFBF"/>
      </a:accent4>
      <a:accent5>
        <a:srgbClr val="D9D9D9"/>
      </a:accent5>
      <a:accent6>
        <a:srgbClr val="EDEDED"/>
      </a:accent6>
      <a:hlink>
        <a:srgbClr val="1F1F1F"/>
      </a:hlink>
      <a:folHlink>
        <a:srgbClr val="5A5A5A"/>
      </a:folHlink>
    </a:clrScheme>
    <a:fontScheme name="Colab Mono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Colab 첫걸음</dc:title>
  <dc:subject>PptxGenJS Presentation</dc:subject>
  <dc:creator>이상목</dc:creator>
  <cp:lastModifiedBy>이상목</cp:lastModifiedBy>
  <cp:revision>1</cp:revision>
  <dcterms:created xsi:type="dcterms:W3CDTF">2026-10-18T22:59:45Z</dcterms:created>
  <dcterms:modified xsi:type="dcterms:W3CDTF">2026-10-18T22:59:45Z</dcterms:modified>
</cp:coreProperties>
</file>