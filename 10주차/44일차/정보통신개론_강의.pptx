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514c1adc-e63c-8d16-950c-ba8a496c5ebc}">
          <p14:sldIdLst>
            <p14:sldId id="256"/>
            <p14:sldId id="257"/>
          </p14:sldIdLst>
        </p14:section>
        <p14:section name="아날로그·디지털 전송 매트릭스" id="{4c5cfcee-dabf-d313-3293-f6f4c79fd364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안테나 (Antenna)" id="{81f6d4a8-6c83-c28d-206b-b8914f29136e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AM 전송 (진폭 변조)" id="{c893b500-5910-7aa4-4fbf-f907f0b47d8c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FM 전송 (주파수 변조)" id="{8df27a03-7f2f-60d4-fe10-7259a30a631d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PCM (펄스 부호 변조)" id="{0d9f18c2-2e68-5c90-8288-4443b4d4837b}">
          <p14:sldIdLst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위성통신과 GPS" id="{425cd8c5-faf7-2fb7-8eef-9c87a2fb9ea3}">
          <p14:sldIdLst>
            <p14:sldId id="289"/>
            <p14:sldId id="290"/>
            <p14:sldId id="291"/>
            <p14:sldId id="292"/>
            <p14:sldId id="293"/>
          </p14:sldIdLst>
        </p14:section>
        <p14:section name="이동통신 개론" id="{5036ef2a-b0eb-1854-e5ea-218f6730e857}">
          <p14:sldIdLst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IoT 센싱 (Sensing)" id="{8809bbdc-fc27-7672-1a71-9922a3775403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정리와 복습" id="{63b2f961-a905-a4b1-23e8-c968870054c4}">
          <p14:sldIdLst>
            <p14:sldId id="312"/>
            <p14:sldId id="313"/>
            <p14:sldId id="314"/>
            <p14:sldId id="315"/>
          </p14:sldIdLst>
        </p14:section>
        <p14:section name="마무리" id="{6d17f89d-ae6a-f4f0-cef9-2a32f2b912e7}">
          <p14:sldIdLst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정보통신의 기본이 되는 신호 전송 방식부터 변조, 디지털 변환, 위성·이동통신, IoT까지 큰 흐름을 함께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7개 주제를 순서대로 다룹니다. 앞부분(1~4)은 신호를 '어떻게 바꿔 보내는가', 뒷부분(5~7)은 그 기술이 '어디에 쓰이는가'입니다.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데이터와 신호를 구분하는 것에서 출발합니다.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데이터는 보내려는 정보 자체, 신호는 그것을 실제로 보내기 위해 바꾼 전기적 형태입니다. 이 구분이 오늘 수업 전체의 기초입니다.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칸을 하나씩 짚어 주세요. 1번 칸은 라디오, 2번은 디지털 전화, 3번은 모뎀·와이파이, 4번은 랜선입니다.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음성을 그대로 공중에 보낼 수 없는 이유 세 가지. 특히 안테나 크기 이야기는 1-1장에서 다시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0과 1에 따라 반송파의 요소를 스위치처럼 바꾸기 때문에 '키잉'이라고 부릅니다. QAM은 진폭과 위상을 함께 써서 한 번에 여러 비트를 보냅니다.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송신측에서 바꾸면 수신측에서 되돌려야 하므로 장비는 항상 짝을 이룹니다. 스마트폰 안에는 코덱과 모뎀이 모두 들어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안테나는 송신과 수신에 똑같이 쓰입니다(가역성).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파장 공식 하나만 기억하면 안테나 크기, 전파 특성을 모두 설명할 수 있습니다. 칠판에 FM 100 MHz 예를 직접 계산해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기본형인 다이폴부터 위성용 파라볼라까지. 지향성이 강할수록 전파를 한 방향으로 모아 멀리 보냅니다.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핵심은 이득(dBi)이 클수록 전송 거리가 길어진다는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주파수가 낮으면 땅이나 전리층을 타고 멀리 가고, 높으면 빛처럼 직진합니다.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방송탑이 수십 m인 이유, 5G 안테나가 mm 단위인 이유를 이 그래프 하나로 설명할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AM은 가장 오래되고 구조가 간단한 변조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신호파는 실어 보낼 짐, 반송파는 트럭, 피변조파는 짐을 실은 트럭입니다. 3번 파형의 점선(포락선)이 1번 신호와 같은 모양이라는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변조 지수 m은 신호파가 반송파를 얼마나 세게 흔드는지를 나타냅니다.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정보는 측파대에 있고 반송파 자체에는 정보가 없습니다. 그래서 AM은 전력 효율이 낮습니다.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수신기의 핵심은 혼합기로 모든 방송을 455 kHz 중간주파수로 바꾸는 것(슈퍼헤테로다인)과 다이오드 검파입니다.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블록도를 보면서 단계별로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FM은 대역폭을 넓게 쓰는 대신 음질과 잡음 내성을 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진폭은 그대로인데 파형의 촘촘함이 변하는 것을 보여 주세요. 신호가 클 때 촘촘, 작을 때 성깁니다.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카슨의 법칙으로 FM 방송 채널이 왜 200 kHz 간격인지 계산해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송신의 VCO와 수신의 리미터·판별기가 핵심입니다. 프리엠퍼시스/디엠퍼시스는 고음 잡음을 줄이기 위한 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대부분의 잡음은 진폭을 흔듭니다. FM은 정보가 주파수에 있으므로 진폭을 잘라내도 정보는 그대로입니다.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슬라이드입니다. 학생들에게 각 행을 먼저 맞춰 보게 하는 것도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디지털 전화, CD, WAV 파일이 모두 PCM입니다.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아날로그 중계기는 잡음까지 증폭하지만, 디지털 재생중계기는 0과 1을 다시 깨끗하게 만들어 보냅니다.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4개 그림을 순서대로 짚어 주세요. ②에서 점을 찍고, ③에서 계단으로 반올림하고, ④에서 2진수로 바꿉니다.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에일리어싱은 영화에서 바퀴가 거꾸로 도는 것처럼 보이는 현상과 같은 원리라고 설명하면 이해가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양자화 잡음은 PCM의 유일한 고유 오차입니다. 비트를 하나 늘릴 때마다 약 6 dB 좋아집니다.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A/D 변환과 D/A 변환이 대칭이라는 점을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비트율 = 표본화 주파수 × 비트 수 × 채널 수. 연습 문제를 함께 풀어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업링크와 다운링크의 주파수가 다른 이유부터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업링크와 다운링크가 같은 주파수면 서로 간섭하므로, 위성 안의 트랜스폰더가 주파수를 바꿔 보냅니다.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LEO는 가깝고 빠르지만 위성이 많이 필요하고, GEO는 멀지만 3기로 지구 대부분을 덮습니다.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위성 3개로 위치를 구하지만, 스마트폰 시계 오차 때문에 4번째 위성이 필요합니다. 1 μs 오차가 300 m 오차가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GPS III는 현재 최신 세대입니다. 스마트폰은 GPS 외에도 여러 GNSS를 동시에 수신합니다.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1G부터 5G까지의 발전을 먼저 훑어봅니다.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한국은 2G CDMA(1996)와 5G(2019)를 세계 최초로 상용화했습니다.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단말의 SIM 카드에 가입자 번호(IMSI)와 인증 키가 들어 있다는 점이 로밍 이해에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육각형인 이유: 빈틈없이 평면을 채우면서 원에 가장 가까운 모양이기 때문입니다. LTE·5G는 N=1로 모든 셀이 같은 주파수를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사용자가 많을수록 셀을 작게 나눕니다.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히스테리시스는 경계에서 A와 B를 왔다 갔다 반복하는 '핑퐁' 현상을 막기 위한 여유값입니다.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SIM의 IMSI 앞자리(한국 MCC 450)를 보고 방문망은 어느 나라 어느 통신사 가입자인지 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IoT는 지금까지 배운 변조, PCM, 이동통신이 모두 모인 종합 응용 분야입니다.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센싱이 정확하지 않으면 그 뒤의 분석·AI가 아무리 좋아도 결과가 틀립니다.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센서는 물리량을 전기적 변화로, 액추에이터는 반대로 전기 신호를 동작으로 바꿉니다.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ADC는 4장의 PCM과 완전히 같은 원리입니다. 앞에서 배운 내용이 어떻게 연결되는지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아두이노·ESP32 실습 시 바로 쓰이는 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1-1장에서 배운 것처럼 거리·속도·전력은 서로 교환 관계입니다. IoT는 데이터가 작고 가끔 발생하므로 저전력·장거리가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LoRa는 CSS(Chirp Spread Spectrum) 변조로 잡음보다 약한 신호도 받을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깨어나서 측정·전송하고 다시 잠드는 패턴입니다. 계산 예를 함께 따라가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센서와 앱은 서로를 몰라도 토픽 주소만 알면 됩니다. #는 하위 전체, +는 한 단계 와일드카드입니다.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센싱 → 전송 → 분석 → 제어가 다시 센싱으로 이어지는 폐루프 제어가 IoT의 기본 형태입니다.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2016년 미라이 봇넷은 기본 비밀번호를 바꾸지 않은 IP 카메라·공유기 수십만 대를 감염시켜 대규모 DDoS 공격에 사용했습니다.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핵심을 정리하고 퀴즈로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장의 한 줄 요약입니다.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문제를 먼저 보여 주고 학생들이 답한 뒤 정답 열을 확인하세요. (발표 시 정답 열에 애니메이션을 추가해도 좋습니다)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문제를 먼저 보여 주고 학생들이 답한 뒤 정답 열을 확인하세요. (발표 시 정답 열에 애니메이션을 추가해도 좋습니다)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80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정보통신개론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정보통신개론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 전송 · 변조 · PCM · 위성통신 · 이동통신 · IoT 센싱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내용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9961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아날로그·디지털 전송 매트릭스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920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4가지 조합과 변복조 장비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37160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55448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1-1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149961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안테나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1920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종류, 주파수와 거리, 크기 문제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56032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600200" y="26883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AM 전송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3108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진폭 변조 · 변조에서 복조까지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17920" y="256032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27432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269480" y="26883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FM 전송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269480" y="3108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주파수 변조 · 잡음에 강한 이유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374904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" y="39319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600200" y="38770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PCM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1600200" y="4297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표본화 · 양자화 · 부호화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17920" y="374904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39319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269480" y="38770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위성통신과 GPS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7269480" y="4297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궤도별 분류 · 위치 측정 원리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48640" y="493776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1520" y="51206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600200" y="50657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이동통신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1600200" y="5486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셀 · 핸드오버 · 로밍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0" y="51206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40080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7269480" y="50657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IoT 센싱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269480" y="5486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센서 · 신호 처리 · 저전력 통신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80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아날로그·디지털 전송 매트릭스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2종 × 신호 2종 = 4가지 전송 방법과 필요한 장비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데이터와 신호는 다르다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36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아날로그 (Analog)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값이 </a:t>
            </a:r>
            <a:r>
              <a:rPr lang="en-US" sz="1600" b="1" dirty="0">
                <a:solidFill>
                  <a:schemeClr val="tx1"/>
                </a:solidFill>
              </a:rPr>
              <a:t>끊김 없이 연속적</a:t>
            </a:r>
            <a:r>
              <a:rPr lang="en-US" sz="1600" dirty="0">
                <a:solidFill>
                  <a:schemeClr val="tx1"/>
                </a:solidFill>
              </a:rPr>
              <a:t>으로 변함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예) 목소리, 온도, 빛의 밝기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1536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디지털 (Digital)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0116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정해진 몇 개의 값(0과 1)</a:t>
            </a:r>
            <a:r>
              <a:rPr lang="en-US" sz="1600" dirty="0">
                <a:solidFill>
                  <a:schemeClr val="tx1"/>
                </a:solidFill>
              </a:rPr>
              <a:t> 만 가짐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예) 컴퓨터 파일, 문자, 디지털 사진</a:t>
            </a:r>
            <a:endParaRPr lang="en-US" sz="1600" dirty="0"/>
          </a:p>
        </p:txBody>
      </p:sp>
      <p:sp>
        <p:nvSpPr>
          <p:cNvPr id="10" name="keybox"/>
          <p:cNvSpPr/>
          <p:nvPr/>
        </p:nvSpPr>
        <p:spPr>
          <a:xfrm>
            <a:off x="548640" y="393192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데이터</a:t>
            </a:r>
            <a:r>
              <a:rPr lang="en-US" sz="1700" dirty="0">
                <a:solidFill>
                  <a:schemeClr val="bg1"/>
                </a:solidFill>
              </a:rPr>
              <a:t> = 보내려는 정보의 원래 모습     </a:t>
            </a:r>
            <a:r>
              <a:rPr lang="en-US" sz="1700" b="1" dirty="0">
                <a:solidFill>
                  <a:schemeClr val="bg1"/>
                </a:solidFill>
              </a:rPr>
              <a:t>신호</a:t>
            </a:r>
            <a:r>
              <a:rPr lang="en-US" sz="1700" dirty="0">
                <a:solidFill>
                  <a:schemeClr val="bg1"/>
                </a:solidFill>
              </a:rPr>
              <a:t> = 선로·공기를 통해 실제로 보내는 형태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데이터 2종 × 신호 2종 → 4가지 조합이 생긴다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매트릭스 : 4가지 조합</a:t>
            </a:r>
            <a:endParaRPr lang="en-US" sz="3000" dirty="0"/>
          </a:p>
        </p:txBody>
      </p:sp>
      <p:pic>
        <p:nvPicPr>
          <p:cNvPr id="4" name="f01_matrix" descr="f01_mat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3466"/>
            <a:ext cx="6400800" cy="491970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223760" y="173736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아날로그 → 아날로그</a:t>
            </a: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AM · FM · PM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아날로그 → 디지털</a:t>
            </a: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PCM (코덱)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디지털 → 아날로그</a:t>
            </a: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ASK · FSK · PSK · QAM (모뎀)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디지털 → 디지털</a:t>
            </a: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NRZ · 맨체스터 (DSU/CSU)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꼭 변조를 해야 할까?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① 안테나 크기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03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 kHz 음성 그대로 → 파장 100 km, 안테나 </a:t>
            </a:r>
            <a:r>
              <a:rPr lang="en-US" sz="1600" b="1" dirty="0">
                <a:solidFill>
                  <a:schemeClr val="tx1"/>
                </a:solidFill>
              </a:rPr>
              <a:t>약 25 km</a:t>
            </a:r>
            <a:r>
              <a:rPr lang="en-US" sz="1600" dirty="0">
                <a:solidFill>
                  <a:schemeClr val="tx1"/>
                </a:solidFill>
              </a:rPr>
              <a:t> 필요 → 불가능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429768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② 다중화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103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방송국마다 다른 반송파 주파수 → 한 공간에서 </a:t>
            </a:r>
            <a:r>
              <a:rPr lang="en-US" sz="1600" b="1" dirty="0">
                <a:solidFill>
                  <a:schemeClr val="tx1"/>
                </a:solidFill>
              </a:rPr>
              <a:t>여러 방송 동시 전송</a:t>
            </a:r>
            <a:r>
              <a:rPr lang="en-US" sz="1600" dirty="0">
                <a:solidFill>
                  <a:schemeClr val="tx1"/>
                </a:solidFill>
              </a:rPr>
              <a:t> (FDM)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804672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③ 전파 특성 선택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103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멀리 → 낮은 주파수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많은 정보 → 높은 주파수</a:t>
            </a:r>
            <a:endParaRPr lang="en-US" sz="1600" dirty="0"/>
          </a:p>
        </p:txBody>
      </p:sp>
      <p:sp>
        <p:nvSpPr>
          <p:cNvPr id="13" name="keybox"/>
          <p:cNvSpPr/>
          <p:nvPr/>
        </p:nvSpPr>
        <p:spPr>
          <a:xfrm>
            <a:off x="548640" y="429768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변조(Modulation)</a:t>
            </a:r>
            <a:r>
              <a:rPr lang="en-US" sz="1700" dirty="0">
                <a:solidFill>
                  <a:schemeClr val="bg1"/>
                </a:solidFill>
              </a:rPr>
              <a:t> : 높은 주파수의 '운반용 파동(반송파)'에 정보를 실어 보내는 것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변조 : 0과 1을 파형으로 (키잉)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420624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방식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바꾸는 요소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원리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ASK (진폭 편이)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진폭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→ 반송파 있음, 0 → 없음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광통신, RFID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FSK (주파수 편이)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주파수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→ 높은 주파수, 0 → 낮은 주파수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저속 모뎀, 블루투스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PSK (위상 편이)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위상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→ 0°, 0 → 180° (BPSK) / 4위상 QPSK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위성, Wi-Fi, LTE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QAM (직교 진폭)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진폭 + 위상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번에 여러 비트 전송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Wi-Fi, LTE·5G (256·1024-QAM)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선로 부호화 (디지털 → 디지털)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NRZ(단순) · 맨체스터(동기 내장, 이더넷) · AMI(직류 성분 제거, 전용회선)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변복조에 필요한 장비 : 항상 쌍(pair)으로</a:t>
            </a:r>
            <a:endParaRPr lang="en-US" sz="3000" dirty="0"/>
          </a:p>
        </p:txBody>
      </p:sp>
      <p:pic>
        <p:nvPicPr>
          <p:cNvPr id="4" name="f02_equipment" descr="f02_equip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9086"/>
            <a:ext cx="7315200" cy="42512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138160" y="155448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모뎀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MOdulator + DEModulator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↔ 아날로그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코덱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COder + DECoder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아날로그 ↔ 디지털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DSU / CSU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↔ 디지털 전용회선 접속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스마트폰 = 코덱(음성 → 디지털) + 모뎀(디지털 → 전파)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80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 (Antenna)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신호 ↔ 전파 변환기 — 종류, 주파수와 거리, 크기 문제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 크기를 결정하는 것 : 파장 λ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λ = c / f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43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c = 빛의 속도 3 × 10⁸ m/s,   f = 주파수 (Hz)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583680" y="1371600"/>
            <a:ext cx="50292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2280" y="15361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FM 100 MHz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2011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λ = 3 m  →  λ/4 = </a:t>
            </a:r>
            <a:r>
              <a:rPr lang="en-US" sz="1500" b="1" dirty="0">
                <a:solidFill>
                  <a:schemeClr val="tx1"/>
                </a:solidFill>
              </a:rPr>
              <a:t>75 cm</a:t>
            </a:r>
            <a:r>
              <a:rPr lang="en-US" sz="1500" dirty="0">
                <a:solidFill>
                  <a:schemeClr val="tx1"/>
                </a:solidFill>
              </a:rPr>
              <a:t>,  λ/2 = 1.5 m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583680" y="3017520"/>
            <a:ext cx="50292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12280" y="31821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LTE 1.8 GHz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3657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λ = 16.7 cm  →  λ/4 ≈ </a:t>
            </a:r>
            <a:r>
              <a:rPr lang="en-US" sz="1500" b="1" dirty="0">
                <a:solidFill>
                  <a:schemeClr val="tx1"/>
                </a:solidFill>
              </a:rPr>
              <a:t>4.2 cm</a:t>
            </a:r>
            <a:endParaRPr lang="en-US" sz="1500" dirty="0"/>
          </a:p>
        </p:txBody>
      </p:sp>
      <p:sp>
        <p:nvSpPr>
          <p:cNvPr id="12" name="keybox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안테나는 파장의 </a:t>
            </a:r>
            <a:r>
              <a:rPr lang="en-US" sz="1700" b="1" dirty="0">
                <a:solidFill>
                  <a:schemeClr val="bg1"/>
                </a:solidFill>
              </a:rPr>
              <a:t>1/4(모노폴) ~ 1/2(다이폴)</a:t>
            </a:r>
            <a:r>
              <a:rPr lang="en-US" sz="1700" dirty="0">
                <a:solidFill>
                  <a:schemeClr val="bg1"/>
                </a:solidFill>
              </a:rPr>
              <a:t> 길이일 때 가장 효율적 (공진 길이)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안테나의 종류</a:t>
            </a:r>
            <a:endParaRPr lang="en-US" sz="3000" dirty="0"/>
          </a:p>
        </p:txBody>
      </p:sp>
      <p:pic>
        <p:nvPicPr>
          <p:cNvPr id="4" name="f03_antennas" descr="f03_antenn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33819"/>
            <a:ext cx="6949440" cy="464756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772400" y="1463040"/>
            <a:ext cx="3931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다이폴 · 모노폴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기본형, 방송·무전기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야기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한 방향 지향, 지붕 TV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패치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납작함, 스마트폰·GPS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 · 파라볼라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강한 지향성, 위성·레이더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dBi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전방향 안테나 대비 얼마나 모아 보내는가 → 클수록 멀리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 종류별 주파수와 전송 거리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1737360"/>
                <a:gridCol w="2651760"/>
                <a:gridCol w="26517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주파수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이득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전송 거리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모노폴 / 휩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LF ~ VHF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2~5 dBi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 지표파 수백 km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 방송탑, 무전기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다이폴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HF ~ UHF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2.15 dBi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 ~ 수십 km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FM·TV 수신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야기·우다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VHF ~ UHF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7~15 dBi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수십 km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지붕 TV 안테나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~ 6 GHz+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5~9 dBi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 m ~ 수 km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스마트폰, GPS, Wi-Fi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~ 100 GHz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10~25 dBi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급전·측정용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레이더, 측정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파라볼라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~ 30 GHz+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30~60 dBi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위성 약 36,000 km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위성방송, 중계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주파수 대역별 전파 특성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498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645920"/>
                <a:gridCol w="1280160"/>
                <a:gridCol w="12801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주파수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전파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도달 거리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LF 장파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~ 300 kHz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수천 km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해상 항법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MF 중파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 kHz ~ 3 MHz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지표파 (밤엔 전리층)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수백 km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 라디오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HF 단파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~ 30 MHz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전리층 반사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대륙 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단파 방송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VHF 초단파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~ 300 MHz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직접파 (가시거리)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수십 ~ 100 km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FM, 항공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UHF 극초단파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 MHz ~ 3 GHz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 ~ 수십 km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이동통신, GPS, Wi-Fi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SHF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~ 30 GHz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강한 직진성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가시거리 / 위성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위성, 레이더, 5G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EHF 밀리미터파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~ 300 GHz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비·안개에 감쇠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수백 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5G mmWave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8321040" y="1280160"/>
            <a:ext cx="3291840" cy="42062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49640" y="14447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주파수 ↑ 이면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549640" y="1920240"/>
            <a:ext cx="2834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직진성 ↑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회절 ↓ (장애물 뒤로 못 감)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감쇠 ↑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도달 거리 ↓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대역폭·속도 ↑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안테나 크기 ↓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→ 5G는 기지국이 더 많이 필요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안테나의 크기 문제</a:t>
            </a:r>
            <a:endParaRPr lang="en-US" sz="3000" dirty="0"/>
          </a:p>
        </p:txBody>
      </p:sp>
      <p:pic>
        <p:nvPicPr>
          <p:cNvPr id="4" name="f04_antenna_size" descr="f04_antenna_siz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7508"/>
            <a:ext cx="6766560" cy="353442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589520" y="1371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해결 방법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7589520" y="19202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변조</a:t>
            </a: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고주파 반송파에 실어 보냄 (근본 해결)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로딩 코일</a:t>
            </a: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전기적 길이를 늘려 실제 길이 단축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접지면</a:t>
            </a: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땅을 거울처럼 → λ/4로 절반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유전체 기판</a:t>
            </a: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파장 단축 (패치)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안테나</a:t>
            </a: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작은 안테나 여러 개로 빔 집중 (Massive MIMO)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3 kHz 음성을 그대로 보내면 안테나 25 km  →  변조가 반드시 필요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80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 전송 (진폭 변조)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반송파의 '진폭'을 신호 크기에 따라 바꾼다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AM의 원리 : 세 가지 파형</a:t>
            </a:r>
            <a:endParaRPr lang="en-US" sz="3000" dirty="0"/>
          </a:p>
        </p:txBody>
      </p:sp>
      <p:pic>
        <p:nvPicPr>
          <p:cNvPr id="4" name="f05_am_waves" descr="f05_am_wa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14920"/>
            <a:ext cx="7315200" cy="479392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138160" y="1554480"/>
            <a:ext cx="3566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신호파 m(t)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보내려는 정보 (저주파, 음성)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반송파 c(t)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운반용 고주파 (AM 방송 531~1,602 kHz)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 피변조파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반송파의 진폭이 신호 모양대로 변함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윤곽선 = </a:t>
            </a: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포락선(Envelope)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원래 음성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 수식과 변조 지수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s(t) = Ac [ 1 + m · cos(2π fm t) ] · cos(2π fc t)</a:t>
            </a:r>
            <a:endParaRPr lang="en-US" sz="2800" dirty="0"/>
          </a:p>
        </p:txBody>
      </p:sp>
      <p:pic>
        <p:nvPicPr>
          <p:cNvPr id="6" name="f06_am_index" descr="f06_am_ind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615" y="2743200"/>
            <a:ext cx="9710290" cy="2560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m = Am / Ac = (Amax − Amin) / (Amax + Amin)      m &gt; 1 이면 과변조 → 소리 왜곡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 스펙트럼과 대역폭</a:t>
            </a:r>
            <a:endParaRPr lang="en-US" sz="3000" dirty="0"/>
          </a:p>
        </p:txBody>
      </p:sp>
      <p:pic>
        <p:nvPicPr>
          <p:cNvPr id="4" name="f07_am_spectrum" descr="f07_am_spectru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9434"/>
            <a:ext cx="6949440" cy="287897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772400" y="14630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대역폭 B = 2 × fm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5 kHz → 10 kHz,  AM 채널 간격 9 kHz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전력 효율 낮음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 = 1이어도 정보가 담긴 측파대 전력은 전체의 1/3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164592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보내는 성분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대역폭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DSB-LC (일반 AM)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반송파 + 양 측파대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fm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 라디오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DSB-SC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 측파대 (반송파 제거)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fm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FM 스테레오 부반송파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SSB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한쪽 측파대만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fm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아마추어·해상 무선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 전송 구조 : 변조 → 송신 → 수신 → 복조</a:t>
            </a:r>
            <a:endParaRPr lang="en-US" sz="3000" dirty="0"/>
          </a:p>
        </p:txBody>
      </p:sp>
      <p:pic>
        <p:nvPicPr>
          <p:cNvPr id="4" name="f08_am_block" descr="f08_am_b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028" y="1188720"/>
            <a:ext cx="7693465" cy="4206240"/>
          </a:xfrm>
          <a:prstGeom prst="rect">
            <a:avLst/>
          </a:prstGeom>
        </p:spPr>
      </p:pic>
      <p:sp>
        <p:nvSpPr>
          <p:cNvPr id="5" name="keybox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복조(포락선 검파)</a:t>
            </a:r>
            <a:r>
              <a:rPr lang="en-US" sz="1500" dirty="0">
                <a:solidFill>
                  <a:schemeClr val="bg1"/>
                </a:solidFill>
              </a:rPr>
              <a:t> : 다이오드로 (+)쪽만 통과 → RC 필터로 고주파 제거 → 포락선(= 원래 음성)만 남음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 송·수신 단계별 정리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송신측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783080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마이크</a:t>
            </a:r>
            <a:r>
              <a:rPr lang="en-US" sz="1400" dirty="0">
                <a:solidFill>
                  <a:schemeClr val="tx1"/>
                </a:solidFill>
              </a:rPr>
              <a:t> : 소리 → 전기 신호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532888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저주파 증폭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282696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반송파 발진기</a:t>
            </a:r>
            <a:r>
              <a:rPr lang="en-US" sz="1400" dirty="0">
                <a:solidFill>
                  <a:schemeClr val="tx1"/>
                </a:solidFill>
              </a:rPr>
              <a:t> : 예) 711 kHz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078224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032504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AM 변조기</a:t>
            </a:r>
            <a:r>
              <a:rPr lang="en-US" sz="1400" dirty="0">
                <a:solidFill>
                  <a:schemeClr val="tx1"/>
                </a:solidFill>
              </a:rPr>
              <a:t> : 진폭을 음성에 따라 변화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828032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4782312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전력 증폭 → 안테나</a:t>
            </a:r>
            <a:r>
              <a:rPr lang="en-US" sz="1400" dirty="0">
                <a:solidFill>
                  <a:schemeClr val="tx1"/>
                </a:solidFill>
              </a:rPr>
              <a:t> : 지표파로 수백 km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1280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수신측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1783080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안테나 · 동조</a:t>
            </a:r>
            <a:r>
              <a:rPr lang="en-US" sz="1400" dirty="0">
                <a:solidFill>
                  <a:schemeClr val="tx1"/>
                </a:solidFill>
              </a:rPr>
              <a:t> : 원하는 방송 선택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09360" y="2578608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0936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2532888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RF 증폭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309360" y="3328416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0936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949440" y="3282696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혼합기 + 국부발진기</a:t>
            </a:r>
            <a:r>
              <a:rPr lang="en-US" sz="1400" dirty="0">
                <a:solidFill>
                  <a:schemeClr val="tx1"/>
                </a:solidFill>
              </a:rPr>
              <a:t> → IF 455 kHz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309360" y="4078224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0936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4032504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IF 증폭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309360" y="4828032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30936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782312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검파(복조)</a:t>
            </a:r>
            <a:r>
              <a:rPr lang="en-US" sz="1400" dirty="0">
                <a:solidFill>
                  <a:schemeClr val="tx1"/>
                </a:solidFill>
              </a:rPr>
              <a:t> → 저주파 증폭 → 스피커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장점 : 구조 간단·저렴, 멀리 감     단점 : 잡음에 약함, 전력 효율 낮음, 음질 낮음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80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FM 전송 (주파수 변조)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반송파의 '주파수'를 신호 크기에 따라 바꾼다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FM의 원리 : 촘촘함과 성김</a:t>
            </a:r>
            <a:endParaRPr lang="en-US" sz="3000" dirty="0"/>
          </a:p>
        </p:txBody>
      </p:sp>
      <p:pic>
        <p:nvPicPr>
          <p:cNvPr id="4" name="f09_fm_waves" descr="f09_fm_wa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14920"/>
            <a:ext cx="7315200" cy="479392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138160" y="1554480"/>
            <a:ext cx="3566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진폭은 </a:t>
            </a: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일정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 (+) → 주파수 ↑ (</a:t>
            </a: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촘촘</a:t>
            </a: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 (−) → 주파수 ↓ (</a:t>
            </a: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성김</a:t>
            </a: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FM 방송 : 88 ~ 108 MHz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주파수 편이 </a:t>
            </a: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Δf = ±75 kHz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FM 핵심 수식 : 변조 지수와 카슨의 법칙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47472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91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β = Δf / fm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변조 지수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75 / 15 = 5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47472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80560" y="1691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 ≈ 2(Δf + fm)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카슨 대역폭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2(75 + 15) = 180 kHz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46720" y="1463040"/>
            <a:ext cx="347472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1691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200 kHz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FM 채널 간격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AM(9 kHz)의 약 20배</a:t>
            </a:r>
            <a:endParaRPr lang="en-US" sz="1600" dirty="0"/>
          </a:p>
        </p:txBody>
      </p:sp>
      <p:sp>
        <p:nvSpPr>
          <p:cNvPr id="16" name="keybox"/>
          <p:cNvSpPr/>
          <p:nvPr/>
        </p:nvSpPr>
        <p:spPr>
          <a:xfrm>
            <a:off x="548640" y="475488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대역폭과 품질의 교환(Trade-off)</a:t>
            </a:r>
            <a:r>
              <a:rPr lang="en-US" sz="1700" dirty="0">
                <a:solidFill>
                  <a:schemeClr val="bg1"/>
                </a:solidFill>
              </a:rPr>
              <a:t> : FM은 대역을 넓게 써서 음질과 잡음 내성을 얻는다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FM 전송 구조 : 변조 → 송신 → 수신 → 복조</a:t>
            </a:r>
            <a:endParaRPr lang="en-US" sz="3000" dirty="0"/>
          </a:p>
        </p:txBody>
      </p:sp>
      <p:pic>
        <p:nvPicPr>
          <p:cNvPr id="4" name="f10_fm_block" descr="f10_fm_b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622" y="1188720"/>
            <a:ext cx="7726276" cy="41148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394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VCO  </a:t>
            </a:r>
            <a:r>
              <a:rPr lang="en-US" sz="1300" dirty="0">
                <a:solidFill>
                  <a:schemeClr val="tx1"/>
                </a:solidFill>
              </a:rPr>
              <a:t>전압↑ → 주파수↑ 음성 전압이 곧 주파수 변화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4297680" y="5394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리미터  </a:t>
            </a:r>
            <a:r>
              <a:rPr lang="en-US" sz="1300" dirty="0">
                <a:solidFill>
                  <a:schemeClr val="tx1"/>
                </a:solidFill>
              </a:rPr>
              <a:t>진폭의 위·아래를 잘라 잡음 제거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8046720" y="5394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주파수 판별기  </a:t>
            </a:r>
            <a:r>
              <a:rPr lang="en-US" sz="1300" dirty="0">
                <a:solidFill>
                  <a:schemeClr val="tx1"/>
                </a:solidFill>
              </a:rPr>
              <a:t>주파수 변화 → 전압 변화로 복원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FM이 잡음에 강한 이유</a:t>
            </a:r>
            <a:endParaRPr lang="en-US" sz="3000" dirty="0"/>
          </a:p>
        </p:txBody>
      </p:sp>
      <p:pic>
        <p:nvPicPr>
          <p:cNvPr id="4" name="f11_noise" descr="f11_no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633" y="1188720"/>
            <a:ext cx="10458254" cy="4297680"/>
          </a:xfrm>
          <a:prstGeom prst="rect">
            <a:avLst/>
          </a:prstGeom>
        </p:spPr>
      </p:pic>
      <p:sp>
        <p:nvSpPr>
          <p:cNvPr id="5" name="keybox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잡음은 </a:t>
            </a:r>
            <a:r>
              <a:rPr lang="en-US" sz="1500" b="1" dirty="0">
                <a:solidFill>
                  <a:schemeClr val="bg1"/>
                </a:solidFill>
              </a:rPr>
              <a:t>진폭</a:t>
            </a:r>
            <a:r>
              <a:rPr lang="en-US" sz="1500" dirty="0">
                <a:solidFill>
                  <a:schemeClr val="bg1"/>
                </a:solidFill>
              </a:rPr>
              <a:t>을 흔든다 → AM은 그대로 소리에 섞임 / FM은 </a:t>
            </a:r>
            <a:r>
              <a:rPr lang="en-US" sz="1500" b="1" dirty="0">
                <a:solidFill>
                  <a:schemeClr val="bg1"/>
                </a:solidFill>
              </a:rPr>
              <a:t>리미터</a:t>
            </a:r>
            <a:r>
              <a:rPr lang="en-US" sz="1500" dirty="0">
                <a:solidFill>
                  <a:schemeClr val="bg1"/>
                </a:solidFill>
              </a:rPr>
              <a:t>로 잘라내고 주파수 정보만 사용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 vs FM 비교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280160"/>
          <a:ext cx="92354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FM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변화시키는 요소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진폭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주파수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대역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531 ~ 1,602 kHz (중파)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88 ~ 108 MHz (초단파)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 대역폭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 ~ 10 kHz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200 kHz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음질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kHz 이하 (뉴스·대화)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 kHz까지 (음악·스테레오)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잡음 내성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강함 (리미터)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전파 거리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수백 km (밤에 더 멀리)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가시거리 수십 km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복조 회로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포락선 검파 (간단)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주파수 판별기 (복잡)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중간주파수 (IF)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455 kHz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10.7 MHz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80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PCM (펄스 부호 변조)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아날로그를 0과 1로 — 표본화 · 양자화 · 부호화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디지털로 바꿀까?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잡음에 강함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03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0인지 1인지만 구별하면 되므로 조금 찌그러져도 원래 값 복원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429768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재생 중계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103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중간에서 깨끗한 펄스를 새로 만들어 보냄 → 먼 거리도 품질 유지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804672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처리·저장·암호화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103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컴퓨터로 압축·저장·암호화 가능, 시분할 다중화(TDM)</a:t>
            </a:r>
            <a:endParaRPr lang="en-US" sz="1600" dirty="0"/>
          </a:p>
        </p:txBody>
      </p:sp>
      <p:sp>
        <p:nvSpPr>
          <p:cNvPr id="13" name="keybox"/>
          <p:cNvSpPr/>
          <p:nvPr/>
        </p:nvSpPr>
        <p:spPr>
          <a:xfrm>
            <a:off x="548640" y="429768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PCM 3단계</a:t>
            </a:r>
            <a:r>
              <a:rPr lang="en-US" sz="1800" dirty="0">
                <a:solidFill>
                  <a:schemeClr val="bg1"/>
                </a:solidFill>
              </a:rPr>
              <a:t> :  ① 표본화 (Sampling)  →  ② 양자화 (Quantizing)  →  ③ 부호화 (Encoding)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PCM 과정을 그림으로</a:t>
            </a:r>
            <a:endParaRPr lang="en-US" sz="3000" dirty="0"/>
          </a:p>
        </p:txBody>
      </p:sp>
      <p:pic>
        <p:nvPicPr>
          <p:cNvPr id="4" name="f12_pcm_steps" descr="f12_pcm_ste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851" y="1143000"/>
            <a:ext cx="7901818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표본화 (Sampling)와 나이퀴스트 정리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시간 간격 </a:t>
            </a: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Ts</a:t>
            </a:r>
            <a:r>
              <a:rPr lang="en-US" sz="17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마다 신호 값을 측정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= 높이가 신호 값인 펄스열 = </a:t>
            </a: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PAM 신호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높이가 연속값 → 완전한 디지털은 아님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309360" y="1371600"/>
            <a:ext cx="530352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92240" y="13716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나이퀴스트 정리</a:t>
            </a:r>
            <a:endParaRPr lang="en-US" sz="1600" dirty="0"/>
          </a:p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fs ≥ 2 × fmax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83464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최고 주파수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표본화 주파수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간격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 음성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 kHz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8,000 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125 μs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CD 음악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20 kHz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44,100 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22.7 μs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fs &lt; 2 fmax 이면 에일리어싱(겹침 왜곡) → 표본화 전에 저역통과 필터(LPF)로 대역 제한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양자화 · ③ 부호화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5394960" cy="4114800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36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② 양자화 (Quantizing)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4937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표본값을 정해진 단계 중 가장 가까운 값으로 </a:t>
            </a:r>
            <a:r>
              <a:rPr lang="en-US" sz="1500" b="1" dirty="0">
                <a:solidFill>
                  <a:schemeClr val="tx1"/>
                </a:solidFill>
              </a:rPr>
              <a:t>반올림</a:t>
            </a:r>
            <a:r>
              <a:rPr lang="en-US" sz="1500" dirty="0">
                <a:solidFill>
                  <a:schemeClr val="tx1"/>
                </a:solidFill>
              </a:rPr>
              <a:t>n비트 →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2ⁿ 레벨</a:t>
            </a:r>
            <a:r>
              <a:rPr lang="en-US" sz="1500" dirty="0">
                <a:solidFill>
                  <a:schemeClr val="tx1"/>
                </a:solidFill>
              </a:rPr>
              <a:t>
3비트 = 8,  8비트 = 256,  16비트 = 65,536
</a:t>
            </a:r>
            <a:r>
              <a:rPr lang="en-US" sz="1500" b="1" dirty="0">
                <a:solidFill>
                  <a:schemeClr val="tx1"/>
                </a:solidFill>
              </a:rPr>
              <a:t>양자화 잡음</a:t>
            </a:r>
            <a:r>
              <a:rPr lang="en-US" sz="1500" dirty="0">
                <a:solidFill>
                  <a:schemeClr val="tx1"/>
                </a:solidFill>
              </a:rPr>
              <a:t> : 반올림 오차 (되돌릴 수 없음)
비트 1개 증가 → 약 6 dB 개선
</a:t>
            </a:r>
            <a:r>
              <a:rPr lang="en-US" sz="1500" b="1" dirty="0">
                <a:solidFill>
                  <a:schemeClr val="tx1"/>
                </a:solidFill>
              </a:rPr>
              <a:t>압신(Companding)</a:t>
            </a:r>
            <a:r>
              <a:rPr lang="en-US" sz="1500" dirty="0">
                <a:solidFill>
                  <a:schemeClr val="tx1"/>
                </a:solidFill>
              </a:rPr>
              <a:t> : 작은 소리는 촘촘히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(μ-law / A-law)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217920" y="1371600"/>
            <a:ext cx="5394960" cy="4114800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1536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③ 부호화 (Encoding)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011680"/>
            <a:ext cx="4937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레벨 번호를 </a:t>
            </a:r>
            <a:r>
              <a:rPr lang="en-US" sz="1500" b="1" dirty="0">
                <a:solidFill>
                  <a:schemeClr val="tx1"/>
                </a:solidFill>
              </a:rPr>
              <a:t>2진수 비트열</a:t>
            </a:r>
            <a:r>
              <a:rPr lang="en-US" sz="1500" dirty="0">
                <a:solidFill>
                  <a:schemeClr val="tx1"/>
                </a:solidFill>
              </a:rPr>
              <a:t>로 변환
레벨 5 → 101
레벨 6 → 110
레벨 7 → 111
이 비트열을 선로 부호화하여 전송
</a:t>
            </a:r>
            <a:r>
              <a:rPr lang="en-US" sz="1500" b="1" dirty="0">
                <a:solidFill>
                  <a:schemeClr val="tx1"/>
                </a:solidFill>
              </a:rPr>
              <a:t>수신측</a:t>
            </a:r>
            <a:r>
              <a:rPr lang="en-US" sz="1500" dirty="0">
                <a:solidFill>
                  <a:schemeClr val="tx1"/>
                </a:solidFill>
              </a:rPr>
              <a:t> : 재생중계 → 복호화 → LPF로 아날로그 복원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PCM 송·수신 전체 흐름</a:t>
            </a:r>
            <a:endParaRPr lang="en-US" sz="3000" dirty="0"/>
          </a:p>
        </p:txBody>
      </p:sp>
      <p:pic>
        <p:nvPicPr>
          <p:cNvPr id="4" name="f13_pcm_block" descr="f13_pcm_b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283" y="1280160"/>
            <a:ext cx="10866953" cy="4023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송신 : LPF → 표본화 → 양자화 → 부호화     수신 : 재생중계 → 복호화 → PAM 복원 → LPF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PCM 비트율 계산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비트율 = fs × n × 채널 수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822960"/>
                <a:gridCol w="128016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비트율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 1회선 (DS0)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kHz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 kbps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T1 (북미)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kHz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 + 프레임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1.544 Mbps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E1 (유럽·한국)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kHz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2.048 Mbps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CD 음악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44.1 kHz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1.4112 Mbps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7772400" y="2194560"/>
            <a:ext cx="384048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01000" y="23591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연습 문제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001000" y="2834640"/>
            <a:ext cx="3383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Q1. fmax 5 kHz의 최소 fs는?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→ 10 kHz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Q2. 128레벨에 필요한 비트?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→ 7비트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Q3. 16 kHz·12비트·모노 1분?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→ 1.44 MB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80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위성통신과 GPS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우주의 중계소 — 궤도별 분류와 위치 측정 원리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위성통신의 기본 구조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463040"/>
            <a:ext cx="4846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지구국 → 위성 : </a:t>
            </a:r>
            <a:r>
              <a:rPr lang="en-US" sz="1700" b="1" dirty="0">
                <a:solidFill>
                  <a:schemeClr val="tx1"/>
                </a:solidFill>
              </a:rPr>
              <a:t>업링크 (Uplink)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331720"/>
            <a:ext cx="4846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위성의 </a:t>
            </a:r>
            <a:r>
              <a:rPr lang="en-US" sz="1700" b="1" dirty="0">
                <a:solidFill>
                  <a:schemeClr val="tx1"/>
                </a:solidFill>
              </a:rPr>
              <a:t>트랜스폰더(중계기)</a:t>
            </a:r>
            <a:r>
              <a:rPr lang="en-US" sz="1700" dirty="0">
                <a:solidFill>
                  <a:schemeClr val="tx1"/>
                </a:solidFill>
              </a:rPr>
              <a:t> 가 증폭·주파수 변환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3200400"/>
            <a:ext cx="4846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위성 → 지구 : </a:t>
            </a:r>
            <a:r>
              <a:rPr lang="en-US" sz="1700" b="1" dirty="0">
                <a:solidFill>
                  <a:schemeClr val="tx1"/>
                </a:solidFill>
              </a:rPr>
              <a:t>다운링크 (Downlink)</a:t>
            </a:r>
            <a:endParaRPr lang="en-US" sz="17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463040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대역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 / 다운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특징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 밴드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 / 4 GHz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비에 강함, 안테나 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Ku 밴드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 / 12 GHz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소형 안테나, 위성방송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Ka 밴드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/ 20 GHz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고속, 비에 약함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card"/>
          <p:cNvSpPr/>
          <p:nvPr/>
        </p:nvSpPr>
        <p:spPr>
          <a:xfrm>
            <a:off x="548640" y="4389120"/>
            <a:ext cx="5394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45537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장점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5029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광역성 · 지형 무관 · 동보성 · 재난 시에도 통신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6217920" y="4389120"/>
            <a:ext cx="5394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46520" y="45537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단점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5029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전파 지연 · 비에 의한 감쇠 · 높은 비용 · 도청 위험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고도별 인공위성 분류</a:t>
            </a:r>
            <a:endParaRPr lang="en-US" sz="3000" dirty="0"/>
          </a:p>
        </p:txBody>
      </p:sp>
      <p:pic>
        <p:nvPicPr>
          <p:cNvPr id="4" name="f14_orbits" descr="f14_orb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5120640" cy="5120640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71600"/>
          <a:ext cx="5943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188720"/>
                <a:gridCol w="1005840"/>
                <a:gridCol w="10058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지연(편도)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LEO 저궤도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 ~ 2,000 km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 ~ 120분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수~수십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스타링크, ISS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MEO 중궤도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 ~ 35,786 km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GPS 약 12시간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수십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GPS, 갈릴레오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GEO 정지궤도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35,786 km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24시간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0.12초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무궁화, 천리안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HEO 고타원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수백 ~ 수만 km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12시간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고위도 통신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keybox"/>
          <p:cNvSpPr/>
          <p:nvPr/>
        </p:nvSpPr>
        <p:spPr>
          <a:xfrm>
            <a:off x="5669280" y="4572000"/>
            <a:ext cx="59436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943600" y="45720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정지궤도</a:t>
            </a:r>
            <a:r>
              <a:rPr lang="en-US" sz="1500" dirty="0">
                <a:solidFill>
                  <a:schemeClr val="bg1"/>
                </a:solidFill>
              </a:rPr>
              <a:t> : 지구 자전과 같은 24시간 주기 → 하늘의 한 점에 멈춘 것처럼 보임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GPS 위치 측정 원리</a:t>
            </a:r>
            <a:endParaRPr lang="en-US" sz="3000" dirty="0"/>
          </a:p>
        </p:txBody>
      </p:sp>
      <p:pic>
        <p:nvPicPr>
          <p:cNvPr id="4" name="f15_gps" descr="f15_g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53356"/>
            <a:ext cx="6583680" cy="44427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406640" y="15087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406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046720" y="1463040"/>
            <a:ext cx="3657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위성이 </a:t>
            </a:r>
            <a:r>
              <a:rPr lang="en-US" sz="1500" b="1" dirty="0">
                <a:solidFill>
                  <a:schemeClr val="tx1"/>
                </a:solidFill>
              </a:rPr>
              <a:t>위치·송신 시각</a:t>
            </a:r>
            <a:r>
              <a:rPr lang="en-US" sz="1500" dirty="0">
                <a:solidFill>
                  <a:schemeClr val="tx1"/>
                </a:solidFill>
              </a:rPr>
              <a:t>을 방송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406640" y="2468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06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2423160"/>
            <a:ext cx="3657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거리 = 빛의 속도 × 도달 시간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406640" y="34290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3383280"/>
            <a:ext cx="3657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위성 3개 → 위도·경도·고도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406640" y="43891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06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046720" y="4343400"/>
            <a:ext cx="3657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위성 4번째 → </a:t>
            </a:r>
            <a:r>
              <a:rPr lang="en-US" sz="1500" b="1" dirty="0">
                <a:solidFill>
                  <a:schemeClr val="tx1"/>
                </a:solidFill>
              </a:rPr>
              <a:t>수신기 시계 오차</a:t>
            </a:r>
            <a:r>
              <a:rPr lang="en-US" sz="1500" dirty="0">
                <a:solidFill>
                  <a:schemeClr val="tx1"/>
                </a:solidFill>
              </a:rPr>
              <a:t> 보정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미지수 4개 (x, y, z, 시계 오차) → 위성 최소 4기 필요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GPS 구성과 위성의 종류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우주 부문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MEO 약 20,200 km, 6개 궤도면, 최소 24기 (예비 포함 약 30기)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 부문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지상국이 궤도·시계 보정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부문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수신만 하므로 사용자 수 제한 없음</a:t>
            </a:r>
            <a:endParaRPr lang="en-US" sz="15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Block II / IIA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실용 위성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Block IIR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교체용, 자율 항법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Block IIR-M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민간 L2C 신호 추가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Block IIF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L5 (항공 안전) 추가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GPS III / IIIF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정확도 약 3배, 재밍 내성, L1C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5394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GNSS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운영국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GPS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미국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GLONASS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러시아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Galileo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BeiDou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중국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GPS 신호 : L1 1,575.42 MHz · L2 1,227.60 MHz · L5 1,176.45 MHz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80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이동통신 개론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 · 핸드오버 · 로밍 — 움직이면서도 끊기지 않는 통신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이동통신의 발전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51560" y="1691640"/>
            <a:ext cx="868680" cy="86868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43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1980년대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2004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아날로그 음성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251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FDMA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26080" y="1691640"/>
            <a:ext cx="868680" cy="86868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2608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2G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2423160" y="2743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1990년대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32004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디지털 음성 + 문자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468880" y="4251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TDMA / CDMA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00600" y="1691640"/>
            <a:ext cx="868680" cy="86868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060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3G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297680" y="2743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2000년대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343400" y="32004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영상통화, 모바일 인터넷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343400" y="4251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WCDMA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75120" y="1691640"/>
            <a:ext cx="868680" cy="86868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7512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4G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2743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2010년대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32004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All-IP 고속 데이터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217920" y="4251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LTE (OFDMA)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549640" y="1691640"/>
            <a:ext cx="868680" cy="86868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4964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5G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8046720" y="2743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2019~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092440" y="32004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초고속 · 초저지연 · 초연결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092440" y="4251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NR, Massive MIMO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0424160" y="1691640"/>
            <a:ext cx="868680" cy="86868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42416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6G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9921240" y="2743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2030년경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966960" y="32004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통합 · 위성 연동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9966960" y="4251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연구 중</a:t>
            </a:r>
            <a:endParaRPr lang="en-US" sz="1200" dirty="0"/>
          </a:p>
        </p:txBody>
      </p:sp>
      <p:sp>
        <p:nvSpPr>
          <p:cNvPr id="35" name="keybox"/>
          <p:cNvSpPr/>
          <p:nvPr/>
        </p:nvSpPr>
        <p:spPr>
          <a:xfrm>
            <a:off x="548640" y="521208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아날로그 → 디지털 → 패킷 → All-IP → 초연결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이동통신망의 구성</a:t>
            </a:r>
            <a:endParaRPr lang="en-US" sz="3000" dirty="0"/>
          </a:p>
        </p:txBody>
      </p:sp>
      <p:pic>
        <p:nvPicPr>
          <p:cNvPr id="4" name="f18_mobile_arch" descr="f18_mobile_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4982"/>
            <a:ext cx="7680960" cy="286787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412480" y="1371600"/>
            <a:ext cx="3291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단말 (UE)</a:t>
            </a: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SIM에 IMSI·인증 키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기지국</a:t>
            </a: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2G BTS · 4G eNB · 5G gNB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이동성 관리</a:t>
            </a: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접속, 위치, 핸드오버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가입자 DB</a:t>
            </a: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HLR / HSS / UDM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일반전화망·인터넷 연결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단말 — (무선) — 기지국 — (유선) — 코어망 — 외부망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셀(Cell)의 원리와 주파수 재사용</a:t>
            </a:r>
            <a:endParaRPr lang="en-US" sz="3000" dirty="0"/>
          </a:p>
        </p:txBody>
      </p:sp>
      <p:pic>
        <p:nvPicPr>
          <p:cNvPr id="4" name="f16_cells" descr="f16_ce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975" y="1143000"/>
            <a:ext cx="5741730" cy="5120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9224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92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132320" y="1371600"/>
            <a:ext cx="4572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지역을 </a:t>
            </a:r>
            <a:r>
              <a:rPr lang="en-US" sz="1500" b="1" dirty="0">
                <a:solidFill>
                  <a:schemeClr val="tx1"/>
                </a:solidFill>
              </a:rPr>
              <a:t>벌집 모양 작은 셀</a:t>
            </a:r>
            <a:r>
              <a:rPr lang="en-US" sz="1500" dirty="0">
                <a:solidFill>
                  <a:schemeClr val="tx1"/>
                </a:solidFill>
              </a:rPr>
              <a:t>로 나눔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92240" y="21945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92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2148840"/>
            <a:ext cx="4572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셀마다 </a:t>
            </a:r>
            <a:r>
              <a:rPr lang="en-US" sz="1500" b="1" dirty="0">
                <a:solidFill>
                  <a:schemeClr val="tx1"/>
                </a:solidFill>
              </a:rPr>
              <a:t>저출력 기지국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92240" y="29718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92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2926080"/>
            <a:ext cx="4572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멀리 떨어진 셀에서 </a:t>
            </a:r>
            <a:r>
              <a:rPr lang="en-US" sz="1500" b="1" dirty="0">
                <a:solidFill>
                  <a:schemeClr val="tx1"/>
                </a:solidFill>
              </a:rPr>
              <a:t>같은 주파수 재사용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92240" y="374904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92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3703320"/>
            <a:ext cx="4572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같은 주파수로 </a:t>
            </a:r>
            <a:r>
              <a:rPr lang="en-US" sz="1500" b="1" dirty="0">
                <a:solidFill>
                  <a:schemeClr val="tx1"/>
                </a:solidFill>
              </a:rPr>
              <a:t>훨씬 많은 사용자</a:t>
            </a:r>
            <a:r>
              <a:rPr lang="en-US" sz="1500" dirty="0">
                <a:solidFill>
                  <a:schemeClr val="tx1"/>
                </a:solidFill>
              </a:rPr>
              <a:t> 수용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45720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</a:t>
            </a: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N개 셀 묶음 (그림은 N = 7)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거리</a:t>
            </a: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D = R √(3N)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 분할 · 섹터화</a:t>
            </a: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도심 용량 확대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셀의 크기에 따른 분류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85800" y="1554480"/>
            <a:ext cx="2377440" cy="237744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1755648" y="2578608"/>
            <a:ext cx="237744" cy="329184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매크로 셀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1 ~ 30 km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983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교외·도로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건물 옥상·철탑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794760" y="1828800"/>
            <a:ext cx="1828800" cy="182880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4590288" y="2578608"/>
            <a:ext cx="237744" cy="329184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마이크로 셀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4572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수백 m ~ 2 km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4983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도심 거리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2057400"/>
            <a:ext cx="1371600" cy="137160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7424928" y="2578608"/>
            <a:ext cx="237744" cy="329184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피코 셀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4572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수십 ~ 200 m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4983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대형 건물 내부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지하상가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921240" y="2286000"/>
            <a:ext cx="914400" cy="91440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10259568" y="2578608"/>
            <a:ext cx="237744" cy="329184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5256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펨토 셀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4572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10 ~ 50 m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4983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가정·소규모 사무실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이동해도 끊기지 않는 이유 : 핸드오버</a:t>
            </a:r>
            <a:endParaRPr lang="en-US" sz="3000" dirty="0"/>
          </a:p>
        </p:txBody>
      </p:sp>
      <p:pic>
        <p:nvPicPr>
          <p:cNvPr id="4" name="f17_handover" descr="f17_hando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4369"/>
            <a:ext cx="6035040" cy="434646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85800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498080" y="13716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측정</a:t>
            </a:r>
            <a:r>
              <a:rPr lang="en-US" sz="1500" dirty="0">
                <a:solidFill>
                  <a:schemeClr val="tx1"/>
                </a:solidFill>
              </a:rPr>
              <a:t> : 주변 기지국 신호 계속 측정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858000" y="214884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21031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보고</a:t>
            </a:r>
            <a:r>
              <a:rPr lang="en-US" sz="1500" dirty="0">
                <a:solidFill>
                  <a:schemeClr val="tx1"/>
                </a:solidFill>
              </a:rPr>
              <a:t> : 현재 기지국에 보고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858000" y="28803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8346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판정</a:t>
            </a:r>
            <a:r>
              <a:rPr lang="en-US" sz="1500" dirty="0">
                <a:solidFill>
                  <a:schemeClr val="tx1"/>
                </a:solidFill>
              </a:rPr>
              <a:t> : B가 일정값 이상 강해지면 결정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8000" y="3611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498080" y="35661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준비</a:t>
            </a:r>
            <a:r>
              <a:rPr lang="en-US" sz="1500" dirty="0">
                <a:solidFill>
                  <a:schemeClr val="tx1"/>
                </a:solidFill>
              </a:rPr>
              <a:t> : 새 기지국 채널 확보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858000" y="43434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4297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전환</a:t>
            </a:r>
            <a:r>
              <a:rPr lang="en-US" sz="1500" dirty="0">
                <a:solidFill>
                  <a:schemeClr val="tx1"/>
                </a:solidFill>
              </a:rPr>
              <a:t> : 수십 ms 이하 → 못 느낌</a:t>
            </a:r>
            <a:endParaRPr lang="en-US" sz="15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5120640"/>
          <a:ext cx="48463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끊고 → 연결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GSM, LTE, 5G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소프트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 → 끊고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CDMA, WCDMA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로밍(Roaming)의 원리</a:t>
            </a:r>
            <a:endParaRPr lang="en-US" sz="3000" dirty="0"/>
          </a:p>
        </p:txBody>
      </p:sp>
      <p:pic>
        <p:nvPicPr>
          <p:cNvPr id="4" name="f19_roaming" descr="f19_roam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64515"/>
            <a:ext cx="6949440" cy="324880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772400" y="12801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412480" y="1234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접속 시도</a:t>
            </a:r>
            <a:r>
              <a:rPr lang="en-US" sz="1400" dirty="0">
                <a:solidFill>
                  <a:schemeClr val="tx1"/>
                </a:solidFill>
              </a:rPr>
              <a:t> : 현지 망 탐색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772400" y="1993392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19476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조회·인증 요청</a:t>
            </a:r>
            <a:r>
              <a:rPr lang="en-US" sz="1400" dirty="0">
                <a:solidFill>
                  <a:schemeClr val="tx1"/>
                </a:solidFill>
              </a:rPr>
              <a:t> → 홈망 HLR/HSS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772400" y="2706624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26609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인증·위치 등록</a:t>
            </a:r>
            <a:r>
              <a:rPr lang="en-US" sz="1400" dirty="0">
                <a:solidFill>
                  <a:schemeClr val="tx1"/>
                </a:solidFill>
              </a:rPr>
              <a:t> (방문망 VLR)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772400" y="3419856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412480" y="337413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서비스 사용</a:t>
            </a:r>
            <a:r>
              <a:rPr lang="en-US" sz="1400" dirty="0">
                <a:solidFill>
                  <a:schemeClr val="tx1"/>
                </a:solidFill>
              </a:rPr>
              <a:t> : 통화·데이터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772400" y="4133088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7240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8412480" y="40873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정산</a:t>
            </a:r>
            <a:r>
              <a:rPr lang="en-US" sz="1400" dirty="0">
                <a:solidFill>
                  <a:schemeClr val="tx1"/>
                </a:solidFill>
              </a:rPr>
              <a:t> : 사용 기록(TAP) 교환</a:t>
            </a:r>
            <a:endParaRPr lang="en-US" sz="1400" dirty="0"/>
          </a:p>
        </p:txBody>
      </p:sp>
      <p:sp>
        <p:nvSpPr>
          <p:cNvPr id="20" name="keybox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로밍 = 홈망 가입자 DB로 인증 → 위치 등록 → 방문망 서비스 → 사후 정산  (사전 로밍 계약 필수)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80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센싱 (Sensing)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 세계를 측정하는 사물인터넷 — 센서 · 신호 처리 · 저전력 통신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4계층 구조</a:t>
            </a:r>
            <a:endParaRPr lang="en-US" sz="3000" dirty="0"/>
          </a:p>
        </p:txBody>
      </p:sp>
      <p:pic>
        <p:nvPicPr>
          <p:cNvPr id="4" name="f20_iot_layers" descr="f20_iot_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2878"/>
            <a:ext cx="7680960" cy="441224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503920" y="155448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</a:t>
            </a: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사물에 센서 + 통신 기능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개입 없이 </a:t>
            </a: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→ 전송 → 판단 → 동작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출발점은 </a:t>
            </a: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센싱</a:t>
            </a: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물리량 → 전기 신호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센서의 원리 : 트랜스듀서</a:t>
            </a:r>
            <a:endParaRPr lang="en-US" sz="3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서미스터 : 온도 → 저항 변화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냉난방, 온실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습도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수분 → 정전용량 변화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온실, 창고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빛 → 저항 감소 (CdS) / 전류 (포토다이오드)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가로등 자동 점등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가속도·자이로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MEMS 구조물 → 정전용량 변화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회전, 낙상 감지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반도체 표면 저항 / 적외선 흡수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환기, 화재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초음파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반사 시간 → 거리 = 속도 × 시간 / 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주차 보조, 수위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PIR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인체 적외선 변화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현관 조명, 방범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토양수분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흙의 전도도·정전용량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 관수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8503920" y="1280160"/>
            <a:ext cx="3108960" cy="44805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732520" y="1444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센서 선택 기준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732520" y="1920240"/>
            <a:ext cx="2651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측정 범위
정확도 / 정밀도
분해능
응답 속도
</a:t>
            </a:r>
            <a:r>
              <a:rPr lang="en-US" sz="1500" b="1" dirty="0">
                <a:solidFill>
                  <a:schemeClr val="tx1"/>
                </a:solidFill>
              </a:rPr>
              <a:t>소비 전력</a:t>
            </a:r>
            <a:r>
              <a:rPr lang="en-US" sz="1500" dirty="0">
                <a:solidFill>
                  <a:schemeClr val="tx1"/>
                </a:solidFill>
              </a:rPr>
              <a:t>(배터리 수년 동작)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센싱 신호 처리 과정</a:t>
            </a:r>
            <a:endParaRPr lang="en-US" sz="3000" dirty="0"/>
          </a:p>
        </p:txBody>
      </p:sp>
      <p:pic>
        <p:nvPicPr>
          <p:cNvPr id="4" name="f21_sensor_chain" descr="f21_sensor_ch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0774" y="1188720"/>
            <a:ext cx="9419972" cy="3474720"/>
          </a:xfrm>
          <a:prstGeom prst="rect">
            <a:avLst/>
          </a:prstGeom>
        </p:spPr>
      </p:pic>
      <p:sp>
        <p:nvSpPr>
          <p:cNvPr id="5" name="keybox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48463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ADC = PCM 원리</a:t>
            </a:r>
            <a:r>
              <a:rPr lang="en-US" sz="1600" dirty="0">
                <a:solidFill>
                  <a:schemeClr val="bg1"/>
                </a:solidFill>
              </a:rPr>
              <a:t> (표본화 → 양자화 → 부호화)    12비트 ADC : 0~3.3 V를 4,096단계 → 분해능 약 0.8 mV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센서와 MCU 사이의 인터페이스</a:t>
            </a:r>
            <a:endParaRPr lang="en-US" sz="3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3749040"/>
                <a:gridCol w="329184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방식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 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특징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 예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아날로그 출력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(+전원)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전압 크기 → MCU ADC로 읽음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CdS, 토양수분, MQ 가스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디지털 GPIO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있다 / 없다 두 상태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PIR, 버튼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I²C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(SDA, SCL)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주소로 여러 센서를 한 버스에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SHT31, BMP280, MPU6050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SPI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고속, 선이 많음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디스플레이, SD카드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UART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(TX, RX)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1:1 비동기 시리얼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GPS 모듈, 통신 모뎀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1-Wire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 하나로 데이터 + 전원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DS18B20 온도 센서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무선 통신 : 거리 vs 속도</a:t>
            </a:r>
            <a:endParaRPr lang="en-US" sz="3000" dirty="0"/>
          </a:p>
        </p:txBody>
      </p:sp>
      <p:pic>
        <p:nvPicPr>
          <p:cNvPr id="4" name="f22_range_rate" descr="f22_range_r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5631"/>
            <a:ext cx="6583680" cy="418393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406640" y="1463040"/>
            <a:ext cx="4297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근거리 저전력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BLE, Zigbee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웨어러블, 스마트홈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무선랜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Wi-Fi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등 대용량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LPWAN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LoRaWAN, NB-IoT, LTE-M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km, 배터리 수년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원격 검침, 농업, 위치 추적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무선 통신 기술 비교</a:t>
            </a:r>
            <a:endParaRPr lang="en-US" sz="3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194560"/>
                <a:gridCol w="1828800"/>
                <a:gridCol w="283464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주파수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거리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특징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BLE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2.4 GHz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~수십 m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1~2 Mbps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스마트폰 연동, 웨어러블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Zigbee / Thread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2.4 GHz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10~100 m (메시)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 kbps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스마트홈 (Matter)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Wi-Fi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2.4/5/6 GHz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~수십 m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수백 Mbps+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대용량, 전력 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LoRaWAN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920 MHz (한국)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~ 10 km+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0.3~50 kbps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자가 구축, 검침·농업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NB-IoT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면허 대역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~10 km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~수백 kbps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실내·지하 침투 우수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LTE-M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면허 대역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~수 km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~1 Mbps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이동성, 위치 추적기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저전력 설계 : 듀티 사이클</a:t>
            </a:r>
            <a:endParaRPr lang="en-US" sz="3000" dirty="0"/>
          </a:p>
        </p:txBody>
      </p:sp>
      <p:pic>
        <p:nvPicPr>
          <p:cNvPr id="4" name="f24_duty" descr="f24_du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7709"/>
            <a:ext cx="6766560" cy="2790982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7589520" y="1188720"/>
            <a:ext cx="40233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818120" y="1353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배터리 수명 계산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7818120" y="18288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10분마다 1초 30 mA,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나머지 5 μA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평균 ≈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0.055 mA</a:t>
            </a:r>
            <a:r>
              <a:rPr lang="en-US" sz="1500" dirty="0">
                <a:solidFill>
                  <a:schemeClr val="tx1"/>
                </a:solidFill>
              </a:rPr>
              <a:t>2,000 mAh →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약 4년</a:t>
            </a:r>
            <a:endParaRPr lang="en-US" sz="1500" dirty="0"/>
          </a:p>
        </p:txBody>
      </p:sp>
      <p:sp>
        <p:nvSpPr>
          <p:cNvPr id="8" name="keybox"/>
          <p:cNvSpPr/>
          <p:nvPr/>
        </p:nvSpPr>
        <p:spPr>
          <a:xfrm>
            <a:off x="548640" y="466344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평균 전류 = (활동 전류 × 활동 시간 + 슬립 전류 × 슬립 시간) / 주기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프로토콜 : MQTT</a:t>
            </a:r>
            <a:endParaRPr lang="en-US" sz="3000" dirty="0"/>
          </a:p>
        </p:txBody>
      </p:sp>
      <p:pic>
        <p:nvPicPr>
          <p:cNvPr id="4" name="f23_mqtt" descr="f23_mq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371" y="1143000"/>
            <a:ext cx="7774377" cy="3840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686800" y="137160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발행자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토픽을 붙여 브로커에 전송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브로커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구독자에게 중개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구독자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관심 토픽만 수신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QoS</a:t>
            </a: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0 / 1 / 2</a:t>
            </a:r>
            <a:endParaRPr lang="en-US" sz="15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66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74066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프로토콜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MQTT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TCP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발행/구독, 가장 널리 사용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CoAP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UDP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초저전력, 요청/응답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 사례 : 스마트팜</a:t>
            </a:r>
            <a:endParaRPr lang="en-US" sz="3000" dirty="0"/>
          </a:p>
        </p:txBody>
      </p:sp>
      <p:pic>
        <p:nvPicPr>
          <p:cNvPr id="4" name="f25_smartfarm" descr="f25_smartfa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3640"/>
            <a:ext cx="7863840" cy="3759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595360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95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9235440" y="128016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센싱</a:t>
            </a:r>
            <a:r>
              <a:rPr lang="en-US" sz="1300" dirty="0">
                <a:solidFill>
                  <a:schemeClr val="tx1"/>
                </a:solidFill>
              </a:rPr>
              <a:t> : 온습도·조도·CO2·토양수분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595360" y="22402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953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235440" y="219456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전송</a:t>
            </a:r>
            <a:r>
              <a:rPr lang="en-US" sz="1300" dirty="0">
                <a:solidFill>
                  <a:schemeClr val="tx1"/>
                </a:solidFill>
              </a:rPr>
              <a:t> : LoRa → GW → LTE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595360" y="31546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95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9235440" y="310896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분석</a:t>
            </a:r>
            <a:r>
              <a:rPr lang="en-US" sz="1300" dirty="0">
                <a:solidFill>
                  <a:schemeClr val="tx1"/>
                </a:solidFill>
              </a:rPr>
              <a:t> : 클라우드 DB · AI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595360" y="40690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5953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9235440" y="402336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제어</a:t>
            </a:r>
            <a:r>
              <a:rPr lang="en-US" sz="1300" dirty="0">
                <a:solidFill>
                  <a:schemeClr val="tx1"/>
                </a:solidFill>
              </a:rPr>
              <a:t> : 수분 &lt; 25% → 관수 밸브</a:t>
            </a:r>
            <a:endParaRPr lang="en-US" sz="1300" dirty="0"/>
          </a:p>
        </p:txBody>
      </p:sp>
      <p:sp>
        <p:nvSpPr>
          <p:cNvPr id="17" name="keybox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엣지</a:t>
            </a:r>
            <a:r>
              <a:rPr lang="en-US" sz="1500" dirty="0">
                <a:solidFill>
                  <a:schemeClr val="bg1"/>
                </a:solidFill>
              </a:rPr>
              <a:t> : 현장에서 빠르게 판단     </a:t>
            </a:r>
            <a:r>
              <a:rPr lang="en-US" sz="1500" b="1" dirty="0">
                <a:solidFill>
                  <a:schemeClr val="bg1"/>
                </a:solidFill>
              </a:rPr>
              <a:t>클라우드</a:t>
            </a:r>
            <a:r>
              <a:rPr lang="en-US" sz="1500" dirty="0">
                <a:solidFill>
                  <a:schemeClr val="bg1"/>
                </a:solidFill>
              </a:rPr>
              <a:t> : 대규모 저장·분석·AI  →  실제로는 혼합 구조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보안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420624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361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왜 표적이 될까?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3749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기기 수가 많음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성능이 낮아 보안 기능 부족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설치 후 관리 소홀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예)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미라이 봇넷 (2016)</a:t>
            </a:r>
            <a:r>
              <a:rPr lang="en-US" sz="1500" dirty="0">
                <a:solidFill>
                  <a:schemeClr val="tx1"/>
                </a:solidFill>
              </a:rPr>
              <a:t>기본 비밀번호 IoT 기기 감염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→ 대규모 DDoS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120640" y="15087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20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13716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기본 비밀번호 변경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1783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불필요한 포트(Telnet) 차단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120640" y="235915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2064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222199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통신 암호화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26334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MQTT over TLS (8883), DTLS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120640" y="3209544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20640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806440" y="30723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기기 인증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806440" y="348386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고유 인증서·키, 보안 칩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120640" y="4059936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2064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806440" y="392277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OTA 펌웨어 업데이트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806440" y="433425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취약점 원격 패치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120640" y="491032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120640" y="4910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806440" y="477316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네트워크 분리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806440" y="51846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IoT 전용 VLAN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80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정리와 복습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키워드와 퀴즈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정리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35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전송 매트릭스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모뎀 D→A · 코덱 A→D · DSU/CSU D→D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132588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1435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안테나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λ = c / f, 주파수 ↑ → 안테나 ↓ · 거리 ↓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624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AM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017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진폭 변화, B = 2fm, 간단하지만 잡음에 약함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251460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2624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FM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3017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주파수 변화, 카슨 B ≈ 2(Δf + fm), 리미터로 잡음 제거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70332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813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PCM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206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표본화(fs ≥ 2fmax) → 양자화 → 부호화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17920" y="370332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46520" y="3813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위성 · GPS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4206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LEO · MEO · GEO, 위성 4기로 위치 + 시계 오차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489204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이동통신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394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셀 · 주파수 재사용 · 핸드오버 · 로밍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217920" y="489204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4652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IoT 센싱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446520" y="5394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센서 → ADC → MCU → LPWAN · MQTT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퀴즈 1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371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디지털 데이터를 아날로그 신호로 바꾸는 장비는?</a:t>
            </a:r>
            <a:endParaRPr lang="en-US" sz="1700" dirty="0"/>
          </a:p>
        </p:txBody>
      </p:sp>
      <p:sp>
        <p:nvSpPr>
          <p:cNvPr id="7" name="answer"/>
          <p:cNvSpPr/>
          <p:nvPr/>
        </p:nvSpPr>
        <p:spPr>
          <a:xfrm>
            <a:off x="7589520" y="146304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463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모뎀 (MODEM)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4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900 MHz 전파의 λ/4 안테나 길이는?</a:t>
            </a:r>
            <a:endParaRPr lang="en-US" sz="1700" dirty="0"/>
          </a:p>
        </p:txBody>
      </p:sp>
      <p:sp>
        <p:nvSpPr>
          <p:cNvPr id="12" name="answer"/>
          <p:cNvSpPr/>
          <p:nvPr/>
        </p:nvSpPr>
        <p:spPr>
          <a:xfrm>
            <a:off x="7589520" y="260604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2606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λ ≈ 33 cm → λ/4 ≈ 8.3 cm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657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포락선 최대 10 V, 최소 4 V인 AM의 변조도는?</a:t>
            </a:r>
            <a:endParaRPr lang="en-US" sz="1700" dirty="0"/>
          </a:p>
        </p:txBody>
      </p:sp>
      <p:sp>
        <p:nvSpPr>
          <p:cNvPr id="17" name="answer"/>
          <p:cNvSpPr/>
          <p:nvPr/>
        </p:nvSpPr>
        <p:spPr>
          <a:xfrm>
            <a:off x="7589520" y="374904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0" y="3749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(10 − 4) / (10 + 4) ≈ 0.43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4800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FM 수신기에서 진폭 잡음을 제거하는 회로는?</a:t>
            </a:r>
            <a:endParaRPr lang="en-US" sz="1700" dirty="0"/>
          </a:p>
        </p:txBody>
      </p:sp>
      <p:sp>
        <p:nvSpPr>
          <p:cNvPr id="22" name="answer"/>
          <p:cNvSpPr/>
          <p:nvPr/>
        </p:nvSpPr>
        <p:spPr>
          <a:xfrm>
            <a:off x="7589520" y="489204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0" y="4892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리미터 (진폭 제한기)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퀴즈 2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371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4 kHz 음성, 8비트 PCM의 비트율은?</a:t>
            </a:r>
            <a:endParaRPr lang="en-US" sz="1700" dirty="0"/>
          </a:p>
        </p:txBody>
      </p:sp>
      <p:sp>
        <p:nvSpPr>
          <p:cNvPr id="7" name="answer"/>
          <p:cNvSpPr/>
          <p:nvPr/>
        </p:nvSpPr>
        <p:spPr>
          <a:xfrm>
            <a:off x="7589520" y="146304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463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8 kHz × 8 = 64 kbps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4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GPS에 위성이 최소 4기 필요한 이유는?</a:t>
            </a:r>
            <a:endParaRPr lang="en-US" sz="1700" dirty="0"/>
          </a:p>
        </p:txBody>
      </p:sp>
      <p:sp>
        <p:nvSpPr>
          <p:cNvPr id="12" name="answer"/>
          <p:cNvSpPr/>
          <p:nvPr/>
        </p:nvSpPr>
        <p:spPr>
          <a:xfrm>
            <a:off x="7589520" y="260604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2606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x, y, z + 수신기 시계 오차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657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셀룰러에서 같은 주파수를 여러 셀에서 쓰는 이유는?</a:t>
            </a:r>
            <a:endParaRPr lang="en-US" sz="1700" dirty="0"/>
          </a:p>
        </p:txBody>
      </p:sp>
      <p:sp>
        <p:nvSpPr>
          <p:cNvPr id="17" name="answer"/>
          <p:cNvSpPr/>
          <p:nvPr/>
        </p:nvSpPr>
        <p:spPr>
          <a:xfrm>
            <a:off x="7589520" y="374904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0" y="3749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저출력이라 떨어진 셀과 간섭이 작음 (주파수 재사용)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4800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배터리로 수 km를 통신하는 IoT 통신 묶음 이름은?</a:t>
            </a:r>
            <a:endParaRPr lang="en-US" sz="1700" dirty="0"/>
          </a:p>
        </p:txBody>
      </p:sp>
      <p:sp>
        <p:nvSpPr>
          <p:cNvPr id="22" name="answer"/>
          <p:cNvSpPr/>
          <p:nvPr/>
        </p:nvSpPr>
        <p:spPr>
          <a:xfrm>
            <a:off x="7589520" y="489204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0" y="4892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LPWAN (LoRaWAN, NB-IoT, LTE-M)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있으신가요?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oComm Mono">
  <a:themeElements>
    <a:clrScheme name="InfoComm Mono">
      <a:dk1>
        <a:srgbClr val="222222"/>
      </a:dk1>
      <a:lt1>
        <a:srgbClr val="FFFFFF"/>
      </a:lt1>
      <a:dk2>
        <a:srgbClr val="2B2B2B"/>
      </a:dk2>
      <a:lt2>
        <a:srgbClr val="F1F1F1"/>
      </a:lt2>
      <a:accent1>
        <a:srgbClr val="3A3A3A"/>
      </a:accent1>
      <a:accent2>
        <a:srgbClr val="6B6B6B"/>
      </a:accent2>
      <a:accent3>
        <a:srgbClr val="9A9A9A"/>
      </a:accent3>
      <a:accent4>
        <a:srgbClr val="C8C8C8"/>
      </a:accent4>
      <a:accent5>
        <a:srgbClr val="E4E4E4"/>
      </a:accent5>
      <a:accent6>
        <a:srgbClr val="505050"/>
      </a:accent6>
      <a:hlink>
        <a:srgbClr val="3A3A3A"/>
      </a:hlink>
      <a:folHlink>
        <a:srgbClr val="6B6B6B"/>
      </a:folHlink>
    </a:clrScheme>
    <a:fontScheme name="InfoComm Mono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정보통신개론</dc:title>
  <dc:subject>PptxGenJS Presentation</dc:subject>
  <dc:creator>이상목</dc:creator>
  <cp:lastModifiedBy>이상목</cp:lastModifiedBy>
  <cp:revision>1</cp:revision>
  <dcterms:created xsi:type="dcterms:W3CDTF">2026-10-18T09:18:25Z</dcterms:created>
  <dcterms:modified xsi:type="dcterms:W3CDTF">2026-10-18T09:18:25Z</dcterms:modified>
</cp:coreProperties>
</file>