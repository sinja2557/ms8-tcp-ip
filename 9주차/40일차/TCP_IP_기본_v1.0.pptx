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오리엔테이션" id="{0167965a-d7a6-fdd5-825c-81316c565ae7}">
          <p14:sldIdLst>
            <p14:sldId id="256"/>
            <p14:sldId id="257"/>
            <p14:sldId id="258"/>
          </p14:sldIdLst>
        </p14:section>
        <p14:section name="1. 데이터 통신 기초" id="{2d8fbb67-d306-b84f-409b-ce50cce562ea}">
          <p14:sldIdLst>
            <p14:sldId id="259"/>
            <p14:sldId id="260"/>
            <p14:sldId id="261"/>
            <p14:sldId id="262"/>
            <p14:sldId id="263"/>
            <p14:sldId id="264"/>
            <p14:sldId id="265"/>
            <p14:sldId id="266"/>
            <p14:sldId id="267"/>
          </p14:sldIdLst>
        </p14:section>
        <p14:section name="2. 인터넷 주소와 구조" id="{f87313ba-77dd-7ee7-b0f7-fc543108ef33}">
          <p14:sldIdLst>
            <p14:sldId id="268"/>
            <p14:sldId id="269"/>
            <p14:sldId id="270"/>
            <p14:sldId id="271"/>
            <p14:sldId id="272"/>
            <p14:sldId id="273"/>
            <p14:sldId id="274"/>
            <p14:sldId id="275"/>
            <p14:sldId id="276"/>
            <p14:sldId id="277"/>
            <p14:sldId id="278"/>
            <p14:sldId id="279"/>
          </p14:sldIdLst>
        </p14:section>
        <p14:section name="3. 통신 모델" id="{64e57161-69bf-e607-575c-b7bf4193126c}">
          <p14:sldIdLst>
            <p14:sldId id="280"/>
            <p14:sldId id="281"/>
            <p14:sldId id="282"/>
            <p14:sldId id="283"/>
            <p14:sldId id="284"/>
            <p14:sldId id="285"/>
            <p14:sldId id="286"/>
            <p14:sldId id="287"/>
          </p14:sldIdLst>
        </p14:section>
        <p14:section name="4. IP 주소와 서브네팅" id="{987f2a5f-7190-23ea-fd86-ee1879470f63}">
          <p14:sldIdLst>
            <p14:sldId id="288"/>
            <p14:sldId id="289"/>
            <p14:sldId id="290"/>
            <p14:sldId id="291"/>
            <p14:sldId id="292"/>
            <p14:sldId id="293"/>
            <p14:sldId id="294"/>
            <p14:sldId id="295"/>
            <p14:sldId id="296"/>
            <p14:sldId id="297"/>
            <p14:sldId id="298"/>
            <p14:sldId id="299"/>
            <p14:sldId id="300"/>
            <p14:sldId id="301"/>
            <p14:sldId id="302"/>
          </p14:sldIdLst>
        </p14:section>
        <p14:section name="5. 장비와 전송매체" id="{87f7d5d0-d91e-ab5f-19f9-dd2d2e56ebfd}">
          <p14:sldIdLst>
            <p14:sldId id="303"/>
            <p14:sldId id="304"/>
            <p14:sldId id="305"/>
            <p14:sldId id="306"/>
            <p14:sldId id="307"/>
            <p14:sldId id="308"/>
            <p14:sldId id="309"/>
            <p14:sldId id="310"/>
            <p14:sldId id="311"/>
            <p14:sldId id="312"/>
            <p14:sldId id="313"/>
          </p14:sldIdLst>
        </p14:section>
        <p14:section name="6. 라우팅과 보안 기초" id="{446fa2ad-2e79-7555-5eb0-9afe0cf24177}">
          <p14:sldIdLst>
            <p14:sldId id="314"/>
            <p14:sldId id="315"/>
            <p14:sldId id="316"/>
            <p14:sldId id="317"/>
            <p14:sldId id="318"/>
            <p14:sldId id="319"/>
            <p14:sldId id="320"/>
          </p14:sldIdLst>
        </p14:section>
        <p14:section name="7. 점검 명령어" id="{88f26d6c-1bd0-3cc9-b577-d769a3ea98ef}">
          <p14:sldIdLst>
            <p14:sldId id="321"/>
            <p14:sldId id="322"/>
            <p14:sldId id="323"/>
            <p14:sldId id="324"/>
            <p14:sldId id="325"/>
            <p14:sldId id="326"/>
            <p14:sldId id="327"/>
            <p14:sldId id="328"/>
            <p14:sldId id="329"/>
          </p14:sldIdLst>
        </p14:section>
        <p14:section name="정리" id="{81a2a191-d397-3ad8-9793-fda918b637a0}">
          <p14:sldIdLst>
            <p14:sldId id="330"/>
            <p14:sldId id="331"/>
            <p14:sldId id="3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[인사·도입] 오늘부터 네트워크 이론을 체계적으로 정리합니다. 실습 없이 개념과 원리, 그리고 자격증 시험에 나오는 핵심을 중심으로 진행합니다. 네트워크는 보안의 바탕이라서, 공격과 방어를 이해하려면 '데이터가 어떻게 오가는지'부터 알아야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[로드맵] 전체 흐름을 먼저 보여 줍니다. 1~2파트는 '네트워크와 인터넷이 무엇인가', 3파트는 '어떤 규칙(계층)으로 통신하는가', 4파트가 계산이 들어가는 IP·서브네팅, 5파트는 장비와 케이블, 6파트는 보안과 연결되는 라우팅·NAT·방화벽, 7파트는 실제 점검 명령어입니다. 4파트가 가장 어렵고 시험 계산 문제가 나오는 곳이므로 시간을 가장 많이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[공부법] 자격증(네트워크관리사·정보보안 계열) 기준으로 보면 문제 대부분은 용어·특징을 묻는 암기형이고, 일부가 서브네팅·진법 같은 계산형입니다. 그래서 '출제기준 확인 → 기출 풀이 → 수험서 반복'이 정석입니다. 수험서는 10번 읽는다는 마음으로, 처음엔 훑고 갈수록 자세히 봅니다. 계산 문제는 공식 4단계(4파트)만 익히면 어렵지 않다고 안심시켜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도입] 첫 파트는 용어의 뜻을 정확히 잡는 시간입니다. 단어를 쪼개 보면 의미가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Net은 그물, 즉 '그물처럼 연결되어 있다', Work는 '일한다' 곧 통신(데이터를 주고받는다)입니다. 합치면 '그물처럼 연결되어 데이터를 주고받는 것'. 같은 방식으로 Internet은 Inter(사이)+net, 즉 네트워크와 네트워크 사이를 잇는 '네트워크의 네트워크'입니다. Protocol은 통신하는 쪽끼리 미리 정한 '약속'입니다. 사람끼리도 같은 언어를 써야 대화가 되듯이, 컴퓨터도 같은 프로토콜을 써야 통신이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통신이 성립하려면 세 가지가 있어야 합니다. ① 주고받는 주체인 송신자와 수신자, ② 데이터가 지나가는 길인 전송매체(케이블, 전파, 광섬유), ③ 실제로 전달되는 정보(데이터). 편지에 비유하면 보내는 사람·받는 사람, 우체국과 도로, 편지 내용입니다. 하나라도 없으면 통신이 아닙니다. 여기에 '프로토콜(약속)'까지 더해 5요소로 설명하는 교재도 있다고 덧붙여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데이터가 흐르는 방향으로 나눕니다. 단방향(Simplex)은 한쪽으로만 흐릅니다. TV·라디오 방송이 대표적입니다. 양방향(Duplex)은 둘로 나뉘는데, 반이중(Half Duplex)은 양쪽 다 보낼 수 있지만 '동시에'는 안 됩니다. 무전기처럼 '오버'하고 차례를 넘겨야 합니다. 전이중(Full Duplex)은 동시에 주고받습니다. 전화가 그렇습니다. 선 수로 보면 단방향과 반이중은 2선식(신호선 1 + 기준선 1), 전이중은 4선식(보내는 2선 + 받는 2선)입니다. 허브는 반이중, 스위치는 전이중으로 동작한다는 것이 5파트에서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데이터는 사람이 오감(시각·청각·후각·미각·촉각)으로 받아들이는 모든 내용, 즉 가공되지 않은 재료입니다. 자연 상태의 데이터는 아날로그라서 컴퓨터가 처리하려면 0과 1의 디지털로 바꿔야 합니다. 이 데이터를 가공해 의사결정에 쓸 수 있게 만든 것이 정보입니다. '오늘 기온 18도'는 데이터, '외투를 챙겨라'는 정보입니다. 통신의 발전도 같은 흐름입니다: 전기통신(신호 전달) → 데이터 통신(형태를 갖춘 데이터) → 정보 통신(가공된 정보). 그래서 크기로 보면 데이터 &gt; 정보, 가치로 보면 정보가 더 높습니다.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2진법은 두 가지 상태(0과 1, 있다·없다)로 수를 나타냅니다. 모든 진법은 '자리값 × 숫자'의 합입니다. 10진수 10을 2진수로 쓰면 1010인데, 자리값 8·4·2·1 중 8과 2가 켜져 있으니 8+2=10입니다. 8진수 12는 8×1 + 1×2 = 10, 16진수 A는 10입니다. 16진수는 0~9 다음 A~F(10~15)를 씁니다. 주의: 어떤 수든 0제곱은 1입니다(10^0=1, 2^0=1). 학생들이 0으로 착각하기 쉬우니 꼭 짚어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10진수를 다른 진법으로 바꿀 때는 '그 진법의 수로 계속 나누고 나머지를 적은 뒤, 아래에서 위로 읽는다'가 공식입니다. 101을 2로 나누면 몫 50 나머지 1, 50÷2는 25 나머지 0 … 마지막 몫 1까지 내려간 뒤 아래에서 위로 읽으면 1100101입니다. 8로 나누면 145, 16으로 나누면 65입니다. 검산은 자리값으로 합니다: 64+32+4+1 = 101. 8비트로 맞추려면 앞에 0을 붙여 0110 0101로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2진수와 8진수·16진수 사이는 나눗셈 없이 '묶기'로 바꿉니다. 8 = 2³이므로 오른쪽부터 3비트씩, 16 = 2⁴이므로 4비트씩 묶어 각 묶음을 10진수로 읽으면 됩니다. 1100101을 3비트씩 묶으면 1 / 100 / 101 → 1 4 5 → 145(8). 4비트씩 묶으면 0110 / 0101 → 6 5 → 65(16). IP 주소(8비트 옥텟)와 MAC 주소(16진수) 읽을 때 계속 쓰이는 기술입니다.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Q1 Net=그물처럼 연결, Work=통신(데이터 송수신). Internet=네트워크와 네트워크를 연결한 네트워크의 네트워크. Q2 반이중(Half Duplex). Q3 200 = 1100 1000(2) = C8(16). Q4 255, 2⁰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도입] 인터넷에서 컴퓨터를 찾아가는 '주소'와, 그 주소를 관리하는 기관, 그리고 인터넷이 물리적으로 어떻게 이어져 있는지를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인터넷에는 주소가 세 층으로 있습니다. 사람은 www.naver.com 같은 도메인을 기억합니다. 네트워크는 IP 주소로 길을 찾습니다. 같은 네트워크 안의 장비끼리는 랜카드에 새겨진 MAC 주소로 프레임을 전달합니다. 도메인→IP는 DNS가 바꿔 주고(nslookup으로 확인), IP→MAC은 ARP가 바꿔 줍니다(arp -a로 확인). 택배로 비유하면 도메인은 '상호명', IP는 '도로명 주소', MAC은 '받는 사람 이름'입니다.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IP 주소는 피라미드처럼 위에서 아래로 나눠 줍니다. 맨 위 IANA(ICANN 산하)가 전 세계 주소를 총괄해 대륙별 기관 RIR에 큰 덩어리로 줍니다. 우리나라가 속한 아시아·태평양은 APNIC입니다. APNIC은 국가 기관인 KRNIC(KISA가 운영)에 주고, KRNIC은 KT·SK브로드밴드 같은 ISP나 독립 사용자(대학·대기업처럼 직접 받는 기관)에 줍니다. 우리 집 공유기는 ISP에게서 받습니다. 참고: IANA는 Internet Assigned Numbers Authority(번호 할당 기관)입니다.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RIR(Regional Internet Registry)은 5곳입니다. 시험에 이름과 담당 지역을 짝짓는 문제가 나옵니다. 아프리카는 AFRINIC, 아시아·태평양은 APNIC, 북미는 ARIN, 중남미·카리브는 LACNIC, 유럽·중동·중앙아시아는 RIPE NCC입니다. 주의: 요약 자료에 RIPE NCC가 '유럽 및 아프리카'로 적힌 경우가 있는데, 아프리카는 AFRINIC 담당이므로 바로잡아 주세요. 암기법: 'AP는 우리 동네(아시아 Pacific)'.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도메인은 IP 주소를 사람이 기억하기 쉽게 문자로 만든 인터넷 주소입니다. Whois는 '이 주소의 주인이 누구냐(Who is)'를 찾는 서비스로, 도메인·IP의 등록 기관명, 주소, 담당자, 등록대행자 같은 정보를 보여 줍니다. 보안에서는 피싱 사이트의 등록일·등록자를 확인하는 데 씁니다. 도메인 등록 절차는 KRNIC에서 등록 가능 여부 확인 → 등록대행자(가비아 등) 선택 → 대행자 사이트에서 신청과 수수료 납부 → whois.kr에서 등록 정보 확인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AS(Autonomous System)는 하나의 관리자가 같은 라우팅 정책으로 운영하는 네트워크 묶음입니다. 쉽게 말해 'KT 네트워크', '네이버 네트워크'처럼 회사·단체 하나가 관리하는 라우터 집단입니다. 인터넷은 이런 AS들이 서로 연결된 것입니다. 각 AS를 구별하는 고유 번호가 ASN(AS Number)인데, 처음엔 2바이트(16비트, 약 6만 5천 개)였으나 부족해져 4바이트(32비트)로 늘었습니다. 망 식별번호라고도 부릅니다.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관문국은 우리나라 네트워크가 해외로 연결되는 접속점입니다. 놀랍게도 국제 트래픽의 99% 이상은 바다 밑 해저 케이블로 오갑니다. 해저 케이블이 육지에 올라와 국내 통신망과 연결되는 곳을 육양국(Landing Station)이라 하고 부산·거제·태안에 있습니다. 인공위성은 1% 미만입니다. submarinecablemap.com 에서 실제 케이블 지도를 함께 보면 학생들 반응이 좋습니다. 보안 관점에서는 육양국이 국가 핵심 기반시설이라는 점도 언급할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내 PC에서 해외 서버까지 데이터가 가는 길입니다. 내 PC의 랜카드(NIC) → 사무실 스위치 → 회사 라우터 → ISP → 여러 라우터(인터넷 백본) → 상대 ISP → 상대 라우터 → 스위치 → 서버의 랜카드. 각 구간에서 쓰는 주소가 다르다는 점이 핵심입니다. 같은 네트워크 안(스위치 구간)은 MAC으로, 네트워크 사이(라우터 구간)는 IP로 찾아갑니다. tracert 명령으로 거쳐 가는 라우터들을 직접 볼 수 있다고 7파트를 예고하세요.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NIC(Network Interface Card, 랜카드)는 컴퓨터(호스트)를 네트워크에 물리적으로 연결하는 장치입니다. 컴퓨터 안의 디지털 데이터를 케이블로 보낼 신호로 바꾸고, 들어온 신호를 다시 데이터로 바꿉니다. 각 NIC에는 전 세계에서 유일한 MAC 주소(48비트, 16진수 12자리)가 있습니다. 앞 24비트는 제조사 번호(OUI), 뒤 24비트는 제품 일련번호입니다. 장비 분류에서는 L2(데이터링크) 장비로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토폴로지는 장비들이 연결된 '모양'입니다. 물리적 토폴로지는 실제 케이블 배치, 논리적 토폴로지는 데이터가 매체에 접근하는 동작 방식(버스형·링형)입니다. 다섯 가지 그림을 칠판에 그리며 설명하세요. 버스형은 한 줄 케이블에 매달린 형태, 성형(스타)은 중앙 장비(스위치)에 모두 연결, 링형은 고리, 트리형은 계층 구조, 망형(메시)은 서로서로 연결입니다. 오늘날 LAN은 대부분 성형, WAN(통신사 백본)은 망형입니다.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시험에서는 '어떤 토폴로지의 특징인가'를 묻습니다. 핵심 단어로 외우게 하세요. 버스형=설치 쉬움·한 곳 끊기면 전체 영향·충돌 발생. 성형=중앙 장비 관리 쉬움·중앙 장비 고장 시 전체 마비. 링형=토큰 방식·노드 하나 고장 시 영향. 트리형=확장 쉬움·상위 노드 고장 시 하위 영향. 망형=신뢰성 최고·케이블과 비용이 가장 많이 듦(n개 노드 완전 연결 시 n(n-1)/2 회선).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Q1 IANA(ICANN), KRNIC(KISA). Q2 RIPE NCC / AFRINIC. Q3 AS(자율 시스템), ASN(망 식별번호, 16비트→32비트). Q4 성형(Star) / 망형(Mesh). Q5 해저 케이블 (육양국: 부산·거제·태안).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도입] 네트워크 공부의 뼈대입니다. 앞으로 배우는 장비·프로토콜·공격 기법이 모두 '몇 계층의 것인가'로 정리됩니다.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통신은 복잡해서 한 번에 설계하면 고치기 어렵습니다. 그래서 일을 층으로 나눕니다. 택배를 생각해 보세요. 나는 물건만 포장하고, 택배사는 송장을 붙이고, 물류센터는 경로를 정하고, 기사님은 실어 나릅니다. 각자 자기 일만 하면 되고, 트럭이 바뀌어도 포장 방법은 그대로입니다. 계층 모델의 장점: ① 복잡한 통신을 단순하게 나눈다 ② 한 계층을 바꿔도 다른 계층에 영향이 적다 ③ 서로 다른 회사 장비끼리도 표준에 맞추면 통신된다 ④ 문제가 생기면 몇 계층 문제인지로 범위를 좁힐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위에서부터 응용-표현-세션-전송-네트워크-데이터링크-물리. 외우는 방법: 아래부터 '물-데-네-전-세-표-응', 영어로는 아래부터 'Please Do Not Throw Sausage Pizza Away'. 각 층마다 대표 기능 하나와 전송 단위(PDU)를 짝지어 외우게 하세요. 5~7계층은 데이터(메시지), 4계층 세그먼트, 3계층 패킷, 2계층 프레임, 1계층 비트입니다.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5~7계층은 '무엇을 어떻게 보여 줄까'를 다룹니다. 7계층 응용은 사용자가 직접 만나는 서비스(웹 HTTP, 메일 SMTP, 파일 FTP, DNS). 6계층 표현은 데이터를 어떤 형식으로 표현할지 정하고 암호화·압축을 합니다(JPEG, ASCII, SSL/TLS 암호화 개념). 5계층 세션은 두 호스트 사이 대화(세션)를 열고 동기화하고 관리합니다. 셋 다 전송 단위는 '데이터(메시지)'입니다. TCP/IP 모델에서는 이 셋을 '응용 계층' 하나로 합칩니다.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4계층 전송은 출발지 프로그램에서 목적지 프로그램까지(종단 간) 데이터가 빠짐없이 순서대로 가도록 오류·흐름 제어를 하고, 데이터를 세그먼트로 나눕니다. TCP·UDP, 포트 번호가 여기 속합니다. 3계층 네트워크는 서로 다른 네트워크 사이의 경로를 고르고(라우팅) 패킷을 보냅니다. IP와 라우터. 2계층 데이터링크는 바로 옆 장비까지 프레임을 오류 없이 보내는 일, MAC 주소와 스위치. 1계층 물리는 0과 1을 전기·빛 신호로 보내는 일입니다. 물리 계층의 4가지 특성(기계적·전기적·기능적·절차적)이 시험에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보내는 쪽은 위에서 아래로 내려가며 각 계층이 자기 정보(헤더)를 앞에 붙입니다. 이것을 캡슐화라고 합니다. 응용 데이터에 전송 계층이 TCP 헤더(포트 번호)를 붙이면 세그먼트, 네트워크 계층이 IP 헤더(IP 주소)를 붙이면 패킷, 데이터링크 계층이 이더넷 헤더(MAC 주소)와 트레일러를 붙이면 프레임, 물리 계층은 이를 비트 신호로 보냅니다. 받는 쪽은 반대로 아래에서 위로 올라가며 헤더를 하나씩 떼어 냅니다(역캡슐화). 택배 상자를 겹겹이 포장했다가 받는 사람이 하나씩 푸는 것과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실제 인터넷은 TCP/IP 모델로 동작합니다. OSI의 7·6·5계층이 TCP/IP의 응용 계층 하나로, OSI의 2·1계층이 네트워크 접속 계층 하나로 합쳐져 4계층이 됩니다. 각 계층에서 '다음 위층이 누구인지' 알려 주는 번호가 있습니다: 전송 계층은 포트 번호로 어떤 응용 서비스인지(80=HTTP, 22=SSH), 인터넷 계층은 프로토콜 번호로 위층이 무엇인지(ICMP=1, TCP=6, UDP=17) 구분합니다. 맨 아래 계층 이름은 교재마다 달라서 Network Access(William Stallings), Link(RFC 1122), Network Interface(RFC 871·Cisco)로 부릅니다. 시험에서 어떤 이름이 나와도 같은 계층임을 알려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Q1 물리-데이터링크-네트워크-전송-세션-표현-응용. Q2 표현 계층(L6). Q3 세그먼트-패킷-프레임-비트. Q4 응용 계층 / 네트워크 접속 계층(Link, Network Interface). Q5 프로토콜 번호.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도입] 계산 문제가 나오는 유일한 파트입니다. 공식이 4단계뿐이라는 것을 먼저 말해 주고 시작하면 학생들이 덜 겁먹습니다. 2진수 묶기(1파트)를 짧게 복습하고 들어가세요.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IPv4 주소는 32비트입니다. 사람이 읽기 쉽게 8비트(옥텟, Octet)씩 네 덩어리로 나눠 10진수로 쓰고 점으로 구분합니다. 한 옥텟은 8비트라서 0~255까지 표현됩니다. 10.10.34.121 을 2진수로 쓰면 00001010.00001010.00100010.01111001. 서브넷 마스크 255.255.255.0 은 1이 24개, 0이 8개로 '앞 24비트가 네트워크, 뒤 8비트가 호스트'라는 뜻이며, /24 로 줄여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처음 IP를 설계할 때 첫 옥텟의 앞 비트로 클래스를 나눴습니다. 클래스 A는 맨 앞 비트가 0 → 0~127, B는 10 → 128~191, C는 110 → 192~223, D는 1110 → 224~239로 멀티캐스트(IGMP)용, E는 1111 → 240~255로 연구·예약용입니다. A·B·C는 일반 주소로 유니캐스트·멀티캐스트·브로드캐스트 통신에 쓰입니다. 그래서 '첫 번째 옥텟 값만 보면 클래스를 안다'가 핵심입니다. 참고로 127.x.x.x 는 자기 자신을 가리키는 루프백이라 실제 호스트에 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계산 원리: 2의 (비트 수) 제곱. 단, 고정 비트는 빼고 계산합니다. B 클래스는 네트워크 16비트 중 앞 '10' 두 비트가 고정이라 2^(16-2) = 2^14 = 16,384개 네트워크. 호스트는 16비트라서 2^16 = 65,536개인데, 호스트 부분이 모두 0인 네트워크 주소와 모두 1인 브로드캐스트 주소는 장비에 쓸 수 없으므로 2를 빼 65,534대입니다. 이 '−2'가 서브네팅에서도 계속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IP 주소는 인터넷에서 그대로 쓸 수 있는 공인(Public) 주소와, 기관 내부에서만 쓰는 사설(Private) 주소로 나뉩니다. 사설 주소는 인터넷에 직접 나갈 수 없어 NAT로 공인 주소로 바꿔서 나갑니다(6파트). 외부에서 직접 들어올 수 없어 보안상 유리합니다. 사설 대역 세 개는 반드시 외워야 합니다: 10.0.0.0/8, 172.16.0.0/12(172.16~172.31), 192.168.0.0/16. 169.254.x.x 는 링크 로컬(APIPA) 주소로, DHCP 서버에서 IP를 못 받으면 Windows가 스스로 붙이는 주소입니다. ipconfig 에서 이 주소가 보이면 'IP 설정이 정상이 아니다'라는 신호입니다.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한 네트워크에는 특별한 주소 두 개가 있습니다. 호스트 부분이 모두 0인 주소는 '네트워크 자체'를 가리키는 네트워크 주소, 모두 1인 주소는 '네트워크 안 모든 호스트'에게 보내는 브로드캐스트 주소입니다. 192.168.1.0/24 라면 192.168.1.0 이 네트워크 주소, 192.168.1.255 가 브로드캐스트 주소, 그 사이 1~254 가 장비에 줄 수 있는 주소입니다. 아파트에 비유하면 네트워크 주소는 '○○아파트 101동' 자체, 브로드캐스트는 '101동 전체 방송'입니다.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컴퓨터는 'IP 주소 AND 서브넷 마스크'로 자기 네트워크 주소를 구합니다. AND는 논리곱이라 둘 다 1일 때만 1입니다. 규칙 두 개만 기억하면 됩니다: A AND 1 = A(그대로), A AND 0 = 0(지워짐). 그래서 마스크가 1인 네트워크 부분은 IP가 그대로 남고, 0인 호스트 부분은 0으로 지워집니다. 10.10.34.129 AND 255.255.255.0 = 10.10.34.0. 참고로 OR는 논리합(하나라도 1이면 1), NOT은 부정(0↔1)입니다. 논리 연산에서 1은 참, 0은 거짓입니다.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서브네팅 문제를 빨리 푸는 무기입니다. 마지막 옥텟에서 서브넷 비트를 1개씩 늘릴 때 마스크 값은 128, 192, 224, 240, 248, 252 로 커집니다(128+64+32+…). 블록 크기는 256 ÷ 서브넷 수, 사용 가능 호스트는 블록 크기 − 2 입니다. 이 표를 한 번 직접 써 보게 하면 대부분의 문제를 계산 없이 풉니다. 호스트 비트가 최소 2개는 있어야(/30) 호스트 2대를 쓸 수 있으므로 C 클래스에서 빌릴 수 있는 서브넷 비트는 최대 8−2 = 6개입니다.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서브네팅은 하나의 네트워크를 여러 개의 작은 네트워크(서브넷)로 나누는 것입니다. 방법은 호스트 부분에서 앞쪽 비트를 빌려 '서브넷 비트'로 쓰는 것입니다. 그러면 주소 구조가 네트워크+호스트에서 네트워크+서브넷+호스트로 바뀝니다. 왜 나누나? 부서별로 네트워크를 분리하면 브로드캐스트가 줄어 성능이 좋아지고, 부서 사이에 방화벽·ACL을 걸 수 있어 보안이 좋아지며, 주소 낭비도 줄어듭니다. 주의: 호스트 비트는 최소 2개를 남겨야 합니다. 그리고 서브네팅 후에는 반드시 바뀐 서브넷 마스크를 정확히 써야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모든 서브네팅 문제는 이 네 단계로 풉니다. ① 필요한 서브넷 수를 보고 2^n ≥ 필요 수 인 n(빌릴 비트 수)을 구한다. 8개면 n=3. ② 새 마스크 = 기존 프리픽스 + n, 블록 크기 = 256 ÷ 2^n. ③ 네트워크 주소는 블록 크기의 배수(0, 32, 64…), 브로드캐스트는 다음 네트워크 주소 − 1. ④ 사용 가능 범위는 네트워크+1 부터 브로드캐스트−1 까지. 칠판에 이 네 줄을 크게 써 두고 다음 예제 두 개를 이 순서대로 풀어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문제: KISA에서 195.5.5.0/24 를 받았다. 같은 규모(호스트 수)로 8개의 서브넷으로 나눠라. 풀이: ① 8 = 2³ 이므로 서브넷 비트 3, 호스트 비트 5 (195.5.5.sss hhhhh). ② 마스크 /27 = 255.255.255.224, 블록 크기 256 ÷ 8 = 32. ③ 첫 번째 서브넷은 sss=000 → 0~31, 네트워크 195.5.5.0, 브로드캐스트 195.5.5.31. ④ 사용 가능 .1~.30 (30대). 여덟 번째는 sss=111 → 32×7=224 ~ 32×8−1=255. 참고: 정리 자료에 '32×7−1(255)'로 적힌 부분은 '32×8−1'이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예제 1은 모든 서브넷이 같은 크기였습니다(FLSM). 하지만 실제 회사는 부서마다 인원이 다릅니다. 100명 부서와 13명 부서에 똑같이 32개씩 주면 낭비가 큽니다. VLSM(Variable Length Subnet Mask)은 서브넷마다 마스크 길이를 다르게 해서 필요한 만큼만 나눠 주는 방법입니다. 요령은 단 하나: '큰 부서부터 먼저 배정'. 남은 공간을 다시 반으로 쪼개 가며 배정합니다. 필요한 크기는 '호스트 수 + 2(네트워크·브로드캐스트)'보다 큰 2의 제곱수로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문제: 173.16.10.0/24 를 받아 교육부 100대, 영업부 50대, 기술부 21대, 총무부 13대를 서로 다른 네트워크로 나눠라. 큰 순서대로: 교육부 100 → 128 블록 /25 → 173.16.10.0/25 (0~127). 남은 128~255 를 반으로 → 영업부 50 → 64 블록 /26 → 173.16.10.128/26 (128~191). 남은 192~255 를 반으로 → 기술부 21 → 32 블록 /27 → 173.16.10.192/27 (192~223). 남은 224~255 를 반으로 → 총무부 13 → 16 블록 /28 → 173.16.10.224/28 (224~239). 마지막 240~255(/28)는 예비용입니다. 아래 막대에서 0~255 공간이 어떻게 쪼개지는지 보여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서브네팅의 반대가 슈퍼네팅입니다. 연속된 작은 네트워크 여러 개를 큰 네트워크 하나로 묶어 표현합니다. 목적은 라우터가 주고받는 경로 정보를 줄이는 것입니다(경로 요약, Route Summarization). 예를 들어 192.168.0.0/24 ~ 192.168.3.0/24 네 개는 세 번째 옥텟 0~3 이 앞 6비트가 같으므로 192.168.0.0/22 하나로 알릴 수 있습니다. 라우터 입장에선 경로 4줄이 1줄로 줄어듭니다.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Q1 B 클래스(128~191). Q2 10.0.0.0/8, 172.16.0.0/12, 192.168.0.0/16 / DHCP로 주소를 못 받아 자동 부여된 링크 로컬 주소 = IP 설정 비정상. Q3 /26 = 255.255.255.192, 두 번째: 네트워크 200.1.1.64, 브로드캐스트 200.1.1.127. Q4 2^14 = 16,384개, 2^16−2 = 65,534대. Q5 6비트 (호스트 비트를 최소 2개 남겨야 하므로 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도입] 3파트의 계층 지도 위에 장비를 하나씩 올려놓는 시간입니다. '이 장비는 몇 계층인가'가 시험 단골입니다.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장비는 '어느 계층의 정보까지 보고 판단하느냐'로 나눕니다. L1 장비는 신호만 다룹니다(리피터·허브·모뎀). L2 장비는 MAC 주소를 봅니다(NIC·브리지·스위치). L3 장비는 IP 주소를 봅니다(라우터·L3 스위치). L4 장비는 포트 번호까지 봐서 부하를 나눕니다(L4 스위치). L7 장비는 데이터 내용까지 봅니다(게이트웨이·L7 스위치·방화벽·IDS/IPS). 높은 계층 장비일수록 똑똑하지만 처리 부담이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1계층 장비는 내용을 이해하지 못하고 신호만 다룹니다. 리피터는 약해진 신호를 증폭해 거리를 늘리는 2포트 장비, 허브는 포트가 여러 개인 리피터로 들어온 신호를 모든 포트로 뿌립니다(플러딩). 트랜시버는 송신기(Transmitter)+수신기(Receiver). 모뎀(MODEM)은 변조(MOdulation)·복조(DEModulation)의 합성어로 디지털 신호를 아날로그 전송로(전화선)로 보냅니다. DSU는 디지털 신호를 디지털 전송로로 보냅니다. 모뎀과 DSU 차이(아날로그 회선 vs 디지털 회선)가 시험에 자주 나옵니다. 무선 AP는 무선랜을 구성하고, 광플랫폼은 광케이블로 신호를 보냅니다.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2계층 장비는 MAC 주소를 봅니다. NIC은 호스트를 네트워크에 연결합니다. 브리지는 네트워크를 둘로 나눠 충돌 영역을 분리하고, 스위치는 포트가 많은 브리지로 포트마다 충돌 영역을 나눕니다. 3계층 장비는 IP 주소를 봅니다. 라우터는 서로 다른 네트워크를 연결하고(WAN 연동), 충돌 영역과 브로드캐스트 영역을 모두 나누며, 라우팅 테이블을 관리합니다. L3 스위치는 스위치에 라우팅 기능을 더한 것으로, 백본 스위치로서 LAN 안의 서로 다른 네트워크(VLAN)를 빠르게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시험에 가장 많이 나오는 비교입니다. 허브는 L1 장비라 들어온 신호를 모든 포트로 뿌립니다(플러딩). 그래서 허브에 연결된 장비 전체가 하나의 충돌 영역이 되고, 동시에 두 대가 보내면 충돌합니다(반이중). 스위치는 L2 장비로 MAC 주소 테이블을 보고 목적지 포트로만 보냅니다(스위칭). 포트마다 충돌 영역이 따로라서 충돌 영역 수 = 포트 수, 전이중 통신이 됩니다. 하지만 스위치도 브로드캐스트는 모든 포트로 보내므로 브로드캐스트 영역은 하나입니다. 브로드캐스트 영역까지 나누려면 라우터(또는 VLAN)가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L4 스위치는 포트 번호까지 보고 여러 서버에 요청을 골고루 나눠 줍니다(로드밸런싱, 부하 분산). 웹 서버 여러 대 앞에 둡니다. L7 장비는 데이터 내용까지 봅니다. 게이트웨이는 서로 다른 네트워크(예: 전화망과 홈네트워크)를 연결하며 프로토콜을 변환합니다. 홈게이트웨이가 예입니다. 호스트(서버·클라이언트)도 L7에 속하며, 방화벽·IDS(침입 탐지)·IPS(침입 방지)도 이 범주입니다. L7 스위치는 패킷 내용을 분석해 공격을 막는 보안 스위치입니다. 보안 과정이니 IDS는 '탐지만', IPS는 '탐지+차단'이라는 차이를 꼭 짚어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LAN에서 가장 많이 쓰는 전송매체는 꼬임선(TP, Twisted Pair)입니다. 구리선 두 가닥을 꼬아 놓아서 선 사이의 전자기 유도(EMI, 간섭)를 줄입니다. 값싸고 설치가 쉽지만 거리가 짧습니다(100m). 광섬유는 빛으로 신호를 보냅니다. 굵기가 가늘고(세경) 가볍고, 전자기파 영향을 받지 않으며, 대역폭이 넓어 대용량·장거리 전송에 적합합니다. 단점은 접속(융착) 작업이 어렵고 비싸다는 것입니다. 보안 관점에서는 광섬유가 전자기 도청에 강하다는 점도 언급할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이더넷 규격 이름은 세 부분으로 읽습니다. 100 = 전송 속도 100Mbps. BASE = 베이스밴드(기저대역) 전송, 즉 신호를 변조하지 않고 디지털 그대로 보낸다는 뜻(반대는 BROAD, 브로드밴드). TX = 꼬임선(Twisted Pair) 사용, 최대 전송 거리 100m. 같은 방식으로 1000BASE-T는 1Gbps 꼬임선, 10BASE5는 10Mbps 굵은 동축케이블 500m, 1000BASE-SX/LX는 광섬유입니다.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다이렉트(스트레이트) 케이블은 양쪽 핀 배열이 같습니다(568B-568B). 서로 다른 종류의 장비, 예를 들어 PC와 스위치를 연결할 때 씁니다. 크로스오버 케이블은 한쪽 568A, 한쪽 568B로 송신·수신 선을 교차합니다. 같은 종류의 장비끼리, 즉 DTE-DTE(PC-PC, PC-라우터), DCE-DCE(스위치-스위치)를 연결할 때 씁니다. 롤오버(콘솔) 케이블은 핀 순서가 완전히 뒤집힌 케이블로, 라우터·스위치를 처음 설정할 때 PC와 콘솔 포트를 연결합니다. 참고로 요즘 장비는 Auto-MDIX 기능이 있어 케이블 종류를 자동으로 맞춰 주지만, 시험은 원칙대로 출제됩니다.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UTP 케이블을 만들 때 8가닥의 색 순서를 정한 표준이 TIA/EIA 568-A와 568-B입니다. 실무에서는 대부분 568-B를 씁니다. 568-B 순서: 주황흰, 주황, 녹색흰, 파랑, 파랑흰, 녹색, 갈색흰, 갈색. 568-A는 568-B에서 주황 쌍(1·2번)과 녹색 쌍(3·6번)의 위치를 바꾼 것입니다. 양쪽을 같은 표준으로 만들면 다이렉트, 한쪽 A 한쪽 B면 크로스오버입니다. 100BASE-TX는 1·2번(송신)과 3·6번(수신)만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Q1 허브=L1·모든 포트로 플러딩·충돌 영역 1개 / 스위치=L2·MAC 보고 해당 포트로 스위칭·충돌 영역=포트 수. Q2 모뎀 / DSU. Q3 라우터 / L4 스위치. Q4 100Mbps · 베이스밴드(변조 없음) · 꼬임선(최대 100m). Q5 크로스오버 케이블(같은 종류 DTE-DTE) / 롤오버(콘솔) 케이블.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도입] 정보보안 과정의 본론으로 이어지는 파트입니다. '패킷이 어디로 가는가(라우팅)'와 '패킷을 통과시킬까 막을까(ACL·방화벽)'의 두 질문으로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Routing = Route(경로) + ing, 패킷을 목적지까지 전달하는 과정입니다. 이 일을 하는 장비가 라우터(Router)입니다. 라우터는 라우팅 테이블(목적지 네트워크 → 다음 라우터)을 보고 패킷을 보냅니다. 테이블을 채우는 방법이 두 가지입니다. 정적(Static) 라우팅은 관리자가 손으로 입력합니다. 고정적이고 변하지 않으며, 작은 네트워크에 적합하고 보안상 안전하지만 장애가 나도 스스로 바꾸지 못합니다. 동적(Dynamic) 라우팅은 라우팅 프로토콜(RIP, OSPF, BGP 등)이라는 프로그램이 자동으로 경로를 관리합니다. 큰 네트워크에 적합하고 장애 시 자동 우회합니다. 2파트의 AS 사이에서 쓰는 것이 BGP입니다.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방화벽(Firewall)은 원래 건물에서 불이 옆으로 번지는 것을 막는 벽입니다. 네트워크에서는 패킷의 이동을 제어해 통과시키거나 차단합니다. ACL(Access Control List)은 '이 출발지·목적지·포트의 패킷은 통과, 저것은 차단' 같은 규칙 목록을 만들어 라우터나 방화벽의 인터페이스에 적용하는 것입니다. 규칙을 만드는 두 가지 철학이 있습니다. 화이트리스트는 '허용 목록에 있는 것만 통과, 나머지는 모두 차단'으로 보안이 강합니다. 블랙리스트는 '차단 목록에 있는 것만 막고 나머지는 통과'로 편하지만 새로운 공격에 약합니다. 보안 실무의 기본은 '기본 차단(Default Deny) + 화이트리스트'입니다.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VLAN(Virtual LAN, 가상 랜)은 물리적으로는 스위치 하나에 연결되어 있어도 논리적으로 네트워크를 나누는 기술입니다. '가상'은 '논리적'이라는 뜻입니다. 예를 들어 같은 스위치의 1~4번 포트는 영업부 VLAN 10, 5~8번은 기술부 VLAN 20으로 정하면 둘은 서로 다른 네트워크처럼 동작합니다. 브로드캐스트가 VLAN 안에서만 퍼지므로 성능이 좋아지고, 부서 간 통신을 통제할 수 있어 보안이 좋아집니다. VLAN 사이 통신은 라우터나 L3 스위치가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NAT(Network Address Translation)은 사설 IP와 공인 IP를 서로 바꿔 주는 기술입니다. 4파트에서 사설 주소는 인터넷에 직접 못 나간다고 했죠. 공유기(NAT 라우터)가 변환표를 들고 있다가, 내부 10.10.34.1이 나갈 때 출발지 주소를 공인 1.2.3.4로 바꿔 내보냅니다. 이것이 SNAT(Source NAT, 출발지 변환)입니다. 반대로 외부에서 1.2.3.4:80으로 들어온 요청을 내부 웹 서버 10.10.34.10:80으로 보내 주는 것이 DNAT(Destination NAT, 목적지 변환), 흔히 포트포워딩입니다. 효과: 공인 주소 절약, 내부 구조 숨김(보안). 실습에서 쓴 VMware NAT와 포트포워딩이 바로 이것입니다.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DoS(Denial of Service, 서비스 거부) 공격은 엄청나게 많은 요청을 한꺼번에 보내 서버의 자원(CPU·메모리·대역폭·연결 수)을 고갈시켜 정상 사용자가 서비스를 못 받게 하는 공격입니다. '자원 고갈'이 핵심 단어입니다. 여러 대의 좀비 PC가 동시에 공격하면 DDoS입니다. 방어 쪽에서는 IPS(침입 방지 시스템)가 유선 네트워크의 공격을 탐지·차단하고, WIPS(무선 IPS)는 무선랜에서 불법 AP·비인가 접속을 탐지·차단합니다. 무선랜은 전파가 벽 밖까지 나가므로 별도 보호가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Q1 정적(Static) 라우팅 / 동적(Dynamic) 라우팅(라우팅 프로토콜). Q2 ACL(Access Control List). Q3 화이트리스트. Q4 DNAT(Destination NAT) = 포트포워딩. Q5 DoS(서비스 거부) 공격, 여러 대면 DDoS.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도입] 실습은 하지 않지만, 각 명령이 '어떤 질문에 답하는 도구인가'로 정리하면 시험과 실무 모두에 바로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GUI(Graphic User Interface)는 아이콘과 마우스로, CLI(Command Line Interface)는 명령어로 조작합니다. 서버와 네트워크 장비는 대부분 CLI로 관리합니다. PC에 IP를 설정하는 방법은 세 가지입니다. ① 제어판 → 네트워크 연결 → 어댑터 → 속성 → 인터넷 프로토콜(IPv4) → 속성. ② 실행 창에 ncpa.cpl 을 입력하면 네트워크 연결 창이 바로 열립니다. ③ netsh(NETwork SHell) 명령으로 CLI에서 설정합니다. 설정 방식은 자동(Dynamic, DHCP 서버가 부여)과 수동(Static, 관리자가 직접 입력) 두 가지입니다.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명령어를 옵션부터 외우면 금방 잊습니다. '무엇이 궁금할 때 쓰는가'로 먼저 묶으세요. 내 IP 설정이 궁금하면 ipconfig, 상대와 연결되는지는 ping, 어떤 경로로 가는지는 tracert, 도메인의 IP는 nslookup, IP에 해당하는 MAC은 arp, 지금 열린 연결과 포트는 netstat, 라우팅 테이블은 route, Windows 컴퓨터 이름(NetBIOS)은 nbtstat. 이 여덟 개면 시험 범위가 끝납니다.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ipconfig 는 내 PC의 IP 주소, 서브넷 마스크, 기본 게이트웨이를 보여 줍니다. /all 을 붙이면 MAC(물리적 주소), DHCP 사용 여부, DNS 서버까지 전부 나옵니다. DHCP 환경에서 IP를 다시 받고 싶으면 /release 로 반납하고 /renew 로 새로 받습니다(IPv6는 release6, renew6). DNS 캐시 관련으로 /displaydns 는 캐시 내용 보기, /flushdns 는 캐시 지우기입니다. 보안 사고 때 DNS 캐시를 오염시키는 공격이 있어서 /flushdns 는 실무에서 자주 씁니다. 169.254.x.x 가 보이면 DHCP 실패라는 것도 함께 복습하세요.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ping 은 상대에게 ICMP 에코 요청을 보내고 응답을 받아 연결을 확인합니다. 기본 4번 보내고, -t 는 Ctrl+C 로 멈출 때까지 계속, -n 은 보낼 횟수, -l 은 보낼 데이터 크기입니다. ping localhost(127.0.0.1)는 내 PC의 TCP/IP 자체가 정상인지 확인합니다. 주의: 방화벽이 ICMP를 막으면 서버가 살아 있어도 ping 이 실패할 수 있습니다. tracert 는 목적지까지 거쳐 가는 라우터(홉)와 각 구간의 응답 시간을 보여 줍니다. 어느 구간에서 끊기는지 찾을 때 씁니다. -d 는 이름 변환을 하지 않아 빠릅니다. 리눅스에서는 traceroute 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arp -a 는 IP 주소와 MAC 주소 변환표(ARP 캐시)를 보여 줍니다. 같은 네트워크에서 MAC 주소를 확인할 때, 그리고 ARP 스푸핑 공격을 점검할 때 씁니다. netstat -an 은 모든 연결과 대기 포트를 숫자로 보여 줍니다. 수상한 외부 연결이나 열린 포트를 찾는 보안 점검의 기본입니다. -r 은 라우팅 테이블, -s 는 프로토콜별 통계, -e 는 이더넷 통계. route print 는 라우팅 테이블을 보여 주고 add/delete/change 로 경로를 조작하며, -p 를 붙이면 재부팅해도 유지됩니다. nbtstat 은 NetBIOS 이름 기반으로 IP로 컴퓨터 이름을, 이름으로 IP를 찾습니다. nslookup 은 도메인의 IP를 DNS에 물어봅니다.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같은 일을 하는 명령이 운영체제마다 이름이 다릅니다. Windows ipconfig 는 리눅스에서 ip a(예전 ifconfig), tracert 는 traceroute, route print 는 ip route, netstat 는 ss(예전 netstat), arp -a 는 ip neigh 입니다. ping 과 nslookup 은 이름이 같습니다. 단, 리눅스 ping 은 멈출 때까지 계속 보내므로 -c 4 처럼 횟수를 줍니다. 시험에는 Windows 명령 위주로 나오지만, 보안 실무는 리눅스 서버가 많으니 짝으로 기억하게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'인터넷이 안 돼요'라는 말을 들으면 안쪽부터 한 단계씩 넓혀 갑니다. ① ipconfig 로 IP가 제대로 있는지(169.254면 DHCP 문제). ② ping 127.0.0.1 로 내 PC의 TCP/IP 자체가 정상인지. ③ ping 게이트웨이로 같은 네트워크 공유기까지 가는지. ④ ping 8.8.8.8 로 인터넷(IP)까지 가는지. ⑤ nslookup 으로 이름(DNS)이 풀리는지. ⑥ tracert 로 어느 구간에서 끊기는지. 실패한 첫 단계가 원인이 있는 곳입니다. 예: ④는 되는데 ⑤가 안 되면 DNS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Q1 ipconfig /all. Q2 ipconfig /flushdns / nslookup. Q3 tracert / traceroute. Q4 netstat -an. Q5 DNS 설정 문제(이름 해석 실패) → nslookup 으로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시험 직전에 이 두 장만 다시 보면 됩니다. 숫자로 나오는 것들입니다. 클래스 범위, 사설 대역, /27=224, 호스트 수 −2, ASN 16→32비트, 100BASE-TX 100m, 해저 케이블 99% 이상.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짝으로 나오는 것들입니다. 계층-장비-PDU, 허브와 스위치, 모뎀과 DSU, 케이블 종류, 정적과 동적, 화이트와 블랙, SNAT와 DNAT, IDS와 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오늘 배운 것을 한 문장으로 정리하면 '네트워크는 연결과 약속과 주소'입니다. 연결은 토폴로지·전송매체·장비(1·2·5파트), 약속은 프로토콜과 계층 모델(3파트), 주소는 IP·MAC·도메인(2·4파트), 그리고 그 위에서 라우팅·보안·점검 명령(6·7파트)이 동작합니다. 다음 시간은 기출문제를 풀며 약한 부분을 찾겠습니다.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_TITLE">
    <p:bg>
      <p:bgPr>
        <a:solidFill>
          <a:srgbClr val="123A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rtlCol="0"/>
          <a:lstStyle>
            <a:lvl1pPr algn="l" indent="0" marL="0">
              <a:buNone/>
              <a:defRPr lang="en-US" sz="44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400" dirty="0"/>
          </a:p>
        </p:txBody>
      </p:sp>
      <p:sp>
        <p:nvSpPr>
          <p:cNvPr id="3" name="Text 0"/>
          <p:cNvSpPr/>
          <p:nvPr>
            <p:ph idx="101" type="body" hasCustomPrompt="1"/>
          </p:nvPr>
        </p:nvSpPr>
        <p:spPr>
          <a:xfrm>
            <a:off x="731520" y="3383280"/>
            <a:ext cx="10698480" cy="1463040"/>
          </a:xfrm>
          <a:prstGeom prst="rect">
            <a:avLst/>
          </a:prstGeom>
          <a:noFill/>
          <a:ln/>
        </p:spPr>
        <p:txBody>
          <a:bodyPr wrap="square" rtlCol="0"/>
          <a:lstStyle>
            <a:lvl1pPr indent="0" marL="0">
              <a:buNone/>
              <a:defRPr lang="en-US" sz="1800" dirty="0">
                <a:solidFill>
                  <a:srgbClr val="CFE3E5"/>
                </a:solidFill>
                <a:latin typeface="맑은 고딕" pitchFamily="34" charset="0"/>
                <a:ea typeface="맑은 고딕" pitchFamily="34" charset="-122"/>
                <a:cs typeface="맑은 고딕"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_SECTION">
    <p:bg>
      <p:bgPr>
        <a:solidFill>
          <a:srgbClr val="123A4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5486400" cy="1097280"/>
          </a:xfrm>
          <a:prstGeom prst="rect">
            <a:avLst/>
          </a:prstGeom>
          <a:noFill/>
          <a:ln/>
        </p:spPr>
        <p:txBody>
          <a:bodyPr wrap="square" rtlCol="0"/>
          <a:lstStyle>
            <a:lvl1pPr indent="0" marL="0">
              <a:buNone/>
              <a:defRPr lang="en-US" sz="5400" b="1" dirty="0">
                <a:solidFill>
                  <a:srgbClr val="7FB2B8"/>
                </a:solidFill>
                <a:latin typeface="맑은 고딕" pitchFamily="34" charset="0"/>
                <a:ea typeface="맑은 고딕" pitchFamily="34" charset="-122"/>
                <a:cs typeface="맑은 고딕" pitchFamily="34" charset="-120"/>
              </a:defRPr>
            </a:lvl1pPr>
          </a:lstStyle>
          <a:p>
            <a:pPr indent="0" marL="0">
              <a:buNone/>
            </a:pPr>
            <a:endParaRPr lang="en-US" sz="5400" dirty="0"/>
          </a:p>
        </p:txBody>
      </p:sp>
      <p:sp>
        <p:nvSpPr>
          <p:cNvPr id="3" name="Text 0"/>
          <p:cNvSpPr/>
          <p:nvPr>
            <p:ph idx="101" type="title" hasCustomPrompt="1"/>
          </p:nvPr>
        </p:nvSpPr>
        <p:spPr>
          <a:xfrm>
            <a:off x="731520" y="2560320"/>
            <a:ext cx="10698480" cy="1005840"/>
          </a:xfrm>
          <a:prstGeom prst="rect">
            <a:avLst/>
          </a:prstGeom>
          <a:noFill/>
          <a:ln/>
        </p:spPr>
        <p:txBody>
          <a:bodyPr wrap="square" rtlCol="0"/>
          <a:lstStyle>
            <a:lvl1pPr algn="l" indent="0" marL="0">
              <a:buNone/>
              <a:defRPr lang="en-US" sz="38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3800" dirty="0"/>
          </a:p>
        </p:txBody>
      </p:sp>
      <p:sp>
        <p:nvSpPr>
          <p:cNvPr id="4" name="Text 0"/>
          <p:cNvSpPr/>
          <p:nvPr>
            <p:ph idx="102" type="body" hasCustomPrompt="1"/>
          </p:nvPr>
        </p:nvSpPr>
        <p:spPr>
          <a:xfrm>
            <a:off x="731520" y="3749040"/>
            <a:ext cx="10698480" cy="2194560"/>
          </a:xfrm>
          <a:prstGeom prst="rect">
            <a:avLst/>
          </a:prstGeom>
          <a:noFill/>
          <a:ln/>
        </p:spPr>
        <p:txBody>
          <a:bodyPr wrap="square" rtlCol="0"/>
          <a:lstStyle>
            <a:lvl1pPr indent="0" marL="0">
              <a:spcAft>
                <a:spcPts val="600"/>
              </a:spcAft>
              <a:buNone/>
              <a:defRPr lang="en-US" sz="1700" dirty="0">
                <a:solidFill>
                  <a:srgbClr val="CFE3E5"/>
                </a:solidFill>
                <a:latin typeface="맑은 고딕" pitchFamily="34" charset="0"/>
                <a:ea typeface="맑은 고딕" pitchFamily="34" charset="-122"/>
                <a:cs typeface="맑은 고딕" pitchFamily="34" charset="-120"/>
              </a:defRPr>
            </a:lvl1pPr>
          </a:lstStyle>
          <a:p>
            <a:pPr indent="0" marL="0">
              <a:spcAft>
                <a:spcPts val="600"/>
              </a:spcAft>
              <a:buNone/>
            </a:pP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rtlCol="0"/>
          <a:lstStyle>
            <a:lvl1pPr algn="l" indent="0" marL="0">
              <a:buNone/>
              <a:defRPr lang="en-US" sz="2800" b="1" dirty="0">
                <a:solidFill>
                  <a:srgbClr val="1E2A30"/>
                </a:solidFill>
                <a:latin typeface="맑은 고딕" pitchFamily="34" charset="0"/>
                <a:ea typeface="맑은 고딕" pitchFamily="34" charset="-122"/>
                <a:cs typeface="맑은 고딕" pitchFamily="34" charset="-120"/>
              </a:defRPr>
            </a:lvl1pPr>
          </a:lstStyle>
          <a:p>
            <a:pPr algn="l" indent="0" marL="0">
              <a:buNone/>
            </a:pP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rtlCol="0"/>
          <a:lstStyle>
            <a:lvl1pPr algn="r" indent="0" marL="0">
              <a:buNone/>
              <a:defRPr lang="en-US" sz="1100" b="1" dirty="0">
                <a:solidFill>
                  <a:srgbClr val="0E6E7A"/>
                </a:solidFill>
                <a:latin typeface="맑은 고딕" pitchFamily="34" charset="0"/>
                <a:ea typeface="맑은 고딕" pitchFamily="34" charset="-122"/>
                <a:cs typeface="맑은 고딕" pitchFamily="34" charset="-120"/>
              </a:defRPr>
            </a:lvl1pPr>
          </a:lstStyle>
          <a:p>
            <a:pPr algn="r" indent="0" marL="0">
              <a:buNone/>
            </a:pPr>
            <a:endParaRPr lang="en-US" sz="1100" dirty="0"/>
          </a:p>
        </p:txBody>
      </p:sp>
      <p:sp>
        <p:nvSpPr>
          <p:cNvPr id="4"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rgbClr val="66737C"/>
                </a:solidFill>
                <a:latin typeface="맑은 고딕" pitchFamily="34" charset="0"/>
                <a:ea typeface="맑은 고딕" pitchFamily="34" charset="-122"/>
                <a:cs typeface="맑은 고딕" pitchFamily="34" charset="-120"/>
              </a:rPr>
              <a:t>네트워크 기초 이론</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네트워크 기초 이론</a:t>
            </a:r>
            <a:endParaRPr lang="en-US" sz="4400" dirty="0"/>
          </a:p>
        </p:txBody>
      </p:sp>
      <p:sp>
        <p:nvSpPr>
          <p:cNvPr id="3" name="Text 0"/>
          <p:cNvSpPr/>
          <p:nvPr>
            <p:ph idx="101" type="body" hasCustomPrompt="1"/>
          </p:nvPr>
        </p:nvSpPr>
        <p:spPr>
          <a:xfrm>
            <a:off x="731520" y="3383280"/>
            <a:ext cx="10698480" cy="1463040"/>
          </a:xfrm>
          <a:prstGeom prst="rect">
            <a:avLst/>
          </a:prstGeom>
          <a:noFill/>
          <a:ln/>
        </p:spPr>
        <p:txBody>
          <a:bodyPr wrap="square" lIns="0" tIns="0" rIns="0" bIns="0" rtlCol="0" anchor="t"/>
          <a:lstStyle/>
          <a:p>
            <a:pPr indent="0" marL="0">
              <a:buNone/>
            </a:pPr>
            <a:r>
              <a:rPr lang="en-US" sz="1800" dirty="0">
                <a:solidFill>
                  <a:srgbClr val="CFE3E5"/>
                </a:solidFill>
                <a:latin typeface="맑은 고딕" pitchFamily="34" charset="0"/>
                <a:ea typeface="맑은 고딕" pitchFamily="34" charset="-122"/>
                <a:cs typeface="맑은 고딕" pitchFamily="34" charset="-120"/>
              </a:rPr>
              <a:t>데이터 통신 · 인터넷 주소 · OSI/TCP-IP · IP 서브네팅 · 장비와 매체 · 보안 기초 · 점검 명령어</a:t>
            </a:r>
            <a:endParaRPr lang="en-US" sz="1800" dirty="0"/>
          </a:p>
          <a:p>
            <a:pPr indent="0" marL="0">
              <a:buNone/>
            </a:pPr>
            <a:r>
              <a:rPr lang="en-US" sz="1500" dirty="0">
                <a:solidFill>
                  <a:srgbClr val="9CC4C8"/>
                </a:solidFill>
                <a:latin typeface="맑은 고딕" pitchFamily="34" charset="0"/>
                <a:ea typeface="맑은 고딕" pitchFamily="34" charset="-122"/>
                <a:cs typeface="맑은 고딕" pitchFamily="34" charset="-120"/>
              </a:rPr>
              <a:t>정보보안 과정 이론 강의</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학습 로드맵 — 7개 파트</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오리엔테이션</a:t>
            </a:r>
            <a:endParaRPr lang="en-US" sz="1100" dirty="0"/>
          </a:p>
        </p:txBody>
      </p:sp>
      <p:sp>
        <p:nvSpPr>
          <p:cNvPr id="5" name="Shape 2"/>
          <p:cNvSpPr/>
          <p:nvPr/>
        </p:nvSpPr>
        <p:spPr>
          <a:xfrm>
            <a:off x="548640" y="1417320"/>
            <a:ext cx="2651760" cy="2011680"/>
          </a:xfrm>
          <a:prstGeom prst="roundRect">
            <a:avLst>
              <a:gd name="adj" fmla="val 3636"/>
            </a:avLst>
          </a:prstGeom>
          <a:solidFill>
            <a:srgbClr val="FFFFFF"/>
          </a:solidFill>
          <a:ln w="12700">
            <a:solidFill>
              <a:srgbClr val="9AA5AD"/>
            </a:solidFill>
            <a:prstDash val="solid"/>
          </a:ln>
        </p:spPr>
      </p:sp>
      <p:sp>
        <p:nvSpPr>
          <p:cNvPr id="6" name="Shape 3"/>
          <p:cNvSpPr/>
          <p:nvPr/>
        </p:nvSpPr>
        <p:spPr>
          <a:xfrm>
            <a:off x="731520" y="1600200"/>
            <a:ext cx="457200" cy="457200"/>
          </a:xfrm>
          <a:prstGeom prst="ellipse">
            <a:avLst/>
          </a:prstGeom>
          <a:solidFill>
            <a:srgbClr val="0E6E7A"/>
          </a:solidFill>
          <a:ln w="12700">
            <a:solidFill>
              <a:srgbClr val="0E6E7A"/>
            </a:solidFill>
            <a:prstDash val="solid"/>
          </a:ln>
        </p:spPr>
      </p:sp>
      <p:sp>
        <p:nvSpPr>
          <p:cNvPr id="7" name="Text 4"/>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8" name="Text 5"/>
          <p:cNvSpPr txBox="1"/>
          <p:nvPr/>
        </p:nvSpPr>
        <p:spPr>
          <a:xfrm>
            <a:off x="1325880" y="1600200"/>
            <a:ext cx="173736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데이터 통신 기초</a:t>
            </a:r>
            <a:endParaRPr lang="en-US" sz="1600" dirty="0"/>
          </a:p>
        </p:txBody>
      </p:sp>
      <p:sp>
        <p:nvSpPr>
          <p:cNvPr id="9" name="Text 6"/>
          <p:cNvSpPr txBox="1"/>
          <p:nvPr/>
        </p:nvSpPr>
        <p:spPr>
          <a:xfrm>
            <a:off x="731520" y="2240280"/>
            <a:ext cx="2286000" cy="109728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네트워크·통신 3요소·통신 방식·진법 변환</a:t>
            </a:r>
            <a:endParaRPr lang="en-US" sz="1400" dirty="0"/>
          </a:p>
        </p:txBody>
      </p:sp>
      <p:sp>
        <p:nvSpPr>
          <p:cNvPr id="10" name="Shape 7"/>
          <p:cNvSpPr/>
          <p:nvPr/>
        </p:nvSpPr>
        <p:spPr>
          <a:xfrm>
            <a:off x="3383280" y="1417320"/>
            <a:ext cx="2651760" cy="2011680"/>
          </a:xfrm>
          <a:prstGeom prst="roundRect">
            <a:avLst>
              <a:gd name="adj" fmla="val 3636"/>
            </a:avLst>
          </a:prstGeom>
          <a:solidFill>
            <a:srgbClr val="FFFFFF"/>
          </a:solidFill>
          <a:ln w="12700">
            <a:solidFill>
              <a:srgbClr val="9AA5AD"/>
            </a:solidFill>
            <a:prstDash val="solid"/>
          </a:ln>
        </p:spPr>
      </p:sp>
      <p:sp>
        <p:nvSpPr>
          <p:cNvPr id="11" name="Shape 8"/>
          <p:cNvSpPr/>
          <p:nvPr/>
        </p:nvSpPr>
        <p:spPr>
          <a:xfrm>
            <a:off x="3566160" y="1600200"/>
            <a:ext cx="457200" cy="457200"/>
          </a:xfrm>
          <a:prstGeom prst="ellipse">
            <a:avLst/>
          </a:prstGeom>
          <a:solidFill>
            <a:srgbClr val="0E6E7A"/>
          </a:solidFill>
          <a:ln w="12700">
            <a:solidFill>
              <a:srgbClr val="0E6E7A"/>
            </a:solidFill>
            <a:prstDash val="solid"/>
          </a:ln>
        </p:spPr>
      </p:sp>
      <p:sp>
        <p:nvSpPr>
          <p:cNvPr id="12" name="Text 9"/>
          <p:cNvSpPr txBox="1"/>
          <p:nvPr/>
        </p:nvSpPr>
        <p:spPr>
          <a:xfrm>
            <a:off x="356616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13" name="Text 10"/>
          <p:cNvSpPr txBox="1"/>
          <p:nvPr/>
        </p:nvSpPr>
        <p:spPr>
          <a:xfrm>
            <a:off x="4160520" y="1600200"/>
            <a:ext cx="173736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인터넷 주소와 구조</a:t>
            </a:r>
            <a:endParaRPr lang="en-US" sz="1600" dirty="0"/>
          </a:p>
        </p:txBody>
      </p:sp>
      <p:sp>
        <p:nvSpPr>
          <p:cNvPr id="14" name="Text 11"/>
          <p:cNvSpPr txBox="1"/>
          <p:nvPr/>
        </p:nvSpPr>
        <p:spPr>
          <a:xfrm>
            <a:off x="3566160" y="2240280"/>
            <a:ext cx="2286000" cy="109728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IP·도메인·Whois·AS·관문국·토폴로지</a:t>
            </a:r>
            <a:endParaRPr lang="en-US" sz="1400" dirty="0"/>
          </a:p>
        </p:txBody>
      </p:sp>
      <p:sp>
        <p:nvSpPr>
          <p:cNvPr id="15" name="Shape 12"/>
          <p:cNvSpPr/>
          <p:nvPr/>
        </p:nvSpPr>
        <p:spPr>
          <a:xfrm>
            <a:off x="6217920" y="1417320"/>
            <a:ext cx="2651760" cy="2011680"/>
          </a:xfrm>
          <a:prstGeom prst="roundRect">
            <a:avLst>
              <a:gd name="adj" fmla="val 3636"/>
            </a:avLst>
          </a:prstGeom>
          <a:solidFill>
            <a:srgbClr val="FFFFFF"/>
          </a:solidFill>
          <a:ln w="12700">
            <a:solidFill>
              <a:srgbClr val="9AA5AD"/>
            </a:solidFill>
            <a:prstDash val="solid"/>
          </a:ln>
        </p:spPr>
      </p:sp>
      <p:sp>
        <p:nvSpPr>
          <p:cNvPr id="16" name="Shape 13"/>
          <p:cNvSpPr/>
          <p:nvPr/>
        </p:nvSpPr>
        <p:spPr>
          <a:xfrm>
            <a:off x="6400800" y="1600200"/>
            <a:ext cx="457200" cy="457200"/>
          </a:xfrm>
          <a:prstGeom prst="ellipse">
            <a:avLst/>
          </a:prstGeom>
          <a:solidFill>
            <a:srgbClr val="0E6E7A"/>
          </a:solidFill>
          <a:ln w="12700">
            <a:solidFill>
              <a:srgbClr val="0E6E7A"/>
            </a:solidFill>
            <a:prstDash val="solid"/>
          </a:ln>
        </p:spPr>
      </p:sp>
      <p:sp>
        <p:nvSpPr>
          <p:cNvPr id="17" name="Text 14"/>
          <p:cNvSpPr txBox="1"/>
          <p:nvPr/>
        </p:nvSpPr>
        <p:spPr>
          <a:xfrm>
            <a:off x="640080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18" name="Text 15"/>
          <p:cNvSpPr txBox="1"/>
          <p:nvPr/>
        </p:nvSpPr>
        <p:spPr>
          <a:xfrm>
            <a:off x="6995160" y="1600200"/>
            <a:ext cx="173736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통신 모델</a:t>
            </a:r>
            <a:endParaRPr lang="en-US" sz="1600" dirty="0"/>
          </a:p>
        </p:txBody>
      </p:sp>
      <p:sp>
        <p:nvSpPr>
          <p:cNvPr id="19" name="Text 16"/>
          <p:cNvSpPr txBox="1"/>
          <p:nvPr/>
        </p:nvSpPr>
        <p:spPr>
          <a:xfrm>
            <a:off x="6400800" y="2240280"/>
            <a:ext cx="2286000" cy="109728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OSI 7계층 · TCP/IP 4계층 · PDU</a:t>
            </a:r>
            <a:endParaRPr lang="en-US" sz="1400" dirty="0"/>
          </a:p>
        </p:txBody>
      </p:sp>
      <p:sp>
        <p:nvSpPr>
          <p:cNvPr id="20" name="Shape 17"/>
          <p:cNvSpPr/>
          <p:nvPr/>
        </p:nvSpPr>
        <p:spPr>
          <a:xfrm>
            <a:off x="9052560" y="1417320"/>
            <a:ext cx="2651760" cy="2011680"/>
          </a:xfrm>
          <a:prstGeom prst="roundRect">
            <a:avLst>
              <a:gd name="adj" fmla="val 3636"/>
            </a:avLst>
          </a:prstGeom>
          <a:solidFill>
            <a:srgbClr val="E6F1F2"/>
          </a:solidFill>
          <a:ln w="12700">
            <a:solidFill>
              <a:srgbClr val="0E6E7A"/>
            </a:solidFill>
            <a:prstDash val="solid"/>
          </a:ln>
        </p:spPr>
      </p:sp>
      <p:sp>
        <p:nvSpPr>
          <p:cNvPr id="21" name="Shape 18"/>
          <p:cNvSpPr/>
          <p:nvPr/>
        </p:nvSpPr>
        <p:spPr>
          <a:xfrm>
            <a:off x="9235440" y="1600200"/>
            <a:ext cx="457200" cy="457200"/>
          </a:xfrm>
          <a:prstGeom prst="ellipse">
            <a:avLst/>
          </a:prstGeom>
          <a:solidFill>
            <a:srgbClr val="0E6E7A"/>
          </a:solidFill>
          <a:ln w="12700">
            <a:solidFill>
              <a:srgbClr val="0E6E7A"/>
            </a:solidFill>
            <a:prstDash val="solid"/>
          </a:ln>
        </p:spPr>
      </p:sp>
      <p:sp>
        <p:nvSpPr>
          <p:cNvPr id="22" name="Text 19"/>
          <p:cNvSpPr txBox="1"/>
          <p:nvPr/>
        </p:nvSpPr>
        <p:spPr>
          <a:xfrm>
            <a:off x="923544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23" name="Text 20"/>
          <p:cNvSpPr txBox="1"/>
          <p:nvPr/>
        </p:nvSpPr>
        <p:spPr>
          <a:xfrm>
            <a:off x="9829800" y="1600200"/>
            <a:ext cx="173736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IP 주소와 서브네팅</a:t>
            </a:r>
            <a:endParaRPr lang="en-US" sz="1600" dirty="0"/>
          </a:p>
        </p:txBody>
      </p:sp>
      <p:sp>
        <p:nvSpPr>
          <p:cNvPr id="24" name="Text 21"/>
          <p:cNvSpPr txBox="1"/>
          <p:nvPr/>
        </p:nvSpPr>
        <p:spPr>
          <a:xfrm>
            <a:off x="9235440" y="2240280"/>
            <a:ext cx="2286000" cy="109728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클래스·사설 IP·AND 연산·서브네팅·VLSM</a:t>
            </a:r>
            <a:endParaRPr lang="en-US" sz="1400" dirty="0"/>
          </a:p>
        </p:txBody>
      </p:sp>
      <p:sp>
        <p:nvSpPr>
          <p:cNvPr id="25" name="Shape 22"/>
          <p:cNvSpPr/>
          <p:nvPr/>
        </p:nvSpPr>
        <p:spPr>
          <a:xfrm>
            <a:off x="548640" y="3657600"/>
            <a:ext cx="2651760" cy="2011680"/>
          </a:xfrm>
          <a:prstGeom prst="roundRect">
            <a:avLst>
              <a:gd name="adj" fmla="val 3636"/>
            </a:avLst>
          </a:prstGeom>
          <a:solidFill>
            <a:srgbClr val="FFFFFF"/>
          </a:solidFill>
          <a:ln w="12700">
            <a:solidFill>
              <a:srgbClr val="9AA5AD"/>
            </a:solidFill>
            <a:prstDash val="solid"/>
          </a:ln>
        </p:spPr>
      </p:sp>
      <p:sp>
        <p:nvSpPr>
          <p:cNvPr id="26" name="Shape 23"/>
          <p:cNvSpPr/>
          <p:nvPr/>
        </p:nvSpPr>
        <p:spPr>
          <a:xfrm>
            <a:off x="731520" y="3840480"/>
            <a:ext cx="457200" cy="457200"/>
          </a:xfrm>
          <a:prstGeom prst="ellipse">
            <a:avLst/>
          </a:prstGeom>
          <a:solidFill>
            <a:srgbClr val="0E6E7A"/>
          </a:solidFill>
          <a:ln w="12700">
            <a:solidFill>
              <a:srgbClr val="0E6E7A"/>
            </a:solidFill>
            <a:prstDash val="solid"/>
          </a:ln>
        </p:spPr>
      </p:sp>
      <p:sp>
        <p:nvSpPr>
          <p:cNvPr id="27" name="Text 24"/>
          <p:cNvSpPr txBox="1"/>
          <p:nvPr/>
        </p:nvSpPr>
        <p:spPr>
          <a:xfrm>
            <a:off x="73152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28" name="Text 25"/>
          <p:cNvSpPr txBox="1"/>
          <p:nvPr/>
        </p:nvSpPr>
        <p:spPr>
          <a:xfrm>
            <a:off x="1325880" y="3840480"/>
            <a:ext cx="173736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장비와 전송매체</a:t>
            </a:r>
            <a:endParaRPr lang="en-US" sz="1600" dirty="0"/>
          </a:p>
        </p:txBody>
      </p:sp>
      <p:sp>
        <p:nvSpPr>
          <p:cNvPr id="29" name="Text 26"/>
          <p:cNvSpPr txBox="1"/>
          <p:nvPr/>
        </p:nvSpPr>
        <p:spPr>
          <a:xfrm>
            <a:off x="731520" y="4480560"/>
            <a:ext cx="2286000" cy="109728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계층별 장비·허브와 스위치·케이블</a:t>
            </a:r>
            <a:endParaRPr lang="en-US" sz="1400" dirty="0"/>
          </a:p>
        </p:txBody>
      </p:sp>
      <p:sp>
        <p:nvSpPr>
          <p:cNvPr id="30" name="Shape 27"/>
          <p:cNvSpPr/>
          <p:nvPr/>
        </p:nvSpPr>
        <p:spPr>
          <a:xfrm>
            <a:off x="3383280" y="3657600"/>
            <a:ext cx="2651760" cy="2011680"/>
          </a:xfrm>
          <a:prstGeom prst="roundRect">
            <a:avLst>
              <a:gd name="adj" fmla="val 3636"/>
            </a:avLst>
          </a:prstGeom>
          <a:solidFill>
            <a:srgbClr val="FFFFFF"/>
          </a:solidFill>
          <a:ln w="12700">
            <a:solidFill>
              <a:srgbClr val="9AA5AD"/>
            </a:solidFill>
            <a:prstDash val="solid"/>
          </a:ln>
        </p:spPr>
      </p:sp>
      <p:sp>
        <p:nvSpPr>
          <p:cNvPr id="31" name="Shape 28"/>
          <p:cNvSpPr/>
          <p:nvPr/>
        </p:nvSpPr>
        <p:spPr>
          <a:xfrm>
            <a:off x="3566160" y="3840480"/>
            <a:ext cx="457200" cy="457200"/>
          </a:xfrm>
          <a:prstGeom prst="ellipse">
            <a:avLst/>
          </a:prstGeom>
          <a:solidFill>
            <a:srgbClr val="0E6E7A"/>
          </a:solidFill>
          <a:ln w="12700">
            <a:solidFill>
              <a:srgbClr val="0E6E7A"/>
            </a:solidFill>
            <a:prstDash val="solid"/>
          </a:ln>
        </p:spPr>
      </p:sp>
      <p:sp>
        <p:nvSpPr>
          <p:cNvPr id="32" name="Text 29"/>
          <p:cNvSpPr txBox="1"/>
          <p:nvPr/>
        </p:nvSpPr>
        <p:spPr>
          <a:xfrm>
            <a:off x="356616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6</a:t>
            </a:r>
            <a:endParaRPr lang="en-US" sz="1600" dirty="0"/>
          </a:p>
        </p:txBody>
      </p:sp>
      <p:sp>
        <p:nvSpPr>
          <p:cNvPr id="33" name="Text 30"/>
          <p:cNvSpPr txBox="1"/>
          <p:nvPr/>
        </p:nvSpPr>
        <p:spPr>
          <a:xfrm>
            <a:off x="4160520" y="3840480"/>
            <a:ext cx="173736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라우팅과 보안 기초</a:t>
            </a:r>
            <a:endParaRPr lang="en-US" sz="1600" dirty="0"/>
          </a:p>
        </p:txBody>
      </p:sp>
      <p:sp>
        <p:nvSpPr>
          <p:cNvPr id="34" name="Text 31"/>
          <p:cNvSpPr txBox="1"/>
          <p:nvPr/>
        </p:nvSpPr>
        <p:spPr>
          <a:xfrm>
            <a:off x="3566160" y="4480560"/>
            <a:ext cx="2286000" cy="109728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정적/동적 라우팅·ACL·방화벽·VLAN·NAT</a:t>
            </a:r>
            <a:endParaRPr lang="en-US" sz="1400" dirty="0"/>
          </a:p>
        </p:txBody>
      </p:sp>
      <p:sp>
        <p:nvSpPr>
          <p:cNvPr id="35" name="Shape 32"/>
          <p:cNvSpPr/>
          <p:nvPr/>
        </p:nvSpPr>
        <p:spPr>
          <a:xfrm>
            <a:off x="6217920" y="3657600"/>
            <a:ext cx="2651760" cy="2011680"/>
          </a:xfrm>
          <a:prstGeom prst="roundRect">
            <a:avLst>
              <a:gd name="adj" fmla="val 3636"/>
            </a:avLst>
          </a:prstGeom>
          <a:solidFill>
            <a:srgbClr val="FFFFFF"/>
          </a:solidFill>
          <a:ln w="12700">
            <a:solidFill>
              <a:srgbClr val="9AA5AD"/>
            </a:solidFill>
            <a:prstDash val="solid"/>
          </a:ln>
        </p:spPr>
      </p:sp>
      <p:sp>
        <p:nvSpPr>
          <p:cNvPr id="36" name="Shape 33"/>
          <p:cNvSpPr/>
          <p:nvPr/>
        </p:nvSpPr>
        <p:spPr>
          <a:xfrm>
            <a:off x="6400800" y="3840480"/>
            <a:ext cx="457200" cy="457200"/>
          </a:xfrm>
          <a:prstGeom prst="ellipse">
            <a:avLst/>
          </a:prstGeom>
          <a:solidFill>
            <a:srgbClr val="0E6E7A"/>
          </a:solidFill>
          <a:ln w="12700">
            <a:solidFill>
              <a:srgbClr val="0E6E7A"/>
            </a:solidFill>
            <a:prstDash val="solid"/>
          </a:ln>
        </p:spPr>
      </p:sp>
      <p:sp>
        <p:nvSpPr>
          <p:cNvPr id="37" name="Text 34"/>
          <p:cNvSpPr txBox="1"/>
          <p:nvPr/>
        </p:nvSpPr>
        <p:spPr>
          <a:xfrm>
            <a:off x="640080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7</a:t>
            </a:r>
            <a:endParaRPr lang="en-US" sz="1600" dirty="0"/>
          </a:p>
        </p:txBody>
      </p:sp>
      <p:sp>
        <p:nvSpPr>
          <p:cNvPr id="38" name="Text 35"/>
          <p:cNvSpPr txBox="1"/>
          <p:nvPr/>
        </p:nvSpPr>
        <p:spPr>
          <a:xfrm>
            <a:off x="6995160" y="3840480"/>
            <a:ext cx="173736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점검 명령어</a:t>
            </a:r>
            <a:endParaRPr lang="en-US" sz="1600" dirty="0"/>
          </a:p>
        </p:txBody>
      </p:sp>
      <p:sp>
        <p:nvSpPr>
          <p:cNvPr id="39" name="Text 36"/>
          <p:cNvSpPr txBox="1"/>
          <p:nvPr/>
        </p:nvSpPr>
        <p:spPr>
          <a:xfrm>
            <a:off x="6400800" y="4480560"/>
            <a:ext cx="2286000" cy="109728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ipconfig·ping·tracert·arp·netstat·route</a:t>
            </a:r>
            <a:endParaRPr lang="en-US" sz="1400" dirty="0"/>
          </a:p>
        </p:txBody>
      </p:sp>
      <p:sp>
        <p:nvSpPr>
          <p:cNvPr id="40" name="Shape 37"/>
          <p:cNvSpPr/>
          <p:nvPr/>
        </p:nvSpPr>
        <p:spPr>
          <a:xfrm>
            <a:off x="9052560" y="3657600"/>
            <a:ext cx="2651760" cy="2011680"/>
          </a:xfrm>
          <a:prstGeom prst="roundRect">
            <a:avLst>
              <a:gd name="adj" fmla="val 3636"/>
            </a:avLst>
          </a:prstGeom>
          <a:solidFill>
            <a:srgbClr val="F4F6F7"/>
          </a:solidFill>
          <a:ln w="12700">
            <a:solidFill>
              <a:srgbClr val="9AA5AD"/>
            </a:solidFill>
            <a:prstDash val="solid"/>
          </a:ln>
        </p:spPr>
      </p:sp>
      <p:sp>
        <p:nvSpPr>
          <p:cNvPr id="41" name="Text 38"/>
          <p:cNvSpPr txBox="1"/>
          <p:nvPr/>
        </p:nvSpPr>
        <p:spPr>
          <a:xfrm>
            <a:off x="9235440" y="3794760"/>
            <a:ext cx="22860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정리</a:t>
            </a:r>
            <a:endParaRPr lang="en-US" sz="1600" dirty="0"/>
          </a:p>
        </p:txBody>
      </p:sp>
      <p:sp>
        <p:nvSpPr>
          <p:cNvPr id="42" name="Text 39"/>
          <p:cNvSpPr txBox="1"/>
          <p:nvPr/>
        </p:nvSpPr>
        <p:spPr>
          <a:xfrm>
            <a:off x="9235440" y="4251960"/>
            <a:ext cx="2286000" cy="130759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핵심 암기 노트</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시험 대비 포인트</a:t>
            </a:r>
            <a:endParaRPr lang="en-US" sz="1400" dirty="0"/>
          </a:p>
        </p:txBody>
      </p:sp>
      <p:sp>
        <p:nvSpPr>
          <p:cNvPr id="43" name="Text 40"/>
          <p:cNvSpPr txBox="1"/>
          <p:nvPr/>
        </p:nvSpPr>
        <p:spPr>
          <a:xfrm>
            <a:off x="548640" y="5989320"/>
            <a:ext cx="7315200" cy="274320"/>
          </a:xfrm>
          <a:prstGeom prst="rect">
            <a:avLst/>
          </a:prstGeom>
          <a:noFill/>
          <a:ln/>
        </p:spPr>
        <p:txBody>
          <a:bodyPr wrap="square" lIns="0" tIns="0" rIns="0" bIns="0" rtlCol="0" anchor="t"/>
          <a:lstStyle/>
          <a:p>
            <a:pPr indent="0" marL="0">
              <a:buNone/>
            </a:pPr>
            <a:r>
              <a:rPr lang="en-US" sz="1100" dirty="0">
                <a:solidFill>
                  <a:srgbClr val="66737C"/>
                </a:solidFill>
                <a:latin typeface="맑은 고딕" pitchFamily="34" charset="0"/>
                <a:ea typeface="맑은 고딕" pitchFamily="34" charset="-122"/>
                <a:cs typeface="맑은 고딕" pitchFamily="34" charset="-120"/>
              </a:rPr>
              <a:t>굵은 테두리 = 계산 문제가 나오는 파트</a:t>
            </a:r>
            <a:endParaRPr lang="en-US" sz="11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이 과목은 이렇게 공부합니다</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오리엔테이션</a:t>
            </a:r>
            <a:endParaRPr lang="en-US" sz="1100" dirty="0"/>
          </a:p>
        </p:txBody>
      </p:sp>
      <p:sp>
        <p:nvSpPr>
          <p:cNvPr id="5" name="Shape 2"/>
          <p:cNvSpPr/>
          <p:nvPr/>
        </p:nvSpPr>
        <p:spPr>
          <a:xfrm>
            <a:off x="548640" y="1463040"/>
            <a:ext cx="3566160" cy="3291840"/>
          </a:xfrm>
          <a:prstGeom prst="roundRect">
            <a:avLst>
              <a:gd name="adj" fmla="val 2222"/>
            </a:avLst>
          </a:prstGeom>
          <a:solidFill>
            <a:srgbClr val="FFFFFF"/>
          </a:solidFill>
          <a:ln w="12700">
            <a:solidFill>
              <a:srgbClr val="9AA5AD"/>
            </a:solidFill>
            <a:prstDash val="solid"/>
          </a:ln>
        </p:spPr>
      </p:sp>
      <p:sp>
        <p:nvSpPr>
          <p:cNvPr id="6" name="Text 3"/>
          <p:cNvSpPr txBox="1"/>
          <p:nvPr/>
        </p:nvSpPr>
        <p:spPr>
          <a:xfrm>
            <a:off x="822960" y="1737360"/>
            <a:ext cx="3017520" cy="914400"/>
          </a:xfrm>
          <a:prstGeom prst="rect">
            <a:avLst/>
          </a:prstGeom>
          <a:noFill/>
          <a:ln/>
        </p:spPr>
        <p:txBody>
          <a:bodyPr wrap="square" lIns="0" tIns="0" rIns="0" bIns="0" rtlCol="0" anchor="t"/>
          <a:lstStyle/>
          <a:p>
            <a:pPr indent="0" marL="0">
              <a:buNone/>
            </a:pPr>
            <a:r>
              <a:rPr lang="en-US" sz="4400" b="1" dirty="0">
                <a:solidFill>
                  <a:srgbClr val="0E6E7A"/>
                </a:solidFill>
                <a:latin typeface="맑은 고딕" pitchFamily="34" charset="0"/>
                <a:ea typeface="맑은 고딕" pitchFamily="34" charset="-122"/>
                <a:cs typeface="맑은 고딕" pitchFamily="34" charset="-120"/>
              </a:rPr>
              <a:t>대부분</a:t>
            </a:r>
            <a:endParaRPr lang="en-US" sz="4400" dirty="0"/>
          </a:p>
        </p:txBody>
      </p:sp>
      <p:sp>
        <p:nvSpPr>
          <p:cNvPr id="7" name="Text 4"/>
          <p:cNvSpPr txBox="1"/>
          <p:nvPr/>
        </p:nvSpPr>
        <p:spPr>
          <a:xfrm>
            <a:off x="822960" y="2743200"/>
            <a:ext cx="3017520" cy="457200"/>
          </a:xfrm>
          <a:prstGeom prst="rect">
            <a:avLst/>
          </a:prstGeom>
          <a:noFill/>
          <a:ln/>
        </p:spPr>
        <p:txBody>
          <a:bodyPr wrap="square" lIns="0" tIns="0" rIns="0" bIns="0" rtlCol="0" anchor="t"/>
          <a:lstStyle/>
          <a:p>
            <a:pPr indent="0" marL="0">
              <a:buNone/>
            </a:pPr>
            <a:r>
              <a:rPr lang="en-US" sz="2000" b="1" dirty="0">
                <a:solidFill>
                  <a:srgbClr val="1E2A30"/>
                </a:solidFill>
                <a:latin typeface="맑은 고딕" pitchFamily="34" charset="0"/>
                <a:ea typeface="맑은 고딕" pitchFamily="34" charset="-122"/>
                <a:cs typeface="맑은 고딕" pitchFamily="34" charset="-120"/>
              </a:rPr>
              <a:t>암기형</a:t>
            </a:r>
            <a:endParaRPr lang="en-US" sz="2000" dirty="0"/>
          </a:p>
        </p:txBody>
      </p:sp>
      <p:sp>
        <p:nvSpPr>
          <p:cNvPr id="8" name="Text 5"/>
          <p:cNvSpPr txBox="1"/>
          <p:nvPr/>
        </p:nvSpPr>
        <p:spPr>
          <a:xfrm>
            <a:off x="822960" y="3291840"/>
            <a:ext cx="3017520" cy="1097280"/>
          </a:xfrm>
          <a:prstGeom prst="rect">
            <a:avLst/>
          </a:prstGeom>
          <a:noFill/>
          <a:ln/>
        </p:spPr>
        <p:txBody>
          <a:bodyPr wrap="square" lIns="0" tIns="0" rIns="0" bIns="0" rtlCol="0" anchor="t"/>
          <a:lstStyle/>
          <a:p>
            <a:pPr indent="0" marL="0">
              <a:buNone/>
            </a:pPr>
            <a:r>
              <a:rPr lang="en-US" sz="1500" dirty="0">
                <a:solidFill>
                  <a:srgbClr val="66737C"/>
                </a:solidFill>
                <a:latin typeface="맑은 고딕" pitchFamily="34" charset="0"/>
                <a:ea typeface="맑은 고딕" pitchFamily="34" charset="-122"/>
                <a:cs typeface="맑은 고딕" pitchFamily="34" charset="-120"/>
              </a:rPr>
              <a:t>용어 · 특징 · 대응 관계를 묻는 문제</a:t>
            </a:r>
            <a:endParaRPr lang="en-US" sz="1500" dirty="0"/>
          </a:p>
        </p:txBody>
      </p:sp>
      <p:sp>
        <p:nvSpPr>
          <p:cNvPr id="9" name="Shape 6"/>
          <p:cNvSpPr/>
          <p:nvPr/>
        </p:nvSpPr>
        <p:spPr>
          <a:xfrm>
            <a:off x="4297680" y="1463040"/>
            <a:ext cx="3566160" cy="3291840"/>
          </a:xfrm>
          <a:prstGeom prst="roundRect">
            <a:avLst>
              <a:gd name="adj" fmla="val 2222"/>
            </a:avLst>
          </a:prstGeom>
          <a:solidFill>
            <a:srgbClr val="E6F1F2"/>
          </a:solidFill>
          <a:ln w="12700">
            <a:solidFill>
              <a:srgbClr val="9AA5AD"/>
            </a:solidFill>
            <a:prstDash val="solid"/>
          </a:ln>
        </p:spPr>
      </p:sp>
      <p:sp>
        <p:nvSpPr>
          <p:cNvPr id="10" name="Text 7"/>
          <p:cNvSpPr txBox="1"/>
          <p:nvPr/>
        </p:nvSpPr>
        <p:spPr>
          <a:xfrm>
            <a:off x="4572000" y="1737360"/>
            <a:ext cx="3017520" cy="914400"/>
          </a:xfrm>
          <a:prstGeom prst="rect">
            <a:avLst/>
          </a:prstGeom>
          <a:noFill/>
          <a:ln/>
        </p:spPr>
        <p:txBody>
          <a:bodyPr wrap="square" lIns="0" tIns="0" rIns="0" bIns="0" rtlCol="0" anchor="t"/>
          <a:lstStyle/>
          <a:p>
            <a:pPr indent="0" marL="0">
              <a:buNone/>
            </a:pPr>
            <a:r>
              <a:rPr lang="en-US" sz="4400" b="1" dirty="0">
                <a:solidFill>
                  <a:srgbClr val="0E6E7A"/>
                </a:solidFill>
                <a:latin typeface="맑은 고딕" pitchFamily="34" charset="0"/>
                <a:ea typeface="맑은 고딕" pitchFamily="34" charset="-122"/>
                <a:cs typeface="맑은 고딕" pitchFamily="34" charset="-120"/>
              </a:rPr>
              <a:t>소수</a:t>
            </a:r>
            <a:endParaRPr lang="en-US" sz="4400" dirty="0"/>
          </a:p>
        </p:txBody>
      </p:sp>
      <p:sp>
        <p:nvSpPr>
          <p:cNvPr id="11" name="Text 8"/>
          <p:cNvSpPr txBox="1"/>
          <p:nvPr/>
        </p:nvSpPr>
        <p:spPr>
          <a:xfrm>
            <a:off x="4572000" y="2743200"/>
            <a:ext cx="3017520" cy="457200"/>
          </a:xfrm>
          <a:prstGeom prst="rect">
            <a:avLst/>
          </a:prstGeom>
          <a:noFill/>
          <a:ln/>
        </p:spPr>
        <p:txBody>
          <a:bodyPr wrap="square" lIns="0" tIns="0" rIns="0" bIns="0" rtlCol="0" anchor="t"/>
          <a:lstStyle/>
          <a:p>
            <a:pPr indent="0" marL="0">
              <a:buNone/>
            </a:pPr>
            <a:r>
              <a:rPr lang="en-US" sz="2000" b="1" dirty="0">
                <a:solidFill>
                  <a:srgbClr val="1E2A30"/>
                </a:solidFill>
                <a:latin typeface="맑은 고딕" pitchFamily="34" charset="0"/>
                <a:ea typeface="맑은 고딕" pitchFamily="34" charset="-122"/>
                <a:cs typeface="맑은 고딕" pitchFamily="34" charset="-120"/>
              </a:rPr>
              <a:t>계산형</a:t>
            </a:r>
            <a:endParaRPr lang="en-US" sz="2000" dirty="0"/>
          </a:p>
        </p:txBody>
      </p:sp>
      <p:sp>
        <p:nvSpPr>
          <p:cNvPr id="12" name="Text 9"/>
          <p:cNvSpPr txBox="1"/>
          <p:nvPr/>
        </p:nvSpPr>
        <p:spPr>
          <a:xfrm>
            <a:off x="4572000" y="3291840"/>
            <a:ext cx="3017520" cy="1097280"/>
          </a:xfrm>
          <a:prstGeom prst="rect">
            <a:avLst/>
          </a:prstGeom>
          <a:noFill/>
          <a:ln/>
        </p:spPr>
        <p:txBody>
          <a:bodyPr wrap="square" lIns="0" tIns="0" rIns="0" bIns="0" rtlCol="0" anchor="t"/>
          <a:lstStyle/>
          <a:p>
            <a:pPr indent="0" marL="0">
              <a:buNone/>
            </a:pPr>
            <a:r>
              <a:rPr lang="en-US" sz="1500" dirty="0">
                <a:solidFill>
                  <a:srgbClr val="66737C"/>
                </a:solidFill>
                <a:latin typeface="맑은 고딕" pitchFamily="34" charset="0"/>
                <a:ea typeface="맑은 고딕" pitchFamily="34" charset="-122"/>
                <a:cs typeface="맑은 고딕" pitchFamily="34" charset="-120"/>
              </a:rPr>
              <a:t>진법 변환 · 서브네팅 · 호스트 수</a:t>
            </a:r>
            <a:endParaRPr lang="en-US" sz="1500" dirty="0"/>
          </a:p>
        </p:txBody>
      </p:sp>
      <p:sp>
        <p:nvSpPr>
          <p:cNvPr id="13" name="Shape 10"/>
          <p:cNvSpPr/>
          <p:nvPr/>
        </p:nvSpPr>
        <p:spPr>
          <a:xfrm>
            <a:off x="8046720" y="1463040"/>
            <a:ext cx="3566160" cy="3291840"/>
          </a:xfrm>
          <a:prstGeom prst="roundRect">
            <a:avLst>
              <a:gd name="adj" fmla="val 2222"/>
            </a:avLst>
          </a:prstGeom>
          <a:solidFill>
            <a:srgbClr val="FFFFFF"/>
          </a:solidFill>
          <a:ln w="12700">
            <a:solidFill>
              <a:srgbClr val="9AA5AD"/>
            </a:solidFill>
            <a:prstDash val="solid"/>
          </a:ln>
        </p:spPr>
      </p:sp>
      <p:sp>
        <p:nvSpPr>
          <p:cNvPr id="14" name="Text 11"/>
          <p:cNvSpPr txBox="1"/>
          <p:nvPr/>
        </p:nvSpPr>
        <p:spPr>
          <a:xfrm>
            <a:off x="8321040" y="1737360"/>
            <a:ext cx="3017520" cy="914400"/>
          </a:xfrm>
          <a:prstGeom prst="rect">
            <a:avLst/>
          </a:prstGeom>
          <a:noFill/>
          <a:ln/>
        </p:spPr>
        <p:txBody>
          <a:bodyPr wrap="square" lIns="0" tIns="0" rIns="0" bIns="0" rtlCol="0" anchor="t"/>
          <a:lstStyle/>
          <a:p>
            <a:pPr indent="0" marL="0">
              <a:buNone/>
            </a:pPr>
            <a:r>
              <a:rPr lang="en-US" sz="4400" b="1" dirty="0">
                <a:solidFill>
                  <a:srgbClr val="0E6E7A"/>
                </a:solidFill>
                <a:latin typeface="맑은 고딕" pitchFamily="34" charset="0"/>
                <a:ea typeface="맑은 고딕" pitchFamily="34" charset="-122"/>
                <a:cs typeface="맑은 고딕" pitchFamily="34" charset="-120"/>
              </a:rPr>
              <a:t>10회</a:t>
            </a:r>
            <a:endParaRPr lang="en-US" sz="4400" dirty="0"/>
          </a:p>
        </p:txBody>
      </p:sp>
      <p:sp>
        <p:nvSpPr>
          <p:cNvPr id="15" name="Text 12"/>
          <p:cNvSpPr txBox="1"/>
          <p:nvPr/>
        </p:nvSpPr>
        <p:spPr>
          <a:xfrm>
            <a:off x="8321040" y="2743200"/>
            <a:ext cx="3017520" cy="457200"/>
          </a:xfrm>
          <a:prstGeom prst="rect">
            <a:avLst/>
          </a:prstGeom>
          <a:noFill/>
          <a:ln/>
        </p:spPr>
        <p:txBody>
          <a:bodyPr wrap="square" lIns="0" tIns="0" rIns="0" bIns="0" rtlCol="0" anchor="t"/>
          <a:lstStyle/>
          <a:p>
            <a:pPr indent="0" marL="0">
              <a:buNone/>
            </a:pPr>
            <a:r>
              <a:rPr lang="en-US" sz="2000" b="1" dirty="0">
                <a:solidFill>
                  <a:srgbClr val="1E2A30"/>
                </a:solidFill>
                <a:latin typeface="맑은 고딕" pitchFamily="34" charset="0"/>
                <a:ea typeface="맑은 고딕" pitchFamily="34" charset="-122"/>
                <a:cs typeface="맑은 고딕" pitchFamily="34" charset="-120"/>
              </a:rPr>
              <a:t>반복 읽기</a:t>
            </a:r>
            <a:endParaRPr lang="en-US" sz="2000" dirty="0"/>
          </a:p>
        </p:txBody>
      </p:sp>
      <p:sp>
        <p:nvSpPr>
          <p:cNvPr id="16" name="Text 13"/>
          <p:cNvSpPr txBox="1"/>
          <p:nvPr/>
        </p:nvSpPr>
        <p:spPr>
          <a:xfrm>
            <a:off x="8321040" y="3291840"/>
            <a:ext cx="3017520" cy="1097280"/>
          </a:xfrm>
          <a:prstGeom prst="rect">
            <a:avLst/>
          </a:prstGeom>
          <a:noFill/>
          <a:ln/>
        </p:spPr>
        <p:txBody>
          <a:bodyPr wrap="square" lIns="0" tIns="0" rIns="0" bIns="0" rtlCol="0" anchor="t"/>
          <a:lstStyle/>
          <a:p>
            <a:pPr indent="0" marL="0">
              <a:buNone/>
            </a:pPr>
            <a:r>
              <a:rPr lang="en-US" sz="1500" dirty="0">
                <a:solidFill>
                  <a:srgbClr val="66737C"/>
                </a:solidFill>
                <a:latin typeface="맑은 고딕" pitchFamily="34" charset="0"/>
                <a:ea typeface="맑은 고딕" pitchFamily="34" charset="-122"/>
                <a:cs typeface="맑은 고딕" pitchFamily="34" charset="-120"/>
              </a:rPr>
              <a:t>출제기준 → 기출 풀이 → 수험서 반복</a:t>
            </a:r>
            <a:endParaRPr lang="en-US" sz="1500" dirty="0"/>
          </a:p>
        </p:txBody>
      </p:sp>
      <p:sp>
        <p:nvSpPr>
          <p:cNvPr id="17" name="Shape 14"/>
          <p:cNvSpPr/>
          <p:nvPr/>
        </p:nvSpPr>
        <p:spPr>
          <a:xfrm>
            <a:off x="548640" y="5120640"/>
            <a:ext cx="11091672" cy="457200"/>
          </a:xfrm>
          <a:prstGeom prst="roundRect">
            <a:avLst>
              <a:gd name="adj" fmla="val 16000"/>
            </a:avLst>
          </a:prstGeom>
          <a:solidFill>
            <a:srgbClr val="E6F1F2"/>
          </a:solidFill>
          <a:ln w="12700">
            <a:solidFill>
              <a:srgbClr val="E6F1F2"/>
            </a:solidFill>
            <a:prstDash val="solid"/>
          </a:ln>
        </p:spPr>
      </p:sp>
      <p:sp>
        <p:nvSpPr>
          <p:cNvPr id="18" name="Text 15"/>
          <p:cNvSpPr txBox="1"/>
          <p:nvPr/>
        </p:nvSpPr>
        <p:spPr>
          <a:xfrm>
            <a:off x="777240" y="512064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각 파트 끝의 '확인 문제'로 그날 배운 것을 바로 점검합니다</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5486400" cy="1097280"/>
          </a:xfrm>
          <a:prstGeom prst="rect">
            <a:avLst/>
          </a:prstGeom>
          <a:noFill/>
          <a:ln/>
        </p:spPr>
        <p:txBody>
          <a:bodyPr wrap="square" lIns="0" tIns="0" rIns="0" bIns="0" rtlCol="0" anchor="b"/>
          <a:lstStyle/>
          <a:p>
            <a:pPr indent="0" marL="0">
              <a:buNone/>
            </a:pPr>
            <a:r>
              <a:rPr lang="en-US" sz="5400" b="1" dirty="0">
                <a:solidFill>
                  <a:srgbClr val="7FB2B8"/>
                </a:solidFill>
                <a:latin typeface="맑은 고딕" pitchFamily="34" charset="0"/>
                <a:ea typeface="맑은 고딕" pitchFamily="34" charset="-122"/>
                <a:cs typeface="맑은 고딕" pitchFamily="34" charset="-120"/>
              </a:rPr>
              <a:t>PART 1</a:t>
            </a:r>
            <a:endParaRPr lang="en-US" sz="5400" dirty="0"/>
          </a:p>
        </p:txBody>
      </p:sp>
      <p:sp>
        <p:nvSpPr>
          <p:cNvPr id="3" name="Text 0"/>
          <p:cNvSpPr/>
          <p:nvPr>
            <p:ph idx="101" type="title" hasCustomPrompt="1"/>
          </p:nvPr>
        </p:nvSpPr>
        <p:spPr>
          <a:xfrm>
            <a:off x="731520" y="2560320"/>
            <a:ext cx="10698480" cy="100584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데이터 통신의 기초</a:t>
            </a:r>
            <a:endParaRPr lang="en-US" sz="3800" dirty="0"/>
          </a:p>
        </p:txBody>
      </p:sp>
      <p:sp>
        <p:nvSpPr>
          <p:cNvPr id="4" name="Text 0"/>
          <p:cNvSpPr/>
          <p:nvPr>
            <p:ph idx="102" type="body" hasCustomPrompt="1"/>
          </p:nvPr>
        </p:nvSpPr>
        <p:spPr>
          <a:xfrm>
            <a:off x="731520" y="3749040"/>
            <a:ext cx="10698480"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네트워크·인터넷·프로토콜이라는 말의 뜻</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통신의 3요소와 통신 방식(단방향·반이중·전이중)</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데이터와 정보, 2·8·10·16진법 변환</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네트워크 = Net + Work</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1 · 통신 기초</a:t>
            </a:r>
            <a:endParaRPr lang="en-US" sz="1100" dirty="0"/>
          </a:p>
        </p:txBody>
      </p:sp>
      <p:sp>
        <p:nvSpPr>
          <p:cNvPr id="5" name="Shape 2"/>
          <p:cNvSpPr/>
          <p:nvPr/>
        </p:nvSpPr>
        <p:spPr>
          <a:xfrm>
            <a:off x="548640" y="1463040"/>
            <a:ext cx="3474720" cy="1828800"/>
          </a:xfrm>
          <a:prstGeom prst="roundRect">
            <a:avLst>
              <a:gd name="adj" fmla="val 4000"/>
            </a:avLst>
          </a:prstGeom>
          <a:solidFill>
            <a:srgbClr val="E6F1F2"/>
          </a:solidFill>
          <a:ln w="12700">
            <a:solidFill>
              <a:srgbClr val="0E6E7A"/>
            </a:solidFill>
            <a:prstDash val="solid"/>
          </a:ln>
        </p:spPr>
      </p:sp>
      <p:sp>
        <p:nvSpPr>
          <p:cNvPr id="6" name="Text 3"/>
          <p:cNvSpPr txBox="1"/>
          <p:nvPr/>
        </p:nvSpPr>
        <p:spPr>
          <a:xfrm>
            <a:off x="822960" y="1600200"/>
            <a:ext cx="2926080" cy="731520"/>
          </a:xfrm>
          <a:prstGeom prst="rect">
            <a:avLst/>
          </a:prstGeom>
          <a:noFill/>
          <a:ln/>
        </p:spPr>
        <p:txBody>
          <a:bodyPr wrap="square" lIns="0" tIns="0" rIns="0" bIns="0" rtlCol="0" anchor="t"/>
          <a:lstStyle/>
          <a:p>
            <a:pPr indent="0" marL="0">
              <a:buNone/>
            </a:pPr>
            <a:r>
              <a:rPr lang="en-US" sz="3600" b="1" dirty="0">
                <a:solidFill>
                  <a:srgbClr val="0E6E7A"/>
                </a:solidFill>
                <a:latin typeface="맑은 고딕" pitchFamily="34" charset="0"/>
                <a:ea typeface="맑은 고딕" pitchFamily="34" charset="-122"/>
                <a:cs typeface="맑은 고딕" pitchFamily="34" charset="-120"/>
              </a:rPr>
              <a:t>Net</a:t>
            </a:r>
            <a:endParaRPr lang="en-US" sz="3600" dirty="0"/>
          </a:p>
        </p:txBody>
      </p:sp>
      <p:sp>
        <p:nvSpPr>
          <p:cNvPr id="7" name="Text 4"/>
          <p:cNvSpPr txBox="1"/>
          <p:nvPr/>
        </p:nvSpPr>
        <p:spPr>
          <a:xfrm>
            <a:off x="822960" y="2377440"/>
            <a:ext cx="2926080" cy="822960"/>
          </a:xfrm>
          <a:prstGeom prst="rect">
            <a:avLst/>
          </a:prstGeom>
          <a:noFill/>
          <a:ln/>
        </p:spPr>
        <p:txBody>
          <a:bodyPr wrap="square" lIns="0" tIns="0" rIns="0" bIns="0" rtlCol="0" anchor="t"/>
          <a:lstStyle/>
          <a:p>
            <a:pPr indent="0" marL="0">
              <a:buNone/>
            </a:pPr>
            <a:r>
              <a:rPr lang="en-US" sz="1600" dirty="0">
                <a:solidFill>
                  <a:srgbClr val="1E2A30"/>
                </a:solidFill>
                <a:latin typeface="맑은 고딕" pitchFamily="34" charset="0"/>
                <a:ea typeface="맑은 고딕" pitchFamily="34" charset="-122"/>
                <a:cs typeface="맑은 고딕" pitchFamily="34" charset="-120"/>
              </a:rPr>
              <a:t>그물처럼 연결되어 있다</a:t>
            </a:r>
            <a:endParaRPr lang="en-US" sz="1600" dirty="0"/>
          </a:p>
        </p:txBody>
      </p:sp>
      <p:sp>
        <p:nvSpPr>
          <p:cNvPr id="8" name="Shape 5"/>
          <p:cNvSpPr/>
          <p:nvPr/>
        </p:nvSpPr>
        <p:spPr>
          <a:xfrm>
            <a:off x="4846320" y="1463040"/>
            <a:ext cx="3474720" cy="1828800"/>
          </a:xfrm>
          <a:prstGeom prst="roundRect">
            <a:avLst>
              <a:gd name="adj" fmla="val 4000"/>
            </a:avLst>
          </a:prstGeom>
          <a:solidFill>
            <a:srgbClr val="E6F1F2"/>
          </a:solidFill>
          <a:ln w="12700">
            <a:solidFill>
              <a:srgbClr val="0E6E7A"/>
            </a:solidFill>
            <a:prstDash val="solid"/>
          </a:ln>
        </p:spPr>
      </p:sp>
      <p:sp>
        <p:nvSpPr>
          <p:cNvPr id="9" name="Text 6"/>
          <p:cNvSpPr txBox="1"/>
          <p:nvPr/>
        </p:nvSpPr>
        <p:spPr>
          <a:xfrm>
            <a:off x="5120640" y="1600200"/>
            <a:ext cx="2926080" cy="731520"/>
          </a:xfrm>
          <a:prstGeom prst="rect">
            <a:avLst/>
          </a:prstGeom>
          <a:noFill/>
          <a:ln/>
        </p:spPr>
        <p:txBody>
          <a:bodyPr wrap="square" lIns="0" tIns="0" rIns="0" bIns="0" rtlCol="0" anchor="t"/>
          <a:lstStyle/>
          <a:p>
            <a:pPr indent="0" marL="0">
              <a:buNone/>
            </a:pPr>
            <a:r>
              <a:rPr lang="en-US" sz="3600" b="1" dirty="0">
                <a:solidFill>
                  <a:srgbClr val="0E6E7A"/>
                </a:solidFill>
                <a:latin typeface="맑은 고딕" pitchFamily="34" charset="0"/>
                <a:ea typeface="맑은 고딕" pitchFamily="34" charset="-122"/>
                <a:cs typeface="맑은 고딕" pitchFamily="34" charset="-120"/>
              </a:rPr>
              <a:t>Work</a:t>
            </a:r>
            <a:endParaRPr lang="en-US" sz="3600" dirty="0"/>
          </a:p>
        </p:txBody>
      </p:sp>
      <p:sp>
        <p:nvSpPr>
          <p:cNvPr id="10" name="Text 7"/>
          <p:cNvSpPr txBox="1"/>
          <p:nvPr/>
        </p:nvSpPr>
        <p:spPr>
          <a:xfrm>
            <a:off x="5120640" y="2377440"/>
            <a:ext cx="2926080" cy="822960"/>
          </a:xfrm>
          <a:prstGeom prst="rect">
            <a:avLst/>
          </a:prstGeom>
          <a:noFill/>
          <a:ln/>
        </p:spPr>
        <p:txBody>
          <a:bodyPr wrap="square" lIns="0" tIns="0" rIns="0" bIns="0" rtlCol="0" anchor="t"/>
          <a:lstStyle/>
          <a:p>
            <a:pPr indent="0" marL="0">
              <a:buNone/>
            </a:pPr>
            <a:r>
              <a:rPr lang="en-US" sz="1600" dirty="0">
                <a:solidFill>
                  <a:srgbClr val="1E2A30"/>
                </a:solidFill>
                <a:latin typeface="맑은 고딕" pitchFamily="34" charset="0"/>
                <a:ea typeface="맑은 고딕" pitchFamily="34" charset="-122"/>
                <a:cs typeface="맑은 고딕" pitchFamily="34" charset="-120"/>
              </a:rPr>
              <a:t>통신한다</a:t>
            </a:r>
            <a:endParaRPr lang="en-US" sz="1600" dirty="0"/>
          </a:p>
          <a:p>
            <a:pPr indent="0" marL="0">
              <a:buNone/>
            </a:pPr>
            <a:r>
              <a:rPr lang="en-US" sz="1600" dirty="0">
                <a:solidFill>
                  <a:srgbClr val="1E2A30"/>
                </a:solidFill>
                <a:latin typeface="맑은 고딕" pitchFamily="34" charset="0"/>
                <a:ea typeface="맑은 고딕" pitchFamily="34" charset="-122"/>
                <a:cs typeface="맑은 고딕" pitchFamily="34" charset="-120"/>
              </a:rPr>
              <a:t>(데이터를 주고받는다)</a:t>
            </a:r>
            <a:endParaRPr lang="en-US" sz="1600" dirty="0"/>
          </a:p>
        </p:txBody>
      </p:sp>
      <p:sp>
        <p:nvSpPr>
          <p:cNvPr id="11" name="Text 8"/>
          <p:cNvSpPr txBox="1"/>
          <p:nvPr/>
        </p:nvSpPr>
        <p:spPr>
          <a:xfrm>
            <a:off x="4023360" y="2011680"/>
            <a:ext cx="822960" cy="731520"/>
          </a:xfrm>
          <a:prstGeom prst="rect">
            <a:avLst/>
          </a:prstGeom>
          <a:noFill/>
          <a:ln/>
        </p:spPr>
        <p:txBody>
          <a:bodyPr wrap="square" lIns="0" tIns="0" rIns="0" bIns="0" rtlCol="0" anchor="t"/>
          <a:lstStyle/>
          <a:p>
            <a:pPr algn="ctr" indent="0" marL="0">
              <a:buNone/>
            </a:pPr>
            <a:r>
              <a:rPr lang="en-US" sz="3600" b="1" dirty="0">
                <a:solidFill>
                  <a:srgbClr val="66737C"/>
                </a:solidFill>
                <a:latin typeface="맑은 고딕" pitchFamily="34" charset="0"/>
                <a:ea typeface="맑은 고딕" pitchFamily="34" charset="-122"/>
                <a:cs typeface="맑은 고딕" pitchFamily="34" charset="-120"/>
              </a:rPr>
              <a:t>+</a:t>
            </a:r>
            <a:endParaRPr lang="en-US" sz="3600" dirty="0"/>
          </a:p>
        </p:txBody>
      </p:sp>
      <p:sp>
        <p:nvSpPr>
          <p:cNvPr id="12" name="Text 9"/>
          <p:cNvSpPr txBox="1"/>
          <p:nvPr/>
        </p:nvSpPr>
        <p:spPr>
          <a:xfrm>
            <a:off x="8321040" y="2011680"/>
            <a:ext cx="548640" cy="731520"/>
          </a:xfrm>
          <a:prstGeom prst="rect">
            <a:avLst/>
          </a:prstGeom>
          <a:noFill/>
          <a:ln/>
        </p:spPr>
        <p:txBody>
          <a:bodyPr wrap="square" lIns="0" tIns="0" rIns="0" bIns="0" rtlCol="0" anchor="t"/>
          <a:lstStyle/>
          <a:p>
            <a:pPr algn="ctr" indent="0" marL="0">
              <a:buNone/>
            </a:pPr>
            <a:r>
              <a:rPr lang="en-US" sz="3600" b="1" dirty="0">
                <a:solidFill>
                  <a:srgbClr val="66737C"/>
                </a:solidFill>
                <a:latin typeface="맑은 고딕" pitchFamily="34" charset="0"/>
                <a:ea typeface="맑은 고딕" pitchFamily="34" charset="-122"/>
                <a:cs typeface="맑은 고딕" pitchFamily="34" charset="-120"/>
              </a:rPr>
              <a:t>=</a:t>
            </a:r>
            <a:endParaRPr lang="en-US" sz="3600" dirty="0"/>
          </a:p>
        </p:txBody>
      </p:sp>
      <p:sp>
        <p:nvSpPr>
          <p:cNvPr id="13" name="Shape 10"/>
          <p:cNvSpPr/>
          <p:nvPr/>
        </p:nvSpPr>
        <p:spPr>
          <a:xfrm>
            <a:off x="9601200" y="1463040"/>
            <a:ext cx="2039112" cy="1828800"/>
          </a:xfrm>
          <a:prstGeom prst="roundRect">
            <a:avLst>
              <a:gd name="adj" fmla="val 4000"/>
            </a:avLst>
          </a:prstGeom>
          <a:solidFill>
            <a:srgbClr val="FFFFFF"/>
          </a:solidFill>
          <a:ln w="19050">
            <a:solidFill>
              <a:srgbClr val="1E2A30"/>
            </a:solidFill>
            <a:prstDash val="solid"/>
          </a:ln>
        </p:spPr>
      </p:sp>
      <p:sp>
        <p:nvSpPr>
          <p:cNvPr id="14" name="Text 11"/>
          <p:cNvSpPr txBox="1"/>
          <p:nvPr/>
        </p:nvSpPr>
        <p:spPr>
          <a:xfrm>
            <a:off x="9738360" y="1600200"/>
            <a:ext cx="1783080" cy="155448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그물처럼 연결되어 데이터를 주고받는 체계</a:t>
            </a:r>
            <a:endParaRPr lang="en-US" sz="1500" dirty="0"/>
          </a:p>
        </p:txBody>
      </p:sp>
      <p:sp>
        <p:nvSpPr>
          <p:cNvPr id="15" name="Text 12"/>
          <p:cNvSpPr txBox="1"/>
          <p:nvPr/>
        </p:nvSpPr>
        <p:spPr>
          <a:xfrm>
            <a:off x="548640" y="3703320"/>
            <a:ext cx="2011680" cy="548640"/>
          </a:xfrm>
          <a:prstGeom prst="rect">
            <a:avLst/>
          </a:prstGeom>
          <a:noFill/>
          <a:ln/>
        </p:spPr>
        <p:txBody>
          <a:bodyPr wrap="square" lIns="0" tIns="0" rIns="0" bIns="0" rtlCol="0" anchor="ctr"/>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Internet</a:t>
            </a:r>
            <a:endParaRPr lang="en-US" sz="1800" dirty="0"/>
          </a:p>
        </p:txBody>
      </p:sp>
      <p:sp>
        <p:nvSpPr>
          <p:cNvPr id="16" name="Text 13"/>
          <p:cNvSpPr txBox="1"/>
          <p:nvPr/>
        </p:nvSpPr>
        <p:spPr>
          <a:xfrm>
            <a:off x="2560320" y="3703320"/>
            <a:ext cx="2743200" cy="54864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Inter(사이) + net</a:t>
            </a:r>
            <a:endParaRPr lang="en-US" sz="1500" dirty="0"/>
          </a:p>
        </p:txBody>
      </p:sp>
      <p:sp>
        <p:nvSpPr>
          <p:cNvPr id="17" name="Text 14"/>
          <p:cNvSpPr txBox="1"/>
          <p:nvPr/>
        </p:nvSpPr>
        <p:spPr>
          <a:xfrm>
            <a:off x="5303520" y="3703320"/>
            <a:ext cx="6309360" cy="548640"/>
          </a:xfrm>
          <a:prstGeom prst="rect">
            <a:avLst/>
          </a:prstGeom>
          <a:noFill/>
          <a:ln/>
        </p:spPr>
        <p:txBody>
          <a:bodyPr wrap="square" lIns="0" tIns="0" rIns="0" bIns="0" rtlCol="0" anchor="ctr"/>
          <a:lstStyle/>
          <a:p>
            <a:pPr indent="0" marL="0">
              <a:buNone/>
            </a:pPr>
            <a:r>
              <a:rPr lang="en-US" sz="1500" dirty="0">
                <a:solidFill>
                  <a:srgbClr val="66737C"/>
                </a:solidFill>
                <a:latin typeface="맑은 고딕" pitchFamily="34" charset="0"/>
                <a:ea typeface="맑은 고딕" pitchFamily="34" charset="-122"/>
                <a:cs typeface="맑은 고딕" pitchFamily="34" charset="-120"/>
              </a:rPr>
              <a:t>네트워크와 네트워크를 잇는 '네트워크의 네트워크'</a:t>
            </a:r>
            <a:endParaRPr lang="en-US" sz="1500" dirty="0"/>
          </a:p>
        </p:txBody>
      </p:sp>
      <p:sp>
        <p:nvSpPr>
          <p:cNvPr id="18" name="Shape 15"/>
          <p:cNvSpPr/>
          <p:nvPr/>
        </p:nvSpPr>
        <p:spPr>
          <a:xfrm>
            <a:off x="548640" y="4325112"/>
            <a:ext cx="11091672" cy="914"/>
          </a:xfrm>
          <a:prstGeom prst="line">
            <a:avLst/>
          </a:prstGeom>
          <a:noFill/>
          <a:ln w="9525">
            <a:solidFill>
              <a:srgbClr val="D5DADD"/>
            </a:solidFill>
            <a:prstDash val="solid"/>
          </a:ln>
        </p:spPr>
      </p:sp>
      <p:sp>
        <p:nvSpPr>
          <p:cNvPr id="19" name="Text 16"/>
          <p:cNvSpPr txBox="1"/>
          <p:nvPr/>
        </p:nvSpPr>
        <p:spPr>
          <a:xfrm>
            <a:off x="548640" y="4389120"/>
            <a:ext cx="2011680" cy="548640"/>
          </a:xfrm>
          <a:prstGeom prst="rect">
            <a:avLst/>
          </a:prstGeom>
          <a:noFill/>
          <a:ln/>
        </p:spPr>
        <p:txBody>
          <a:bodyPr wrap="square" lIns="0" tIns="0" rIns="0" bIns="0" rtlCol="0" anchor="ctr"/>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Protocol</a:t>
            </a:r>
            <a:endParaRPr lang="en-US" sz="1800" dirty="0"/>
          </a:p>
        </p:txBody>
      </p:sp>
      <p:sp>
        <p:nvSpPr>
          <p:cNvPr id="20" name="Text 17"/>
          <p:cNvSpPr txBox="1"/>
          <p:nvPr/>
        </p:nvSpPr>
        <p:spPr>
          <a:xfrm>
            <a:off x="2560320" y="4389120"/>
            <a:ext cx="2743200" cy="54864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약속</a:t>
            </a:r>
            <a:endParaRPr lang="en-US" sz="1500" dirty="0"/>
          </a:p>
        </p:txBody>
      </p:sp>
      <p:sp>
        <p:nvSpPr>
          <p:cNvPr id="21" name="Text 18"/>
          <p:cNvSpPr txBox="1"/>
          <p:nvPr/>
        </p:nvSpPr>
        <p:spPr>
          <a:xfrm>
            <a:off x="5303520" y="4389120"/>
            <a:ext cx="6309360" cy="548640"/>
          </a:xfrm>
          <a:prstGeom prst="rect">
            <a:avLst/>
          </a:prstGeom>
          <a:noFill/>
          <a:ln/>
        </p:spPr>
        <p:txBody>
          <a:bodyPr wrap="square" lIns="0" tIns="0" rIns="0" bIns="0" rtlCol="0" anchor="ctr"/>
          <a:lstStyle/>
          <a:p>
            <a:pPr indent="0" marL="0">
              <a:buNone/>
            </a:pPr>
            <a:r>
              <a:rPr lang="en-US" sz="1500" dirty="0">
                <a:solidFill>
                  <a:srgbClr val="66737C"/>
                </a:solidFill>
                <a:latin typeface="맑은 고딕" pitchFamily="34" charset="0"/>
                <a:ea typeface="맑은 고딕" pitchFamily="34" charset="-122"/>
                <a:cs typeface="맑은 고딕" pitchFamily="34" charset="-120"/>
              </a:rPr>
              <a:t>통신하는 양쪽이 미리 정한 규칙 (언어와 같다)</a:t>
            </a:r>
            <a:endParaRPr lang="en-US" sz="1500" dirty="0"/>
          </a:p>
        </p:txBody>
      </p:sp>
      <p:sp>
        <p:nvSpPr>
          <p:cNvPr id="22" name="Shape 19"/>
          <p:cNvSpPr/>
          <p:nvPr/>
        </p:nvSpPr>
        <p:spPr>
          <a:xfrm>
            <a:off x="548640" y="5010912"/>
            <a:ext cx="11091672" cy="914"/>
          </a:xfrm>
          <a:prstGeom prst="line">
            <a:avLst/>
          </a:prstGeom>
          <a:noFill/>
          <a:ln w="9525">
            <a:solidFill>
              <a:srgbClr val="D5DADD"/>
            </a:solidFill>
            <a:prstDash val="solid"/>
          </a:ln>
        </p:spPr>
      </p:sp>
      <p:sp>
        <p:nvSpPr>
          <p:cNvPr id="23" name="Text 20"/>
          <p:cNvSpPr txBox="1"/>
          <p:nvPr/>
        </p:nvSpPr>
        <p:spPr>
          <a:xfrm>
            <a:off x="548640" y="5074920"/>
            <a:ext cx="2011680" cy="548640"/>
          </a:xfrm>
          <a:prstGeom prst="rect">
            <a:avLst/>
          </a:prstGeom>
          <a:noFill/>
          <a:ln/>
        </p:spPr>
        <p:txBody>
          <a:bodyPr wrap="square" lIns="0" tIns="0" rIns="0" bIns="0" rtlCol="0" anchor="ctr"/>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Routing</a:t>
            </a:r>
            <a:endParaRPr lang="en-US" sz="1800" dirty="0"/>
          </a:p>
        </p:txBody>
      </p:sp>
      <p:sp>
        <p:nvSpPr>
          <p:cNvPr id="24" name="Text 21"/>
          <p:cNvSpPr txBox="1"/>
          <p:nvPr/>
        </p:nvSpPr>
        <p:spPr>
          <a:xfrm>
            <a:off x="2560320" y="5074920"/>
            <a:ext cx="2743200" cy="54864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Route(경로) + ing</a:t>
            </a:r>
            <a:endParaRPr lang="en-US" sz="1500" dirty="0"/>
          </a:p>
        </p:txBody>
      </p:sp>
      <p:sp>
        <p:nvSpPr>
          <p:cNvPr id="25" name="Text 22"/>
          <p:cNvSpPr txBox="1"/>
          <p:nvPr/>
        </p:nvSpPr>
        <p:spPr>
          <a:xfrm>
            <a:off x="5303520" y="5074920"/>
            <a:ext cx="6309360" cy="548640"/>
          </a:xfrm>
          <a:prstGeom prst="rect">
            <a:avLst/>
          </a:prstGeom>
          <a:noFill/>
          <a:ln/>
        </p:spPr>
        <p:txBody>
          <a:bodyPr wrap="square" lIns="0" tIns="0" rIns="0" bIns="0" rtlCol="0" anchor="ctr"/>
          <a:lstStyle/>
          <a:p>
            <a:pPr indent="0" marL="0">
              <a:buNone/>
            </a:pPr>
            <a:r>
              <a:rPr lang="en-US" sz="1500" dirty="0">
                <a:solidFill>
                  <a:srgbClr val="66737C"/>
                </a:solidFill>
                <a:latin typeface="맑은 고딕" pitchFamily="34" charset="0"/>
                <a:ea typeface="맑은 고딕" pitchFamily="34" charset="-122"/>
                <a:cs typeface="맑은 고딕" pitchFamily="34" charset="-120"/>
              </a:rPr>
              <a:t>패킷을 목적지까지 전달하는 과정 (6파트)</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통신의 3요소</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1 · 통신 기초</a:t>
            </a:r>
            <a:endParaRPr lang="en-US" sz="1100" dirty="0"/>
          </a:p>
        </p:txBody>
      </p:sp>
      <p:sp>
        <p:nvSpPr>
          <p:cNvPr id="5" name="Shape 2"/>
          <p:cNvSpPr/>
          <p:nvPr/>
        </p:nvSpPr>
        <p:spPr>
          <a:xfrm>
            <a:off x="548640" y="2377440"/>
            <a:ext cx="2743200" cy="1737360"/>
          </a:xfrm>
          <a:prstGeom prst="roundRect">
            <a:avLst>
              <a:gd name="adj" fmla="val 4211"/>
            </a:avLst>
          </a:prstGeom>
          <a:solidFill>
            <a:srgbClr val="E6F1F2"/>
          </a:solidFill>
          <a:ln w="12700">
            <a:solidFill>
              <a:srgbClr val="0E6E7A"/>
            </a:solidFill>
            <a:prstDash val="solid"/>
          </a:ln>
        </p:spPr>
      </p:sp>
      <p:sp>
        <p:nvSpPr>
          <p:cNvPr id="6" name="Text 3"/>
          <p:cNvSpPr txBox="1"/>
          <p:nvPr/>
        </p:nvSpPr>
        <p:spPr>
          <a:xfrm>
            <a:off x="731520" y="2514600"/>
            <a:ext cx="237744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송신자</a:t>
            </a:r>
            <a:endParaRPr lang="en-US" sz="1600" dirty="0"/>
          </a:p>
        </p:txBody>
      </p:sp>
      <p:sp>
        <p:nvSpPr>
          <p:cNvPr id="7" name="Text 4"/>
          <p:cNvSpPr txBox="1"/>
          <p:nvPr/>
        </p:nvSpPr>
        <p:spPr>
          <a:xfrm>
            <a:off x="731520" y="2971800"/>
            <a:ext cx="2377440" cy="10332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데이터를 보내는 쪽</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내 PC</a:t>
            </a:r>
            <a:endParaRPr lang="en-US" sz="1400" dirty="0"/>
          </a:p>
        </p:txBody>
      </p:sp>
      <p:sp>
        <p:nvSpPr>
          <p:cNvPr id="8" name="Shape 5"/>
          <p:cNvSpPr/>
          <p:nvPr/>
        </p:nvSpPr>
        <p:spPr>
          <a:xfrm>
            <a:off x="8897112" y="2377440"/>
            <a:ext cx="2743200" cy="1737360"/>
          </a:xfrm>
          <a:prstGeom prst="roundRect">
            <a:avLst>
              <a:gd name="adj" fmla="val 4211"/>
            </a:avLst>
          </a:prstGeom>
          <a:solidFill>
            <a:srgbClr val="E6F1F2"/>
          </a:solidFill>
          <a:ln w="12700">
            <a:solidFill>
              <a:srgbClr val="0E6E7A"/>
            </a:solidFill>
            <a:prstDash val="solid"/>
          </a:ln>
        </p:spPr>
      </p:sp>
      <p:sp>
        <p:nvSpPr>
          <p:cNvPr id="9" name="Text 6"/>
          <p:cNvSpPr txBox="1"/>
          <p:nvPr/>
        </p:nvSpPr>
        <p:spPr>
          <a:xfrm>
            <a:off x="9079992" y="2514600"/>
            <a:ext cx="237744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수신자</a:t>
            </a:r>
            <a:endParaRPr lang="en-US" sz="1600" dirty="0"/>
          </a:p>
        </p:txBody>
      </p:sp>
      <p:sp>
        <p:nvSpPr>
          <p:cNvPr id="10" name="Text 7"/>
          <p:cNvSpPr txBox="1"/>
          <p:nvPr/>
        </p:nvSpPr>
        <p:spPr>
          <a:xfrm>
            <a:off x="9079992" y="2971800"/>
            <a:ext cx="2377440" cy="10332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데이터를 받는 쪽</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웹 서버</a:t>
            </a:r>
            <a:endParaRPr lang="en-US" sz="1400" dirty="0"/>
          </a:p>
        </p:txBody>
      </p:sp>
      <p:sp>
        <p:nvSpPr>
          <p:cNvPr id="11" name="Shape 8"/>
          <p:cNvSpPr/>
          <p:nvPr/>
        </p:nvSpPr>
        <p:spPr>
          <a:xfrm>
            <a:off x="4023360" y="2880360"/>
            <a:ext cx="4114800" cy="731520"/>
          </a:xfrm>
          <a:prstGeom prst="roundRect">
            <a:avLst>
              <a:gd name="adj" fmla="val 10000"/>
            </a:avLst>
          </a:prstGeom>
          <a:solidFill>
            <a:srgbClr val="F4F6F7"/>
          </a:solidFill>
          <a:ln w="15875">
            <a:solidFill>
              <a:srgbClr val="1E2A30"/>
            </a:solidFill>
            <a:prstDash val="solid"/>
          </a:ln>
        </p:spPr>
      </p:sp>
      <p:sp>
        <p:nvSpPr>
          <p:cNvPr id="12" name="Text 9"/>
          <p:cNvSpPr txBox="1"/>
          <p:nvPr/>
        </p:nvSpPr>
        <p:spPr>
          <a:xfrm>
            <a:off x="4023360" y="2880360"/>
            <a:ext cx="4114800" cy="73152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전송매체  (케이블 · 전파 · 광섬유)</a:t>
            </a:r>
            <a:endParaRPr lang="en-US" sz="1500" dirty="0"/>
          </a:p>
        </p:txBody>
      </p:sp>
      <p:sp>
        <p:nvSpPr>
          <p:cNvPr id="13" name="Shape 10"/>
          <p:cNvSpPr/>
          <p:nvPr/>
        </p:nvSpPr>
        <p:spPr>
          <a:xfrm>
            <a:off x="3291840" y="3246120"/>
            <a:ext cx="731520" cy="914"/>
          </a:xfrm>
          <a:prstGeom prst="line">
            <a:avLst/>
          </a:prstGeom>
          <a:noFill/>
          <a:ln w="19050">
            <a:solidFill>
              <a:srgbClr val="1E2A30"/>
            </a:solidFill>
            <a:prstDash val="solid"/>
            <a:tailEnd type="triangle"/>
          </a:ln>
        </p:spPr>
      </p:sp>
      <p:sp>
        <p:nvSpPr>
          <p:cNvPr id="14" name="Shape 11"/>
          <p:cNvSpPr/>
          <p:nvPr/>
        </p:nvSpPr>
        <p:spPr>
          <a:xfrm>
            <a:off x="8138160" y="3246120"/>
            <a:ext cx="758952" cy="914"/>
          </a:xfrm>
          <a:prstGeom prst="line">
            <a:avLst/>
          </a:prstGeom>
          <a:noFill/>
          <a:ln w="19050">
            <a:solidFill>
              <a:srgbClr val="1E2A30"/>
            </a:solidFill>
            <a:prstDash val="solid"/>
            <a:tailEnd type="triangle"/>
          </a:ln>
        </p:spPr>
      </p:sp>
      <p:sp>
        <p:nvSpPr>
          <p:cNvPr id="15" name="Shape 12"/>
          <p:cNvSpPr/>
          <p:nvPr/>
        </p:nvSpPr>
        <p:spPr>
          <a:xfrm>
            <a:off x="4709160" y="1325880"/>
            <a:ext cx="2743200" cy="685800"/>
          </a:xfrm>
          <a:prstGeom prst="roundRect">
            <a:avLst>
              <a:gd name="adj" fmla="val 10667"/>
            </a:avLst>
          </a:prstGeom>
          <a:solidFill>
            <a:srgbClr val="FFFFFF"/>
          </a:solidFill>
          <a:ln w="12700">
            <a:solidFill>
              <a:srgbClr val="0E6E7A"/>
            </a:solidFill>
            <a:prstDash val="dash"/>
          </a:ln>
        </p:spPr>
      </p:sp>
      <p:sp>
        <p:nvSpPr>
          <p:cNvPr id="16" name="Text 13"/>
          <p:cNvSpPr txBox="1"/>
          <p:nvPr/>
        </p:nvSpPr>
        <p:spPr>
          <a:xfrm>
            <a:off x="4709160" y="1325880"/>
            <a:ext cx="2743200" cy="685800"/>
          </a:xfrm>
          <a:prstGeom prst="rect">
            <a:avLst/>
          </a:prstGeom>
          <a:noFill/>
          <a:ln/>
        </p:spPr>
        <p:txBody>
          <a:bodyPr wrap="square" lIns="0" tIns="0" rIns="0" bIns="0" rtlCol="0" anchor="ctr"/>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정보(데이터)</a:t>
            </a:r>
            <a:endParaRPr lang="en-US" sz="1600" dirty="0"/>
          </a:p>
        </p:txBody>
      </p:sp>
      <p:sp>
        <p:nvSpPr>
          <p:cNvPr id="17" name="Shape 14"/>
          <p:cNvSpPr/>
          <p:nvPr/>
        </p:nvSpPr>
        <p:spPr>
          <a:xfrm>
            <a:off x="6080760" y="2011680"/>
            <a:ext cx="914" cy="868680"/>
          </a:xfrm>
          <a:prstGeom prst="line">
            <a:avLst/>
          </a:prstGeom>
          <a:noFill/>
          <a:ln w="19050">
            <a:solidFill>
              <a:srgbClr val="0E6E7A"/>
            </a:solidFill>
            <a:prstDash val="solid"/>
            <a:tailEnd type="triangle"/>
          </a:ln>
        </p:spPr>
      </p:sp>
      <p:sp>
        <p:nvSpPr>
          <p:cNvPr id="18" name="Shape 15"/>
          <p:cNvSpPr/>
          <p:nvPr/>
        </p:nvSpPr>
        <p:spPr>
          <a:xfrm>
            <a:off x="548640" y="4617720"/>
            <a:ext cx="457200" cy="457200"/>
          </a:xfrm>
          <a:prstGeom prst="ellipse">
            <a:avLst/>
          </a:prstGeom>
          <a:solidFill>
            <a:srgbClr val="0E6E7A"/>
          </a:solidFill>
          <a:ln w="12700">
            <a:solidFill>
              <a:srgbClr val="0E6E7A"/>
            </a:solidFill>
            <a:prstDash val="solid"/>
          </a:ln>
        </p:spPr>
      </p:sp>
      <p:sp>
        <p:nvSpPr>
          <p:cNvPr id="19" name="Text 16"/>
          <p:cNvSpPr txBox="1"/>
          <p:nvPr/>
        </p:nvSpPr>
        <p:spPr>
          <a:xfrm>
            <a:off x="548640" y="4617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①</a:t>
            </a:r>
            <a:endParaRPr lang="en-US" sz="1400" dirty="0"/>
          </a:p>
        </p:txBody>
      </p:sp>
      <p:sp>
        <p:nvSpPr>
          <p:cNvPr id="20" name="Text 17"/>
          <p:cNvSpPr txBox="1"/>
          <p:nvPr/>
        </p:nvSpPr>
        <p:spPr>
          <a:xfrm>
            <a:off x="1143000" y="4617720"/>
            <a:ext cx="292608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송신자 / 수신자</a:t>
            </a:r>
            <a:endParaRPr lang="en-US" sz="1600" dirty="0"/>
          </a:p>
        </p:txBody>
      </p:sp>
      <p:sp>
        <p:nvSpPr>
          <p:cNvPr id="21" name="Shape 18"/>
          <p:cNvSpPr/>
          <p:nvPr/>
        </p:nvSpPr>
        <p:spPr>
          <a:xfrm>
            <a:off x="4297680" y="4617720"/>
            <a:ext cx="457200" cy="457200"/>
          </a:xfrm>
          <a:prstGeom prst="ellipse">
            <a:avLst/>
          </a:prstGeom>
          <a:solidFill>
            <a:srgbClr val="0E6E7A"/>
          </a:solidFill>
          <a:ln w="12700">
            <a:solidFill>
              <a:srgbClr val="0E6E7A"/>
            </a:solidFill>
            <a:prstDash val="solid"/>
          </a:ln>
        </p:spPr>
      </p:sp>
      <p:sp>
        <p:nvSpPr>
          <p:cNvPr id="22" name="Text 19"/>
          <p:cNvSpPr txBox="1"/>
          <p:nvPr/>
        </p:nvSpPr>
        <p:spPr>
          <a:xfrm>
            <a:off x="4297680" y="4617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②</a:t>
            </a:r>
            <a:endParaRPr lang="en-US" sz="1400" dirty="0"/>
          </a:p>
        </p:txBody>
      </p:sp>
      <p:sp>
        <p:nvSpPr>
          <p:cNvPr id="23" name="Text 20"/>
          <p:cNvSpPr txBox="1"/>
          <p:nvPr/>
        </p:nvSpPr>
        <p:spPr>
          <a:xfrm>
            <a:off x="4892040" y="4617720"/>
            <a:ext cx="292608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전송매체</a:t>
            </a:r>
            <a:endParaRPr lang="en-US" sz="1600" dirty="0"/>
          </a:p>
        </p:txBody>
      </p:sp>
      <p:sp>
        <p:nvSpPr>
          <p:cNvPr id="24" name="Shape 21"/>
          <p:cNvSpPr/>
          <p:nvPr/>
        </p:nvSpPr>
        <p:spPr>
          <a:xfrm>
            <a:off x="8046720" y="4617720"/>
            <a:ext cx="457200" cy="457200"/>
          </a:xfrm>
          <a:prstGeom prst="ellipse">
            <a:avLst/>
          </a:prstGeom>
          <a:solidFill>
            <a:srgbClr val="0E6E7A"/>
          </a:solidFill>
          <a:ln w="12700">
            <a:solidFill>
              <a:srgbClr val="0E6E7A"/>
            </a:solidFill>
            <a:prstDash val="solid"/>
          </a:ln>
        </p:spPr>
      </p:sp>
      <p:sp>
        <p:nvSpPr>
          <p:cNvPr id="25" name="Text 22"/>
          <p:cNvSpPr txBox="1"/>
          <p:nvPr/>
        </p:nvSpPr>
        <p:spPr>
          <a:xfrm>
            <a:off x="8046720" y="4617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③</a:t>
            </a:r>
            <a:endParaRPr lang="en-US" sz="1400" dirty="0"/>
          </a:p>
        </p:txBody>
      </p:sp>
      <p:sp>
        <p:nvSpPr>
          <p:cNvPr id="26" name="Text 23"/>
          <p:cNvSpPr txBox="1"/>
          <p:nvPr/>
        </p:nvSpPr>
        <p:spPr>
          <a:xfrm>
            <a:off x="8641080" y="4617720"/>
            <a:ext cx="2926080" cy="45720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정보(데이터)</a:t>
            </a:r>
            <a:endParaRPr lang="en-US" sz="1600" dirty="0"/>
          </a:p>
        </p:txBody>
      </p:sp>
      <p:sp>
        <p:nvSpPr>
          <p:cNvPr id="27" name="Shape 24"/>
          <p:cNvSpPr/>
          <p:nvPr/>
        </p:nvSpPr>
        <p:spPr>
          <a:xfrm>
            <a:off x="548640" y="5394960"/>
            <a:ext cx="11091672" cy="457200"/>
          </a:xfrm>
          <a:prstGeom prst="roundRect">
            <a:avLst>
              <a:gd name="adj" fmla="val 16000"/>
            </a:avLst>
          </a:prstGeom>
          <a:solidFill>
            <a:srgbClr val="E6F1F2"/>
          </a:solidFill>
          <a:ln w="12700">
            <a:solidFill>
              <a:srgbClr val="E6F1F2"/>
            </a:solidFill>
            <a:prstDash val="solid"/>
          </a:ln>
        </p:spPr>
      </p:sp>
      <p:sp>
        <p:nvSpPr>
          <p:cNvPr id="28" name="Text 25"/>
          <p:cNvSpPr txBox="1"/>
          <p:nvPr/>
        </p:nvSpPr>
        <p:spPr>
          <a:xfrm>
            <a:off x="777240" y="539496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편지로 비유하면 — 보내는 사람·받는 사람 / 우체국과 도로 / 편지 내용</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통신 방식 — 단방향 · 반이중 · 전이중</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1 · 통신 기초</a:t>
            </a:r>
            <a:endParaRPr lang="en-US" sz="1100" dirty="0"/>
          </a:p>
        </p:txBody>
      </p:sp>
      <p:sp>
        <p:nvSpPr>
          <p:cNvPr id="5" name="Shape 2"/>
          <p:cNvSpPr/>
          <p:nvPr/>
        </p:nvSpPr>
        <p:spPr>
          <a:xfrm>
            <a:off x="548640" y="1371600"/>
            <a:ext cx="3566160" cy="4206240"/>
          </a:xfrm>
          <a:prstGeom prst="roundRect">
            <a:avLst>
              <a:gd name="adj" fmla="val 2051"/>
            </a:avLst>
          </a:prstGeom>
          <a:solidFill>
            <a:srgbClr val="FFFFFF"/>
          </a:solidFill>
          <a:ln w="12700">
            <a:solidFill>
              <a:srgbClr val="9AA5AD"/>
            </a:solidFill>
            <a:prstDash val="solid"/>
          </a:ln>
        </p:spPr>
      </p:sp>
      <p:sp>
        <p:nvSpPr>
          <p:cNvPr id="6" name="Text 3"/>
          <p:cNvSpPr txBox="1"/>
          <p:nvPr/>
        </p:nvSpPr>
        <p:spPr>
          <a:xfrm>
            <a:off x="777240" y="1508760"/>
            <a:ext cx="3108960" cy="50292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단방향</a:t>
            </a:r>
            <a:endParaRPr lang="en-US" sz="2200" dirty="0"/>
          </a:p>
        </p:txBody>
      </p:sp>
      <p:sp>
        <p:nvSpPr>
          <p:cNvPr id="7" name="Text 4"/>
          <p:cNvSpPr txBox="1"/>
          <p:nvPr/>
        </p:nvSpPr>
        <p:spPr>
          <a:xfrm>
            <a:off x="777240" y="2011680"/>
            <a:ext cx="3108960" cy="36576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Simplex</a:t>
            </a:r>
            <a:endParaRPr lang="en-US" sz="1400" dirty="0"/>
          </a:p>
        </p:txBody>
      </p:sp>
      <p:sp>
        <p:nvSpPr>
          <p:cNvPr id="8" name="Shape 5"/>
          <p:cNvSpPr/>
          <p:nvPr/>
        </p:nvSpPr>
        <p:spPr>
          <a:xfrm>
            <a:off x="822960" y="2606040"/>
            <a:ext cx="731520" cy="548640"/>
          </a:xfrm>
          <a:prstGeom prst="roundRect">
            <a:avLst>
              <a:gd name="adj" fmla="val 13333"/>
            </a:avLst>
          </a:prstGeom>
          <a:solidFill>
            <a:srgbClr val="F4F6F7"/>
          </a:solidFill>
          <a:ln w="12700">
            <a:solidFill>
              <a:srgbClr val="1E2A30"/>
            </a:solidFill>
            <a:prstDash val="solid"/>
          </a:ln>
        </p:spPr>
      </p:sp>
      <p:sp>
        <p:nvSpPr>
          <p:cNvPr id="9" name="Text 6"/>
          <p:cNvSpPr txBox="1"/>
          <p:nvPr/>
        </p:nvSpPr>
        <p:spPr>
          <a:xfrm>
            <a:off x="822960" y="2606040"/>
            <a:ext cx="731520" cy="54864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A</a:t>
            </a:r>
            <a:endParaRPr lang="en-US" sz="1400" dirty="0"/>
          </a:p>
        </p:txBody>
      </p:sp>
      <p:sp>
        <p:nvSpPr>
          <p:cNvPr id="10" name="Shape 7"/>
          <p:cNvSpPr/>
          <p:nvPr/>
        </p:nvSpPr>
        <p:spPr>
          <a:xfrm>
            <a:off x="3108960" y="2606040"/>
            <a:ext cx="731520" cy="548640"/>
          </a:xfrm>
          <a:prstGeom prst="roundRect">
            <a:avLst>
              <a:gd name="adj" fmla="val 13333"/>
            </a:avLst>
          </a:prstGeom>
          <a:solidFill>
            <a:srgbClr val="F4F6F7"/>
          </a:solidFill>
          <a:ln w="12700">
            <a:solidFill>
              <a:srgbClr val="1E2A30"/>
            </a:solidFill>
            <a:prstDash val="solid"/>
          </a:ln>
        </p:spPr>
      </p:sp>
      <p:sp>
        <p:nvSpPr>
          <p:cNvPr id="11" name="Text 8"/>
          <p:cNvSpPr txBox="1"/>
          <p:nvPr/>
        </p:nvSpPr>
        <p:spPr>
          <a:xfrm>
            <a:off x="3108960" y="2606040"/>
            <a:ext cx="731520" cy="54864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B</a:t>
            </a:r>
            <a:endParaRPr lang="en-US" sz="1400" dirty="0"/>
          </a:p>
        </p:txBody>
      </p:sp>
      <p:sp>
        <p:nvSpPr>
          <p:cNvPr id="12" name="Shape 9"/>
          <p:cNvSpPr/>
          <p:nvPr/>
        </p:nvSpPr>
        <p:spPr>
          <a:xfrm>
            <a:off x="1645920" y="2880360"/>
            <a:ext cx="1371600" cy="914"/>
          </a:xfrm>
          <a:prstGeom prst="line">
            <a:avLst/>
          </a:prstGeom>
          <a:noFill/>
          <a:ln w="19050">
            <a:solidFill>
              <a:srgbClr val="1E2A30"/>
            </a:solidFill>
            <a:prstDash val="solid"/>
            <a:tailEnd type="triangle"/>
          </a:ln>
        </p:spPr>
      </p:sp>
      <p:sp>
        <p:nvSpPr>
          <p:cNvPr id="13" name="Shape 10"/>
          <p:cNvSpPr/>
          <p:nvPr/>
        </p:nvSpPr>
        <p:spPr>
          <a:xfrm>
            <a:off x="777240" y="3429000"/>
            <a:ext cx="3108960" cy="1965960"/>
          </a:xfrm>
          <a:prstGeom prst="roundRect">
            <a:avLst>
              <a:gd name="adj" fmla="val 3721"/>
            </a:avLst>
          </a:prstGeom>
          <a:solidFill>
            <a:srgbClr val="FFFFFF"/>
          </a:solidFill>
          <a:ln w="12700">
            <a:solidFill>
              <a:srgbClr val="FFFFFF"/>
            </a:solidFill>
            <a:prstDash val="solid"/>
          </a:ln>
        </p:spPr>
      </p:sp>
      <p:sp>
        <p:nvSpPr>
          <p:cNvPr id="14" name="Text 11"/>
          <p:cNvSpPr txBox="1"/>
          <p:nvPr/>
        </p:nvSpPr>
        <p:spPr>
          <a:xfrm>
            <a:off x="960120" y="3566160"/>
            <a:ext cx="2743200" cy="17190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한쪽으로만 전송</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TV · 라디오 방송</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선로: 2선식</a:t>
            </a:r>
            <a:endParaRPr lang="en-US" sz="1400" dirty="0"/>
          </a:p>
        </p:txBody>
      </p:sp>
      <p:sp>
        <p:nvSpPr>
          <p:cNvPr id="15" name="Shape 12"/>
          <p:cNvSpPr/>
          <p:nvPr/>
        </p:nvSpPr>
        <p:spPr>
          <a:xfrm>
            <a:off x="4297680" y="1371600"/>
            <a:ext cx="3566160" cy="4206240"/>
          </a:xfrm>
          <a:prstGeom prst="roundRect">
            <a:avLst>
              <a:gd name="adj" fmla="val 2051"/>
            </a:avLst>
          </a:prstGeom>
          <a:solidFill>
            <a:srgbClr val="FFFFFF"/>
          </a:solidFill>
          <a:ln w="12700">
            <a:solidFill>
              <a:srgbClr val="9AA5AD"/>
            </a:solidFill>
            <a:prstDash val="solid"/>
          </a:ln>
        </p:spPr>
      </p:sp>
      <p:sp>
        <p:nvSpPr>
          <p:cNvPr id="16" name="Text 13"/>
          <p:cNvSpPr txBox="1"/>
          <p:nvPr/>
        </p:nvSpPr>
        <p:spPr>
          <a:xfrm>
            <a:off x="4526280" y="1508760"/>
            <a:ext cx="3108960" cy="50292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반이중</a:t>
            </a:r>
            <a:endParaRPr lang="en-US" sz="2200" dirty="0"/>
          </a:p>
        </p:txBody>
      </p:sp>
      <p:sp>
        <p:nvSpPr>
          <p:cNvPr id="17" name="Text 14"/>
          <p:cNvSpPr txBox="1"/>
          <p:nvPr/>
        </p:nvSpPr>
        <p:spPr>
          <a:xfrm>
            <a:off x="4526280" y="2011680"/>
            <a:ext cx="3108960" cy="36576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Half Duplex</a:t>
            </a:r>
            <a:endParaRPr lang="en-US" sz="1400" dirty="0"/>
          </a:p>
        </p:txBody>
      </p:sp>
      <p:sp>
        <p:nvSpPr>
          <p:cNvPr id="18" name="Shape 15"/>
          <p:cNvSpPr/>
          <p:nvPr/>
        </p:nvSpPr>
        <p:spPr>
          <a:xfrm>
            <a:off x="4572000" y="2606040"/>
            <a:ext cx="731520" cy="548640"/>
          </a:xfrm>
          <a:prstGeom prst="roundRect">
            <a:avLst>
              <a:gd name="adj" fmla="val 13333"/>
            </a:avLst>
          </a:prstGeom>
          <a:solidFill>
            <a:srgbClr val="F4F6F7"/>
          </a:solidFill>
          <a:ln w="12700">
            <a:solidFill>
              <a:srgbClr val="1E2A30"/>
            </a:solidFill>
            <a:prstDash val="solid"/>
          </a:ln>
        </p:spPr>
      </p:sp>
      <p:sp>
        <p:nvSpPr>
          <p:cNvPr id="19" name="Text 16"/>
          <p:cNvSpPr txBox="1"/>
          <p:nvPr/>
        </p:nvSpPr>
        <p:spPr>
          <a:xfrm>
            <a:off x="4572000" y="2606040"/>
            <a:ext cx="731520" cy="54864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A</a:t>
            </a:r>
            <a:endParaRPr lang="en-US" sz="1400" dirty="0"/>
          </a:p>
        </p:txBody>
      </p:sp>
      <p:sp>
        <p:nvSpPr>
          <p:cNvPr id="20" name="Shape 17"/>
          <p:cNvSpPr/>
          <p:nvPr/>
        </p:nvSpPr>
        <p:spPr>
          <a:xfrm>
            <a:off x="6858000" y="2606040"/>
            <a:ext cx="731520" cy="548640"/>
          </a:xfrm>
          <a:prstGeom prst="roundRect">
            <a:avLst>
              <a:gd name="adj" fmla="val 13333"/>
            </a:avLst>
          </a:prstGeom>
          <a:solidFill>
            <a:srgbClr val="F4F6F7"/>
          </a:solidFill>
          <a:ln w="12700">
            <a:solidFill>
              <a:srgbClr val="1E2A30"/>
            </a:solidFill>
            <a:prstDash val="solid"/>
          </a:ln>
        </p:spPr>
      </p:sp>
      <p:sp>
        <p:nvSpPr>
          <p:cNvPr id="21" name="Text 18"/>
          <p:cNvSpPr txBox="1"/>
          <p:nvPr/>
        </p:nvSpPr>
        <p:spPr>
          <a:xfrm>
            <a:off x="6858000" y="2606040"/>
            <a:ext cx="731520" cy="54864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B</a:t>
            </a:r>
            <a:endParaRPr lang="en-US" sz="1400" dirty="0"/>
          </a:p>
        </p:txBody>
      </p:sp>
      <p:sp>
        <p:nvSpPr>
          <p:cNvPr id="22" name="Shape 19"/>
          <p:cNvSpPr/>
          <p:nvPr/>
        </p:nvSpPr>
        <p:spPr>
          <a:xfrm>
            <a:off x="5394960" y="2880360"/>
            <a:ext cx="1371600" cy="914"/>
          </a:xfrm>
          <a:prstGeom prst="line">
            <a:avLst/>
          </a:prstGeom>
          <a:noFill/>
          <a:ln w="19050">
            <a:solidFill>
              <a:srgbClr val="1E2A30"/>
            </a:solidFill>
            <a:prstDash val="solid"/>
            <a:headEnd type="triangle"/>
            <a:tailEnd type="triangle"/>
          </a:ln>
        </p:spPr>
      </p:sp>
      <p:sp>
        <p:nvSpPr>
          <p:cNvPr id="23" name="Text 20"/>
          <p:cNvSpPr txBox="1"/>
          <p:nvPr/>
        </p:nvSpPr>
        <p:spPr>
          <a:xfrm>
            <a:off x="5394960" y="2331720"/>
            <a:ext cx="1371600" cy="274320"/>
          </a:xfrm>
          <a:prstGeom prst="rect">
            <a:avLst/>
          </a:prstGeom>
          <a:noFill/>
          <a:ln/>
        </p:spPr>
        <p:txBody>
          <a:bodyPr wrap="square" lIns="0" tIns="0" rIns="0" bIns="0" rtlCol="0" anchor="t"/>
          <a:lstStyle/>
          <a:p>
            <a:pPr algn="ctr" indent="0" marL="0">
              <a:buNone/>
            </a:pPr>
            <a:r>
              <a:rPr lang="en-US" sz="1100" dirty="0">
                <a:solidFill>
                  <a:srgbClr val="66737C"/>
                </a:solidFill>
                <a:latin typeface="맑은 고딕" pitchFamily="34" charset="0"/>
                <a:ea typeface="맑은 고딕" pitchFamily="34" charset="-122"/>
                <a:cs typeface="맑은 고딕" pitchFamily="34" charset="-120"/>
              </a:rPr>
              <a:t>번갈아</a:t>
            </a:r>
            <a:endParaRPr lang="en-US" sz="1100" dirty="0"/>
          </a:p>
        </p:txBody>
      </p:sp>
      <p:sp>
        <p:nvSpPr>
          <p:cNvPr id="24" name="Shape 21"/>
          <p:cNvSpPr/>
          <p:nvPr/>
        </p:nvSpPr>
        <p:spPr>
          <a:xfrm>
            <a:off x="4526280" y="3429000"/>
            <a:ext cx="3108960" cy="1965960"/>
          </a:xfrm>
          <a:prstGeom prst="roundRect">
            <a:avLst>
              <a:gd name="adj" fmla="val 3721"/>
            </a:avLst>
          </a:prstGeom>
          <a:solidFill>
            <a:srgbClr val="FFFFFF"/>
          </a:solidFill>
          <a:ln w="12700">
            <a:solidFill>
              <a:srgbClr val="FFFFFF"/>
            </a:solidFill>
            <a:prstDash val="solid"/>
          </a:ln>
        </p:spPr>
      </p:sp>
      <p:sp>
        <p:nvSpPr>
          <p:cNvPr id="25" name="Text 22"/>
          <p:cNvSpPr txBox="1"/>
          <p:nvPr/>
        </p:nvSpPr>
        <p:spPr>
          <a:xfrm>
            <a:off x="4709160" y="3566160"/>
            <a:ext cx="2743200" cy="17190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양방향 가능, 동시에는 불가 (번갈아)</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무전기</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선로: 2선식</a:t>
            </a:r>
            <a:endParaRPr lang="en-US" sz="1400" dirty="0"/>
          </a:p>
        </p:txBody>
      </p:sp>
      <p:sp>
        <p:nvSpPr>
          <p:cNvPr id="26" name="Shape 23"/>
          <p:cNvSpPr/>
          <p:nvPr/>
        </p:nvSpPr>
        <p:spPr>
          <a:xfrm>
            <a:off x="8046720" y="1371600"/>
            <a:ext cx="3566160" cy="4206240"/>
          </a:xfrm>
          <a:prstGeom prst="roundRect">
            <a:avLst>
              <a:gd name="adj" fmla="val 2051"/>
            </a:avLst>
          </a:prstGeom>
          <a:solidFill>
            <a:srgbClr val="E6F1F2"/>
          </a:solidFill>
          <a:ln w="12700">
            <a:solidFill>
              <a:srgbClr val="0E6E7A"/>
            </a:solidFill>
            <a:prstDash val="solid"/>
          </a:ln>
        </p:spPr>
      </p:sp>
      <p:sp>
        <p:nvSpPr>
          <p:cNvPr id="27" name="Text 24"/>
          <p:cNvSpPr txBox="1"/>
          <p:nvPr/>
        </p:nvSpPr>
        <p:spPr>
          <a:xfrm>
            <a:off x="8275320" y="1508760"/>
            <a:ext cx="3108960" cy="50292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전이중</a:t>
            </a:r>
            <a:endParaRPr lang="en-US" sz="2200" dirty="0"/>
          </a:p>
        </p:txBody>
      </p:sp>
      <p:sp>
        <p:nvSpPr>
          <p:cNvPr id="28" name="Text 25"/>
          <p:cNvSpPr txBox="1"/>
          <p:nvPr/>
        </p:nvSpPr>
        <p:spPr>
          <a:xfrm>
            <a:off x="8275320" y="2011680"/>
            <a:ext cx="3108960" cy="36576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Full Duplex</a:t>
            </a:r>
            <a:endParaRPr lang="en-US" sz="1400" dirty="0"/>
          </a:p>
        </p:txBody>
      </p:sp>
      <p:sp>
        <p:nvSpPr>
          <p:cNvPr id="29" name="Shape 26"/>
          <p:cNvSpPr/>
          <p:nvPr/>
        </p:nvSpPr>
        <p:spPr>
          <a:xfrm>
            <a:off x="8321040" y="2606040"/>
            <a:ext cx="731520" cy="548640"/>
          </a:xfrm>
          <a:prstGeom prst="roundRect">
            <a:avLst>
              <a:gd name="adj" fmla="val 13333"/>
            </a:avLst>
          </a:prstGeom>
          <a:solidFill>
            <a:srgbClr val="F4F6F7"/>
          </a:solidFill>
          <a:ln w="12700">
            <a:solidFill>
              <a:srgbClr val="1E2A30"/>
            </a:solidFill>
            <a:prstDash val="solid"/>
          </a:ln>
        </p:spPr>
      </p:sp>
      <p:sp>
        <p:nvSpPr>
          <p:cNvPr id="30" name="Text 27"/>
          <p:cNvSpPr txBox="1"/>
          <p:nvPr/>
        </p:nvSpPr>
        <p:spPr>
          <a:xfrm>
            <a:off x="8321040" y="2606040"/>
            <a:ext cx="731520" cy="54864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A</a:t>
            </a:r>
            <a:endParaRPr lang="en-US" sz="1400" dirty="0"/>
          </a:p>
        </p:txBody>
      </p:sp>
      <p:sp>
        <p:nvSpPr>
          <p:cNvPr id="31" name="Shape 28"/>
          <p:cNvSpPr/>
          <p:nvPr/>
        </p:nvSpPr>
        <p:spPr>
          <a:xfrm>
            <a:off x="10607040" y="2606040"/>
            <a:ext cx="731520" cy="548640"/>
          </a:xfrm>
          <a:prstGeom prst="roundRect">
            <a:avLst>
              <a:gd name="adj" fmla="val 13333"/>
            </a:avLst>
          </a:prstGeom>
          <a:solidFill>
            <a:srgbClr val="F4F6F7"/>
          </a:solidFill>
          <a:ln w="12700">
            <a:solidFill>
              <a:srgbClr val="1E2A30"/>
            </a:solidFill>
            <a:prstDash val="solid"/>
          </a:ln>
        </p:spPr>
      </p:sp>
      <p:sp>
        <p:nvSpPr>
          <p:cNvPr id="32" name="Text 29"/>
          <p:cNvSpPr txBox="1"/>
          <p:nvPr/>
        </p:nvSpPr>
        <p:spPr>
          <a:xfrm>
            <a:off x="10607040" y="2606040"/>
            <a:ext cx="731520" cy="54864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B</a:t>
            </a:r>
            <a:endParaRPr lang="en-US" sz="1400" dirty="0"/>
          </a:p>
        </p:txBody>
      </p:sp>
      <p:sp>
        <p:nvSpPr>
          <p:cNvPr id="33" name="Shape 30"/>
          <p:cNvSpPr/>
          <p:nvPr/>
        </p:nvSpPr>
        <p:spPr>
          <a:xfrm>
            <a:off x="9144000" y="2743200"/>
            <a:ext cx="1371600" cy="914"/>
          </a:xfrm>
          <a:prstGeom prst="line">
            <a:avLst/>
          </a:prstGeom>
          <a:noFill/>
          <a:ln w="19050">
            <a:solidFill>
              <a:srgbClr val="1E2A30"/>
            </a:solidFill>
            <a:prstDash val="solid"/>
            <a:tailEnd type="triangle"/>
          </a:ln>
        </p:spPr>
      </p:sp>
      <p:sp>
        <p:nvSpPr>
          <p:cNvPr id="34" name="Shape 31"/>
          <p:cNvSpPr/>
          <p:nvPr/>
        </p:nvSpPr>
        <p:spPr>
          <a:xfrm flipH="1">
            <a:off x="9144000" y="3017520"/>
            <a:ext cx="1371600" cy="914"/>
          </a:xfrm>
          <a:prstGeom prst="line">
            <a:avLst/>
          </a:prstGeom>
          <a:noFill/>
          <a:ln w="19050">
            <a:solidFill>
              <a:srgbClr val="1E2A30"/>
            </a:solidFill>
            <a:prstDash val="solid"/>
            <a:tailEnd type="triangle"/>
          </a:ln>
        </p:spPr>
      </p:sp>
      <p:sp>
        <p:nvSpPr>
          <p:cNvPr id="35" name="Shape 32"/>
          <p:cNvSpPr/>
          <p:nvPr/>
        </p:nvSpPr>
        <p:spPr>
          <a:xfrm>
            <a:off x="8275320" y="3429000"/>
            <a:ext cx="3108960" cy="1965960"/>
          </a:xfrm>
          <a:prstGeom prst="roundRect">
            <a:avLst>
              <a:gd name="adj" fmla="val 3721"/>
            </a:avLst>
          </a:prstGeom>
          <a:solidFill>
            <a:srgbClr val="FFFFFF"/>
          </a:solidFill>
          <a:ln w="12700">
            <a:solidFill>
              <a:srgbClr val="FFFFFF"/>
            </a:solidFill>
            <a:prstDash val="solid"/>
          </a:ln>
        </p:spPr>
      </p:sp>
      <p:sp>
        <p:nvSpPr>
          <p:cNvPr id="36" name="Text 33"/>
          <p:cNvSpPr txBox="1"/>
          <p:nvPr/>
        </p:nvSpPr>
        <p:spPr>
          <a:xfrm>
            <a:off x="8458200" y="3566160"/>
            <a:ext cx="2743200" cy="17190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양방향 동시에 전송</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전화 · 스위치 포트</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선로: 4선식</a:t>
            </a:r>
            <a:endParaRPr lang="en-US" sz="1400" dirty="0"/>
          </a:p>
        </p:txBody>
      </p:sp>
      <p:sp>
        <p:nvSpPr>
          <p:cNvPr id="37" name="Shape 34"/>
          <p:cNvSpPr/>
          <p:nvPr/>
        </p:nvSpPr>
        <p:spPr>
          <a:xfrm>
            <a:off x="548640" y="5760720"/>
            <a:ext cx="11091672" cy="457200"/>
          </a:xfrm>
          <a:prstGeom prst="roundRect">
            <a:avLst>
              <a:gd name="adj" fmla="val 16000"/>
            </a:avLst>
          </a:prstGeom>
          <a:solidFill>
            <a:srgbClr val="E6F1F2"/>
          </a:solidFill>
          <a:ln w="12700">
            <a:solidFill>
              <a:srgbClr val="E6F1F2"/>
            </a:solidFill>
            <a:prstDash val="solid"/>
          </a:ln>
        </p:spPr>
      </p:sp>
      <p:sp>
        <p:nvSpPr>
          <p:cNvPr id="38" name="Text 35"/>
          <p:cNvSpPr txBox="1"/>
          <p:nvPr/>
        </p:nvSpPr>
        <p:spPr>
          <a:xfrm>
            <a:off x="777240" y="576072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단방향 → 방송 / 반이중 → 무전기·허브 / 전이중 → 전화·스위치</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데이터와 정보는 다르다</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1 · 통신 기초</a:t>
            </a:r>
            <a:endParaRPr lang="en-US" sz="1100" dirty="0"/>
          </a:p>
        </p:txBody>
      </p:sp>
      <p:sp>
        <p:nvSpPr>
          <p:cNvPr id="5" name="Shape 2"/>
          <p:cNvSpPr/>
          <p:nvPr/>
        </p:nvSpPr>
        <p:spPr>
          <a:xfrm>
            <a:off x="548640" y="1463040"/>
            <a:ext cx="2514600" cy="1920240"/>
          </a:xfrm>
          <a:prstGeom prst="roundRect">
            <a:avLst>
              <a:gd name="adj" fmla="val 3810"/>
            </a:avLst>
          </a:prstGeom>
          <a:solidFill>
            <a:srgbClr val="FFFFFF"/>
          </a:solidFill>
          <a:ln w="12700">
            <a:solidFill>
              <a:srgbClr val="9AA5AD"/>
            </a:solidFill>
            <a:prstDash val="solid"/>
          </a:ln>
        </p:spPr>
      </p:sp>
      <p:sp>
        <p:nvSpPr>
          <p:cNvPr id="6" name="Text 3"/>
          <p:cNvSpPr txBox="1"/>
          <p:nvPr/>
        </p:nvSpPr>
        <p:spPr>
          <a:xfrm>
            <a:off x="731520" y="1572768"/>
            <a:ext cx="2148840" cy="457200"/>
          </a:xfrm>
          <a:prstGeom prst="rect">
            <a:avLst/>
          </a:prstGeom>
          <a:noFill/>
          <a:ln/>
        </p:spPr>
        <p:txBody>
          <a:bodyPr wrap="square" lIns="0" tIns="0" rIns="0" bIns="0" rtlCol="0" anchor="t"/>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오감 데이터</a:t>
            </a:r>
            <a:endParaRPr lang="en-US" sz="1800" dirty="0"/>
          </a:p>
        </p:txBody>
      </p:sp>
      <p:sp>
        <p:nvSpPr>
          <p:cNvPr id="7" name="Text 4"/>
          <p:cNvSpPr txBox="1"/>
          <p:nvPr/>
        </p:nvSpPr>
        <p:spPr>
          <a:xfrm>
            <a:off x="731520" y="2057400"/>
            <a:ext cx="214884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시각·청각·후각</a:t>
            </a:r>
            <a:endParaRPr lang="en-US" sz="1400" dirty="0"/>
          </a:p>
          <a:p>
            <a:pPr indent="0" marL="0">
              <a:buNone/>
            </a:pPr>
            <a:r>
              <a:rPr lang="en-US" sz="1400" dirty="0">
                <a:solidFill>
                  <a:srgbClr val="1E2A30"/>
                </a:solidFill>
                <a:latin typeface="맑은 고딕" pitchFamily="34" charset="0"/>
                <a:ea typeface="맑은 고딕" pitchFamily="34" charset="-122"/>
                <a:cs typeface="맑은 고딕" pitchFamily="34" charset="-120"/>
              </a:rPr>
              <a:t>미각·촉각</a:t>
            </a:r>
            <a:endParaRPr lang="en-US" sz="1400" dirty="0"/>
          </a:p>
        </p:txBody>
      </p:sp>
      <p:sp>
        <p:nvSpPr>
          <p:cNvPr id="8" name="Text 5"/>
          <p:cNvSpPr txBox="1"/>
          <p:nvPr/>
        </p:nvSpPr>
        <p:spPr>
          <a:xfrm>
            <a:off x="731520" y="2880360"/>
            <a:ext cx="2148840" cy="36576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아날로그</a:t>
            </a:r>
            <a:endParaRPr lang="en-US" sz="1300" dirty="0"/>
          </a:p>
        </p:txBody>
      </p:sp>
      <p:sp>
        <p:nvSpPr>
          <p:cNvPr id="9" name="Shape 6"/>
          <p:cNvSpPr/>
          <p:nvPr/>
        </p:nvSpPr>
        <p:spPr>
          <a:xfrm>
            <a:off x="3108960" y="2423160"/>
            <a:ext cx="274320" cy="914"/>
          </a:xfrm>
          <a:prstGeom prst="line">
            <a:avLst/>
          </a:prstGeom>
          <a:noFill/>
          <a:ln w="19050">
            <a:solidFill>
              <a:srgbClr val="1E2A30"/>
            </a:solidFill>
            <a:prstDash val="solid"/>
            <a:tailEnd type="triangle"/>
          </a:ln>
        </p:spPr>
      </p:sp>
      <p:sp>
        <p:nvSpPr>
          <p:cNvPr id="10" name="Shape 7"/>
          <p:cNvSpPr/>
          <p:nvPr/>
        </p:nvSpPr>
        <p:spPr>
          <a:xfrm>
            <a:off x="3429000" y="1463040"/>
            <a:ext cx="2514600" cy="1920240"/>
          </a:xfrm>
          <a:prstGeom prst="roundRect">
            <a:avLst>
              <a:gd name="adj" fmla="val 3810"/>
            </a:avLst>
          </a:prstGeom>
          <a:solidFill>
            <a:srgbClr val="FFFFFF"/>
          </a:solidFill>
          <a:ln w="12700">
            <a:solidFill>
              <a:srgbClr val="9AA5AD"/>
            </a:solidFill>
            <a:prstDash val="solid"/>
          </a:ln>
        </p:spPr>
      </p:sp>
      <p:sp>
        <p:nvSpPr>
          <p:cNvPr id="11" name="Text 8"/>
          <p:cNvSpPr txBox="1"/>
          <p:nvPr/>
        </p:nvSpPr>
        <p:spPr>
          <a:xfrm>
            <a:off x="3611880" y="1572768"/>
            <a:ext cx="2148840" cy="457200"/>
          </a:xfrm>
          <a:prstGeom prst="rect">
            <a:avLst/>
          </a:prstGeom>
          <a:noFill/>
          <a:ln/>
        </p:spPr>
        <p:txBody>
          <a:bodyPr wrap="square" lIns="0" tIns="0" rIns="0" bIns="0" rtlCol="0" anchor="t"/>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디지털 변환</a:t>
            </a:r>
            <a:endParaRPr lang="en-US" sz="1800" dirty="0"/>
          </a:p>
        </p:txBody>
      </p:sp>
      <p:sp>
        <p:nvSpPr>
          <p:cNvPr id="12" name="Text 9"/>
          <p:cNvSpPr txBox="1"/>
          <p:nvPr/>
        </p:nvSpPr>
        <p:spPr>
          <a:xfrm>
            <a:off x="3611880" y="2057400"/>
            <a:ext cx="214884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0과 1로 표현</a:t>
            </a:r>
            <a:endParaRPr lang="en-US" sz="1400" dirty="0"/>
          </a:p>
        </p:txBody>
      </p:sp>
      <p:sp>
        <p:nvSpPr>
          <p:cNvPr id="13" name="Text 10"/>
          <p:cNvSpPr txBox="1"/>
          <p:nvPr/>
        </p:nvSpPr>
        <p:spPr>
          <a:xfrm>
            <a:off x="3611880" y="2880360"/>
            <a:ext cx="2148840" cy="36576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2진법</a:t>
            </a:r>
            <a:endParaRPr lang="en-US" sz="1300" dirty="0"/>
          </a:p>
        </p:txBody>
      </p:sp>
      <p:sp>
        <p:nvSpPr>
          <p:cNvPr id="14" name="Shape 11"/>
          <p:cNvSpPr/>
          <p:nvPr/>
        </p:nvSpPr>
        <p:spPr>
          <a:xfrm>
            <a:off x="5989320" y="2423160"/>
            <a:ext cx="274320" cy="914"/>
          </a:xfrm>
          <a:prstGeom prst="line">
            <a:avLst/>
          </a:prstGeom>
          <a:noFill/>
          <a:ln w="19050">
            <a:solidFill>
              <a:srgbClr val="1E2A30"/>
            </a:solidFill>
            <a:prstDash val="solid"/>
            <a:tailEnd type="triangle"/>
          </a:ln>
        </p:spPr>
      </p:sp>
      <p:sp>
        <p:nvSpPr>
          <p:cNvPr id="15" name="Shape 12"/>
          <p:cNvSpPr/>
          <p:nvPr/>
        </p:nvSpPr>
        <p:spPr>
          <a:xfrm>
            <a:off x="6309360" y="1463040"/>
            <a:ext cx="2514600" cy="1920240"/>
          </a:xfrm>
          <a:prstGeom prst="roundRect">
            <a:avLst>
              <a:gd name="adj" fmla="val 3810"/>
            </a:avLst>
          </a:prstGeom>
          <a:solidFill>
            <a:srgbClr val="FFFFFF"/>
          </a:solidFill>
          <a:ln w="12700">
            <a:solidFill>
              <a:srgbClr val="9AA5AD"/>
            </a:solidFill>
            <a:prstDash val="solid"/>
          </a:ln>
        </p:spPr>
      </p:sp>
      <p:sp>
        <p:nvSpPr>
          <p:cNvPr id="16" name="Text 13"/>
          <p:cNvSpPr txBox="1"/>
          <p:nvPr/>
        </p:nvSpPr>
        <p:spPr>
          <a:xfrm>
            <a:off x="6492240" y="1572768"/>
            <a:ext cx="2148840" cy="457200"/>
          </a:xfrm>
          <a:prstGeom prst="rect">
            <a:avLst/>
          </a:prstGeom>
          <a:noFill/>
          <a:ln/>
        </p:spPr>
        <p:txBody>
          <a:bodyPr wrap="square" lIns="0" tIns="0" rIns="0" bIns="0" rtlCol="0" anchor="t"/>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컴퓨터 처리</a:t>
            </a:r>
            <a:endParaRPr lang="en-US" sz="1800" dirty="0"/>
          </a:p>
        </p:txBody>
      </p:sp>
      <p:sp>
        <p:nvSpPr>
          <p:cNvPr id="17" name="Text 14"/>
          <p:cNvSpPr txBox="1"/>
          <p:nvPr/>
        </p:nvSpPr>
        <p:spPr>
          <a:xfrm>
            <a:off x="6492240" y="2057400"/>
            <a:ext cx="214884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가공·분석</a:t>
            </a:r>
            <a:endParaRPr lang="en-US" sz="1400" dirty="0"/>
          </a:p>
        </p:txBody>
      </p:sp>
      <p:sp>
        <p:nvSpPr>
          <p:cNvPr id="18" name="Text 15"/>
          <p:cNvSpPr txBox="1"/>
          <p:nvPr/>
        </p:nvSpPr>
        <p:spPr>
          <a:xfrm>
            <a:off x="6492240" y="2880360"/>
            <a:ext cx="2148840" cy="36576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이미지·영상 등</a:t>
            </a:r>
            <a:endParaRPr lang="en-US" sz="1300" dirty="0"/>
          </a:p>
        </p:txBody>
      </p:sp>
      <p:sp>
        <p:nvSpPr>
          <p:cNvPr id="19" name="Shape 16"/>
          <p:cNvSpPr/>
          <p:nvPr/>
        </p:nvSpPr>
        <p:spPr>
          <a:xfrm>
            <a:off x="8869680" y="2423160"/>
            <a:ext cx="274320" cy="914"/>
          </a:xfrm>
          <a:prstGeom prst="line">
            <a:avLst/>
          </a:prstGeom>
          <a:noFill/>
          <a:ln w="19050">
            <a:solidFill>
              <a:srgbClr val="1E2A30"/>
            </a:solidFill>
            <a:prstDash val="solid"/>
            <a:tailEnd type="triangle"/>
          </a:ln>
        </p:spPr>
      </p:sp>
      <p:sp>
        <p:nvSpPr>
          <p:cNvPr id="20" name="Shape 17"/>
          <p:cNvSpPr/>
          <p:nvPr/>
        </p:nvSpPr>
        <p:spPr>
          <a:xfrm>
            <a:off x="9189720" y="1463040"/>
            <a:ext cx="2514600" cy="1920240"/>
          </a:xfrm>
          <a:prstGeom prst="roundRect">
            <a:avLst>
              <a:gd name="adj" fmla="val 3810"/>
            </a:avLst>
          </a:prstGeom>
          <a:solidFill>
            <a:srgbClr val="E6F1F2"/>
          </a:solidFill>
          <a:ln w="12700">
            <a:solidFill>
              <a:srgbClr val="0E6E7A"/>
            </a:solidFill>
            <a:prstDash val="solid"/>
          </a:ln>
        </p:spPr>
      </p:sp>
      <p:sp>
        <p:nvSpPr>
          <p:cNvPr id="21" name="Text 18"/>
          <p:cNvSpPr txBox="1"/>
          <p:nvPr/>
        </p:nvSpPr>
        <p:spPr>
          <a:xfrm>
            <a:off x="9372600" y="1572768"/>
            <a:ext cx="2148840" cy="457200"/>
          </a:xfrm>
          <a:prstGeom prst="rect">
            <a:avLst/>
          </a:prstGeom>
          <a:noFill/>
          <a:ln/>
        </p:spPr>
        <p:txBody>
          <a:bodyPr wrap="square" lIns="0" tIns="0" rIns="0" bIns="0" rtlCol="0" anchor="t"/>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정보</a:t>
            </a:r>
            <a:endParaRPr lang="en-US" sz="1800" dirty="0"/>
          </a:p>
        </p:txBody>
      </p:sp>
      <p:sp>
        <p:nvSpPr>
          <p:cNvPr id="22" name="Text 19"/>
          <p:cNvSpPr txBox="1"/>
          <p:nvPr/>
        </p:nvSpPr>
        <p:spPr>
          <a:xfrm>
            <a:off x="9372600" y="2057400"/>
            <a:ext cx="214884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의사결정에 활용</a:t>
            </a:r>
            <a:endParaRPr lang="en-US" sz="1400" dirty="0"/>
          </a:p>
        </p:txBody>
      </p:sp>
      <p:sp>
        <p:nvSpPr>
          <p:cNvPr id="23" name="Text 20"/>
          <p:cNvSpPr txBox="1"/>
          <p:nvPr/>
        </p:nvSpPr>
        <p:spPr>
          <a:xfrm>
            <a:off x="9372600" y="2880360"/>
            <a:ext cx="2148840" cy="36576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가공된 데이터</a:t>
            </a:r>
            <a:endParaRPr lang="en-US" sz="1300" dirty="0"/>
          </a:p>
        </p:txBody>
      </p:sp>
      <p:sp>
        <p:nvSpPr>
          <p:cNvPr id="24" name="Text 21"/>
          <p:cNvSpPr txBox="1"/>
          <p:nvPr/>
        </p:nvSpPr>
        <p:spPr>
          <a:xfrm>
            <a:off x="548640" y="3749040"/>
            <a:ext cx="3657600" cy="365760"/>
          </a:xfrm>
          <a:prstGeom prst="rect">
            <a:avLst/>
          </a:prstGeom>
          <a:noFill/>
          <a:ln/>
        </p:spPr>
        <p:txBody>
          <a:bodyPr wrap="square" lIns="0" tIns="0" rIns="0" bIns="0" rtlCol="0" anchor="t"/>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통신의 발전</a:t>
            </a:r>
            <a:endParaRPr lang="en-US" sz="1600" dirty="0"/>
          </a:p>
        </p:txBody>
      </p:sp>
      <p:sp>
        <p:nvSpPr>
          <p:cNvPr id="25" name="Shape 22"/>
          <p:cNvSpPr/>
          <p:nvPr/>
        </p:nvSpPr>
        <p:spPr>
          <a:xfrm>
            <a:off x="548640" y="4206240"/>
            <a:ext cx="2560320" cy="640080"/>
          </a:xfrm>
          <a:prstGeom prst="roundRect">
            <a:avLst>
              <a:gd name="adj" fmla="val 11429"/>
            </a:avLst>
          </a:prstGeom>
          <a:solidFill>
            <a:srgbClr val="F4F6F7"/>
          </a:solidFill>
          <a:ln w="12700">
            <a:solidFill>
              <a:srgbClr val="1E2A30"/>
            </a:solidFill>
            <a:prstDash val="solid"/>
          </a:ln>
        </p:spPr>
      </p:sp>
      <p:sp>
        <p:nvSpPr>
          <p:cNvPr id="26" name="Text 23"/>
          <p:cNvSpPr txBox="1"/>
          <p:nvPr/>
        </p:nvSpPr>
        <p:spPr>
          <a:xfrm>
            <a:off x="548640" y="4206240"/>
            <a:ext cx="2560320" cy="64008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전기통신</a:t>
            </a:r>
            <a:endParaRPr lang="en-US" sz="1600" dirty="0"/>
          </a:p>
        </p:txBody>
      </p:sp>
      <p:sp>
        <p:nvSpPr>
          <p:cNvPr id="27" name="Shape 24"/>
          <p:cNvSpPr/>
          <p:nvPr/>
        </p:nvSpPr>
        <p:spPr>
          <a:xfrm>
            <a:off x="3154680" y="4526280"/>
            <a:ext cx="457200" cy="914"/>
          </a:xfrm>
          <a:prstGeom prst="line">
            <a:avLst/>
          </a:prstGeom>
          <a:noFill/>
          <a:ln w="19050">
            <a:solidFill>
              <a:srgbClr val="1E2A30"/>
            </a:solidFill>
            <a:prstDash val="solid"/>
            <a:tailEnd type="triangle"/>
          </a:ln>
        </p:spPr>
      </p:sp>
      <p:sp>
        <p:nvSpPr>
          <p:cNvPr id="28" name="Shape 25"/>
          <p:cNvSpPr/>
          <p:nvPr/>
        </p:nvSpPr>
        <p:spPr>
          <a:xfrm>
            <a:off x="3657600" y="4206240"/>
            <a:ext cx="2560320" cy="640080"/>
          </a:xfrm>
          <a:prstGeom prst="roundRect">
            <a:avLst>
              <a:gd name="adj" fmla="val 11429"/>
            </a:avLst>
          </a:prstGeom>
          <a:solidFill>
            <a:srgbClr val="F4F6F7"/>
          </a:solidFill>
          <a:ln w="12700">
            <a:solidFill>
              <a:srgbClr val="1E2A30"/>
            </a:solidFill>
            <a:prstDash val="solid"/>
          </a:ln>
        </p:spPr>
      </p:sp>
      <p:sp>
        <p:nvSpPr>
          <p:cNvPr id="29" name="Text 26"/>
          <p:cNvSpPr txBox="1"/>
          <p:nvPr/>
        </p:nvSpPr>
        <p:spPr>
          <a:xfrm>
            <a:off x="3657600" y="4206240"/>
            <a:ext cx="2560320" cy="64008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데이터 통신</a:t>
            </a:r>
            <a:endParaRPr lang="en-US" sz="1600" dirty="0"/>
          </a:p>
        </p:txBody>
      </p:sp>
      <p:sp>
        <p:nvSpPr>
          <p:cNvPr id="30" name="Shape 27"/>
          <p:cNvSpPr/>
          <p:nvPr/>
        </p:nvSpPr>
        <p:spPr>
          <a:xfrm>
            <a:off x="6263640" y="4526280"/>
            <a:ext cx="457200" cy="914"/>
          </a:xfrm>
          <a:prstGeom prst="line">
            <a:avLst/>
          </a:prstGeom>
          <a:noFill/>
          <a:ln w="19050">
            <a:solidFill>
              <a:srgbClr val="1E2A30"/>
            </a:solidFill>
            <a:prstDash val="solid"/>
            <a:tailEnd type="triangle"/>
          </a:ln>
        </p:spPr>
      </p:sp>
      <p:sp>
        <p:nvSpPr>
          <p:cNvPr id="31" name="Shape 28"/>
          <p:cNvSpPr/>
          <p:nvPr/>
        </p:nvSpPr>
        <p:spPr>
          <a:xfrm>
            <a:off x="6766560" y="4206240"/>
            <a:ext cx="2560320" cy="640080"/>
          </a:xfrm>
          <a:prstGeom prst="roundRect">
            <a:avLst>
              <a:gd name="adj" fmla="val 11429"/>
            </a:avLst>
          </a:prstGeom>
          <a:solidFill>
            <a:srgbClr val="F4F6F7"/>
          </a:solidFill>
          <a:ln w="12700">
            <a:solidFill>
              <a:srgbClr val="1E2A30"/>
            </a:solidFill>
            <a:prstDash val="solid"/>
          </a:ln>
        </p:spPr>
      </p:sp>
      <p:sp>
        <p:nvSpPr>
          <p:cNvPr id="32" name="Text 29"/>
          <p:cNvSpPr txBox="1"/>
          <p:nvPr/>
        </p:nvSpPr>
        <p:spPr>
          <a:xfrm>
            <a:off x="6766560" y="4206240"/>
            <a:ext cx="2560320" cy="64008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정보 통신</a:t>
            </a:r>
            <a:endParaRPr lang="en-US" sz="1600" dirty="0"/>
          </a:p>
        </p:txBody>
      </p:sp>
      <p:sp>
        <p:nvSpPr>
          <p:cNvPr id="33" name="Shape 30"/>
          <p:cNvSpPr/>
          <p:nvPr/>
        </p:nvSpPr>
        <p:spPr>
          <a:xfrm>
            <a:off x="9509760" y="3749040"/>
            <a:ext cx="2130552" cy="1783080"/>
          </a:xfrm>
          <a:prstGeom prst="roundRect">
            <a:avLst>
              <a:gd name="adj" fmla="val 4103"/>
            </a:avLst>
          </a:prstGeom>
          <a:solidFill>
            <a:srgbClr val="FFFFFF"/>
          </a:solidFill>
          <a:ln w="12700">
            <a:solidFill>
              <a:srgbClr val="9AA5AD"/>
            </a:solidFill>
            <a:prstDash val="solid"/>
          </a:ln>
        </p:spPr>
      </p:sp>
      <p:sp>
        <p:nvSpPr>
          <p:cNvPr id="34" name="Text 31"/>
          <p:cNvSpPr txBox="1"/>
          <p:nvPr/>
        </p:nvSpPr>
        <p:spPr>
          <a:xfrm>
            <a:off x="9692640" y="3886200"/>
            <a:ext cx="176479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비교</a:t>
            </a:r>
            <a:endParaRPr lang="en-US" sz="1600" dirty="0"/>
          </a:p>
        </p:txBody>
      </p:sp>
      <p:sp>
        <p:nvSpPr>
          <p:cNvPr id="35" name="Text 32"/>
          <p:cNvSpPr txBox="1"/>
          <p:nvPr/>
        </p:nvSpPr>
        <p:spPr>
          <a:xfrm>
            <a:off x="9692640" y="4343400"/>
            <a:ext cx="1764792" cy="107899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양: 데이터 &gt; 정보</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가치: 정보 &gt; 데이터</a:t>
            </a:r>
            <a:endParaRPr lang="en-US" sz="1400" dirty="0"/>
          </a:p>
        </p:txBody>
      </p:sp>
      <p:sp>
        <p:nvSpPr>
          <p:cNvPr id="36" name="Shape 33"/>
          <p:cNvSpPr/>
          <p:nvPr/>
        </p:nvSpPr>
        <p:spPr>
          <a:xfrm>
            <a:off x="548640" y="5760720"/>
            <a:ext cx="11091672" cy="457200"/>
          </a:xfrm>
          <a:prstGeom prst="roundRect">
            <a:avLst>
              <a:gd name="adj" fmla="val 16000"/>
            </a:avLst>
          </a:prstGeom>
          <a:solidFill>
            <a:srgbClr val="E6F1F2"/>
          </a:solidFill>
          <a:ln w="12700">
            <a:solidFill>
              <a:srgbClr val="E6F1F2"/>
            </a:solidFill>
            <a:prstDash val="solid"/>
          </a:ln>
        </p:spPr>
      </p:sp>
      <p:sp>
        <p:nvSpPr>
          <p:cNvPr id="37" name="Text 34"/>
          <p:cNvSpPr txBox="1"/>
          <p:nvPr/>
        </p:nvSpPr>
        <p:spPr>
          <a:xfrm>
            <a:off x="777240" y="576072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데이터 = 가공 전 재료 / 정보 = 의사결정에 쓰도록 가공한 결과</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진법의 핵심은 '자리값'</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1 · 통신 기초</a:t>
            </a:r>
            <a:endParaRPr lang="en-US" sz="1100" dirty="0"/>
          </a:p>
        </p:txBody>
      </p:sp>
      <p:sp>
        <p:nvSpPr>
          <p:cNvPr id="5" name="Text 2"/>
          <p:cNvSpPr txBox="1"/>
          <p:nvPr/>
        </p:nvSpPr>
        <p:spPr>
          <a:xfrm>
            <a:off x="548640" y="1325880"/>
            <a:ext cx="73152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10(10진수) 을 네 가지 진법으로</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583680" cy="914400"/>
        </p:xfrm>
        <a:graphic>
          <a:graphicData uri="http://schemas.openxmlformats.org/drawingml/2006/table">
            <a:tbl>
              <a:tblPr/>
              <a:tblGrid>
                <a:gridCol w="1645920"/>
                <a:gridCol w="1645920"/>
                <a:gridCol w="1645920"/>
                <a:gridCol w="1645920"/>
              </a:tblGrid>
              <a:tr h="0">
                <a:tc>
                  <a:txBody>
                    <a:bodyP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10진수</a:t>
                      </a:r>
                      <a:endParaRPr lang="en-US" sz="18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2진수</a:t>
                      </a:r>
                      <a:endParaRPr lang="en-US" sz="18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8진수</a:t>
                      </a:r>
                      <a:endParaRPr lang="en-US" sz="18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16진수</a:t>
                      </a:r>
                      <a:endParaRPr lang="en-US" sz="18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0">
                <a:tc>
                  <a:txBody>
                    <a:bodyPr/>
                    <a:lstStyle/>
                    <a:p>
                      <a:pPr indent="0" marL="0">
                        <a:buNone/>
                      </a:pPr>
                      <a:r>
                        <a:rPr lang="en-US" sz="1800" dirty="0">
                          <a:solidFill>
                            <a:srgbClr val="1E2A30"/>
                          </a:solidFill>
                          <a:latin typeface="맑은 고딕" pitchFamily="34" charset="0"/>
                          <a:ea typeface="맑은 고딕" pitchFamily="34" charset="-122"/>
                          <a:cs typeface="맑은 고딕" pitchFamily="34" charset="-120"/>
                        </a:rPr>
                        <a:t>10</a:t>
                      </a:r>
                      <a:endParaRPr lang="en-US" sz="18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800" dirty="0">
                          <a:solidFill>
                            <a:srgbClr val="1E2A30"/>
                          </a:solidFill>
                          <a:latin typeface="맑은 고딕" pitchFamily="34" charset="0"/>
                          <a:ea typeface="맑은 고딕" pitchFamily="34" charset="-122"/>
                          <a:cs typeface="맑은 고딕" pitchFamily="34" charset="-120"/>
                        </a:rPr>
                        <a:t>1010</a:t>
                      </a:r>
                      <a:endParaRPr lang="en-US" sz="18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800" dirty="0">
                          <a:solidFill>
                            <a:srgbClr val="1E2A30"/>
                          </a:solidFill>
                          <a:latin typeface="맑은 고딕" pitchFamily="34" charset="0"/>
                          <a:ea typeface="맑은 고딕" pitchFamily="34" charset="-122"/>
                          <a:cs typeface="맑은 고딕" pitchFamily="34" charset="-120"/>
                        </a:rPr>
                        <a:t>12</a:t>
                      </a:r>
                      <a:endParaRPr lang="en-US" sz="18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800" dirty="0">
                          <a:solidFill>
                            <a:srgbClr val="1E2A30"/>
                          </a:solidFill>
                          <a:latin typeface="맑은 고딕" pitchFamily="34" charset="0"/>
                          <a:ea typeface="맑은 고딕" pitchFamily="34" charset="-122"/>
                          <a:cs typeface="맑은 고딕" pitchFamily="34" charset="-120"/>
                        </a:rPr>
                        <a:t>A (0A)</a:t>
                      </a:r>
                      <a:endParaRPr lang="en-US" sz="18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2971800"/>
            <a:ext cx="73152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2진수 1010 의 자리값 계산</a:t>
            </a:r>
            <a:endParaRPr lang="en-US" sz="1700" dirty="0"/>
          </a:p>
        </p:txBody>
      </p:sp>
      <p:sp>
        <p:nvSpPr>
          <p:cNvPr id="8" name="Shape 4"/>
          <p:cNvSpPr/>
          <p:nvPr/>
        </p:nvSpPr>
        <p:spPr>
          <a:xfrm>
            <a:off x="548640" y="3474720"/>
            <a:ext cx="1463040" cy="1554480"/>
          </a:xfrm>
          <a:prstGeom prst="roundRect">
            <a:avLst>
              <a:gd name="adj" fmla="val 5000"/>
            </a:avLst>
          </a:prstGeom>
          <a:solidFill>
            <a:srgbClr val="E6F1F2"/>
          </a:solidFill>
          <a:ln w="12700">
            <a:solidFill>
              <a:srgbClr val="0E6E7A"/>
            </a:solidFill>
            <a:prstDash val="solid"/>
          </a:ln>
        </p:spPr>
      </p:sp>
      <p:sp>
        <p:nvSpPr>
          <p:cNvPr id="9" name="Text 5"/>
          <p:cNvSpPr txBox="1"/>
          <p:nvPr/>
        </p:nvSpPr>
        <p:spPr>
          <a:xfrm>
            <a:off x="548640" y="3566160"/>
            <a:ext cx="1463040" cy="41148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2³ = 8</a:t>
            </a:r>
            <a:endParaRPr lang="en-US" sz="1400" dirty="0"/>
          </a:p>
        </p:txBody>
      </p:sp>
      <p:sp>
        <p:nvSpPr>
          <p:cNvPr id="10" name="Text 6"/>
          <p:cNvSpPr txBox="1"/>
          <p:nvPr/>
        </p:nvSpPr>
        <p:spPr>
          <a:xfrm>
            <a:off x="548640" y="3977640"/>
            <a:ext cx="1463040" cy="822960"/>
          </a:xfrm>
          <a:prstGeom prst="rect">
            <a:avLst/>
          </a:prstGeom>
          <a:noFill/>
          <a:ln/>
        </p:spPr>
        <p:txBody>
          <a:bodyPr wrap="square" lIns="0" tIns="0" rIns="0" bIns="0" rtlCol="0" anchor="ctr"/>
          <a:lstStyle/>
          <a:p>
            <a:pPr algn="ctr" indent="0" marL="0">
              <a:buNone/>
            </a:pPr>
            <a:r>
              <a:rPr lang="en-US" sz="3600" b="1" dirty="0">
                <a:solidFill>
                  <a:srgbClr val="0E6E7A"/>
                </a:solidFill>
                <a:latin typeface="맑은 고딕" pitchFamily="34" charset="0"/>
                <a:ea typeface="맑은 고딕" pitchFamily="34" charset="-122"/>
                <a:cs typeface="맑은 고딕" pitchFamily="34" charset="-120"/>
              </a:rPr>
              <a:t>1</a:t>
            </a:r>
            <a:endParaRPr lang="en-US" sz="3600" dirty="0"/>
          </a:p>
        </p:txBody>
      </p:sp>
      <p:sp>
        <p:nvSpPr>
          <p:cNvPr id="11" name="Shape 7"/>
          <p:cNvSpPr/>
          <p:nvPr/>
        </p:nvSpPr>
        <p:spPr>
          <a:xfrm>
            <a:off x="2194560" y="3474720"/>
            <a:ext cx="1463040" cy="1554480"/>
          </a:xfrm>
          <a:prstGeom prst="roundRect">
            <a:avLst>
              <a:gd name="adj" fmla="val 5000"/>
            </a:avLst>
          </a:prstGeom>
          <a:solidFill>
            <a:srgbClr val="FFFFFF"/>
          </a:solidFill>
          <a:ln w="12700">
            <a:solidFill>
              <a:srgbClr val="9AA5AD"/>
            </a:solidFill>
            <a:prstDash val="solid"/>
          </a:ln>
        </p:spPr>
      </p:sp>
      <p:sp>
        <p:nvSpPr>
          <p:cNvPr id="12" name="Text 8"/>
          <p:cNvSpPr txBox="1"/>
          <p:nvPr/>
        </p:nvSpPr>
        <p:spPr>
          <a:xfrm>
            <a:off x="2194560" y="3566160"/>
            <a:ext cx="1463040" cy="41148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2² = 4</a:t>
            </a:r>
            <a:endParaRPr lang="en-US" sz="1400" dirty="0"/>
          </a:p>
        </p:txBody>
      </p:sp>
      <p:sp>
        <p:nvSpPr>
          <p:cNvPr id="13" name="Text 9"/>
          <p:cNvSpPr txBox="1"/>
          <p:nvPr/>
        </p:nvSpPr>
        <p:spPr>
          <a:xfrm>
            <a:off x="2194560" y="3977640"/>
            <a:ext cx="1463040" cy="822960"/>
          </a:xfrm>
          <a:prstGeom prst="rect">
            <a:avLst/>
          </a:prstGeom>
          <a:noFill/>
          <a:ln/>
        </p:spPr>
        <p:txBody>
          <a:bodyPr wrap="square" lIns="0" tIns="0" rIns="0" bIns="0" rtlCol="0" anchor="ctr"/>
          <a:lstStyle/>
          <a:p>
            <a:pPr algn="ctr" indent="0" marL="0">
              <a:buNone/>
            </a:pPr>
            <a:r>
              <a:rPr lang="en-US" sz="3600" b="1" dirty="0">
                <a:solidFill>
                  <a:srgbClr val="9AA5AD"/>
                </a:solidFill>
                <a:latin typeface="맑은 고딕" pitchFamily="34" charset="0"/>
                <a:ea typeface="맑은 고딕" pitchFamily="34" charset="-122"/>
                <a:cs typeface="맑은 고딕" pitchFamily="34" charset="-120"/>
              </a:rPr>
              <a:t>0</a:t>
            </a:r>
            <a:endParaRPr lang="en-US" sz="3600" dirty="0"/>
          </a:p>
        </p:txBody>
      </p:sp>
      <p:sp>
        <p:nvSpPr>
          <p:cNvPr id="14" name="Shape 10"/>
          <p:cNvSpPr/>
          <p:nvPr/>
        </p:nvSpPr>
        <p:spPr>
          <a:xfrm>
            <a:off x="3840480" y="3474720"/>
            <a:ext cx="1463040" cy="1554480"/>
          </a:xfrm>
          <a:prstGeom prst="roundRect">
            <a:avLst>
              <a:gd name="adj" fmla="val 5000"/>
            </a:avLst>
          </a:prstGeom>
          <a:solidFill>
            <a:srgbClr val="E6F1F2"/>
          </a:solidFill>
          <a:ln w="12700">
            <a:solidFill>
              <a:srgbClr val="0E6E7A"/>
            </a:solidFill>
            <a:prstDash val="solid"/>
          </a:ln>
        </p:spPr>
      </p:sp>
      <p:sp>
        <p:nvSpPr>
          <p:cNvPr id="15" name="Text 11"/>
          <p:cNvSpPr txBox="1"/>
          <p:nvPr/>
        </p:nvSpPr>
        <p:spPr>
          <a:xfrm>
            <a:off x="3840480" y="3566160"/>
            <a:ext cx="1463040" cy="41148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2¹ = 2</a:t>
            </a:r>
            <a:endParaRPr lang="en-US" sz="1400" dirty="0"/>
          </a:p>
        </p:txBody>
      </p:sp>
      <p:sp>
        <p:nvSpPr>
          <p:cNvPr id="16" name="Text 12"/>
          <p:cNvSpPr txBox="1"/>
          <p:nvPr/>
        </p:nvSpPr>
        <p:spPr>
          <a:xfrm>
            <a:off x="3840480" y="3977640"/>
            <a:ext cx="1463040" cy="822960"/>
          </a:xfrm>
          <a:prstGeom prst="rect">
            <a:avLst/>
          </a:prstGeom>
          <a:noFill/>
          <a:ln/>
        </p:spPr>
        <p:txBody>
          <a:bodyPr wrap="square" lIns="0" tIns="0" rIns="0" bIns="0" rtlCol="0" anchor="ctr"/>
          <a:lstStyle/>
          <a:p>
            <a:pPr algn="ctr" indent="0" marL="0">
              <a:buNone/>
            </a:pPr>
            <a:r>
              <a:rPr lang="en-US" sz="3600" b="1" dirty="0">
                <a:solidFill>
                  <a:srgbClr val="0E6E7A"/>
                </a:solidFill>
                <a:latin typeface="맑은 고딕" pitchFamily="34" charset="0"/>
                <a:ea typeface="맑은 고딕" pitchFamily="34" charset="-122"/>
                <a:cs typeface="맑은 고딕" pitchFamily="34" charset="-120"/>
              </a:rPr>
              <a:t>1</a:t>
            </a:r>
            <a:endParaRPr lang="en-US" sz="3600" dirty="0"/>
          </a:p>
        </p:txBody>
      </p:sp>
      <p:sp>
        <p:nvSpPr>
          <p:cNvPr id="17" name="Shape 13"/>
          <p:cNvSpPr/>
          <p:nvPr/>
        </p:nvSpPr>
        <p:spPr>
          <a:xfrm>
            <a:off x="5486400" y="3474720"/>
            <a:ext cx="1463040" cy="1554480"/>
          </a:xfrm>
          <a:prstGeom prst="roundRect">
            <a:avLst>
              <a:gd name="adj" fmla="val 5000"/>
            </a:avLst>
          </a:prstGeom>
          <a:solidFill>
            <a:srgbClr val="FFFFFF"/>
          </a:solidFill>
          <a:ln w="12700">
            <a:solidFill>
              <a:srgbClr val="9AA5AD"/>
            </a:solidFill>
            <a:prstDash val="solid"/>
          </a:ln>
        </p:spPr>
      </p:sp>
      <p:sp>
        <p:nvSpPr>
          <p:cNvPr id="18" name="Text 14"/>
          <p:cNvSpPr txBox="1"/>
          <p:nvPr/>
        </p:nvSpPr>
        <p:spPr>
          <a:xfrm>
            <a:off x="5486400" y="3566160"/>
            <a:ext cx="1463040" cy="41148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2⁰ = 1</a:t>
            </a:r>
            <a:endParaRPr lang="en-US" sz="1400" dirty="0"/>
          </a:p>
        </p:txBody>
      </p:sp>
      <p:sp>
        <p:nvSpPr>
          <p:cNvPr id="19" name="Text 15"/>
          <p:cNvSpPr txBox="1"/>
          <p:nvPr/>
        </p:nvSpPr>
        <p:spPr>
          <a:xfrm>
            <a:off x="5486400" y="3977640"/>
            <a:ext cx="1463040" cy="822960"/>
          </a:xfrm>
          <a:prstGeom prst="rect">
            <a:avLst/>
          </a:prstGeom>
          <a:noFill/>
          <a:ln/>
        </p:spPr>
        <p:txBody>
          <a:bodyPr wrap="square" lIns="0" tIns="0" rIns="0" bIns="0" rtlCol="0" anchor="ctr"/>
          <a:lstStyle/>
          <a:p>
            <a:pPr algn="ctr" indent="0" marL="0">
              <a:buNone/>
            </a:pPr>
            <a:r>
              <a:rPr lang="en-US" sz="3600" b="1" dirty="0">
                <a:solidFill>
                  <a:srgbClr val="9AA5AD"/>
                </a:solidFill>
                <a:latin typeface="맑은 고딕" pitchFamily="34" charset="0"/>
                <a:ea typeface="맑은 고딕" pitchFamily="34" charset="-122"/>
                <a:cs typeface="맑은 고딕" pitchFamily="34" charset="-120"/>
              </a:rPr>
              <a:t>0</a:t>
            </a:r>
            <a:endParaRPr lang="en-US" sz="3600" dirty="0"/>
          </a:p>
        </p:txBody>
      </p:sp>
      <p:sp>
        <p:nvSpPr>
          <p:cNvPr id="20" name="Text 16"/>
          <p:cNvSpPr txBox="1"/>
          <p:nvPr/>
        </p:nvSpPr>
        <p:spPr>
          <a:xfrm>
            <a:off x="548640" y="5166360"/>
            <a:ext cx="6583680" cy="411480"/>
          </a:xfrm>
          <a:prstGeom prst="rect">
            <a:avLst/>
          </a:prstGeom>
          <a:noFill/>
          <a:ln/>
        </p:spPr>
        <p:txBody>
          <a:bodyPr wrap="square" lIns="0" tIns="0" rIns="0" bIns="0" rtlCol="0" anchor="t"/>
          <a:lstStyle/>
          <a:p>
            <a:pPr indent="0" marL="0">
              <a:buNone/>
            </a:pPr>
            <a:r>
              <a:rPr lang="en-US" sz="1800" b="1" dirty="0">
                <a:solidFill>
                  <a:srgbClr val="1E2A30"/>
                </a:solidFill>
                <a:latin typeface="Consolas" pitchFamily="34" charset="0"/>
                <a:ea typeface="Consolas" pitchFamily="34" charset="-122"/>
                <a:cs typeface="Consolas" pitchFamily="34" charset="-120"/>
              </a:rPr>
              <a:t>1×8 + 0×4 + 1×2 + 0×1 = 10</a:t>
            </a:r>
            <a:endParaRPr lang="en-US" sz="1800" dirty="0"/>
          </a:p>
        </p:txBody>
      </p:sp>
      <p:sp>
        <p:nvSpPr>
          <p:cNvPr id="21" name="Shape 17"/>
          <p:cNvSpPr/>
          <p:nvPr/>
        </p:nvSpPr>
        <p:spPr>
          <a:xfrm>
            <a:off x="7589520" y="1325880"/>
            <a:ext cx="4050792" cy="4251960"/>
          </a:xfrm>
          <a:prstGeom prst="roundRect">
            <a:avLst>
              <a:gd name="adj" fmla="val 1806"/>
            </a:avLst>
          </a:prstGeom>
          <a:solidFill>
            <a:srgbClr val="F4F6F7"/>
          </a:solidFill>
          <a:ln w="12700">
            <a:solidFill>
              <a:srgbClr val="9AA5AD"/>
            </a:solidFill>
            <a:prstDash val="solid"/>
          </a:ln>
        </p:spPr>
      </p:sp>
      <p:sp>
        <p:nvSpPr>
          <p:cNvPr id="22" name="Text 18"/>
          <p:cNvSpPr txBox="1"/>
          <p:nvPr/>
        </p:nvSpPr>
        <p:spPr>
          <a:xfrm>
            <a:off x="7772400" y="1463040"/>
            <a:ext cx="368503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기억할 것</a:t>
            </a:r>
            <a:endParaRPr lang="en-US" sz="1600" dirty="0"/>
          </a:p>
        </p:txBody>
      </p:sp>
      <p:sp>
        <p:nvSpPr>
          <p:cNvPr id="23" name="Text 19"/>
          <p:cNvSpPr txBox="1"/>
          <p:nvPr/>
        </p:nvSpPr>
        <p:spPr>
          <a:xfrm>
            <a:off x="7772400" y="1920240"/>
            <a:ext cx="3685032" cy="354787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2진수: 0, 1</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8진수: 0 ~ 7</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10진수: 0 ~ 9</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16진수: 0 ~ 9, A(10) ~ F(15)</a:t>
            </a:r>
            <a:endParaRPr lang="en-US" sz="1500" dirty="0"/>
          </a:p>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어떤 수든 0제곱 = 1</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10⁰ = 1,  2⁰ = 1,  8⁰ = 1</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8진수 12 = 1×8¹ + 2×8⁰ = 10</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10진수 → 2·8·16진수 변환 (예: 101)</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1 · 통신 기초</a:t>
            </a:r>
            <a:endParaRPr lang="en-US" sz="1100" dirty="0"/>
          </a:p>
        </p:txBody>
      </p:sp>
      <p:sp>
        <p:nvSpPr>
          <p:cNvPr id="5" name="Shape 2"/>
          <p:cNvSpPr/>
          <p:nvPr/>
        </p:nvSpPr>
        <p:spPr>
          <a:xfrm>
            <a:off x="548640" y="1325880"/>
            <a:ext cx="2468880" cy="4160520"/>
          </a:xfrm>
          <a:prstGeom prst="roundRect">
            <a:avLst>
              <a:gd name="adj" fmla="val 2963"/>
            </a:avLst>
          </a:prstGeom>
          <a:solidFill>
            <a:srgbClr val="FFFFFF"/>
          </a:solidFill>
          <a:ln w="12700">
            <a:solidFill>
              <a:srgbClr val="9AA5AD"/>
            </a:solidFill>
            <a:prstDash val="solid"/>
          </a:ln>
        </p:spPr>
      </p:sp>
      <p:sp>
        <p:nvSpPr>
          <p:cNvPr id="6" name="Text 3"/>
          <p:cNvSpPr txBox="1"/>
          <p:nvPr/>
        </p:nvSpPr>
        <p:spPr>
          <a:xfrm>
            <a:off x="731520" y="1417320"/>
            <a:ext cx="2103120" cy="411480"/>
          </a:xfrm>
          <a:prstGeom prst="rect">
            <a:avLst/>
          </a:prstGeom>
          <a:noFill/>
          <a:ln/>
        </p:spPr>
        <p:txBody>
          <a:bodyPr wrap="square" lIns="0" tIns="0" rIns="0" bIns="0" rtlCol="0" anchor="t"/>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 2</a:t>
            </a:r>
            <a:endParaRPr lang="en-US" sz="1800" dirty="0"/>
          </a:p>
        </p:txBody>
      </p:sp>
      <p:sp>
        <p:nvSpPr>
          <p:cNvPr id="7" name="Text 4"/>
          <p:cNvSpPr txBox="1"/>
          <p:nvPr/>
        </p:nvSpPr>
        <p:spPr>
          <a:xfrm>
            <a:off x="822960" y="1874520"/>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101</a:t>
            </a:r>
            <a:endParaRPr lang="en-US" sz="1600" dirty="0"/>
          </a:p>
        </p:txBody>
      </p:sp>
      <p:sp>
        <p:nvSpPr>
          <p:cNvPr id="8" name="Text 5"/>
          <p:cNvSpPr txBox="1"/>
          <p:nvPr/>
        </p:nvSpPr>
        <p:spPr>
          <a:xfrm>
            <a:off x="822960" y="2258568"/>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50</a:t>
            </a:r>
            <a:endParaRPr lang="en-US" sz="1600" dirty="0"/>
          </a:p>
        </p:txBody>
      </p:sp>
      <p:sp>
        <p:nvSpPr>
          <p:cNvPr id="9" name="Text 6"/>
          <p:cNvSpPr txBox="1"/>
          <p:nvPr/>
        </p:nvSpPr>
        <p:spPr>
          <a:xfrm>
            <a:off x="1828800" y="2258568"/>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1</a:t>
            </a:r>
            <a:endParaRPr lang="en-US" sz="1600" dirty="0"/>
          </a:p>
        </p:txBody>
      </p:sp>
      <p:sp>
        <p:nvSpPr>
          <p:cNvPr id="10" name="Text 7"/>
          <p:cNvSpPr txBox="1"/>
          <p:nvPr/>
        </p:nvSpPr>
        <p:spPr>
          <a:xfrm>
            <a:off x="822960" y="2642616"/>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25</a:t>
            </a:r>
            <a:endParaRPr lang="en-US" sz="1600" dirty="0"/>
          </a:p>
        </p:txBody>
      </p:sp>
      <p:sp>
        <p:nvSpPr>
          <p:cNvPr id="11" name="Text 8"/>
          <p:cNvSpPr txBox="1"/>
          <p:nvPr/>
        </p:nvSpPr>
        <p:spPr>
          <a:xfrm>
            <a:off x="1828800" y="2642616"/>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0</a:t>
            </a:r>
            <a:endParaRPr lang="en-US" sz="1600" dirty="0"/>
          </a:p>
        </p:txBody>
      </p:sp>
      <p:sp>
        <p:nvSpPr>
          <p:cNvPr id="12" name="Text 9"/>
          <p:cNvSpPr txBox="1"/>
          <p:nvPr/>
        </p:nvSpPr>
        <p:spPr>
          <a:xfrm>
            <a:off x="822960" y="3026664"/>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12</a:t>
            </a:r>
            <a:endParaRPr lang="en-US" sz="1600" dirty="0"/>
          </a:p>
        </p:txBody>
      </p:sp>
      <p:sp>
        <p:nvSpPr>
          <p:cNvPr id="13" name="Text 10"/>
          <p:cNvSpPr txBox="1"/>
          <p:nvPr/>
        </p:nvSpPr>
        <p:spPr>
          <a:xfrm>
            <a:off x="1828800" y="3026664"/>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1</a:t>
            </a:r>
            <a:endParaRPr lang="en-US" sz="1600" dirty="0"/>
          </a:p>
        </p:txBody>
      </p:sp>
      <p:sp>
        <p:nvSpPr>
          <p:cNvPr id="14" name="Text 11"/>
          <p:cNvSpPr txBox="1"/>
          <p:nvPr/>
        </p:nvSpPr>
        <p:spPr>
          <a:xfrm>
            <a:off x="822960" y="3410712"/>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6</a:t>
            </a:r>
            <a:endParaRPr lang="en-US" sz="1600" dirty="0"/>
          </a:p>
        </p:txBody>
      </p:sp>
      <p:sp>
        <p:nvSpPr>
          <p:cNvPr id="15" name="Text 12"/>
          <p:cNvSpPr txBox="1"/>
          <p:nvPr/>
        </p:nvSpPr>
        <p:spPr>
          <a:xfrm>
            <a:off x="1828800" y="3410712"/>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0</a:t>
            </a:r>
            <a:endParaRPr lang="en-US" sz="1600" dirty="0"/>
          </a:p>
        </p:txBody>
      </p:sp>
      <p:sp>
        <p:nvSpPr>
          <p:cNvPr id="16" name="Text 13"/>
          <p:cNvSpPr txBox="1"/>
          <p:nvPr/>
        </p:nvSpPr>
        <p:spPr>
          <a:xfrm>
            <a:off x="822960" y="3794760"/>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3</a:t>
            </a:r>
            <a:endParaRPr lang="en-US" sz="1600" dirty="0"/>
          </a:p>
        </p:txBody>
      </p:sp>
      <p:sp>
        <p:nvSpPr>
          <p:cNvPr id="17" name="Text 14"/>
          <p:cNvSpPr txBox="1"/>
          <p:nvPr/>
        </p:nvSpPr>
        <p:spPr>
          <a:xfrm>
            <a:off x="1828800" y="3794760"/>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0</a:t>
            </a:r>
            <a:endParaRPr lang="en-US" sz="1600" dirty="0"/>
          </a:p>
        </p:txBody>
      </p:sp>
      <p:sp>
        <p:nvSpPr>
          <p:cNvPr id="18" name="Text 15"/>
          <p:cNvSpPr txBox="1"/>
          <p:nvPr/>
        </p:nvSpPr>
        <p:spPr>
          <a:xfrm>
            <a:off x="822960" y="4178808"/>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1</a:t>
            </a:r>
            <a:endParaRPr lang="en-US" sz="1600" dirty="0"/>
          </a:p>
        </p:txBody>
      </p:sp>
      <p:sp>
        <p:nvSpPr>
          <p:cNvPr id="19" name="Text 16"/>
          <p:cNvSpPr txBox="1"/>
          <p:nvPr/>
        </p:nvSpPr>
        <p:spPr>
          <a:xfrm>
            <a:off x="1828800" y="4178808"/>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1</a:t>
            </a:r>
            <a:endParaRPr lang="en-US" sz="1600" dirty="0"/>
          </a:p>
        </p:txBody>
      </p:sp>
      <p:sp>
        <p:nvSpPr>
          <p:cNvPr id="20" name="Shape 17"/>
          <p:cNvSpPr/>
          <p:nvPr/>
        </p:nvSpPr>
        <p:spPr>
          <a:xfrm flipV="1">
            <a:off x="2697480" y="2286000"/>
            <a:ext cx="914" cy="2212848"/>
          </a:xfrm>
          <a:prstGeom prst="line">
            <a:avLst/>
          </a:prstGeom>
          <a:noFill/>
          <a:ln w="15875">
            <a:solidFill>
              <a:srgbClr val="0E6E7A"/>
            </a:solidFill>
            <a:prstDash val="solid"/>
            <a:tailEnd type="triangle"/>
          </a:ln>
        </p:spPr>
      </p:sp>
      <p:sp>
        <p:nvSpPr>
          <p:cNvPr id="21" name="Text 18"/>
          <p:cNvSpPr txBox="1"/>
          <p:nvPr/>
        </p:nvSpPr>
        <p:spPr>
          <a:xfrm>
            <a:off x="731520" y="4892040"/>
            <a:ext cx="2103120" cy="457200"/>
          </a:xfrm>
          <a:prstGeom prst="rect">
            <a:avLst/>
          </a:prstGeom>
          <a:noFill/>
          <a:ln/>
        </p:spPr>
        <p:txBody>
          <a:bodyPr wrap="square" lIns="0" tIns="0" rIns="0" bIns="0" rtlCol="0" anchor="t"/>
          <a:lstStyle/>
          <a:p>
            <a:pPr indent="0" marL="0">
              <a:buNone/>
            </a:pPr>
            <a:r>
              <a:rPr lang="en-US" sz="2000" b="1" dirty="0">
                <a:solidFill>
                  <a:srgbClr val="1E2A30"/>
                </a:solidFill>
                <a:latin typeface="Consolas" pitchFamily="34" charset="0"/>
                <a:ea typeface="Consolas" pitchFamily="34" charset="-122"/>
                <a:cs typeface="Consolas" pitchFamily="34" charset="-120"/>
              </a:rPr>
              <a:t>1100101₂</a:t>
            </a:r>
            <a:endParaRPr lang="en-US" sz="2000" dirty="0"/>
          </a:p>
        </p:txBody>
      </p:sp>
      <p:sp>
        <p:nvSpPr>
          <p:cNvPr id="22" name="Shape 19"/>
          <p:cNvSpPr/>
          <p:nvPr/>
        </p:nvSpPr>
        <p:spPr>
          <a:xfrm>
            <a:off x="3291840" y="1325880"/>
            <a:ext cx="2468880" cy="4160520"/>
          </a:xfrm>
          <a:prstGeom prst="roundRect">
            <a:avLst>
              <a:gd name="adj" fmla="val 2963"/>
            </a:avLst>
          </a:prstGeom>
          <a:solidFill>
            <a:srgbClr val="FFFFFF"/>
          </a:solidFill>
          <a:ln w="12700">
            <a:solidFill>
              <a:srgbClr val="9AA5AD"/>
            </a:solidFill>
            <a:prstDash val="solid"/>
          </a:ln>
        </p:spPr>
      </p:sp>
      <p:sp>
        <p:nvSpPr>
          <p:cNvPr id="23" name="Text 20"/>
          <p:cNvSpPr txBox="1"/>
          <p:nvPr/>
        </p:nvSpPr>
        <p:spPr>
          <a:xfrm>
            <a:off x="3474720" y="1417320"/>
            <a:ext cx="2103120" cy="411480"/>
          </a:xfrm>
          <a:prstGeom prst="rect">
            <a:avLst/>
          </a:prstGeom>
          <a:noFill/>
          <a:ln/>
        </p:spPr>
        <p:txBody>
          <a:bodyPr wrap="square" lIns="0" tIns="0" rIns="0" bIns="0" rtlCol="0" anchor="t"/>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 8</a:t>
            </a:r>
            <a:endParaRPr lang="en-US" sz="1800" dirty="0"/>
          </a:p>
        </p:txBody>
      </p:sp>
      <p:sp>
        <p:nvSpPr>
          <p:cNvPr id="24" name="Text 21"/>
          <p:cNvSpPr txBox="1"/>
          <p:nvPr/>
        </p:nvSpPr>
        <p:spPr>
          <a:xfrm>
            <a:off x="3566160" y="1874520"/>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101</a:t>
            </a:r>
            <a:endParaRPr lang="en-US" sz="1600" dirty="0"/>
          </a:p>
        </p:txBody>
      </p:sp>
      <p:sp>
        <p:nvSpPr>
          <p:cNvPr id="25" name="Text 22"/>
          <p:cNvSpPr txBox="1"/>
          <p:nvPr/>
        </p:nvSpPr>
        <p:spPr>
          <a:xfrm>
            <a:off x="3566160" y="2258568"/>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12</a:t>
            </a:r>
            <a:endParaRPr lang="en-US" sz="1600" dirty="0"/>
          </a:p>
        </p:txBody>
      </p:sp>
      <p:sp>
        <p:nvSpPr>
          <p:cNvPr id="26" name="Text 23"/>
          <p:cNvSpPr txBox="1"/>
          <p:nvPr/>
        </p:nvSpPr>
        <p:spPr>
          <a:xfrm>
            <a:off x="4572000" y="2258568"/>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5</a:t>
            </a:r>
            <a:endParaRPr lang="en-US" sz="1600" dirty="0"/>
          </a:p>
        </p:txBody>
      </p:sp>
      <p:sp>
        <p:nvSpPr>
          <p:cNvPr id="27" name="Text 24"/>
          <p:cNvSpPr txBox="1"/>
          <p:nvPr/>
        </p:nvSpPr>
        <p:spPr>
          <a:xfrm>
            <a:off x="3566160" y="2642616"/>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1</a:t>
            </a:r>
            <a:endParaRPr lang="en-US" sz="1600" dirty="0"/>
          </a:p>
        </p:txBody>
      </p:sp>
      <p:sp>
        <p:nvSpPr>
          <p:cNvPr id="28" name="Text 25"/>
          <p:cNvSpPr txBox="1"/>
          <p:nvPr/>
        </p:nvSpPr>
        <p:spPr>
          <a:xfrm>
            <a:off x="4572000" y="2642616"/>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4</a:t>
            </a:r>
            <a:endParaRPr lang="en-US" sz="1600" dirty="0"/>
          </a:p>
        </p:txBody>
      </p:sp>
      <p:sp>
        <p:nvSpPr>
          <p:cNvPr id="29" name="Shape 26"/>
          <p:cNvSpPr/>
          <p:nvPr/>
        </p:nvSpPr>
        <p:spPr>
          <a:xfrm flipV="1">
            <a:off x="5440680" y="2286000"/>
            <a:ext cx="914" cy="676656"/>
          </a:xfrm>
          <a:prstGeom prst="line">
            <a:avLst/>
          </a:prstGeom>
          <a:noFill/>
          <a:ln w="15875">
            <a:solidFill>
              <a:srgbClr val="0E6E7A"/>
            </a:solidFill>
            <a:prstDash val="solid"/>
            <a:tailEnd type="triangle"/>
          </a:ln>
        </p:spPr>
      </p:sp>
      <p:sp>
        <p:nvSpPr>
          <p:cNvPr id="30" name="Text 27"/>
          <p:cNvSpPr txBox="1"/>
          <p:nvPr/>
        </p:nvSpPr>
        <p:spPr>
          <a:xfrm>
            <a:off x="3474720" y="4892040"/>
            <a:ext cx="2103120" cy="457200"/>
          </a:xfrm>
          <a:prstGeom prst="rect">
            <a:avLst/>
          </a:prstGeom>
          <a:noFill/>
          <a:ln/>
        </p:spPr>
        <p:txBody>
          <a:bodyPr wrap="square" lIns="0" tIns="0" rIns="0" bIns="0" rtlCol="0" anchor="t"/>
          <a:lstStyle/>
          <a:p>
            <a:pPr indent="0" marL="0">
              <a:buNone/>
            </a:pPr>
            <a:r>
              <a:rPr lang="en-US" sz="2000" b="1" dirty="0">
                <a:solidFill>
                  <a:srgbClr val="1E2A30"/>
                </a:solidFill>
                <a:latin typeface="Consolas" pitchFamily="34" charset="0"/>
                <a:ea typeface="Consolas" pitchFamily="34" charset="-122"/>
                <a:cs typeface="Consolas" pitchFamily="34" charset="-120"/>
              </a:rPr>
              <a:t>145₈</a:t>
            </a:r>
            <a:endParaRPr lang="en-US" sz="2000" dirty="0"/>
          </a:p>
        </p:txBody>
      </p:sp>
      <p:sp>
        <p:nvSpPr>
          <p:cNvPr id="31" name="Shape 28"/>
          <p:cNvSpPr/>
          <p:nvPr/>
        </p:nvSpPr>
        <p:spPr>
          <a:xfrm>
            <a:off x="6035040" y="1325880"/>
            <a:ext cx="2468880" cy="4160520"/>
          </a:xfrm>
          <a:prstGeom prst="roundRect">
            <a:avLst>
              <a:gd name="adj" fmla="val 2963"/>
            </a:avLst>
          </a:prstGeom>
          <a:solidFill>
            <a:srgbClr val="FFFFFF"/>
          </a:solidFill>
          <a:ln w="12700">
            <a:solidFill>
              <a:srgbClr val="9AA5AD"/>
            </a:solidFill>
            <a:prstDash val="solid"/>
          </a:ln>
        </p:spPr>
      </p:sp>
      <p:sp>
        <p:nvSpPr>
          <p:cNvPr id="32" name="Text 29"/>
          <p:cNvSpPr txBox="1"/>
          <p:nvPr/>
        </p:nvSpPr>
        <p:spPr>
          <a:xfrm>
            <a:off x="6217920" y="1417320"/>
            <a:ext cx="2103120" cy="411480"/>
          </a:xfrm>
          <a:prstGeom prst="rect">
            <a:avLst/>
          </a:prstGeom>
          <a:noFill/>
          <a:ln/>
        </p:spPr>
        <p:txBody>
          <a:bodyPr wrap="square" lIns="0" tIns="0" rIns="0" bIns="0" rtlCol="0" anchor="t"/>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 16</a:t>
            </a:r>
            <a:endParaRPr lang="en-US" sz="1800" dirty="0"/>
          </a:p>
        </p:txBody>
      </p:sp>
      <p:sp>
        <p:nvSpPr>
          <p:cNvPr id="33" name="Text 30"/>
          <p:cNvSpPr txBox="1"/>
          <p:nvPr/>
        </p:nvSpPr>
        <p:spPr>
          <a:xfrm>
            <a:off x="6309360" y="1874520"/>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101</a:t>
            </a:r>
            <a:endParaRPr lang="en-US" sz="1600" dirty="0"/>
          </a:p>
        </p:txBody>
      </p:sp>
      <p:sp>
        <p:nvSpPr>
          <p:cNvPr id="34" name="Text 31"/>
          <p:cNvSpPr txBox="1"/>
          <p:nvPr/>
        </p:nvSpPr>
        <p:spPr>
          <a:xfrm>
            <a:off x="6309360" y="2258568"/>
            <a:ext cx="914400" cy="365760"/>
          </a:xfrm>
          <a:prstGeom prst="rect">
            <a:avLst/>
          </a:prstGeom>
          <a:noFill/>
          <a:ln/>
        </p:spPr>
        <p:txBody>
          <a:bodyPr wrap="square" lIns="0" tIns="0" rIns="0" bIns="0" rtlCol="0" anchor="t"/>
          <a:lstStyle/>
          <a:p>
            <a:pPr algn="r" indent="0" marL="0">
              <a:buNone/>
            </a:pPr>
            <a:r>
              <a:rPr lang="en-US" sz="1600" dirty="0">
                <a:solidFill>
                  <a:srgbClr val="1E2A30"/>
                </a:solidFill>
                <a:latin typeface="Consolas" pitchFamily="34" charset="0"/>
                <a:ea typeface="Consolas" pitchFamily="34" charset="-122"/>
                <a:cs typeface="Consolas" pitchFamily="34" charset="-120"/>
              </a:rPr>
              <a:t>6</a:t>
            </a:r>
            <a:endParaRPr lang="en-US" sz="1600" dirty="0"/>
          </a:p>
        </p:txBody>
      </p:sp>
      <p:sp>
        <p:nvSpPr>
          <p:cNvPr id="35" name="Text 32"/>
          <p:cNvSpPr txBox="1"/>
          <p:nvPr/>
        </p:nvSpPr>
        <p:spPr>
          <a:xfrm>
            <a:off x="7315200" y="2258568"/>
            <a:ext cx="914400" cy="365760"/>
          </a:xfrm>
          <a:prstGeom prst="rect">
            <a:avLst/>
          </a:prstGeom>
          <a:noFill/>
          <a:ln/>
        </p:spPr>
        <p:txBody>
          <a:bodyPr wrap="square" lIns="0" tIns="0" rIns="0" bIns="0" rtlCol="0" anchor="t"/>
          <a:lstStyle/>
          <a:p>
            <a:pPr indent="0" marL="0">
              <a:buNone/>
            </a:pPr>
            <a:r>
              <a:rPr lang="en-US" sz="1600" b="1" dirty="0">
                <a:solidFill>
                  <a:srgbClr val="0E6E7A"/>
                </a:solidFill>
                <a:latin typeface="Consolas" pitchFamily="34" charset="0"/>
                <a:ea typeface="Consolas" pitchFamily="34" charset="-122"/>
                <a:cs typeface="Consolas" pitchFamily="34" charset="-120"/>
              </a:rPr>
              <a:t>… 5</a:t>
            </a:r>
            <a:endParaRPr lang="en-US" sz="1600" dirty="0"/>
          </a:p>
        </p:txBody>
      </p:sp>
      <p:sp>
        <p:nvSpPr>
          <p:cNvPr id="36" name="Shape 33"/>
          <p:cNvSpPr/>
          <p:nvPr/>
        </p:nvSpPr>
        <p:spPr>
          <a:xfrm flipV="1">
            <a:off x="8183880" y="2286000"/>
            <a:ext cx="914" cy="292608"/>
          </a:xfrm>
          <a:prstGeom prst="line">
            <a:avLst/>
          </a:prstGeom>
          <a:noFill/>
          <a:ln w="15875">
            <a:solidFill>
              <a:srgbClr val="0E6E7A"/>
            </a:solidFill>
            <a:prstDash val="solid"/>
            <a:tailEnd type="triangle"/>
          </a:ln>
        </p:spPr>
      </p:sp>
      <p:sp>
        <p:nvSpPr>
          <p:cNvPr id="37" name="Text 34"/>
          <p:cNvSpPr txBox="1"/>
          <p:nvPr/>
        </p:nvSpPr>
        <p:spPr>
          <a:xfrm>
            <a:off x="6217920" y="4892040"/>
            <a:ext cx="2103120" cy="457200"/>
          </a:xfrm>
          <a:prstGeom prst="rect">
            <a:avLst/>
          </a:prstGeom>
          <a:noFill/>
          <a:ln/>
        </p:spPr>
        <p:txBody>
          <a:bodyPr wrap="square" lIns="0" tIns="0" rIns="0" bIns="0" rtlCol="0" anchor="t"/>
          <a:lstStyle/>
          <a:p>
            <a:pPr indent="0" marL="0">
              <a:buNone/>
            </a:pPr>
            <a:r>
              <a:rPr lang="en-US" sz="2000" b="1" dirty="0">
                <a:solidFill>
                  <a:srgbClr val="1E2A30"/>
                </a:solidFill>
                <a:latin typeface="Consolas" pitchFamily="34" charset="0"/>
                <a:ea typeface="Consolas" pitchFamily="34" charset="-122"/>
                <a:cs typeface="Consolas" pitchFamily="34" charset="-120"/>
              </a:rPr>
              <a:t>65₁₆</a:t>
            </a:r>
            <a:endParaRPr lang="en-US" sz="2000" dirty="0"/>
          </a:p>
        </p:txBody>
      </p:sp>
      <p:sp>
        <p:nvSpPr>
          <p:cNvPr id="38" name="Shape 35"/>
          <p:cNvSpPr/>
          <p:nvPr/>
        </p:nvSpPr>
        <p:spPr>
          <a:xfrm>
            <a:off x="8869680" y="1325880"/>
            <a:ext cx="2770632" cy="4160520"/>
          </a:xfrm>
          <a:prstGeom prst="roundRect">
            <a:avLst>
              <a:gd name="adj" fmla="val 2640"/>
            </a:avLst>
          </a:prstGeom>
          <a:solidFill>
            <a:srgbClr val="E6F1F2"/>
          </a:solidFill>
          <a:ln w="12700">
            <a:solidFill>
              <a:srgbClr val="0E6E7A"/>
            </a:solidFill>
            <a:prstDash val="solid"/>
          </a:ln>
        </p:spPr>
      </p:sp>
      <p:sp>
        <p:nvSpPr>
          <p:cNvPr id="39" name="Text 36"/>
          <p:cNvSpPr txBox="1"/>
          <p:nvPr/>
        </p:nvSpPr>
        <p:spPr>
          <a:xfrm>
            <a:off x="9052560" y="1463040"/>
            <a:ext cx="240487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공식</a:t>
            </a:r>
            <a:endParaRPr lang="en-US" sz="1600" dirty="0"/>
          </a:p>
        </p:txBody>
      </p:sp>
      <p:sp>
        <p:nvSpPr>
          <p:cNvPr id="40" name="Text 37"/>
          <p:cNvSpPr txBox="1"/>
          <p:nvPr/>
        </p:nvSpPr>
        <p:spPr>
          <a:xfrm>
            <a:off x="9052560" y="1920240"/>
            <a:ext cx="2404872" cy="345643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그 진법의 수로 나눈다</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나머지를 옆에 적는다</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몫이 0이 될 때까지 반복</a:t>
            </a:r>
            <a:endParaRPr lang="en-US" sz="1500" dirty="0"/>
          </a:p>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아래 → 위로 읽는다</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검산: 64+32+4+1 = 101</a:t>
            </a:r>
            <a:endParaRPr lang="en-US" sz="1500" dirty="0"/>
          </a:p>
        </p:txBody>
      </p:sp>
      <p:sp>
        <p:nvSpPr>
          <p:cNvPr id="41" name="Shape 38"/>
          <p:cNvSpPr/>
          <p:nvPr/>
        </p:nvSpPr>
        <p:spPr>
          <a:xfrm>
            <a:off x="548640" y="5760720"/>
            <a:ext cx="11091672" cy="457200"/>
          </a:xfrm>
          <a:prstGeom prst="roundRect">
            <a:avLst>
              <a:gd name="adj" fmla="val 16000"/>
            </a:avLst>
          </a:prstGeom>
          <a:solidFill>
            <a:srgbClr val="E6F1F2"/>
          </a:solidFill>
          <a:ln w="12700">
            <a:solidFill>
              <a:srgbClr val="E6F1F2"/>
            </a:solidFill>
            <a:prstDash val="solid"/>
          </a:ln>
        </p:spPr>
      </p:sp>
      <p:sp>
        <p:nvSpPr>
          <p:cNvPr id="42" name="Text 39"/>
          <p:cNvSpPr txBox="1"/>
          <p:nvPr/>
        </p:nvSpPr>
        <p:spPr>
          <a:xfrm>
            <a:off x="777240" y="576072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101(10) = 0110 0101(2) = 145(8) = 65(16)</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2진수 ↔ 8·16진수 빠른 변환</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1 · 통신 기초</a:t>
            </a:r>
            <a:endParaRPr lang="en-US" sz="1100" dirty="0"/>
          </a:p>
        </p:txBody>
      </p:sp>
      <p:sp>
        <p:nvSpPr>
          <p:cNvPr id="5" name="Text 2"/>
          <p:cNvSpPr txBox="1"/>
          <p:nvPr/>
        </p:nvSpPr>
        <p:spPr>
          <a:xfrm>
            <a:off x="548640" y="1371600"/>
            <a:ext cx="54864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16진수: 오른쪽부터 4비트씩</a:t>
            </a:r>
            <a:endParaRPr lang="en-US" sz="1700" dirty="0"/>
          </a:p>
        </p:txBody>
      </p:sp>
      <p:sp>
        <p:nvSpPr>
          <p:cNvPr id="6" name="Shape 3"/>
          <p:cNvSpPr/>
          <p:nvPr/>
        </p:nvSpPr>
        <p:spPr>
          <a:xfrm>
            <a:off x="548640" y="1874520"/>
            <a:ext cx="548640" cy="594360"/>
          </a:xfrm>
          <a:prstGeom prst="roundRect">
            <a:avLst>
              <a:gd name="adj" fmla="val 13333"/>
            </a:avLst>
          </a:prstGeom>
          <a:solidFill>
            <a:srgbClr val="F4F6F7"/>
          </a:solidFill>
          <a:ln w="12700">
            <a:solidFill>
              <a:srgbClr val="1E2A30"/>
            </a:solidFill>
            <a:prstDash val="solid"/>
          </a:ln>
        </p:spPr>
      </p:sp>
      <p:sp>
        <p:nvSpPr>
          <p:cNvPr id="7" name="Text 4"/>
          <p:cNvSpPr txBox="1"/>
          <p:nvPr/>
        </p:nvSpPr>
        <p:spPr>
          <a:xfrm>
            <a:off x="548640" y="1874520"/>
            <a:ext cx="548640"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8" name="Shape 5"/>
          <p:cNvSpPr/>
          <p:nvPr/>
        </p:nvSpPr>
        <p:spPr>
          <a:xfrm>
            <a:off x="1188720" y="1874520"/>
            <a:ext cx="548640" cy="594360"/>
          </a:xfrm>
          <a:prstGeom prst="roundRect">
            <a:avLst>
              <a:gd name="adj" fmla="val 13333"/>
            </a:avLst>
          </a:prstGeom>
          <a:solidFill>
            <a:srgbClr val="F4F6F7"/>
          </a:solidFill>
          <a:ln w="12700">
            <a:solidFill>
              <a:srgbClr val="1E2A30"/>
            </a:solidFill>
            <a:prstDash val="solid"/>
          </a:ln>
        </p:spPr>
      </p:sp>
      <p:sp>
        <p:nvSpPr>
          <p:cNvPr id="9" name="Text 6"/>
          <p:cNvSpPr txBox="1"/>
          <p:nvPr/>
        </p:nvSpPr>
        <p:spPr>
          <a:xfrm>
            <a:off x="1188720" y="1874520"/>
            <a:ext cx="548640"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1</a:t>
            </a:r>
            <a:endParaRPr lang="en-US" sz="2000" dirty="0"/>
          </a:p>
        </p:txBody>
      </p:sp>
      <p:sp>
        <p:nvSpPr>
          <p:cNvPr id="10" name="Shape 7"/>
          <p:cNvSpPr/>
          <p:nvPr/>
        </p:nvSpPr>
        <p:spPr>
          <a:xfrm>
            <a:off x="1828800" y="1874520"/>
            <a:ext cx="548640" cy="594360"/>
          </a:xfrm>
          <a:prstGeom prst="roundRect">
            <a:avLst>
              <a:gd name="adj" fmla="val 13333"/>
            </a:avLst>
          </a:prstGeom>
          <a:solidFill>
            <a:srgbClr val="F4F6F7"/>
          </a:solidFill>
          <a:ln w="12700">
            <a:solidFill>
              <a:srgbClr val="1E2A30"/>
            </a:solidFill>
            <a:prstDash val="solid"/>
          </a:ln>
        </p:spPr>
      </p:sp>
      <p:sp>
        <p:nvSpPr>
          <p:cNvPr id="11" name="Text 8"/>
          <p:cNvSpPr txBox="1"/>
          <p:nvPr/>
        </p:nvSpPr>
        <p:spPr>
          <a:xfrm>
            <a:off x="1828800" y="1874520"/>
            <a:ext cx="548640"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1</a:t>
            </a:r>
            <a:endParaRPr lang="en-US" sz="2000" dirty="0"/>
          </a:p>
        </p:txBody>
      </p:sp>
      <p:sp>
        <p:nvSpPr>
          <p:cNvPr id="12" name="Shape 9"/>
          <p:cNvSpPr/>
          <p:nvPr/>
        </p:nvSpPr>
        <p:spPr>
          <a:xfrm>
            <a:off x="2468880" y="1874520"/>
            <a:ext cx="548640" cy="594360"/>
          </a:xfrm>
          <a:prstGeom prst="roundRect">
            <a:avLst>
              <a:gd name="adj" fmla="val 13333"/>
            </a:avLst>
          </a:prstGeom>
          <a:solidFill>
            <a:srgbClr val="F4F6F7"/>
          </a:solidFill>
          <a:ln w="12700">
            <a:solidFill>
              <a:srgbClr val="1E2A30"/>
            </a:solidFill>
            <a:prstDash val="solid"/>
          </a:ln>
        </p:spPr>
      </p:sp>
      <p:sp>
        <p:nvSpPr>
          <p:cNvPr id="13" name="Text 10"/>
          <p:cNvSpPr txBox="1"/>
          <p:nvPr/>
        </p:nvSpPr>
        <p:spPr>
          <a:xfrm>
            <a:off x="2468880" y="1874520"/>
            <a:ext cx="548640"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14" name="Shape 11"/>
          <p:cNvSpPr/>
          <p:nvPr/>
        </p:nvSpPr>
        <p:spPr>
          <a:xfrm>
            <a:off x="3429000" y="1874520"/>
            <a:ext cx="548640" cy="594360"/>
          </a:xfrm>
          <a:prstGeom prst="roundRect">
            <a:avLst>
              <a:gd name="adj" fmla="val 13333"/>
            </a:avLst>
          </a:prstGeom>
          <a:solidFill>
            <a:srgbClr val="F4F6F7"/>
          </a:solidFill>
          <a:ln w="12700">
            <a:solidFill>
              <a:srgbClr val="1E2A30"/>
            </a:solidFill>
            <a:prstDash val="solid"/>
          </a:ln>
        </p:spPr>
      </p:sp>
      <p:sp>
        <p:nvSpPr>
          <p:cNvPr id="15" name="Text 12"/>
          <p:cNvSpPr txBox="1"/>
          <p:nvPr/>
        </p:nvSpPr>
        <p:spPr>
          <a:xfrm>
            <a:off x="3429000" y="1874520"/>
            <a:ext cx="548640"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16" name="Shape 13"/>
          <p:cNvSpPr/>
          <p:nvPr/>
        </p:nvSpPr>
        <p:spPr>
          <a:xfrm>
            <a:off x="4069080" y="1874520"/>
            <a:ext cx="548640" cy="594360"/>
          </a:xfrm>
          <a:prstGeom prst="roundRect">
            <a:avLst>
              <a:gd name="adj" fmla="val 13333"/>
            </a:avLst>
          </a:prstGeom>
          <a:solidFill>
            <a:srgbClr val="F4F6F7"/>
          </a:solidFill>
          <a:ln w="12700">
            <a:solidFill>
              <a:srgbClr val="1E2A30"/>
            </a:solidFill>
            <a:prstDash val="solid"/>
          </a:ln>
        </p:spPr>
      </p:sp>
      <p:sp>
        <p:nvSpPr>
          <p:cNvPr id="17" name="Text 14"/>
          <p:cNvSpPr txBox="1"/>
          <p:nvPr/>
        </p:nvSpPr>
        <p:spPr>
          <a:xfrm>
            <a:off x="4069080" y="1874520"/>
            <a:ext cx="548640"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1</a:t>
            </a:r>
            <a:endParaRPr lang="en-US" sz="2000" dirty="0"/>
          </a:p>
        </p:txBody>
      </p:sp>
      <p:sp>
        <p:nvSpPr>
          <p:cNvPr id="18" name="Shape 15"/>
          <p:cNvSpPr/>
          <p:nvPr/>
        </p:nvSpPr>
        <p:spPr>
          <a:xfrm>
            <a:off x="4709160" y="1874520"/>
            <a:ext cx="548640" cy="594360"/>
          </a:xfrm>
          <a:prstGeom prst="roundRect">
            <a:avLst>
              <a:gd name="adj" fmla="val 13333"/>
            </a:avLst>
          </a:prstGeom>
          <a:solidFill>
            <a:srgbClr val="F4F6F7"/>
          </a:solidFill>
          <a:ln w="12700">
            <a:solidFill>
              <a:srgbClr val="1E2A30"/>
            </a:solidFill>
            <a:prstDash val="solid"/>
          </a:ln>
        </p:spPr>
      </p:sp>
      <p:sp>
        <p:nvSpPr>
          <p:cNvPr id="19" name="Text 16"/>
          <p:cNvSpPr txBox="1"/>
          <p:nvPr/>
        </p:nvSpPr>
        <p:spPr>
          <a:xfrm>
            <a:off x="4709160" y="1874520"/>
            <a:ext cx="548640"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20" name="Shape 17"/>
          <p:cNvSpPr/>
          <p:nvPr/>
        </p:nvSpPr>
        <p:spPr>
          <a:xfrm>
            <a:off x="5349240" y="1874520"/>
            <a:ext cx="548640" cy="594360"/>
          </a:xfrm>
          <a:prstGeom prst="roundRect">
            <a:avLst>
              <a:gd name="adj" fmla="val 13333"/>
            </a:avLst>
          </a:prstGeom>
          <a:solidFill>
            <a:srgbClr val="F4F6F7"/>
          </a:solidFill>
          <a:ln w="12700">
            <a:solidFill>
              <a:srgbClr val="1E2A30"/>
            </a:solidFill>
            <a:prstDash val="solid"/>
          </a:ln>
        </p:spPr>
      </p:sp>
      <p:sp>
        <p:nvSpPr>
          <p:cNvPr id="21" name="Text 18"/>
          <p:cNvSpPr txBox="1"/>
          <p:nvPr/>
        </p:nvSpPr>
        <p:spPr>
          <a:xfrm>
            <a:off x="5349240" y="1874520"/>
            <a:ext cx="548640"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1</a:t>
            </a:r>
            <a:endParaRPr lang="en-US" sz="2000" dirty="0"/>
          </a:p>
        </p:txBody>
      </p:sp>
      <p:sp>
        <p:nvSpPr>
          <p:cNvPr id="22" name="Text 19"/>
          <p:cNvSpPr txBox="1"/>
          <p:nvPr/>
        </p:nvSpPr>
        <p:spPr>
          <a:xfrm>
            <a:off x="548640" y="2560320"/>
            <a:ext cx="2514600" cy="365760"/>
          </a:xfrm>
          <a:prstGeom prst="rect">
            <a:avLst/>
          </a:prstGeom>
          <a:noFill/>
          <a:ln/>
        </p:spPr>
        <p:txBody>
          <a:bodyPr wrap="square" lIns="0" tIns="0" rIns="0" bIns="0" rtlCol="0" anchor="t"/>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0110 → 6</a:t>
            </a:r>
            <a:endParaRPr lang="en-US" sz="1600" dirty="0"/>
          </a:p>
        </p:txBody>
      </p:sp>
      <p:sp>
        <p:nvSpPr>
          <p:cNvPr id="23" name="Text 20"/>
          <p:cNvSpPr txBox="1"/>
          <p:nvPr/>
        </p:nvSpPr>
        <p:spPr>
          <a:xfrm>
            <a:off x="3429000" y="2560320"/>
            <a:ext cx="2514600" cy="365760"/>
          </a:xfrm>
          <a:prstGeom prst="rect">
            <a:avLst/>
          </a:prstGeom>
          <a:noFill/>
          <a:ln/>
        </p:spPr>
        <p:txBody>
          <a:bodyPr wrap="square" lIns="0" tIns="0" rIns="0" bIns="0" rtlCol="0" anchor="t"/>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0101 → 5</a:t>
            </a:r>
            <a:endParaRPr lang="en-US" sz="1600" dirty="0"/>
          </a:p>
        </p:txBody>
      </p:sp>
      <p:sp>
        <p:nvSpPr>
          <p:cNvPr id="24" name="Text 21"/>
          <p:cNvSpPr txBox="1"/>
          <p:nvPr/>
        </p:nvSpPr>
        <p:spPr>
          <a:xfrm>
            <a:off x="6126480" y="1874520"/>
            <a:ext cx="1828800" cy="594360"/>
          </a:xfrm>
          <a:prstGeom prst="rect">
            <a:avLst/>
          </a:prstGeom>
          <a:noFill/>
          <a:ln/>
        </p:spPr>
        <p:txBody>
          <a:bodyPr wrap="square" lIns="0" tIns="0" rIns="0" bIns="0" rtlCol="0" anchor="ctr"/>
          <a:lstStyle/>
          <a:p>
            <a:pPr indent="0" marL="0">
              <a:buNone/>
            </a:pPr>
            <a:r>
              <a:rPr lang="en-US" sz="2400" b="1" dirty="0">
                <a:solidFill>
                  <a:srgbClr val="1E2A30"/>
                </a:solidFill>
                <a:latin typeface="Consolas" pitchFamily="34" charset="0"/>
                <a:ea typeface="Consolas" pitchFamily="34" charset="-122"/>
                <a:cs typeface="Consolas" pitchFamily="34" charset="-120"/>
              </a:rPr>
              <a:t>= 65₁₆</a:t>
            </a:r>
            <a:endParaRPr lang="en-US" sz="2400" dirty="0"/>
          </a:p>
        </p:txBody>
      </p:sp>
      <p:sp>
        <p:nvSpPr>
          <p:cNvPr id="25" name="Text 22"/>
          <p:cNvSpPr txBox="1"/>
          <p:nvPr/>
        </p:nvSpPr>
        <p:spPr>
          <a:xfrm>
            <a:off x="548640" y="3291840"/>
            <a:ext cx="54864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8진수: 오른쪽부터 3비트씩</a:t>
            </a:r>
            <a:endParaRPr lang="en-US" sz="1700" dirty="0"/>
          </a:p>
        </p:txBody>
      </p:sp>
      <p:sp>
        <p:nvSpPr>
          <p:cNvPr id="26" name="Shape 23"/>
          <p:cNvSpPr/>
          <p:nvPr/>
        </p:nvSpPr>
        <p:spPr>
          <a:xfrm>
            <a:off x="548640" y="3794760"/>
            <a:ext cx="530352" cy="594360"/>
          </a:xfrm>
          <a:prstGeom prst="roundRect">
            <a:avLst>
              <a:gd name="adj" fmla="val 13793"/>
            </a:avLst>
          </a:prstGeom>
          <a:solidFill>
            <a:srgbClr val="F4F6F7"/>
          </a:solidFill>
          <a:ln w="12700">
            <a:solidFill>
              <a:srgbClr val="1E2A30"/>
            </a:solidFill>
            <a:prstDash val="solid"/>
          </a:ln>
        </p:spPr>
      </p:sp>
      <p:sp>
        <p:nvSpPr>
          <p:cNvPr id="27" name="Text 24"/>
          <p:cNvSpPr txBox="1"/>
          <p:nvPr/>
        </p:nvSpPr>
        <p:spPr>
          <a:xfrm>
            <a:off x="54864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28" name="Shape 25"/>
          <p:cNvSpPr/>
          <p:nvPr/>
        </p:nvSpPr>
        <p:spPr>
          <a:xfrm>
            <a:off x="1143000" y="3794760"/>
            <a:ext cx="530352" cy="594360"/>
          </a:xfrm>
          <a:prstGeom prst="roundRect">
            <a:avLst>
              <a:gd name="adj" fmla="val 13793"/>
            </a:avLst>
          </a:prstGeom>
          <a:solidFill>
            <a:srgbClr val="F4F6F7"/>
          </a:solidFill>
          <a:ln w="12700">
            <a:solidFill>
              <a:srgbClr val="1E2A30"/>
            </a:solidFill>
            <a:prstDash val="solid"/>
          </a:ln>
        </p:spPr>
      </p:sp>
      <p:sp>
        <p:nvSpPr>
          <p:cNvPr id="29" name="Text 26"/>
          <p:cNvSpPr txBox="1"/>
          <p:nvPr/>
        </p:nvSpPr>
        <p:spPr>
          <a:xfrm>
            <a:off x="114300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30" name="Shape 27"/>
          <p:cNvSpPr/>
          <p:nvPr/>
        </p:nvSpPr>
        <p:spPr>
          <a:xfrm>
            <a:off x="1737360" y="3794760"/>
            <a:ext cx="530352" cy="594360"/>
          </a:xfrm>
          <a:prstGeom prst="roundRect">
            <a:avLst>
              <a:gd name="adj" fmla="val 13793"/>
            </a:avLst>
          </a:prstGeom>
          <a:solidFill>
            <a:srgbClr val="F4F6F7"/>
          </a:solidFill>
          <a:ln w="12700">
            <a:solidFill>
              <a:srgbClr val="1E2A30"/>
            </a:solidFill>
            <a:prstDash val="solid"/>
          </a:ln>
        </p:spPr>
      </p:sp>
      <p:sp>
        <p:nvSpPr>
          <p:cNvPr id="31" name="Text 28"/>
          <p:cNvSpPr txBox="1"/>
          <p:nvPr/>
        </p:nvSpPr>
        <p:spPr>
          <a:xfrm>
            <a:off x="173736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1</a:t>
            </a:r>
            <a:endParaRPr lang="en-US" sz="2000" dirty="0"/>
          </a:p>
        </p:txBody>
      </p:sp>
      <p:sp>
        <p:nvSpPr>
          <p:cNvPr id="32" name="Text 29"/>
          <p:cNvSpPr txBox="1"/>
          <p:nvPr/>
        </p:nvSpPr>
        <p:spPr>
          <a:xfrm>
            <a:off x="548640" y="4480560"/>
            <a:ext cx="1737360" cy="365760"/>
          </a:xfrm>
          <a:prstGeom prst="rect">
            <a:avLst/>
          </a:prstGeom>
          <a:noFill/>
          <a:ln/>
        </p:spPr>
        <p:txBody>
          <a:bodyPr wrap="square" lIns="0" tIns="0" rIns="0" bIns="0" rtlCol="0" anchor="t"/>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 1</a:t>
            </a:r>
            <a:endParaRPr lang="en-US" sz="1600" dirty="0"/>
          </a:p>
        </p:txBody>
      </p:sp>
      <p:sp>
        <p:nvSpPr>
          <p:cNvPr id="33" name="Shape 30"/>
          <p:cNvSpPr/>
          <p:nvPr/>
        </p:nvSpPr>
        <p:spPr>
          <a:xfrm>
            <a:off x="2606040" y="3794760"/>
            <a:ext cx="530352" cy="594360"/>
          </a:xfrm>
          <a:prstGeom prst="roundRect">
            <a:avLst>
              <a:gd name="adj" fmla="val 13793"/>
            </a:avLst>
          </a:prstGeom>
          <a:solidFill>
            <a:srgbClr val="F4F6F7"/>
          </a:solidFill>
          <a:ln w="12700">
            <a:solidFill>
              <a:srgbClr val="1E2A30"/>
            </a:solidFill>
            <a:prstDash val="solid"/>
          </a:ln>
        </p:spPr>
      </p:sp>
      <p:sp>
        <p:nvSpPr>
          <p:cNvPr id="34" name="Text 31"/>
          <p:cNvSpPr txBox="1"/>
          <p:nvPr/>
        </p:nvSpPr>
        <p:spPr>
          <a:xfrm>
            <a:off x="260604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1</a:t>
            </a:r>
            <a:endParaRPr lang="en-US" sz="2000" dirty="0"/>
          </a:p>
        </p:txBody>
      </p:sp>
      <p:sp>
        <p:nvSpPr>
          <p:cNvPr id="35" name="Shape 32"/>
          <p:cNvSpPr/>
          <p:nvPr/>
        </p:nvSpPr>
        <p:spPr>
          <a:xfrm>
            <a:off x="3200400" y="3794760"/>
            <a:ext cx="530352" cy="594360"/>
          </a:xfrm>
          <a:prstGeom prst="roundRect">
            <a:avLst>
              <a:gd name="adj" fmla="val 13793"/>
            </a:avLst>
          </a:prstGeom>
          <a:solidFill>
            <a:srgbClr val="F4F6F7"/>
          </a:solidFill>
          <a:ln w="12700">
            <a:solidFill>
              <a:srgbClr val="1E2A30"/>
            </a:solidFill>
            <a:prstDash val="solid"/>
          </a:ln>
        </p:spPr>
      </p:sp>
      <p:sp>
        <p:nvSpPr>
          <p:cNvPr id="36" name="Text 33"/>
          <p:cNvSpPr txBox="1"/>
          <p:nvPr/>
        </p:nvSpPr>
        <p:spPr>
          <a:xfrm>
            <a:off x="320040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37" name="Shape 34"/>
          <p:cNvSpPr/>
          <p:nvPr/>
        </p:nvSpPr>
        <p:spPr>
          <a:xfrm>
            <a:off x="3794760" y="3794760"/>
            <a:ext cx="530352" cy="594360"/>
          </a:xfrm>
          <a:prstGeom prst="roundRect">
            <a:avLst>
              <a:gd name="adj" fmla="val 13793"/>
            </a:avLst>
          </a:prstGeom>
          <a:solidFill>
            <a:srgbClr val="F4F6F7"/>
          </a:solidFill>
          <a:ln w="12700">
            <a:solidFill>
              <a:srgbClr val="1E2A30"/>
            </a:solidFill>
            <a:prstDash val="solid"/>
          </a:ln>
        </p:spPr>
      </p:sp>
      <p:sp>
        <p:nvSpPr>
          <p:cNvPr id="38" name="Text 35"/>
          <p:cNvSpPr txBox="1"/>
          <p:nvPr/>
        </p:nvSpPr>
        <p:spPr>
          <a:xfrm>
            <a:off x="379476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39" name="Text 36"/>
          <p:cNvSpPr txBox="1"/>
          <p:nvPr/>
        </p:nvSpPr>
        <p:spPr>
          <a:xfrm>
            <a:off x="2606040" y="4480560"/>
            <a:ext cx="1737360" cy="365760"/>
          </a:xfrm>
          <a:prstGeom prst="rect">
            <a:avLst/>
          </a:prstGeom>
          <a:noFill/>
          <a:ln/>
        </p:spPr>
        <p:txBody>
          <a:bodyPr wrap="square" lIns="0" tIns="0" rIns="0" bIns="0" rtlCol="0" anchor="t"/>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 4</a:t>
            </a:r>
            <a:endParaRPr lang="en-US" sz="1600" dirty="0"/>
          </a:p>
        </p:txBody>
      </p:sp>
      <p:sp>
        <p:nvSpPr>
          <p:cNvPr id="40" name="Shape 37"/>
          <p:cNvSpPr/>
          <p:nvPr/>
        </p:nvSpPr>
        <p:spPr>
          <a:xfrm>
            <a:off x="4663440" y="3794760"/>
            <a:ext cx="530352" cy="594360"/>
          </a:xfrm>
          <a:prstGeom prst="roundRect">
            <a:avLst>
              <a:gd name="adj" fmla="val 13793"/>
            </a:avLst>
          </a:prstGeom>
          <a:solidFill>
            <a:srgbClr val="F4F6F7"/>
          </a:solidFill>
          <a:ln w="12700">
            <a:solidFill>
              <a:srgbClr val="1E2A30"/>
            </a:solidFill>
            <a:prstDash val="solid"/>
          </a:ln>
        </p:spPr>
      </p:sp>
      <p:sp>
        <p:nvSpPr>
          <p:cNvPr id="41" name="Text 38"/>
          <p:cNvSpPr txBox="1"/>
          <p:nvPr/>
        </p:nvSpPr>
        <p:spPr>
          <a:xfrm>
            <a:off x="466344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1</a:t>
            </a:r>
            <a:endParaRPr lang="en-US" sz="2000" dirty="0"/>
          </a:p>
        </p:txBody>
      </p:sp>
      <p:sp>
        <p:nvSpPr>
          <p:cNvPr id="42" name="Shape 39"/>
          <p:cNvSpPr/>
          <p:nvPr/>
        </p:nvSpPr>
        <p:spPr>
          <a:xfrm>
            <a:off x="5257800" y="3794760"/>
            <a:ext cx="530352" cy="594360"/>
          </a:xfrm>
          <a:prstGeom prst="roundRect">
            <a:avLst>
              <a:gd name="adj" fmla="val 13793"/>
            </a:avLst>
          </a:prstGeom>
          <a:solidFill>
            <a:srgbClr val="F4F6F7"/>
          </a:solidFill>
          <a:ln w="12700">
            <a:solidFill>
              <a:srgbClr val="1E2A30"/>
            </a:solidFill>
            <a:prstDash val="solid"/>
          </a:ln>
        </p:spPr>
      </p:sp>
      <p:sp>
        <p:nvSpPr>
          <p:cNvPr id="43" name="Text 40"/>
          <p:cNvSpPr txBox="1"/>
          <p:nvPr/>
        </p:nvSpPr>
        <p:spPr>
          <a:xfrm>
            <a:off x="525780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0</a:t>
            </a:r>
            <a:endParaRPr lang="en-US" sz="2000" dirty="0"/>
          </a:p>
        </p:txBody>
      </p:sp>
      <p:sp>
        <p:nvSpPr>
          <p:cNvPr id="44" name="Shape 41"/>
          <p:cNvSpPr/>
          <p:nvPr/>
        </p:nvSpPr>
        <p:spPr>
          <a:xfrm>
            <a:off x="5852160" y="3794760"/>
            <a:ext cx="530352" cy="594360"/>
          </a:xfrm>
          <a:prstGeom prst="roundRect">
            <a:avLst>
              <a:gd name="adj" fmla="val 13793"/>
            </a:avLst>
          </a:prstGeom>
          <a:solidFill>
            <a:srgbClr val="F4F6F7"/>
          </a:solidFill>
          <a:ln w="12700">
            <a:solidFill>
              <a:srgbClr val="1E2A30"/>
            </a:solidFill>
            <a:prstDash val="solid"/>
          </a:ln>
        </p:spPr>
      </p:sp>
      <p:sp>
        <p:nvSpPr>
          <p:cNvPr id="45" name="Text 42"/>
          <p:cNvSpPr txBox="1"/>
          <p:nvPr/>
        </p:nvSpPr>
        <p:spPr>
          <a:xfrm>
            <a:off x="5852160" y="3794760"/>
            <a:ext cx="530352" cy="594360"/>
          </a:xfrm>
          <a:prstGeom prst="rect">
            <a:avLst/>
          </a:prstGeom>
          <a:noFill/>
          <a:ln/>
        </p:spPr>
        <p:txBody>
          <a:bodyPr wrap="square" lIns="0" tIns="0" rIns="0" bIns="0" rtlCol="0" anchor="ctr"/>
          <a:lstStyle/>
          <a:p>
            <a:pPr algn="ctr" indent="0" marL="0">
              <a:buNone/>
            </a:pPr>
            <a:r>
              <a:rPr lang="en-US" sz="2000" b="1" dirty="0">
                <a:solidFill>
                  <a:srgbClr val="1E2A30"/>
                </a:solidFill>
                <a:latin typeface="Consolas" pitchFamily="34" charset="0"/>
                <a:ea typeface="Consolas" pitchFamily="34" charset="-122"/>
                <a:cs typeface="Consolas" pitchFamily="34" charset="-120"/>
              </a:rPr>
              <a:t>1</a:t>
            </a:r>
            <a:endParaRPr lang="en-US" sz="2000" dirty="0"/>
          </a:p>
        </p:txBody>
      </p:sp>
      <p:sp>
        <p:nvSpPr>
          <p:cNvPr id="46" name="Text 43"/>
          <p:cNvSpPr txBox="1"/>
          <p:nvPr/>
        </p:nvSpPr>
        <p:spPr>
          <a:xfrm>
            <a:off x="4663440" y="4480560"/>
            <a:ext cx="1737360" cy="365760"/>
          </a:xfrm>
          <a:prstGeom prst="rect">
            <a:avLst/>
          </a:prstGeom>
          <a:noFill/>
          <a:ln/>
        </p:spPr>
        <p:txBody>
          <a:bodyPr wrap="square" lIns="0" tIns="0" rIns="0" bIns="0" rtlCol="0" anchor="t"/>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 5</a:t>
            </a:r>
            <a:endParaRPr lang="en-US" sz="1600" dirty="0"/>
          </a:p>
        </p:txBody>
      </p:sp>
      <p:sp>
        <p:nvSpPr>
          <p:cNvPr id="47" name="Text 44"/>
          <p:cNvSpPr txBox="1"/>
          <p:nvPr/>
        </p:nvSpPr>
        <p:spPr>
          <a:xfrm>
            <a:off x="6766560" y="3794760"/>
            <a:ext cx="1828800" cy="594360"/>
          </a:xfrm>
          <a:prstGeom prst="rect">
            <a:avLst/>
          </a:prstGeom>
          <a:noFill/>
          <a:ln/>
        </p:spPr>
        <p:txBody>
          <a:bodyPr wrap="square" lIns="0" tIns="0" rIns="0" bIns="0" rtlCol="0" anchor="ctr"/>
          <a:lstStyle/>
          <a:p>
            <a:pPr indent="0" marL="0">
              <a:buNone/>
            </a:pPr>
            <a:r>
              <a:rPr lang="en-US" sz="2400" b="1" dirty="0">
                <a:solidFill>
                  <a:srgbClr val="1E2A30"/>
                </a:solidFill>
                <a:latin typeface="Consolas" pitchFamily="34" charset="0"/>
                <a:ea typeface="Consolas" pitchFamily="34" charset="-122"/>
                <a:cs typeface="Consolas" pitchFamily="34" charset="-120"/>
              </a:rPr>
              <a:t>= 145₈</a:t>
            </a:r>
            <a:endParaRPr lang="en-US" sz="2400" dirty="0"/>
          </a:p>
        </p:txBody>
      </p:sp>
      <p:sp>
        <p:nvSpPr>
          <p:cNvPr id="48" name="Shape 45"/>
          <p:cNvSpPr/>
          <p:nvPr/>
        </p:nvSpPr>
        <p:spPr>
          <a:xfrm>
            <a:off x="8869680" y="1371600"/>
            <a:ext cx="2770632" cy="3474720"/>
          </a:xfrm>
          <a:prstGeom prst="roundRect">
            <a:avLst>
              <a:gd name="adj" fmla="val 2640"/>
            </a:avLst>
          </a:prstGeom>
          <a:solidFill>
            <a:srgbClr val="E6F1F2"/>
          </a:solidFill>
          <a:ln w="12700">
            <a:solidFill>
              <a:srgbClr val="0E6E7A"/>
            </a:solidFill>
            <a:prstDash val="solid"/>
          </a:ln>
        </p:spPr>
      </p:sp>
      <p:sp>
        <p:nvSpPr>
          <p:cNvPr id="49" name="Text 46"/>
          <p:cNvSpPr txBox="1"/>
          <p:nvPr/>
        </p:nvSpPr>
        <p:spPr>
          <a:xfrm>
            <a:off x="9052560" y="1508760"/>
            <a:ext cx="240487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왜 되나?</a:t>
            </a:r>
            <a:endParaRPr lang="en-US" sz="1600" dirty="0"/>
          </a:p>
        </p:txBody>
      </p:sp>
      <p:sp>
        <p:nvSpPr>
          <p:cNvPr id="50" name="Text 47"/>
          <p:cNvSpPr txBox="1"/>
          <p:nvPr/>
        </p:nvSpPr>
        <p:spPr>
          <a:xfrm>
            <a:off x="9052560" y="1965960"/>
            <a:ext cx="2404872" cy="277063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8 = 2³ → 3비트</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16 = 2⁴ → 4비트</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빈자리는 앞에 0을 채운다</a:t>
            </a:r>
            <a:endParaRPr lang="en-US" sz="1500" dirty="0"/>
          </a:p>
        </p:txBody>
      </p:sp>
      <p:sp>
        <p:nvSpPr>
          <p:cNvPr id="51" name="Shape 48"/>
          <p:cNvSpPr/>
          <p:nvPr/>
        </p:nvSpPr>
        <p:spPr>
          <a:xfrm>
            <a:off x="548640" y="5760720"/>
            <a:ext cx="11091672" cy="457200"/>
          </a:xfrm>
          <a:prstGeom prst="roundRect">
            <a:avLst>
              <a:gd name="adj" fmla="val 16000"/>
            </a:avLst>
          </a:prstGeom>
          <a:solidFill>
            <a:srgbClr val="E6F1F2"/>
          </a:solidFill>
          <a:ln w="12700">
            <a:solidFill>
              <a:srgbClr val="E6F1F2"/>
            </a:solidFill>
            <a:prstDash val="solid"/>
          </a:ln>
        </p:spPr>
      </p:sp>
      <p:sp>
        <p:nvSpPr>
          <p:cNvPr id="52" name="Text 49"/>
          <p:cNvSpPr txBox="1"/>
          <p:nvPr/>
        </p:nvSpPr>
        <p:spPr>
          <a:xfrm>
            <a:off x="777240" y="576072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IP 주소(8비트 옥텟)와 MAC 주소(16진수)를 읽을 때 매일 쓰는 기술</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PART 1 확인 문제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1 · 통신 기초</a:t>
            </a:r>
            <a:endParaRPr lang="en-US" sz="1100" dirty="0"/>
          </a:p>
        </p:txBody>
      </p:sp>
      <p:sp>
        <p:nvSpPr>
          <p:cNvPr id="5" name="Shape 2"/>
          <p:cNvSpPr/>
          <p:nvPr/>
        </p:nvSpPr>
        <p:spPr>
          <a:xfrm>
            <a:off x="548640" y="1325880"/>
            <a:ext cx="11091672" cy="1097280"/>
          </a:xfrm>
          <a:prstGeom prst="roundRect">
            <a:avLst>
              <a:gd name="adj" fmla="val 6667"/>
            </a:avLst>
          </a:prstGeom>
          <a:solidFill>
            <a:srgbClr val="F4F6F7"/>
          </a:solidFill>
          <a:ln w="12700">
            <a:solidFill>
              <a:srgbClr val="9AA5AD"/>
            </a:solidFill>
            <a:prstDash val="solid"/>
          </a:ln>
        </p:spPr>
      </p:sp>
      <p:sp>
        <p:nvSpPr>
          <p:cNvPr id="6" name="Shape 3"/>
          <p:cNvSpPr/>
          <p:nvPr/>
        </p:nvSpPr>
        <p:spPr>
          <a:xfrm>
            <a:off x="777240" y="1645920"/>
            <a:ext cx="457200" cy="457200"/>
          </a:xfrm>
          <a:prstGeom prst="ellipse">
            <a:avLst/>
          </a:prstGeom>
          <a:solidFill>
            <a:srgbClr val="0E6E7A"/>
          </a:solidFill>
          <a:ln w="12700">
            <a:solidFill>
              <a:srgbClr val="0E6E7A"/>
            </a:solidFill>
            <a:prstDash val="solid"/>
          </a:ln>
        </p:spPr>
      </p:sp>
      <p:sp>
        <p:nvSpPr>
          <p:cNvPr id="7" name="Text 4"/>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Q1</a:t>
            </a:r>
            <a:endParaRPr lang="en-US" sz="1200" dirty="0"/>
          </a:p>
        </p:txBody>
      </p:sp>
      <p:sp>
        <p:nvSpPr>
          <p:cNvPr id="8" name="Text 5"/>
          <p:cNvSpPr txBox="1"/>
          <p:nvPr/>
        </p:nvSpPr>
        <p:spPr>
          <a:xfrm>
            <a:off x="1463040" y="1325880"/>
            <a:ext cx="9966960" cy="1097280"/>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Net + Work 의 뜻을 각각 말하고, Internet 의 뜻을 한 문장으로 설명하시오.</a:t>
            </a:r>
            <a:endParaRPr lang="en-US" sz="1600" dirty="0"/>
          </a:p>
        </p:txBody>
      </p:sp>
      <p:sp>
        <p:nvSpPr>
          <p:cNvPr id="9" name="Shape 6"/>
          <p:cNvSpPr/>
          <p:nvPr/>
        </p:nvSpPr>
        <p:spPr>
          <a:xfrm>
            <a:off x="548640" y="2606040"/>
            <a:ext cx="11091672" cy="1097280"/>
          </a:xfrm>
          <a:prstGeom prst="roundRect">
            <a:avLst>
              <a:gd name="adj" fmla="val 6667"/>
            </a:avLst>
          </a:prstGeom>
          <a:solidFill>
            <a:srgbClr val="FFFFFF"/>
          </a:solidFill>
          <a:ln w="12700">
            <a:solidFill>
              <a:srgbClr val="9AA5AD"/>
            </a:solidFill>
            <a:prstDash val="solid"/>
          </a:ln>
        </p:spPr>
      </p:sp>
      <p:sp>
        <p:nvSpPr>
          <p:cNvPr id="10" name="Shape 7"/>
          <p:cNvSpPr/>
          <p:nvPr/>
        </p:nvSpPr>
        <p:spPr>
          <a:xfrm>
            <a:off x="777240" y="2926080"/>
            <a:ext cx="457200" cy="457200"/>
          </a:xfrm>
          <a:prstGeom prst="ellipse">
            <a:avLst/>
          </a:prstGeom>
          <a:solidFill>
            <a:srgbClr val="0E6E7A"/>
          </a:solidFill>
          <a:ln w="12700">
            <a:solidFill>
              <a:srgbClr val="0E6E7A"/>
            </a:solidFill>
            <a:prstDash val="solid"/>
          </a:ln>
        </p:spPr>
      </p:sp>
      <p:sp>
        <p:nvSpPr>
          <p:cNvPr id="11" name="Text 8"/>
          <p:cNvSpPr txBox="1"/>
          <p:nvPr/>
        </p:nvSpPr>
        <p:spPr>
          <a:xfrm>
            <a:off x="777240" y="2926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Q2</a:t>
            </a:r>
            <a:endParaRPr lang="en-US" sz="1200" dirty="0"/>
          </a:p>
        </p:txBody>
      </p:sp>
      <p:sp>
        <p:nvSpPr>
          <p:cNvPr id="12" name="Text 9"/>
          <p:cNvSpPr txBox="1"/>
          <p:nvPr/>
        </p:nvSpPr>
        <p:spPr>
          <a:xfrm>
            <a:off x="1463040" y="2606040"/>
            <a:ext cx="9966960" cy="1097280"/>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무전기처럼 양쪽 모두 송신할 수 있지만 동시에는 보낼 수 없는 통신 방식은?</a:t>
            </a:r>
            <a:endParaRPr lang="en-US" sz="1600" dirty="0"/>
          </a:p>
        </p:txBody>
      </p:sp>
      <p:sp>
        <p:nvSpPr>
          <p:cNvPr id="13" name="Shape 10"/>
          <p:cNvSpPr/>
          <p:nvPr/>
        </p:nvSpPr>
        <p:spPr>
          <a:xfrm>
            <a:off x="548640" y="3886200"/>
            <a:ext cx="11091672" cy="1097280"/>
          </a:xfrm>
          <a:prstGeom prst="roundRect">
            <a:avLst>
              <a:gd name="adj" fmla="val 6667"/>
            </a:avLst>
          </a:prstGeom>
          <a:solidFill>
            <a:srgbClr val="F4F6F7"/>
          </a:solidFill>
          <a:ln w="12700">
            <a:solidFill>
              <a:srgbClr val="9AA5AD"/>
            </a:solidFill>
            <a:prstDash val="solid"/>
          </a:ln>
        </p:spPr>
      </p:sp>
      <p:sp>
        <p:nvSpPr>
          <p:cNvPr id="14" name="Shape 11"/>
          <p:cNvSpPr/>
          <p:nvPr/>
        </p:nvSpPr>
        <p:spPr>
          <a:xfrm>
            <a:off x="777240" y="4206240"/>
            <a:ext cx="457200" cy="457200"/>
          </a:xfrm>
          <a:prstGeom prst="ellipse">
            <a:avLst/>
          </a:prstGeom>
          <a:solidFill>
            <a:srgbClr val="0E6E7A"/>
          </a:solidFill>
          <a:ln w="12700">
            <a:solidFill>
              <a:srgbClr val="0E6E7A"/>
            </a:solidFill>
            <a:prstDash val="solid"/>
          </a:ln>
        </p:spPr>
      </p:sp>
      <p:sp>
        <p:nvSpPr>
          <p:cNvPr id="15" name="Text 12"/>
          <p:cNvSpPr txBox="1"/>
          <p:nvPr/>
        </p:nvSpPr>
        <p:spPr>
          <a:xfrm>
            <a:off x="777240" y="4206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Q3</a:t>
            </a:r>
            <a:endParaRPr lang="en-US" sz="1200" dirty="0"/>
          </a:p>
        </p:txBody>
      </p:sp>
      <p:sp>
        <p:nvSpPr>
          <p:cNvPr id="16" name="Text 13"/>
          <p:cNvSpPr txBox="1"/>
          <p:nvPr/>
        </p:nvSpPr>
        <p:spPr>
          <a:xfrm>
            <a:off x="1463040" y="3886200"/>
            <a:ext cx="9966960" cy="1097280"/>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10진수 200 을 2진수와 16진수로 바꾸시오.</a:t>
            </a:r>
            <a:endParaRPr lang="en-US" sz="1600" dirty="0"/>
          </a:p>
        </p:txBody>
      </p:sp>
      <p:sp>
        <p:nvSpPr>
          <p:cNvPr id="17" name="Shape 14"/>
          <p:cNvSpPr/>
          <p:nvPr/>
        </p:nvSpPr>
        <p:spPr>
          <a:xfrm>
            <a:off x="548640" y="5166360"/>
            <a:ext cx="11091672" cy="1097280"/>
          </a:xfrm>
          <a:prstGeom prst="roundRect">
            <a:avLst>
              <a:gd name="adj" fmla="val 6667"/>
            </a:avLst>
          </a:prstGeom>
          <a:solidFill>
            <a:srgbClr val="FFFFFF"/>
          </a:solidFill>
          <a:ln w="12700">
            <a:solidFill>
              <a:srgbClr val="9AA5AD"/>
            </a:solidFill>
            <a:prstDash val="solid"/>
          </a:ln>
        </p:spPr>
      </p:sp>
      <p:sp>
        <p:nvSpPr>
          <p:cNvPr id="18" name="Shape 15"/>
          <p:cNvSpPr/>
          <p:nvPr/>
        </p:nvSpPr>
        <p:spPr>
          <a:xfrm>
            <a:off x="777240" y="5486400"/>
            <a:ext cx="457200" cy="457200"/>
          </a:xfrm>
          <a:prstGeom prst="ellipse">
            <a:avLst/>
          </a:prstGeom>
          <a:solidFill>
            <a:srgbClr val="0E6E7A"/>
          </a:solidFill>
          <a:ln w="12700">
            <a:solidFill>
              <a:srgbClr val="0E6E7A"/>
            </a:solidFill>
            <a:prstDash val="solid"/>
          </a:ln>
        </p:spPr>
      </p:sp>
      <p:sp>
        <p:nvSpPr>
          <p:cNvPr id="19" name="Text 16"/>
          <p:cNvSpPr txBox="1"/>
          <p:nvPr/>
        </p:nvSpPr>
        <p:spPr>
          <a:xfrm>
            <a:off x="777240" y="54864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Q4</a:t>
            </a:r>
            <a:endParaRPr lang="en-US" sz="1200" dirty="0"/>
          </a:p>
        </p:txBody>
      </p:sp>
      <p:sp>
        <p:nvSpPr>
          <p:cNvPr id="20" name="Text 17"/>
          <p:cNvSpPr txBox="1"/>
          <p:nvPr/>
        </p:nvSpPr>
        <p:spPr>
          <a:xfrm>
            <a:off x="1463040" y="5166360"/>
            <a:ext cx="9966960" cy="1097280"/>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2진수 1111 1111 은 10진수로 얼마인가? 그리고 2⁰ 의 값은?</a:t>
            </a:r>
            <a:endParaRPr lang="en-US" sz="1600" dirty="0"/>
          </a:p>
        </p:txBody>
      </p:sp>
      <p:sp>
        <p:nvSpPr>
          <p:cNvPr id="21" name="Text 18"/>
          <p:cNvSpPr txBox="1"/>
          <p:nvPr/>
        </p:nvSpPr>
        <p:spPr>
          <a:xfrm>
            <a:off x="5486400" y="6382512"/>
            <a:ext cx="5394960" cy="274320"/>
          </a:xfrm>
          <a:prstGeom prst="rect">
            <a:avLst/>
          </a:prstGeom>
          <a:noFill/>
          <a:ln/>
        </p:spPr>
        <p:txBody>
          <a:bodyPr wrap="square" lIns="0" tIns="0" rIns="0" bIns="0" rtlCol="0" anchor="t"/>
          <a:lstStyle/>
          <a:p>
            <a:pPr algn="r" indent="0" marL="0">
              <a:buNone/>
            </a:pPr>
            <a:r>
              <a:rPr lang="en-US" sz="1000" dirty="0">
                <a:solidFill>
                  <a:srgbClr val="66737C"/>
                </a:solidFill>
                <a:latin typeface="맑은 고딕" pitchFamily="34" charset="0"/>
                <a:ea typeface="맑은 고딕" pitchFamily="34" charset="-122"/>
                <a:cs typeface="맑은 고딕" pitchFamily="34" charset="-120"/>
              </a:rPr>
              <a:t>정답과 해설은 발표자 노트에 있습니다</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5486400" cy="1097280"/>
          </a:xfrm>
          <a:prstGeom prst="rect">
            <a:avLst/>
          </a:prstGeom>
          <a:noFill/>
          <a:ln/>
        </p:spPr>
        <p:txBody>
          <a:bodyPr wrap="square" lIns="0" tIns="0" rIns="0" bIns="0" rtlCol="0" anchor="b"/>
          <a:lstStyle/>
          <a:p>
            <a:pPr indent="0" marL="0">
              <a:buNone/>
            </a:pPr>
            <a:r>
              <a:rPr lang="en-US" sz="5400" b="1" dirty="0">
                <a:solidFill>
                  <a:srgbClr val="7FB2B8"/>
                </a:solidFill>
                <a:latin typeface="맑은 고딕" pitchFamily="34" charset="0"/>
                <a:ea typeface="맑은 고딕" pitchFamily="34" charset="-122"/>
                <a:cs typeface="맑은 고딕" pitchFamily="34" charset="-120"/>
              </a:rPr>
              <a:t>PART 2</a:t>
            </a:r>
            <a:endParaRPr lang="en-US" sz="5400" dirty="0"/>
          </a:p>
        </p:txBody>
      </p:sp>
      <p:sp>
        <p:nvSpPr>
          <p:cNvPr id="3" name="Text 0"/>
          <p:cNvSpPr/>
          <p:nvPr>
            <p:ph idx="101" type="title" hasCustomPrompt="1"/>
          </p:nvPr>
        </p:nvSpPr>
        <p:spPr>
          <a:xfrm>
            <a:off x="731520" y="2560320"/>
            <a:ext cx="10698480" cy="100584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인터넷 주소 체계와 인터넷 구조</a:t>
            </a:r>
            <a:endParaRPr lang="en-US" sz="3800" dirty="0"/>
          </a:p>
        </p:txBody>
      </p:sp>
      <p:sp>
        <p:nvSpPr>
          <p:cNvPr id="4" name="Text 0"/>
          <p:cNvSpPr/>
          <p:nvPr>
            <p:ph idx="102" type="body" hasCustomPrompt="1"/>
          </p:nvPr>
        </p:nvSpPr>
        <p:spPr>
          <a:xfrm>
            <a:off x="731520" y="3749040"/>
            <a:ext cx="10698480"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인터넷의 세 가지 주소: 도메인 · IP · MAC</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IP 주소는 누가 나눠 주나: IANA → RIR → KRNIC → ISP</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도메인 · Whois · AS · 관문국 · 토폴로지</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인터넷의 세 가지 주소</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Shape 2"/>
          <p:cNvSpPr/>
          <p:nvPr/>
        </p:nvSpPr>
        <p:spPr>
          <a:xfrm>
            <a:off x="548640" y="1371600"/>
            <a:ext cx="6949440" cy="1143000"/>
          </a:xfrm>
          <a:prstGeom prst="roundRect">
            <a:avLst>
              <a:gd name="adj" fmla="val 6400"/>
            </a:avLst>
          </a:prstGeom>
          <a:solidFill>
            <a:srgbClr val="FFFFFF"/>
          </a:solidFill>
          <a:ln w="12700">
            <a:solidFill>
              <a:srgbClr val="9AA5AD"/>
            </a:solidFill>
            <a:prstDash val="solid"/>
          </a:ln>
        </p:spPr>
      </p:sp>
      <p:sp>
        <p:nvSpPr>
          <p:cNvPr id="6" name="Text 3"/>
          <p:cNvSpPr txBox="1"/>
          <p:nvPr/>
        </p:nvSpPr>
        <p:spPr>
          <a:xfrm>
            <a:off x="777240" y="1481328"/>
            <a:ext cx="2011680" cy="457200"/>
          </a:xfrm>
          <a:prstGeom prst="rect">
            <a:avLst/>
          </a:prstGeom>
          <a:noFill/>
          <a:ln/>
        </p:spPr>
        <p:txBody>
          <a:bodyPr wrap="square" lIns="0" tIns="0" rIns="0" bIns="0" rtlCol="0" anchor="t"/>
          <a:lstStyle/>
          <a:p>
            <a:pPr indent="0" marL="0">
              <a:buNone/>
            </a:pPr>
            <a:r>
              <a:rPr lang="en-US" sz="2000" b="1" dirty="0">
                <a:solidFill>
                  <a:srgbClr val="1E2A30"/>
                </a:solidFill>
                <a:latin typeface="맑은 고딕" pitchFamily="34" charset="0"/>
                <a:ea typeface="맑은 고딕" pitchFamily="34" charset="-122"/>
                <a:cs typeface="맑은 고딕" pitchFamily="34" charset="-120"/>
              </a:rPr>
              <a:t>도메인</a:t>
            </a:r>
            <a:endParaRPr lang="en-US" sz="2000" dirty="0"/>
          </a:p>
        </p:txBody>
      </p:sp>
      <p:sp>
        <p:nvSpPr>
          <p:cNvPr id="7" name="Text 4"/>
          <p:cNvSpPr txBox="1"/>
          <p:nvPr/>
        </p:nvSpPr>
        <p:spPr>
          <a:xfrm>
            <a:off x="777240" y="1965960"/>
            <a:ext cx="2651760" cy="411480"/>
          </a:xfrm>
          <a:prstGeom prst="rect">
            <a:avLst/>
          </a:prstGeom>
          <a:noFill/>
          <a:ln/>
        </p:spPr>
        <p:txBody>
          <a:bodyPr wrap="square" lIns="0" tIns="0" rIns="0" bIns="0" rtlCol="0" anchor="t"/>
          <a:lstStyle/>
          <a:p>
            <a:pPr indent="0" marL="0">
              <a:buNone/>
            </a:pPr>
            <a:r>
              <a:rPr lang="en-US" sz="1400" dirty="0">
                <a:solidFill>
                  <a:srgbClr val="0E6E7A"/>
                </a:solidFill>
                <a:latin typeface="Consolas" pitchFamily="34" charset="0"/>
                <a:ea typeface="Consolas" pitchFamily="34" charset="-122"/>
                <a:cs typeface="Consolas" pitchFamily="34" charset="-120"/>
              </a:rPr>
              <a:t>www.naver.com</a:t>
            </a:r>
            <a:endParaRPr lang="en-US" sz="1400" dirty="0"/>
          </a:p>
        </p:txBody>
      </p:sp>
      <p:sp>
        <p:nvSpPr>
          <p:cNvPr id="8" name="Text 5"/>
          <p:cNvSpPr txBox="1"/>
          <p:nvPr/>
        </p:nvSpPr>
        <p:spPr>
          <a:xfrm>
            <a:off x="3566160" y="1481328"/>
            <a:ext cx="3749040" cy="50292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사람이 기억하기 쉬운 문자 주소</a:t>
            </a:r>
            <a:endParaRPr lang="en-US" sz="1500" dirty="0"/>
          </a:p>
        </p:txBody>
      </p:sp>
      <p:sp>
        <p:nvSpPr>
          <p:cNvPr id="9" name="Text 6"/>
          <p:cNvSpPr txBox="1"/>
          <p:nvPr/>
        </p:nvSpPr>
        <p:spPr>
          <a:xfrm>
            <a:off x="3566160" y="1993392"/>
            <a:ext cx="3749040" cy="4114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비유: 상호명</a:t>
            </a:r>
            <a:endParaRPr lang="en-US" sz="1300" dirty="0"/>
          </a:p>
        </p:txBody>
      </p:sp>
      <p:sp>
        <p:nvSpPr>
          <p:cNvPr id="10" name="Shape 7"/>
          <p:cNvSpPr/>
          <p:nvPr/>
        </p:nvSpPr>
        <p:spPr>
          <a:xfrm>
            <a:off x="4023360" y="2514600"/>
            <a:ext cx="914" cy="320040"/>
          </a:xfrm>
          <a:prstGeom prst="line">
            <a:avLst/>
          </a:prstGeom>
          <a:noFill/>
          <a:ln w="19050">
            <a:solidFill>
              <a:srgbClr val="0E6E7A"/>
            </a:solidFill>
            <a:prstDash val="solid"/>
            <a:tailEnd type="triangle"/>
          </a:ln>
        </p:spPr>
      </p:sp>
      <p:sp>
        <p:nvSpPr>
          <p:cNvPr id="11" name="Text 8"/>
          <p:cNvSpPr txBox="1"/>
          <p:nvPr/>
        </p:nvSpPr>
        <p:spPr>
          <a:xfrm>
            <a:off x="4160520" y="2532888"/>
            <a:ext cx="3200400" cy="292608"/>
          </a:xfrm>
          <a:prstGeom prst="rect">
            <a:avLst/>
          </a:prstGeom>
          <a:noFill/>
          <a:ln/>
        </p:spPr>
        <p:txBody>
          <a:bodyPr wrap="square" lIns="0" tIns="0" rIns="0" bIns="0" rtlCol="0" anchor="ctr"/>
          <a:lstStyle/>
          <a:p>
            <a:pPr indent="0" marL="0">
              <a:buNone/>
            </a:pPr>
            <a:r>
              <a:rPr lang="en-US" sz="1200" b="1" dirty="0">
                <a:solidFill>
                  <a:srgbClr val="0E6E7A"/>
                </a:solidFill>
                <a:latin typeface="맑은 고딕" pitchFamily="34" charset="0"/>
                <a:ea typeface="맑은 고딕" pitchFamily="34" charset="-122"/>
                <a:cs typeface="맑은 고딕" pitchFamily="34" charset="-120"/>
              </a:rPr>
              <a:t>DNS 변환 (nslookup)</a:t>
            </a:r>
            <a:endParaRPr lang="en-US" sz="1200" dirty="0"/>
          </a:p>
        </p:txBody>
      </p:sp>
      <p:sp>
        <p:nvSpPr>
          <p:cNvPr id="12" name="Shape 9"/>
          <p:cNvSpPr/>
          <p:nvPr/>
        </p:nvSpPr>
        <p:spPr>
          <a:xfrm>
            <a:off x="548640" y="2834640"/>
            <a:ext cx="6949440" cy="1143000"/>
          </a:xfrm>
          <a:prstGeom prst="roundRect">
            <a:avLst>
              <a:gd name="adj" fmla="val 6400"/>
            </a:avLst>
          </a:prstGeom>
          <a:solidFill>
            <a:srgbClr val="E6F1F2"/>
          </a:solidFill>
          <a:ln w="12700">
            <a:solidFill>
              <a:srgbClr val="0E6E7A"/>
            </a:solidFill>
            <a:prstDash val="solid"/>
          </a:ln>
        </p:spPr>
      </p:sp>
      <p:sp>
        <p:nvSpPr>
          <p:cNvPr id="13" name="Text 10"/>
          <p:cNvSpPr txBox="1"/>
          <p:nvPr/>
        </p:nvSpPr>
        <p:spPr>
          <a:xfrm>
            <a:off x="777240" y="2944368"/>
            <a:ext cx="2011680" cy="457200"/>
          </a:xfrm>
          <a:prstGeom prst="rect">
            <a:avLst/>
          </a:prstGeom>
          <a:noFill/>
          <a:ln/>
        </p:spPr>
        <p:txBody>
          <a:bodyPr wrap="square" lIns="0" tIns="0" rIns="0" bIns="0" rtlCol="0" anchor="t"/>
          <a:lstStyle/>
          <a:p>
            <a:pPr indent="0" marL="0">
              <a:buNone/>
            </a:pPr>
            <a:r>
              <a:rPr lang="en-US" sz="2000" b="1" dirty="0">
                <a:solidFill>
                  <a:srgbClr val="1E2A30"/>
                </a:solidFill>
                <a:latin typeface="맑은 고딕" pitchFamily="34" charset="0"/>
                <a:ea typeface="맑은 고딕" pitchFamily="34" charset="-122"/>
                <a:cs typeface="맑은 고딕" pitchFamily="34" charset="-120"/>
              </a:rPr>
              <a:t>IP 주소</a:t>
            </a:r>
            <a:endParaRPr lang="en-US" sz="2000" dirty="0"/>
          </a:p>
        </p:txBody>
      </p:sp>
      <p:sp>
        <p:nvSpPr>
          <p:cNvPr id="14" name="Text 11"/>
          <p:cNvSpPr txBox="1"/>
          <p:nvPr/>
        </p:nvSpPr>
        <p:spPr>
          <a:xfrm>
            <a:off x="777240" y="3429000"/>
            <a:ext cx="2651760" cy="411480"/>
          </a:xfrm>
          <a:prstGeom prst="rect">
            <a:avLst/>
          </a:prstGeom>
          <a:noFill/>
          <a:ln/>
        </p:spPr>
        <p:txBody>
          <a:bodyPr wrap="square" lIns="0" tIns="0" rIns="0" bIns="0" rtlCol="0" anchor="t"/>
          <a:lstStyle/>
          <a:p>
            <a:pPr indent="0" marL="0">
              <a:buNone/>
            </a:pPr>
            <a:r>
              <a:rPr lang="en-US" sz="1400" dirty="0">
                <a:solidFill>
                  <a:srgbClr val="0E6E7A"/>
                </a:solidFill>
                <a:latin typeface="Consolas" pitchFamily="34" charset="0"/>
                <a:ea typeface="Consolas" pitchFamily="34" charset="-122"/>
                <a:cs typeface="Consolas" pitchFamily="34" charset="-120"/>
              </a:rPr>
              <a:t>223.130.200.104</a:t>
            </a:r>
            <a:endParaRPr lang="en-US" sz="1400" dirty="0"/>
          </a:p>
        </p:txBody>
      </p:sp>
      <p:sp>
        <p:nvSpPr>
          <p:cNvPr id="15" name="Text 12"/>
          <p:cNvSpPr txBox="1"/>
          <p:nvPr/>
        </p:nvSpPr>
        <p:spPr>
          <a:xfrm>
            <a:off x="3566160" y="2944368"/>
            <a:ext cx="3749040" cy="50292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네트워크에서 경로를 찾는 논리 주소 (L3)</a:t>
            </a:r>
            <a:endParaRPr lang="en-US" sz="1500" dirty="0"/>
          </a:p>
        </p:txBody>
      </p:sp>
      <p:sp>
        <p:nvSpPr>
          <p:cNvPr id="16" name="Text 13"/>
          <p:cNvSpPr txBox="1"/>
          <p:nvPr/>
        </p:nvSpPr>
        <p:spPr>
          <a:xfrm>
            <a:off x="3566160" y="3456432"/>
            <a:ext cx="3749040" cy="4114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비유: 도로명 주소</a:t>
            </a:r>
            <a:endParaRPr lang="en-US" sz="1300" dirty="0"/>
          </a:p>
        </p:txBody>
      </p:sp>
      <p:sp>
        <p:nvSpPr>
          <p:cNvPr id="17" name="Shape 14"/>
          <p:cNvSpPr/>
          <p:nvPr/>
        </p:nvSpPr>
        <p:spPr>
          <a:xfrm>
            <a:off x="4023360" y="3977640"/>
            <a:ext cx="914" cy="320040"/>
          </a:xfrm>
          <a:prstGeom prst="line">
            <a:avLst/>
          </a:prstGeom>
          <a:noFill/>
          <a:ln w="19050">
            <a:solidFill>
              <a:srgbClr val="0E6E7A"/>
            </a:solidFill>
            <a:prstDash val="solid"/>
            <a:tailEnd type="triangle"/>
          </a:ln>
        </p:spPr>
      </p:sp>
      <p:sp>
        <p:nvSpPr>
          <p:cNvPr id="18" name="Text 15"/>
          <p:cNvSpPr txBox="1"/>
          <p:nvPr/>
        </p:nvSpPr>
        <p:spPr>
          <a:xfrm>
            <a:off x="4160520" y="3995928"/>
            <a:ext cx="3200400" cy="292608"/>
          </a:xfrm>
          <a:prstGeom prst="rect">
            <a:avLst/>
          </a:prstGeom>
          <a:noFill/>
          <a:ln/>
        </p:spPr>
        <p:txBody>
          <a:bodyPr wrap="square" lIns="0" tIns="0" rIns="0" bIns="0" rtlCol="0" anchor="ctr"/>
          <a:lstStyle/>
          <a:p>
            <a:pPr indent="0" marL="0">
              <a:buNone/>
            </a:pPr>
            <a:r>
              <a:rPr lang="en-US" sz="1200" b="1" dirty="0">
                <a:solidFill>
                  <a:srgbClr val="0E6E7A"/>
                </a:solidFill>
                <a:latin typeface="맑은 고딕" pitchFamily="34" charset="0"/>
                <a:ea typeface="맑은 고딕" pitchFamily="34" charset="-122"/>
                <a:cs typeface="맑은 고딕" pitchFamily="34" charset="-120"/>
              </a:rPr>
              <a:t>ARP 변환 (arp -a)</a:t>
            </a:r>
            <a:endParaRPr lang="en-US" sz="1200" dirty="0"/>
          </a:p>
        </p:txBody>
      </p:sp>
      <p:sp>
        <p:nvSpPr>
          <p:cNvPr id="19" name="Shape 16"/>
          <p:cNvSpPr/>
          <p:nvPr/>
        </p:nvSpPr>
        <p:spPr>
          <a:xfrm>
            <a:off x="548640" y="4297680"/>
            <a:ext cx="6949440" cy="1143000"/>
          </a:xfrm>
          <a:prstGeom prst="roundRect">
            <a:avLst>
              <a:gd name="adj" fmla="val 6400"/>
            </a:avLst>
          </a:prstGeom>
          <a:solidFill>
            <a:srgbClr val="FFFFFF"/>
          </a:solidFill>
          <a:ln w="12700">
            <a:solidFill>
              <a:srgbClr val="9AA5AD"/>
            </a:solidFill>
            <a:prstDash val="solid"/>
          </a:ln>
        </p:spPr>
      </p:sp>
      <p:sp>
        <p:nvSpPr>
          <p:cNvPr id="20" name="Text 17"/>
          <p:cNvSpPr txBox="1"/>
          <p:nvPr/>
        </p:nvSpPr>
        <p:spPr>
          <a:xfrm>
            <a:off x="777240" y="4407408"/>
            <a:ext cx="2011680" cy="457200"/>
          </a:xfrm>
          <a:prstGeom prst="rect">
            <a:avLst/>
          </a:prstGeom>
          <a:noFill/>
          <a:ln/>
        </p:spPr>
        <p:txBody>
          <a:bodyPr wrap="square" lIns="0" tIns="0" rIns="0" bIns="0" rtlCol="0" anchor="t"/>
          <a:lstStyle/>
          <a:p>
            <a:pPr indent="0" marL="0">
              <a:buNone/>
            </a:pPr>
            <a:r>
              <a:rPr lang="en-US" sz="2000" b="1" dirty="0">
                <a:solidFill>
                  <a:srgbClr val="1E2A30"/>
                </a:solidFill>
                <a:latin typeface="맑은 고딕" pitchFamily="34" charset="0"/>
                <a:ea typeface="맑은 고딕" pitchFamily="34" charset="-122"/>
                <a:cs typeface="맑은 고딕" pitchFamily="34" charset="-120"/>
              </a:rPr>
              <a:t>MAC 주소</a:t>
            </a:r>
            <a:endParaRPr lang="en-US" sz="2000" dirty="0"/>
          </a:p>
        </p:txBody>
      </p:sp>
      <p:sp>
        <p:nvSpPr>
          <p:cNvPr id="21" name="Text 18"/>
          <p:cNvSpPr txBox="1"/>
          <p:nvPr/>
        </p:nvSpPr>
        <p:spPr>
          <a:xfrm>
            <a:off x="777240" y="4892040"/>
            <a:ext cx="2651760" cy="411480"/>
          </a:xfrm>
          <a:prstGeom prst="rect">
            <a:avLst/>
          </a:prstGeom>
          <a:noFill/>
          <a:ln/>
        </p:spPr>
        <p:txBody>
          <a:bodyPr wrap="square" lIns="0" tIns="0" rIns="0" bIns="0" rtlCol="0" anchor="t"/>
          <a:lstStyle/>
          <a:p>
            <a:pPr indent="0" marL="0">
              <a:buNone/>
            </a:pPr>
            <a:r>
              <a:rPr lang="en-US" sz="1400" dirty="0">
                <a:solidFill>
                  <a:srgbClr val="0E6E7A"/>
                </a:solidFill>
                <a:latin typeface="Consolas" pitchFamily="34" charset="0"/>
                <a:ea typeface="Consolas" pitchFamily="34" charset="-122"/>
                <a:cs typeface="Consolas" pitchFamily="34" charset="-120"/>
              </a:rPr>
              <a:t>00-1A-2B-3C-4D-5E</a:t>
            </a:r>
            <a:endParaRPr lang="en-US" sz="1400" dirty="0"/>
          </a:p>
        </p:txBody>
      </p:sp>
      <p:sp>
        <p:nvSpPr>
          <p:cNvPr id="22" name="Text 19"/>
          <p:cNvSpPr txBox="1"/>
          <p:nvPr/>
        </p:nvSpPr>
        <p:spPr>
          <a:xfrm>
            <a:off x="3566160" y="4407408"/>
            <a:ext cx="3749040" cy="50292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랜카드(NIC)에 새겨진 물리 주소 (L2)</a:t>
            </a:r>
            <a:endParaRPr lang="en-US" sz="1500" dirty="0"/>
          </a:p>
        </p:txBody>
      </p:sp>
      <p:sp>
        <p:nvSpPr>
          <p:cNvPr id="23" name="Text 20"/>
          <p:cNvSpPr txBox="1"/>
          <p:nvPr/>
        </p:nvSpPr>
        <p:spPr>
          <a:xfrm>
            <a:off x="3566160" y="4919472"/>
            <a:ext cx="3749040" cy="4114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비유: 받는 사람 이름</a:t>
            </a:r>
            <a:endParaRPr lang="en-US" sz="1300" dirty="0"/>
          </a:p>
        </p:txBody>
      </p:sp>
      <p:sp>
        <p:nvSpPr>
          <p:cNvPr id="24" name="Shape 21"/>
          <p:cNvSpPr/>
          <p:nvPr/>
        </p:nvSpPr>
        <p:spPr>
          <a:xfrm>
            <a:off x="7863840" y="1371600"/>
            <a:ext cx="3776472" cy="4069080"/>
          </a:xfrm>
          <a:prstGeom prst="roundRect">
            <a:avLst>
              <a:gd name="adj" fmla="val 1937"/>
            </a:avLst>
          </a:prstGeom>
          <a:solidFill>
            <a:srgbClr val="F4F6F7"/>
          </a:solidFill>
          <a:ln w="12700">
            <a:solidFill>
              <a:srgbClr val="9AA5AD"/>
            </a:solidFill>
            <a:prstDash val="solid"/>
          </a:ln>
        </p:spPr>
      </p:sp>
      <p:sp>
        <p:nvSpPr>
          <p:cNvPr id="25" name="Text 22"/>
          <p:cNvSpPr txBox="1"/>
          <p:nvPr/>
        </p:nvSpPr>
        <p:spPr>
          <a:xfrm>
            <a:off x="8046720" y="1508760"/>
            <a:ext cx="341071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IP 주소의 정의</a:t>
            </a:r>
            <a:endParaRPr lang="en-US" sz="1600" dirty="0"/>
          </a:p>
        </p:txBody>
      </p:sp>
      <p:sp>
        <p:nvSpPr>
          <p:cNvPr id="26" name="Text 23"/>
          <p:cNvSpPr txBox="1"/>
          <p:nvPr/>
        </p:nvSpPr>
        <p:spPr>
          <a:xfrm>
            <a:off x="8046720" y="1965960"/>
            <a:ext cx="3410712" cy="336499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인터넷에서 컴퓨터와 정보통신설비가 서로를 인식하도록 만든 번호</a:t>
            </a:r>
            <a:endParaRPr lang="en-US" sz="1400" dirty="0"/>
          </a:p>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구조 = 네트워크 ID + 호스트 ID</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네트워크 ID: 공인기관(KRNIC)이 할당</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호스트 ID: 기관의 네트워크 관리자가 부여 (수동 Static / 자동 DHCP)</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IP 주소는 누가 나눠 주나 — 배정 계층</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Shape 2"/>
          <p:cNvSpPr/>
          <p:nvPr/>
        </p:nvSpPr>
        <p:spPr>
          <a:xfrm>
            <a:off x="3657600" y="1325880"/>
            <a:ext cx="3474720" cy="713232"/>
          </a:xfrm>
          <a:prstGeom prst="roundRect">
            <a:avLst>
              <a:gd name="adj" fmla="val 10256"/>
            </a:avLst>
          </a:prstGeom>
          <a:solidFill>
            <a:srgbClr val="FFFFFF"/>
          </a:solidFill>
          <a:ln w="12700">
            <a:solidFill>
              <a:srgbClr val="1E2A30"/>
            </a:solidFill>
            <a:prstDash val="solid"/>
          </a:ln>
        </p:spPr>
      </p:sp>
      <p:sp>
        <p:nvSpPr>
          <p:cNvPr id="6" name="Text 3"/>
          <p:cNvSpPr txBox="1"/>
          <p:nvPr/>
        </p:nvSpPr>
        <p:spPr>
          <a:xfrm>
            <a:off x="3657600" y="1362456"/>
            <a:ext cx="3474720" cy="384048"/>
          </a:xfrm>
          <a:prstGeom prst="rect">
            <a:avLst/>
          </a:prstGeom>
          <a:noFill/>
          <a:ln/>
        </p:spPr>
        <p:txBody>
          <a:bodyPr wrap="square" lIns="0" tIns="0" rIns="0" bIns="0" rtlCol="0" anchor="t"/>
          <a:lstStyle/>
          <a:p>
            <a:pPr algn="ctr" indent="0" marL="0">
              <a:buNone/>
            </a:pPr>
            <a:r>
              <a:rPr lang="en-US" sz="1700" b="1" dirty="0">
                <a:solidFill>
                  <a:srgbClr val="1E2A30"/>
                </a:solidFill>
                <a:latin typeface="맑은 고딕" pitchFamily="34" charset="0"/>
                <a:ea typeface="맑은 고딕" pitchFamily="34" charset="-122"/>
                <a:cs typeface="맑은 고딕" pitchFamily="34" charset="-120"/>
              </a:rPr>
              <a:t>IANA (ICANN)</a:t>
            </a:r>
            <a:endParaRPr lang="en-US" sz="1700" dirty="0"/>
          </a:p>
        </p:txBody>
      </p:sp>
      <p:sp>
        <p:nvSpPr>
          <p:cNvPr id="7" name="Text 4"/>
          <p:cNvSpPr txBox="1"/>
          <p:nvPr/>
        </p:nvSpPr>
        <p:spPr>
          <a:xfrm>
            <a:off x="3657600" y="1709928"/>
            <a:ext cx="3474720" cy="292608"/>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전 세계 총괄</a:t>
            </a:r>
            <a:endParaRPr lang="en-US" sz="1200" dirty="0"/>
          </a:p>
        </p:txBody>
      </p:sp>
      <p:sp>
        <p:nvSpPr>
          <p:cNvPr id="8" name="Text 5"/>
          <p:cNvSpPr txBox="1"/>
          <p:nvPr/>
        </p:nvSpPr>
        <p:spPr>
          <a:xfrm>
            <a:off x="8732520" y="1417320"/>
            <a:ext cx="2926080" cy="548640"/>
          </a:xfrm>
          <a:prstGeom prst="rect">
            <a:avLst/>
          </a:prstGeom>
          <a:noFill/>
          <a:ln/>
        </p:spPr>
        <p:txBody>
          <a:bodyPr wrap="square" lIns="0" tIns="0" rIns="0" bIns="0" rtlCol="0" anchor="ctr"/>
          <a:lstStyle/>
          <a:p>
            <a:pPr indent="0" marL="0">
              <a:buNone/>
            </a:pPr>
            <a:r>
              <a:rPr lang="en-US" sz="1300" dirty="0">
                <a:solidFill>
                  <a:srgbClr val="66737C"/>
                </a:solidFill>
                <a:latin typeface="맑은 고딕" pitchFamily="34" charset="0"/>
                <a:ea typeface="맑은 고딕" pitchFamily="34" charset="-122"/>
                <a:cs typeface="맑은 고딕" pitchFamily="34" charset="-120"/>
              </a:rPr>
              <a:t>Internet Assigned Numbers Authority</a:t>
            </a:r>
            <a:endParaRPr lang="en-US" sz="1300" dirty="0"/>
          </a:p>
        </p:txBody>
      </p:sp>
      <p:sp>
        <p:nvSpPr>
          <p:cNvPr id="9" name="Shape 6"/>
          <p:cNvSpPr/>
          <p:nvPr/>
        </p:nvSpPr>
        <p:spPr>
          <a:xfrm>
            <a:off x="5394960" y="2039112"/>
            <a:ext cx="914" cy="182880"/>
          </a:xfrm>
          <a:prstGeom prst="line">
            <a:avLst/>
          </a:prstGeom>
          <a:noFill/>
          <a:ln w="19050">
            <a:solidFill>
              <a:srgbClr val="0E6E7A"/>
            </a:solidFill>
            <a:prstDash val="solid"/>
            <a:tailEnd type="triangle"/>
          </a:ln>
        </p:spPr>
      </p:sp>
      <p:sp>
        <p:nvSpPr>
          <p:cNvPr id="10" name="Shape 7"/>
          <p:cNvSpPr/>
          <p:nvPr/>
        </p:nvSpPr>
        <p:spPr>
          <a:xfrm>
            <a:off x="3337560" y="2221992"/>
            <a:ext cx="4114800" cy="713232"/>
          </a:xfrm>
          <a:prstGeom prst="roundRect">
            <a:avLst>
              <a:gd name="adj" fmla="val 10256"/>
            </a:avLst>
          </a:prstGeom>
          <a:solidFill>
            <a:srgbClr val="FFFFFF"/>
          </a:solidFill>
          <a:ln w="12700">
            <a:solidFill>
              <a:srgbClr val="1E2A30"/>
            </a:solidFill>
            <a:prstDash val="solid"/>
          </a:ln>
        </p:spPr>
      </p:sp>
      <p:sp>
        <p:nvSpPr>
          <p:cNvPr id="11" name="Text 8"/>
          <p:cNvSpPr txBox="1"/>
          <p:nvPr/>
        </p:nvSpPr>
        <p:spPr>
          <a:xfrm>
            <a:off x="3337560" y="2258568"/>
            <a:ext cx="4114800" cy="384048"/>
          </a:xfrm>
          <a:prstGeom prst="rect">
            <a:avLst/>
          </a:prstGeom>
          <a:noFill/>
          <a:ln/>
        </p:spPr>
        <p:txBody>
          <a:bodyPr wrap="square" lIns="0" tIns="0" rIns="0" bIns="0" rtlCol="0" anchor="t"/>
          <a:lstStyle/>
          <a:p>
            <a:pPr algn="ctr" indent="0" marL="0">
              <a:buNone/>
            </a:pPr>
            <a:r>
              <a:rPr lang="en-US" sz="1700" b="1" dirty="0">
                <a:solidFill>
                  <a:srgbClr val="1E2A30"/>
                </a:solidFill>
                <a:latin typeface="맑은 고딕" pitchFamily="34" charset="0"/>
                <a:ea typeface="맑은 고딕" pitchFamily="34" charset="-122"/>
                <a:cs typeface="맑은 고딕" pitchFamily="34" charset="-120"/>
              </a:rPr>
              <a:t>RIR</a:t>
            </a:r>
            <a:endParaRPr lang="en-US" sz="1700" dirty="0"/>
          </a:p>
        </p:txBody>
      </p:sp>
      <p:sp>
        <p:nvSpPr>
          <p:cNvPr id="12" name="Text 9"/>
          <p:cNvSpPr txBox="1"/>
          <p:nvPr/>
        </p:nvSpPr>
        <p:spPr>
          <a:xfrm>
            <a:off x="3337560" y="2606040"/>
            <a:ext cx="4114800" cy="292608"/>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대륙별 관리기관</a:t>
            </a:r>
            <a:endParaRPr lang="en-US" sz="1200" dirty="0"/>
          </a:p>
        </p:txBody>
      </p:sp>
      <p:sp>
        <p:nvSpPr>
          <p:cNvPr id="13" name="Text 10"/>
          <p:cNvSpPr txBox="1"/>
          <p:nvPr/>
        </p:nvSpPr>
        <p:spPr>
          <a:xfrm>
            <a:off x="8732520" y="2313432"/>
            <a:ext cx="2926080" cy="548640"/>
          </a:xfrm>
          <a:prstGeom prst="rect">
            <a:avLst/>
          </a:prstGeom>
          <a:noFill/>
          <a:ln/>
        </p:spPr>
        <p:txBody>
          <a:bodyPr wrap="square" lIns="0" tIns="0" rIns="0" bIns="0" rtlCol="0" anchor="ctr"/>
          <a:lstStyle/>
          <a:p>
            <a:pPr indent="0" marL="0">
              <a:buNone/>
            </a:pPr>
            <a:r>
              <a:rPr lang="en-US" sz="1300" dirty="0">
                <a:solidFill>
                  <a:srgbClr val="66737C"/>
                </a:solidFill>
                <a:latin typeface="맑은 고딕" pitchFamily="34" charset="0"/>
                <a:ea typeface="맑은 고딕" pitchFamily="34" charset="-122"/>
                <a:cs typeface="맑은 고딕" pitchFamily="34" charset="-120"/>
              </a:rPr>
              <a:t>한국 → APNIC (아시아·태평양)</a:t>
            </a:r>
            <a:endParaRPr lang="en-US" sz="1300" dirty="0"/>
          </a:p>
        </p:txBody>
      </p:sp>
      <p:sp>
        <p:nvSpPr>
          <p:cNvPr id="14" name="Shape 11"/>
          <p:cNvSpPr/>
          <p:nvPr/>
        </p:nvSpPr>
        <p:spPr>
          <a:xfrm>
            <a:off x="5394960" y="2935224"/>
            <a:ext cx="914" cy="182880"/>
          </a:xfrm>
          <a:prstGeom prst="line">
            <a:avLst/>
          </a:prstGeom>
          <a:noFill/>
          <a:ln w="19050">
            <a:solidFill>
              <a:srgbClr val="0E6E7A"/>
            </a:solidFill>
            <a:prstDash val="solid"/>
            <a:tailEnd type="triangle"/>
          </a:ln>
        </p:spPr>
      </p:sp>
      <p:sp>
        <p:nvSpPr>
          <p:cNvPr id="15" name="Shape 12"/>
          <p:cNvSpPr/>
          <p:nvPr/>
        </p:nvSpPr>
        <p:spPr>
          <a:xfrm>
            <a:off x="3017520" y="3118104"/>
            <a:ext cx="4754880" cy="713232"/>
          </a:xfrm>
          <a:prstGeom prst="roundRect">
            <a:avLst>
              <a:gd name="adj" fmla="val 10256"/>
            </a:avLst>
          </a:prstGeom>
          <a:solidFill>
            <a:srgbClr val="E6F1F2"/>
          </a:solidFill>
          <a:ln w="12700">
            <a:solidFill>
              <a:srgbClr val="0E6E7A"/>
            </a:solidFill>
            <a:prstDash val="solid"/>
          </a:ln>
        </p:spPr>
      </p:sp>
      <p:sp>
        <p:nvSpPr>
          <p:cNvPr id="16" name="Text 13"/>
          <p:cNvSpPr txBox="1"/>
          <p:nvPr/>
        </p:nvSpPr>
        <p:spPr>
          <a:xfrm>
            <a:off x="3017520" y="3154680"/>
            <a:ext cx="4754880" cy="384048"/>
          </a:xfrm>
          <a:prstGeom prst="rect">
            <a:avLst/>
          </a:prstGeom>
          <a:noFill/>
          <a:ln/>
        </p:spPr>
        <p:txBody>
          <a:bodyPr wrap="square" lIns="0" tIns="0" rIns="0" bIns="0" rtlCol="0" anchor="t"/>
          <a:lstStyle/>
          <a:p>
            <a:pPr algn="ctr" indent="0" marL="0">
              <a:buNone/>
            </a:pPr>
            <a:r>
              <a:rPr lang="en-US" sz="1700" b="1" dirty="0">
                <a:solidFill>
                  <a:srgbClr val="1E2A30"/>
                </a:solidFill>
                <a:latin typeface="맑은 고딕" pitchFamily="34" charset="0"/>
                <a:ea typeface="맑은 고딕" pitchFamily="34" charset="-122"/>
                <a:cs typeface="맑은 고딕" pitchFamily="34" charset="-120"/>
              </a:rPr>
              <a:t>NIR · KRNIC</a:t>
            </a:r>
            <a:endParaRPr lang="en-US" sz="1700" dirty="0"/>
          </a:p>
        </p:txBody>
      </p:sp>
      <p:sp>
        <p:nvSpPr>
          <p:cNvPr id="17" name="Text 14"/>
          <p:cNvSpPr txBox="1"/>
          <p:nvPr/>
        </p:nvSpPr>
        <p:spPr>
          <a:xfrm>
            <a:off x="3017520" y="3502152"/>
            <a:ext cx="4754880" cy="292608"/>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국가 관리기관</a:t>
            </a:r>
            <a:endParaRPr lang="en-US" sz="1200" dirty="0"/>
          </a:p>
        </p:txBody>
      </p:sp>
      <p:sp>
        <p:nvSpPr>
          <p:cNvPr id="18" name="Text 15"/>
          <p:cNvSpPr txBox="1"/>
          <p:nvPr/>
        </p:nvSpPr>
        <p:spPr>
          <a:xfrm>
            <a:off x="8732520" y="3209544"/>
            <a:ext cx="2926080" cy="548640"/>
          </a:xfrm>
          <a:prstGeom prst="rect">
            <a:avLst/>
          </a:prstGeom>
          <a:noFill/>
          <a:ln/>
        </p:spPr>
        <p:txBody>
          <a:bodyPr wrap="square" lIns="0" tIns="0" rIns="0" bIns="0" rtlCol="0" anchor="ctr"/>
          <a:lstStyle/>
          <a:p>
            <a:pPr indent="0" marL="0">
              <a:buNone/>
            </a:pPr>
            <a:r>
              <a:rPr lang="en-US" sz="1300" dirty="0">
                <a:solidFill>
                  <a:srgbClr val="66737C"/>
                </a:solidFill>
                <a:latin typeface="맑은 고딕" pitchFamily="34" charset="0"/>
                <a:ea typeface="맑은 고딕" pitchFamily="34" charset="-122"/>
                <a:cs typeface="맑은 고딕" pitchFamily="34" charset="-120"/>
              </a:rPr>
              <a:t>KISA(한국인터넷진흥원) 운영</a:t>
            </a:r>
            <a:endParaRPr lang="en-US" sz="1300" dirty="0"/>
          </a:p>
        </p:txBody>
      </p:sp>
      <p:sp>
        <p:nvSpPr>
          <p:cNvPr id="19" name="Shape 16"/>
          <p:cNvSpPr/>
          <p:nvPr/>
        </p:nvSpPr>
        <p:spPr>
          <a:xfrm>
            <a:off x="5394960" y="3831336"/>
            <a:ext cx="914" cy="182880"/>
          </a:xfrm>
          <a:prstGeom prst="line">
            <a:avLst/>
          </a:prstGeom>
          <a:noFill/>
          <a:ln w="19050">
            <a:solidFill>
              <a:srgbClr val="0E6E7A"/>
            </a:solidFill>
            <a:prstDash val="solid"/>
            <a:tailEnd type="triangle"/>
          </a:ln>
        </p:spPr>
      </p:sp>
      <p:sp>
        <p:nvSpPr>
          <p:cNvPr id="20" name="Shape 17"/>
          <p:cNvSpPr/>
          <p:nvPr/>
        </p:nvSpPr>
        <p:spPr>
          <a:xfrm>
            <a:off x="2697480" y="4014216"/>
            <a:ext cx="5394960" cy="713232"/>
          </a:xfrm>
          <a:prstGeom prst="roundRect">
            <a:avLst>
              <a:gd name="adj" fmla="val 10256"/>
            </a:avLst>
          </a:prstGeom>
          <a:solidFill>
            <a:srgbClr val="FFFFFF"/>
          </a:solidFill>
          <a:ln w="12700">
            <a:solidFill>
              <a:srgbClr val="1E2A30"/>
            </a:solidFill>
            <a:prstDash val="solid"/>
          </a:ln>
        </p:spPr>
      </p:sp>
      <p:sp>
        <p:nvSpPr>
          <p:cNvPr id="21" name="Text 18"/>
          <p:cNvSpPr txBox="1"/>
          <p:nvPr/>
        </p:nvSpPr>
        <p:spPr>
          <a:xfrm>
            <a:off x="2697480" y="4050792"/>
            <a:ext cx="5394960" cy="384048"/>
          </a:xfrm>
          <a:prstGeom prst="rect">
            <a:avLst/>
          </a:prstGeom>
          <a:noFill/>
          <a:ln/>
        </p:spPr>
        <p:txBody>
          <a:bodyPr wrap="square" lIns="0" tIns="0" rIns="0" bIns="0" rtlCol="0" anchor="t"/>
          <a:lstStyle/>
          <a:p>
            <a:pPr algn="ctr" indent="0" marL="0">
              <a:buNone/>
            </a:pPr>
            <a:r>
              <a:rPr lang="en-US" sz="1700" b="1" dirty="0">
                <a:solidFill>
                  <a:srgbClr val="1E2A30"/>
                </a:solidFill>
                <a:latin typeface="맑은 고딕" pitchFamily="34" charset="0"/>
                <a:ea typeface="맑은 고딕" pitchFamily="34" charset="-122"/>
                <a:cs typeface="맑은 고딕" pitchFamily="34" charset="-120"/>
              </a:rPr>
              <a:t>ISP / 독립사용자</a:t>
            </a:r>
            <a:endParaRPr lang="en-US" sz="1700" dirty="0"/>
          </a:p>
        </p:txBody>
      </p:sp>
      <p:sp>
        <p:nvSpPr>
          <p:cNvPr id="22" name="Text 19"/>
          <p:cNvSpPr txBox="1"/>
          <p:nvPr/>
        </p:nvSpPr>
        <p:spPr>
          <a:xfrm>
            <a:off x="2697480" y="4398264"/>
            <a:ext cx="5394960" cy="292608"/>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통신사 · 대학 · 기관</a:t>
            </a:r>
            <a:endParaRPr lang="en-US" sz="1200" dirty="0"/>
          </a:p>
        </p:txBody>
      </p:sp>
      <p:sp>
        <p:nvSpPr>
          <p:cNvPr id="23" name="Text 20"/>
          <p:cNvSpPr txBox="1"/>
          <p:nvPr/>
        </p:nvSpPr>
        <p:spPr>
          <a:xfrm>
            <a:off x="8732520" y="4105656"/>
            <a:ext cx="2926080" cy="548640"/>
          </a:xfrm>
          <a:prstGeom prst="rect">
            <a:avLst/>
          </a:prstGeom>
          <a:noFill/>
          <a:ln/>
        </p:spPr>
        <p:txBody>
          <a:bodyPr wrap="square" lIns="0" tIns="0" rIns="0" bIns="0" rtlCol="0" anchor="ctr"/>
          <a:lstStyle/>
          <a:p>
            <a:pPr indent="0" marL="0">
              <a:buNone/>
            </a:pPr>
            <a:r>
              <a:rPr lang="en-US" sz="1300" dirty="0">
                <a:solidFill>
                  <a:srgbClr val="66737C"/>
                </a:solidFill>
                <a:latin typeface="맑은 고딕" pitchFamily="34" charset="0"/>
                <a:ea typeface="맑은 고딕" pitchFamily="34" charset="-122"/>
                <a:cs typeface="맑은 고딕" pitchFamily="34" charset="-120"/>
              </a:rPr>
              <a:t>KT, SKB, LGU+ 등</a:t>
            </a:r>
            <a:endParaRPr lang="en-US" sz="1300" dirty="0"/>
          </a:p>
        </p:txBody>
      </p:sp>
      <p:sp>
        <p:nvSpPr>
          <p:cNvPr id="24" name="Shape 21"/>
          <p:cNvSpPr/>
          <p:nvPr/>
        </p:nvSpPr>
        <p:spPr>
          <a:xfrm>
            <a:off x="5394960" y="4727448"/>
            <a:ext cx="914" cy="182880"/>
          </a:xfrm>
          <a:prstGeom prst="line">
            <a:avLst/>
          </a:prstGeom>
          <a:noFill/>
          <a:ln w="19050">
            <a:solidFill>
              <a:srgbClr val="0E6E7A"/>
            </a:solidFill>
            <a:prstDash val="solid"/>
            <a:tailEnd type="triangle"/>
          </a:ln>
        </p:spPr>
      </p:sp>
      <p:sp>
        <p:nvSpPr>
          <p:cNvPr id="25" name="Shape 22"/>
          <p:cNvSpPr/>
          <p:nvPr/>
        </p:nvSpPr>
        <p:spPr>
          <a:xfrm>
            <a:off x="2377440" y="4910328"/>
            <a:ext cx="6035040" cy="713232"/>
          </a:xfrm>
          <a:prstGeom prst="roundRect">
            <a:avLst>
              <a:gd name="adj" fmla="val 10256"/>
            </a:avLst>
          </a:prstGeom>
          <a:solidFill>
            <a:srgbClr val="FFFFFF"/>
          </a:solidFill>
          <a:ln w="12700">
            <a:solidFill>
              <a:srgbClr val="1E2A30"/>
            </a:solidFill>
            <a:prstDash val="solid"/>
          </a:ln>
        </p:spPr>
      </p:sp>
      <p:sp>
        <p:nvSpPr>
          <p:cNvPr id="26" name="Text 23"/>
          <p:cNvSpPr txBox="1"/>
          <p:nvPr/>
        </p:nvSpPr>
        <p:spPr>
          <a:xfrm>
            <a:off x="2377440" y="4946904"/>
            <a:ext cx="6035040" cy="384048"/>
          </a:xfrm>
          <a:prstGeom prst="rect">
            <a:avLst/>
          </a:prstGeom>
          <a:noFill/>
          <a:ln/>
        </p:spPr>
        <p:txBody>
          <a:bodyPr wrap="square" lIns="0" tIns="0" rIns="0" bIns="0" rtlCol="0" anchor="t"/>
          <a:lstStyle/>
          <a:p>
            <a:pPr algn="ctr" indent="0" marL="0">
              <a:buNone/>
            </a:pPr>
            <a:r>
              <a:rPr lang="en-US" sz="1700" b="1" dirty="0">
                <a:solidFill>
                  <a:srgbClr val="1E2A30"/>
                </a:solidFill>
                <a:latin typeface="맑은 고딕" pitchFamily="34" charset="0"/>
                <a:ea typeface="맑은 고딕" pitchFamily="34" charset="-122"/>
                <a:cs typeface="맑은 고딕" pitchFamily="34" charset="-120"/>
              </a:rPr>
              <a:t>사용자</a:t>
            </a:r>
            <a:endParaRPr lang="en-US" sz="1700" dirty="0"/>
          </a:p>
        </p:txBody>
      </p:sp>
      <p:sp>
        <p:nvSpPr>
          <p:cNvPr id="27" name="Text 24"/>
          <p:cNvSpPr txBox="1"/>
          <p:nvPr/>
        </p:nvSpPr>
        <p:spPr>
          <a:xfrm>
            <a:off x="2377440" y="5294376"/>
            <a:ext cx="6035040" cy="292608"/>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가정 · 기업</a:t>
            </a:r>
            <a:endParaRPr lang="en-US" sz="1200" dirty="0"/>
          </a:p>
        </p:txBody>
      </p:sp>
      <p:sp>
        <p:nvSpPr>
          <p:cNvPr id="28" name="Text 25"/>
          <p:cNvSpPr txBox="1"/>
          <p:nvPr/>
        </p:nvSpPr>
        <p:spPr>
          <a:xfrm>
            <a:off x="8732520" y="5001768"/>
            <a:ext cx="2926080" cy="548640"/>
          </a:xfrm>
          <a:prstGeom prst="rect">
            <a:avLst/>
          </a:prstGeom>
          <a:noFill/>
          <a:ln/>
        </p:spPr>
        <p:txBody>
          <a:bodyPr wrap="square" lIns="0" tIns="0" rIns="0" bIns="0" rtlCol="0" anchor="ctr"/>
          <a:lstStyle/>
          <a:p>
            <a:pPr indent="0" marL="0">
              <a:buNone/>
            </a:pPr>
            <a:r>
              <a:rPr lang="en-US" sz="1300" dirty="0">
                <a:solidFill>
                  <a:srgbClr val="66737C"/>
                </a:solidFill>
                <a:latin typeface="맑은 고딕" pitchFamily="34" charset="0"/>
                <a:ea typeface="맑은 고딕" pitchFamily="34" charset="-122"/>
                <a:cs typeface="맑은 고딕" pitchFamily="34" charset="-120"/>
              </a:rPr>
              <a:t>ISP에게서 할당</a:t>
            </a:r>
            <a:endParaRPr lang="en-US" sz="1300" dirty="0"/>
          </a:p>
        </p:txBody>
      </p:sp>
      <p:sp>
        <p:nvSpPr>
          <p:cNvPr id="29" name="Text 26"/>
          <p:cNvSpPr txBox="1"/>
          <p:nvPr/>
        </p:nvSpPr>
        <p:spPr>
          <a:xfrm>
            <a:off x="548640" y="1371600"/>
            <a:ext cx="2286000" cy="36576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할당 방향 ↓</a:t>
            </a:r>
            <a:endParaRPr lang="en-US" sz="1400" dirty="0"/>
          </a:p>
        </p:txBody>
      </p:sp>
      <p:sp>
        <p:nvSpPr>
          <p:cNvPr id="30" name="Shape 27"/>
          <p:cNvSpPr/>
          <p:nvPr/>
        </p:nvSpPr>
        <p:spPr>
          <a:xfrm>
            <a:off x="548640" y="5897880"/>
            <a:ext cx="11091672" cy="457200"/>
          </a:xfrm>
          <a:prstGeom prst="roundRect">
            <a:avLst>
              <a:gd name="adj" fmla="val 16000"/>
            </a:avLst>
          </a:prstGeom>
          <a:solidFill>
            <a:srgbClr val="E6F1F2"/>
          </a:solidFill>
          <a:ln w="12700">
            <a:solidFill>
              <a:srgbClr val="E6F1F2"/>
            </a:solidFill>
            <a:prstDash val="solid"/>
          </a:ln>
        </p:spPr>
      </p:sp>
      <p:sp>
        <p:nvSpPr>
          <p:cNvPr id="31" name="Text 28"/>
          <p:cNvSpPr txBox="1"/>
          <p:nvPr/>
        </p:nvSpPr>
        <p:spPr>
          <a:xfrm>
            <a:off x="777240" y="589788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ICANN(IANA) → APNIC(RIR) → KRNIC(KISA) → ISP → 사용자</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대륙별 인터넷 레지스트리(RIR) 5곳</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737360"/>
                <a:gridCol w="5669280"/>
                <a:gridCol w="3685032"/>
              </a:tblGrid>
              <a:tr h="566928">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RIR</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정식 명칭</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담당 지역</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566928">
                <a:tc>
                  <a:txBody>
                    <a:bodyP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APNIC</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Asia Pacific Network Information Centre</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아시아 · 태평양  (한국 소속)</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r h="566928">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ARIN</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American Registry for Internet Numbers</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북아메리카</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66928">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RIPE NCC</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Réseaux IP Européens Network Coordination Centre</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유럽 · 중동 · 중앙아시아</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LACNIC</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Latin America and Caribbean NIC</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라틴아메리카 · 카리브해</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66928">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AFRINIC</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African Network Information Centre</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아프리카</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1672" cy="457200"/>
          </a:xfrm>
          <a:prstGeom prst="roundRect">
            <a:avLst>
              <a:gd name="adj" fmla="val 16000"/>
            </a:avLst>
          </a:prstGeom>
          <a:solidFill>
            <a:srgbClr val="E6F1F2"/>
          </a:solidFill>
          <a:ln w="12700">
            <a:solidFill>
              <a:srgbClr val="E6F1F2"/>
            </a:solidFill>
            <a:prstDash val="solid"/>
          </a:ln>
        </p:spPr>
      </p:sp>
      <p:sp>
        <p:nvSpPr>
          <p:cNvPr id="7" name="Text 3"/>
          <p:cNvSpPr txBox="1"/>
          <p:nvPr/>
        </p:nvSpPr>
        <p:spPr>
          <a:xfrm>
            <a:off x="777240" y="525780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RIPE NCC 는 '유럽'(+중동·중앙아시아), 아프리카는 AFRINIC — 자주 헷갈리는 짝</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도메인과 Whois</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Shape 2"/>
          <p:cNvSpPr/>
          <p:nvPr/>
        </p:nvSpPr>
        <p:spPr>
          <a:xfrm>
            <a:off x="548640" y="1325880"/>
            <a:ext cx="5394960" cy="1965960"/>
          </a:xfrm>
          <a:prstGeom prst="roundRect">
            <a:avLst>
              <a:gd name="adj" fmla="val 3721"/>
            </a:avLst>
          </a:prstGeom>
          <a:solidFill>
            <a:srgbClr val="FFFFFF"/>
          </a:solidFill>
          <a:ln w="12700">
            <a:solidFill>
              <a:srgbClr val="9AA5AD"/>
            </a:solidFill>
            <a:prstDash val="solid"/>
          </a:ln>
        </p:spPr>
      </p:sp>
      <p:sp>
        <p:nvSpPr>
          <p:cNvPr id="6" name="Text 3"/>
          <p:cNvSpPr txBox="1"/>
          <p:nvPr/>
        </p:nvSpPr>
        <p:spPr>
          <a:xfrm>
            <a:off x="731520" y="146304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도메인 (Domain)</a:t>
            </a:r>
            <a:endParaRPr lang="en-US" sz="1600" dirty="0"/>
          </a:p>
        </p:txBody>
      </p:sp>
      <p:sp>
        <p:nvSpPr>
          <p:cNvPr id="7" name="Text 4"/>
          <p:cNvSpPr txBox="1"/>
          <p:nvPr/>
        </p:nvSpPr>
        <p:spPr>
          <a:xfrm>
            <a:off x="731520" y="1920240"/>
            <a:ext cx="5029200" cy="12618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IP 주소를 사람이 기억하기 쉽게 만든 문자 주소</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인터넷에 연결된 호스트의 이름</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www.kisa.or.kr</a:t>
            </a:r>
            <a:endParaRPr lang="en-US" sz="1400" dirty="0"/>
          </a:p>
        </p:txBody>
      </p:sp>
      <p:sp>
        <p:nvSpPr>
          <p:cNvPr id="8" name="Shape 5"/>
          <p:cNvSpPr/>
          <p:nvPr/>
        </p:nvSpPr>
        <p:spPr>
          <a:xfrm>
            <a:off x="6245352" y="1325880"/>
            <a:ext cx="5394960" cy="1965960"/>
          </a:xfrm>
          <a:prstGeom prst="roundRect">
            <a:avLst>
              <a:gd name="adj" fmla="val 3721"/>
            </a:avLst>
          </a:prstGeom>
          <a:solidFill>
            <a:srgbClr val="FFFFFF"/>
          </a:solidFill>
          <a:ln w="12700">
            <a:solidFill>
              <a:srgbClr val="9AA5AD"/>
            </a:solidFill>
            <a:prstDash val="solid"/>
          </a:ln>
        </p:spPr>
      </p:sp>
      <p:sp>
        <p:nvSpPr>
          <p:cNvPr id="9" name="Text 6"/>
          <p:cNvSpPr txBox="1"/>
          <p:nvPr/>
        </p:nvSpPr>
        <p:spPr>
          <a:xfrm>
            <a:off x="6428232" y="146304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Whois 서비스</a:t>
            </a:r>
            <a:endParaRPr lang="en-US" sz="1600" dirty="0"/>
          </a:p>
        </p:txBody>
      </p:sp>
      <p:sp>
        <p:nvSpPr>
          <p:cNvPr id="10" name="Text 7"/>
          <p:cNvSpPr txBox="1"/>
          <p:nvPr/>
        </p:nvSpPr>
        <p:spPr>
          <a:xfrm>
            <a:off x="6428232" y="1920240"/>
            <a:ext cx="5029200" cy="12618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인터넷 주소의 등록 · 할당 정보 검색</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기관명 · 주소 · 담당자 · 등록대행자 확인</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보안: 의심 도메인의 등록 정보 조사</a:t>
            </a:r>
            <a:endParaRPr lang="en-US" sz="1400" dirty="0"/>
          </a:p>
        </p:txBody>
      </p:sp>
      <p:sp>
        <p:nvSpPr>
          <p:cNvPr id="11" name="Text 8"/>
          <p:cNvSpPr txBox="1"/>
          <p:nvPr/>
        </p:nvSpPr>
        <p:spPr>
          <a:xfrm>
            <a:off x="548640" y="3566160"/>
            <a:ext cx="45720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도메인 등록 절차</a:t>
            </a:r>
            <a:endParaRPr lang="en-US" sz="1700" dirty="0"/>
          </a:p>
        </p:txBody>
      </p:sp>
      <p:sp>
        <p:nvSpPr>
          <p:cNvPr id="12" name="Shape 9"/>
          <p:cNvSpPr/>
          <p:nvPr/>
        </p:nvSpPr>
        <p:spPr>
          <a:xfrm>
            <a:off x="548640" y="4069080"/>
            <a:ext cx="1965960" cy="1234440"/>
          </a:xfrm>
          <a:prstGeom prst="roundRect">
            <a:avLst>
              <a:gd name="adj" fmla="val 5926"/>
            </a:avLst>
          </a:prstGeom>
          <a:solidFill>
            <a:srgbClr val="F4F6F7"/>
          </a:solidFill>
          <a:ln w="12700">
            <a:solidFill>
              <a:srgbClr val="1E2A30"/>
            </a:solidFill>
            <a:prstDash val="solid"/>
          </a:ln>
        </p:spPr>
      </p:sp>
      <p:sp>
        <p:nvSpPr>
          <p:cNvPr id="13" name="Shape 10"/>
          <p:cNvSpPr/>
          <p:nvPr/>
        </p:nvSpPr>
        <p:spPr>
          <a:xfrm>
            <a:off x="658368" y="4160520"/>
            <a:ext cx="365760" cy="365760"/>
          </a:xfrm>
          <a:prstGeom prst="ellipse">
            <a:avLst/>
          </a:prstGeom>
          <a:solidFill>
            <a:srgbClr val="0E6E7A"/>
          </a:solidFill>
          <a:ln w="12700">
            <a:solidFill>
              <a:srgbClr val="0E6E7A"/>
            </a:solidFill>
            <a:prstDash val="solid"/>
          </a:ln>
        </p:spPr>
      </p:sp>
      <p:sp>
        <p:nvSpPr>
          <p:cNvPr id="14" name="Text 11"/>
          <p:cNvSpPr txBox="1"/>
          <p:nvPr/>
        </p:nvSpPr>
        <p:spPr>
          <a:xfrm>
            <a:off x="658368" y="4160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a:t>
            </a:r>
            <a:endParaRPr lang="en-US" sz="1200" dirty="0"/>
          </a:p>
        </p:txBody>
      </p:sp>
      <p:sp>
        <p:nvSpPr>
          <p:cNvPr id="15" name="Text 12"/>
          <p:cNvSpPr txBox="1"/>
          <p:nvPr/>
        </p:nvSpPr>
        <p:spPr>
          <a:xfrm>
            <a:off x="640080" y="4526280"/>
            <a:ext cx="1783080" cy="731520"/>
          </a:xfrm>
          <a:prstGeom prst="rect">
            <a:avLst/>
          </a:prstGeom>
          <a:noFill/>
          <a:ln/>
        </p:spPr>
        <p:txBody>
          <a:bodyPr wrap="square" lIns="0" tIns="0" rIns="0" bIns="0" rtlCol="0" anchor="t"/>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KRNIC 방문</a:t>
            </a:r>
            <a:endParaRPr lang="en-US" sz="1400" dirty="0"/>
          </a:p>
          <a:p>
            <a:pPr algn="ctr" indent="0" marL="0">
              <a:buNone/>
            </a:pPr>
            <a:r>
              <a:rPr lang="en-US" sz="1400" dirty="0">
                <a:solidFill>
                  <a:srgbClr val="1E2A30"/>
                </a:solidFill>
                <a:latin typeface="맑은 고딕" pitchFamily="34" charset="0"/>
                <a:ea typeface="맑은 고딕" pitchFamily="34" charset="-122"/>
                <a:cs typeface="맑은 고딕" pitchFamily="34" charset="-120"/>
              </a:rPr>
              <a:t>(krnic.kisa.or.kr)</a:t>
            </a:r>
            <a:endParaRPr lang="en-US" sz="1400" dirty="0"/>
          </a:p>
        </p:txBody>
      </p:sp>
      <p:sp>
        <p:nvSpPr>
          <p:cNvPr id="16" name="Shape 13"/>
          <p:cNvSpPr/>
          <p:nvPr/>
        </p:nvSpPr>
        <p:spPr>
          <a:xfrm>
            <a:off x="2542032" y="4681728"/>
            <a:ext cx="246888" cy="914"/>
          </a:xfrm>
          <a:prstGeom prst="line">
            <a:avLst/>
          </a:prstGeom>
          <a:noFill/>
          <a:ln w="19050">
            <a:solidFill>
              <a:srgbClr val="1E2A30"/>
            </a:solidFill>
            <a:prstDash val="solid"/>
            <a:tailEnd type="triangle"/>
          </a:ln>
        </p:spPr>
      </p:sp>
      <p:sp>
        <p:nvSpPr>
          <p:cNvPr id="17" name="Shape 14"/>
          <p:cNvSpPr/>
          <p:nvPr/>
        </p:nvSpPr>
        <p:spPr>
          <a:xfrm>
            <a:off x="2816352" y="4069080"/>
            <a:ext cx="1965960" cy="1234440"/>
          </a:xfrm>
          <a:prstGeom prst="roundRect">
            <a:avLst>
              <a:gd name="adj" fmla="val 5926"/>
            </a:avLst>
          </a:prstGeom>
          <a:solidFill>
            <a:srgbClr val="F4F6F7"/>
          </a:solidFill>
          <a:ln w="12700">
            <a:solidFill>
              <a:srgbClr val="1E2A30"/>
            </a:solidFill>
            <a:prstDash val="solid"/>
          </a:ln>
        </p:spPr>
      </p:sp>
      <p:sp>
        <p:nvSpPr>
          <p:cNvPr id="18" name="Shape 15"/>
          <p:cNvSpPr/>
          <p:nvPr/>
        </p:nvSpPr>
        <p:spPr>
          <a:xfrm>
            <a:off x="2926080" y="4160520"/>
            <a:ext cx="365760" cy="365760"/>
          </a:xfrm>
          <a:prstGeom prst="ellipse">
            <a:avLst/>
          </a:prstGeom>
          <a:solidFill>
            <a:srgbClr val="0E6E7A"/>
          </a:solidFill>
          <a:ln w="12700">
            <a:solidFill>
              <a:srgbClr val="0E6E7A"/>
            </a:solidFill>
            <a:prstDash val="solid"/>
          </a:ln>
        </p:spPr>
      </p:sp>
      <p:sp>
        <p:nvSpPr>
          <p:cNvPr id="19" name="Text 16"/>
          <p:cNvSpPr txBox="1"/>
          <p:nvPr/>
        </p:nvSpPr>
        <p:spPr>
          <a:xfrm>
            <a:off x="2926080" y="4160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2</a:t>
            </a:r>
            <a:endParaRPr lang="en-US" sz="1200" dirty="0"/>
          </a:p>
        </p:txBody>
      </p:sp>
      <p:sp>
        <p:nvSpPr>
          <p:cNvPr id="20" name="Text 17"/>
          <p:cNvSpPr txBox="1"/>
          <p:nvPr/>
        </p:nvSpPr>
        <p:spPr>
          <a:xfrm>
            <a:off x="2907792" y="4526280"/>
            <a:ext cx="1783080" cy="731520"/>
          </a:xfrm>
          <a:prstGeom prst="rect">
            <a:avLst/>
          </a:prstGeom>
          <a:noFill/>
          <a:ln/>
        </p:spPr>
        <p:txBody>
          <a:bodyPr wrap="square" lIns="0" tIns="0" rIns="0" bIns="0" rtlCol="0" anchor="t"/>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등록 가능</a:t>
            </a:r>
            <a:endParaRPr lang="en-US" sz="1400" dirty="0"/>
          </a:p>
          <a:p>
            <a:pPr algn="ctr" indent="0" marL="0">
              <a:buNone/>
            </a:pPr>
            <a:r>
              <a:rPr lang="en-US" sz="1400" dirty="0">
                <a:solidFill>
                  <a:srgbClr val="1E2A30"/>
                </a:solidFill>
                <a:latin typeface="맑은 고딕" pitchFamily="34" charset="0"/>
                <a:ea typeface="맑은 고딕" pitchFamily="34" charset="-122"/>
                <a:cs typeface="맑은 고딕" pitchFamily="34" charset="-120"/>
              </a:rPr>
              <a:t>여부 확인</a:t>
            </a:r>
            <a:endParaRPr lang="en-US" sz="1400" dirty="0"/>
          </a:p>
        </p:txBody>
      </p:sp>
      <p:sp>
        <p:nvSpPr>
          <p:cNvPr id="21" name="Shape 18"/>
          <p:cNvSpPr/>
          <p:nvPr/>
        </p:nvSpPr>
        <p:spPr>
          <a:xfrm>
            <a:off x="4809744" y="4681728"/>
            <a:ext cx="246888" cy="914"/>
          </a:xfrm>
          <a:prstGeom prst="line">
            <a:avLst/>
          </a:prstGeom>
          <a:noFill/>
          <a:ln w="19050">
            <a:solidFill>
              <a:srgbClr val="1E2A30"/>
            </a:solidFill>
            <a:prstDash val="solid"/>
            <a:tailEnd type="triangle"/>
          </a:ln>
        </p:spPr>
      </p:sp>
      <p:sp>
        <p:nvSpPr>
          <p:cNvPr id="22" name="Shape 19"/>
          <p:cNvSpPr/>
          <p:nvPr/>
        </p:nvSpPr>
        <p:spPr>
          <a:xfrm>
            <a:off x="5084064" y="4069080"/>
            <a:ext cx="1965960" cy="1234440"/>
          </a:xfrm>
          <a:prstGeom prst="roundRect">
            <a:avLst>
              <a:gd name="adj" fmla="val 5926"/>
            </a:avLst>
          </a:prstGeom>
          <a:solidFill>
            <a:srgbClr val="F4F6F7"/>
          </a:solidFill>
          <a:ln w="12700">
            <a:solidFill>
              <a:srgbClr val="1E2A30"/>
            </a:solidFill>
            <a:prstDash val="solid"/>
          </a:ln>
        </p:spPr>
      </p:sp>
      <p:sp>
        <p:nvSpPr>
          <p:cNvPr id="23" name="Shape 20"/>
          <p:cNvSpPr/>
          <p:nvPr/>
        </p:nvSpPr>
        <p:spPr>
          <a:xfrm>
            <a:off x="5193792" y="4160520"/>
            <a:ext cx="365760" cy="365760"/>
          </a:xfrm>
          <a:prstGeom prst="ellipse">
            <a:avLst/>
          </a:prstGeom>
          <a:solidFill>
            <a:srgbClr val="0E6E7A"/>
          </a:solidFill>
          <a:ln w="12700">
            <a:solidFill>
              <a:srgbClr val="0E6E7A"/>
            </a:solidFill>
            <a:prstDash val="solid"/>
          </a:ln>
        </p:spPr>
      </p:sp>
      <p:sp>
        <p:nvSpPr>
          <p:cNvPr id="24" name="Text 21"/>
          <p:cNvSpPr txBox="1"/>
          <p:nvPr/>
        </p:nvSpPr>
        <p:spPr>
          <a:xfrm>
            <a:off x="5193792" y="4160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3</a:t>
            </a:r>
            <a:endParaRPr lang="en-US" sz="1200" dirty="0"/>
          </a:p>
        </p:txBody>
      </p:sp>
      <p:sp>
        <p:nvSpPr>
          <p:cNvPr id="25" name="Text 22"/>
          <p:cNvSpPr txBox="1"/>
          <p:nvPr/>
        </p:nvSpPr>
        <p:spPr>
          <a:xfrm>
            <a:off x="5175504" y="4526280"/>
            <a:ext cx="1783080" cy="731520"/>
          </a:xfrm>
          <a:prstGeom prst="rect">
            <a:avLst/>
          </a:prstGeom>
          <a:noFill/>
          <a:ln/>
        </p:spPr>
        <p:txBody>
          <a:bodyPr wrap="square" lIns="0" tIns="0" rIns="0" bIns="0" rtlCol="0" anchor="t"/>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등록대행자</a:t>
            </a:r>
            <a:endParaRPr lang="en-US" sz="1400" dirty="0"/>
          </a:p>
          <a:p>
            <a:pPr algn="ctr" indent="0" marL="0">
              <a:buNone/>
            </a:pPr>
            <a:r>
              <a:rPr lang="en-US" sz="1400" dirty="0">
                <a:solidFill>
                  <a:srgbClr val="1E2A30"/>
                </a:solidFill>
                <a:latin typeface="맑은 고딕" pitchFamily="34" charset="0"/>
                <a:ea typeface="맑은 고딕" pitchFamily="34" charset="-122"/>
                <a:cs typeface="맑은 고딕" pitchFamily="34" charset="-120"/>
              </a:rPr>
              <a:t>선택</a:t>
            </a:r>
            <a:endParaRPr lang="en-US" sz="1400" dirty="0"/>
          </a:p>
        </p:txBody>
      </p:sp>
      <p:sp>
        <p:nvSpPr>
          <p:cNvPr id="26" name="Shape 23"/>
          <p:cNvSpPr/>
          <p:nvPr/>
        </p:nvSpPr>
        <p:spPr>
          <a:xfrm>
            <a:off x="7077456" y="4681728"/>
            <a:ext cx="246888" cy="914"/>
          </a:xfrm>
          <a:prstGeom prst="line">
            <a:avLst/>
          </a:prstGeom>
          <a:noFill/>
          <a:ln w="19050">
            <a:solidFill>
              <a:srgbClr val="1E2A30"/>
            </a:solidFill>
            <a:prstDash val="solid"/>
            <a:tailEnd type="triangle"/>
          </a:ln>
        </p:spPr>
      </p:sp>
      <p:sp>
        <p:nvSpPr>
          <p:cNvPr id="27" name="Shape 24"/>
          <p:cNvSpPr/>
          <p:nvPr/>
        </p:nvSpPr>
        <p:spPr>
          <a:xfrm>
            <a:off x="7351776" y="4069080"/>
            <a:ext cx="1965960" cy="1234440"/>
          </a:xfrm>
          <a:prstGeom prst="roundRect">
            <a:avLst>
              <a:gd name="adj" fmla="val 5926"/>
            </a:avLst>
          </a:prstGeom>
          <a:solidFill>
            <a:srgbClr val="F4F6F7"/>
          </a:solidFill>
          <a:ln w="12700">
            <a:solidFill>
              <a:srgbClr val="1E2A30"/>
            </a:solidFill>
            <a:prstDash val="solid"/>
          </a:ln>
        </p:spPr>
      </p:sp>
      <p:sp>
        <p:nvSpPr>
          <p:cNvPr id="28" name="Shape 25"/>
          <p:cNvSpPr/>
          <p:nvPr/>
        </p:nvSpPr>
        <p:spPr>
          <a:xfrm>
            <a:off x="7461504" y="4160520"/>
            <a:ext cx="365760" cy="365760"/>
          </a:xfrm>
          <a:prstGeom prst="ellipse">
            <a:avLst/>
          </a:prstGeom>
          <a:solidFill>
            <a:srgbClr val="0E6E7A"/>
          </a:solidFill>
          <a:ln w="12700">
            <a:solidFill>
              <a:srgbClr val="0E6E7A"/>
            </a:solidFill>
            <a:prstDash val="solid"/>
          </a:ln>
        </p:spPr>
      </p:sp>
      <p:sp>
        <p:nvSpPr>
          <p:cNvPr id="29" name="Text 26"/>
          <p:cNvSpPr txBox="1"/>
          <p:nvPr/>
        </p:nvSpPr>
        <p:spPr>
          <a:xfrm>
            <a:off x="7461504" y="4160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4</a:t>
            </a:r>
            <a:endParaRPr lang="en-US" sz="1200" dirty="0"/>
          </a:p>
        </p:txBody>
      </p:sp>
      <p:sp>
        <p:nvSpPr>
          <p:cNvPr id="30" name="Text 27"/>
          <p:cNvSpPr txBox="1"/>
          <p:nvPr/>
        </p:nvSpPr>
        <p:spPr>
          <a:xfrm>
            <a:off x="7443216" y="4526280"/>
            <a:ext cx="1783080" cy="731520"/>
          </a:xfrm>
          <a:prstGeom prst="rect">
            <a:avLst/>
          </a:prstGeom>
          <a:noFill/>
          <a:ln/>
        </p:spPr>
        <p:txBody>
          <a:bodyPr wrap="square" lIns="0" tIns="0" rIns="0" bIns="0" rtlCol="0" anchor="t"/>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신청 ·</a:t>
            </a:r>
            <a:endParaRPr lang="en-US" sz="1400" dirty="0"/>
          </a:p>
          <a:p>
            <a:pPr algn="ctr" indent="0" marL="0">
              <a:buNone/>
            </a:pPr>
            <a:r>
              <a:rPr lang="en-US" sz="1400" dirty="0">
                <a:solidFill>
                  <a:srgbClr val="1E2A30"/>
                </a:solidFill>
                <a:latin typeface="맑은 고딕" pitchFamily="34" charset="0"/>
                <a:ea typeface="맑은 고딕" pitchFamily="34" charset="-122"/>
                <a:cs typeface="맑은 고딕" pitchFamily="34" charset="-120"/>
              </a:rPr>
              <a:t>수수료 납부</a:t>
            </a:r>
            <a:endParaRPr lang="en-US" sz="1400" dirty="0"/>
          </a:p>
        </p:txBody>
      </p:sp>
      <p:sp>
        <p:nvSpPr>
          <p:cNvPr id="31" name="Shape 28"/>
          <p:cNvSpPr/>
          <p:nvPr/>
        </p:nvSpPr>
        <p:spPr>
          <a:xfrm>
            <a:off x="9345168" y="4681728"/>
            <a:ext cx="246888" cy="914"/>
          </a:xfrm>
          <a:prstGeom prst="line">
            <a:avLst/>
          </a:prstGeom>
          <a:noFill/>
          <a:ln w="19050">
            <a:solidFill>
              <a:srgbClr val="1E2A30"/>
            </a:solidFill>
            <a:prstDash val="solid"/>
            <a:tailEnd type="triangle"/>
          </a:ln>
        </p:spPr>
      </p:sp>
      <p:sp>
        <p:nvSpPr>
          <p:cNvPr id="32" name="Shape 29"/>
          <p:cNvSpPr/>
          <p:nvPr/>
        </p:nvSpPr>
        <p:spPr>
          <a:xfrm>
            <a:off x="9619488" y="4069080"/>
            <a:ext cx="1965960" cy="1234440"/>
          </a:xfrm>
          <a:prstGeom prst="roundRect">
            <a:avLst>
              <a:gd name="adj" fmla="val 5926"/>
            </a:avLst>
          </a:prstGeom>
          <a:solidFill>
            <a:srgbClr val="E6F1F2"/>
          </a:solidFill>
          <a:ln w="12700">
            <a:solidFill>
              <a:srgbClr val="0E6E7A"/>
            </a:solidFill>
            <a:prstDash val="solid"/>
          </a:ln>
        </p:spPr>
      </p:sp>
      <p:sp>
        <p:nvSpPr>
          <p:cNvPr id="33" name="Shape 30"/>
          <p:cNvSpPr/>
          <p:nvPr/>
        </p:nvSpPr>
        <p:spPr>
          <a:xfrm>
            <a:off x="9729216" y="4160520"/>
            <a:ext cx="365760" cy="365760"/>
          </a:xfrm>
          <a:prstGeom prst="ellipse">
            <a:avLst/>
          </a:prstGeom>
          <a:solidFill>
            <a:srgbClr val="0E6E7A"/>
          </a:solidFill>
          <a:ln w="12700">
            <a:solidFill>
              <a:srgbClr val="0E6E7A"/>
            </a:solidFill>
            <a:prstDash val="solid"/>
          </a:ln>
        </p:spPr>
      </p:sp>
      <p:sp>
        <p:nvSpPr>
          <p:cNvPr id="34" name="Text 31"/>
          <p:cNvSpPr txBox="1"/>
          <p:nvPr/>
        </p:nvSpPr>
        <p:spPr>
          <a:xfrm>
            <a:off x="9729216" y="4160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5</a:t>
            </a:r>
            <a:endParaRPr lang="en-US" sz="1200" dirty="0"/>
          </a:p>
        </p:txBody>
      </p:sp>
      <p:sp>
        <p:nvSpPr>
          <p:cNvPr id="35" name="Text 32"/>
          <p:cNvSpPr txBox="1"/>
          <p:nvPr/>
        </p:nvSpPr>
        <p:spPr>
          <a:xfrm>
            <a:off x="9710928" y="4526280"/>
            <a:ext cx="1783080" cy="731520"/>
          </a:xfrm>
          <a:prstGeom prst="rect">
            <a:avLst/>
          </a:prstGeom>
          <a:noFill/>
          <a:ln/>
        </p:spPr>
        <p:txBody>
          <a:bodyPr wrap="square" lIns="0" tIns="0" rIns="0" bIns="0" rtlCol="0" anchor="t"/>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whois.kr</a:t>
            </a:r>
            <a:endParaRPr lang="en-US" sz="1400" dirty="0"/>
          </a:p>
          <a:p>
            <a:pPr algn="ctr" indent="0" marL="0">
              <a:buNone/>
            </a:pPr>
            <a:r>
              <a:rPr lang="en-US" sz="1400" dirty="0">
                <a:solidFill>
                  <a:srgbClr val="1E2A30"/>
                </a:solidFill>
                <a:latin typeface="맑은 고딕" pitchFamily="34" charset="0"/>
                <a:ea typeface="맑은 고딕" pitchFamily="34" charset="-122"/>
                <a:cs typeface="맑은 고딕" pitchFamily="34" charset="-120"/>
              </a:rPr>
              <a:t>등록 확인</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AS(자율 시스템)와 ASN</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Shape 2"/>
          <p:cNvSpPr/>
          <p:nvPr/>
        </p:nvSpPr>
        <p:spPr>
          <a:xfrm>
            <a:off x="822960" y="1463040"/>
            <a:ext cx="2743200" cy="1737360"/>
          </a:xfrm>
          <a:prstGeom prst="ellipse">
            <a:avLst/>
          </a:prstGeom>
          <a:solidFill>
            <a:srgbClr val="E6F1F2"/>
          </a:solidFill>
          <a:ln w="15875">
            <a:solidFill>
              <a:srgbClr val="0E6E7A"/>
            </a:solidFill>
            <a:prstDash val="dash"/>
          </a:ln>
        </p:spPr>
      </p:sp>
      <p:sp>
        <p:nvSpPr>
          <p:cNvPr id="6" name="Text 3"/>
          <p:cNvSpPr txBox="1"/>
          <p:nvPr/>
        </p:nvSpPr>
        <p:spPr>
          <a:xfrm>
            <a:off x="822960" y="1783080"/>
            <a:ext cx="2743200" cy="457200"/>
          </a:xfrm>
          <a:prstGeom prst="rect">
            <a:avLst/>
          </a:prstGeom>
          <a:noFill/>
          <a:ln/>
        </p:spPr>
        <p:txBody>
          <a:bodyPr wrap="square" lIns="0" tIns="0" rIns="0" bIns="0" rtlCol="0" anchor="t"/>
          <a:lstStyle/>
          <a:p>
            <a:pPr algn="ctr" indent="0" marL="0">
              <a:buNone/>
            </a:pPr>
            <a:r>
              <a:rPr lang="en-US" sz="1800" b="1" dirty="0">
                <a:solidFill>
                  <a:srgbClr val="1E2A30"/>
                </a:solidFill>
                <a:latin typeface="맑은 고딕" pitchFamily="34" charset="0"/>
                <a:ea typeface="맑은 고딕" pitchFamily="34" charset="-122"/>
                <a:cs typeface="맑은 고딕" pitchFamily="34" charset="-120"/>
              </a:rPr>
              <a:t>AS 4766</a:t>
            </a:r>
            <a:endParaRPr lang="en-US" sz="1800" dirty="0"/>
          </a:p>
        </p:txBody>
      </p:sp>
      <p:sp>
        <p:nvSpPr>
          <p:cNvPr id="7" name="Text 4"/>
          <p:cNvSpPr txBox="1"/>
          <p:nvPr/>
        </p:nvSpPr>
        <p:spPr>
          <a:xfrm>
            <a:off x="822960" y="2240280"/>
            <a:ext cx="2743200" cy="36576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통신사 A</a:t>
            </a:r>
            <a:endParaRPr lang="en-US" sz="1400" dirty="0"/>
          </a:p>
        </p:txBody>
      </p:sp>
      <p:sp>
        <p:nvSpPr>
          <p:cNvPr id="8" name="Shape 5"/>
          <p:cNvSpPr/>
          <p:nvPr/>
        </p:nvSpPr>
        <p:spPr>
          <a:xfrm>
            <a:off x="1463040" y="2651760"/>
            <a:ext cx="274320" cy="228600"/>
          </a:xfrm>
          <a:prstGeom prst="roundRect">
            <a:avLst>
              <a:gd name="adj" fmla="val 32000"/>
            </a:avLst>
          </a:prstGeom>
          <a:solidFill>
            <a:srgbClr val="1E2A30"/>
          </a:solidFill>
          <a:ln w="12700">
            <a:solidFill>
              <a:srgbClr val="1E2A30"/>
            </a:solidFill>
            <a:prstDash val="solid"/>
          </a:ln>
        </p:spPr>
      </p:sp>
      <p:sp>
        <p:nvSpPr>
          <p:cNvPr id="9" name="Shape 6"/>
          <p:cNvSpPr/>
          <p:nvPr/>
        </p:nvSpPr>
        <p:spPr>
          <a:xfrm>
            <a:off x="2057400" y="2651760"/>
            <a:ext cx="274320" cy="228600"/>
          </a:xfrm>
          <a:prstGeom prst="roundRect">
            <a:avLst>
              <a:gd name="adj" fmla="val 32000"/>
            </a:avLst>
          </a:prstGeom>
          <a:solidFill>
            <a:srgbClr val="1E2A30"/>
          </a:solidFill>
          <a:ln w="12700">
            <a:solidFill>
              <a:srgbClr val="1E2A30"/>
            </a:solidFill>
            <a:prstDash val="solid"/>
          </a:ln>
        </p:spPr>
      </p:sp>
      <p:sp>
        <p:nvSpPr>
          <p:cNvPr id="10" name="Shape 7"/>
          <p:cNvSpPr/>
          <p:nvPr/>
        </p:nvSpPr>
        <p:spPr>
          <a:xfrm>
            <a:off x="2651760" y="2651760"/>
            <a:ext cx="274320" cy="228600"/>
          </a:xfrm>
          <a:prstGeom prst="roundRect">
            <a:avLst>
              <a:gd name="adj" fmla="val 32000"/>
            </a:avLst>
          </a:prstGeom>
          <a:solidFill>
            <a:srgbClr val="1E2A30"/>
          </a:solidFill>
          <a:ln w="12700">
            <a:solidFill>
              <a:srgbClr val="1E2A30"/>
            </a:solidFill>
            <a:prstDash val="solid"/>
          </a:ln>
        </p:spPr>
      </p:sp>
      <p:sp>
        <p:nvSpPr>
          <p:cNvPr id="11" name="Shape 8"/>
          <p:cNvSpPr/>
          <p:nvPr/>
        </p:nvSpPr>
        <p:spPr>
          <a:xfrm>
            <a:off x="4023360" y="1463040"/>
            <a:ext cx="2743200" cy="1737360"/>
          </a:xfrm>
          <a:prstGeom prst="ellipse">
            <a:avLst/>
          </a:prstGeom>
          <a:solidFill>
            <a:srgbClr val="FFFFFF"/>
          </a:solidFill>
          <a:ln w="15875">
            <a:solidFill>
              <a:srgbClr val="0E6E7A"/>
            </a:solidFill>
            <a:prstDash val="dash"/>
          </a:ln>
        </p:spPr>
      </p:sp>
      <p:sp>
        <p:nvSpPr>
          <p:cNvPr id="12" name="Text 9"/>
          <p:cNvSpPr txBox="1"/>
          <p:nvPr/>
        </p:nvSpPr>
        <p:spPr>
          <a:xfrm>
            <a:off x="4023360" y="1783080"/>
            <a:ext cx="2743200" cy="457200"/>
          </a:xfrm>
          <a:prstGeom prst="rect">
            <a:avLst/>
          </a:prstGeom>
          <a:noFill/>
          <a:ln/>
        </p:spPr>
        <p:txBody>
          <a:bodyPr wrap="square" lIns="0" tIns="0" rIns="0" bIns="0" rtlCol="0" anchor="t"/>
          <a:lstStyle/>
          <a:p>
            <a:pPr algn="ctr" indent="0" marL="0">
              <a:buNone/>
            </a:pPr>
            <a:r>
              <a:rPr lang="en-US" sz="1800" b="1" dirty="0">
                <a:solidFill>
                  <a:srgbClr val="1E2A30"/>
                </a:solidFill>
                <a:latin typeface="맑은 고딕" pitchFamily="34" charset="0"/>
                <a:ea typeface="맑은 고딕" pitchFamily="34" charset="-122"/>
                <a:cs typeface="맑은 고딕" pitchFamily="34" charset="-120"/>
              </a:rPr>
              <a:t>AS 9318</a:t>
            </a:r>
            <a:endParaRPr lang="en-US" sz="1800" dirty="0"/>
          </a:p>
        </p:txBody>
      </p:sp>
      <p:sp>
        <p:nvSpPr>
          <p:cNvPr id="13" name="Text 10"/>
          <p:cNvSpPr txBox="1"/>
          <p:nvPr/>
        </p:nvSpPr>
        <p:spPr>
          <a:xfrm>
            <a:off x="4023360" y="2240280"/>
            <a:ext cx="2743200" cy="36576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통신사 B</a:t>
            </a:r>
            <a:endParaRPr lang="en-US" sz="1400" dirty="0"/>
          </a:p>
        </p:txBody>
      </p:sp>
      <p:sp>
        <p:nvSpPr>
          <p:cNvPr id="14" name="Shape 11"/>
          <p:cNvSpPr/>
          <p:nvPr/>
        </p:nvSpPr>
        <p:spPr>
          <a:xfrm>
            <a:off x="4663440" y="2651760"/>
            <a:ext cx="274320" cy="228600"/>
          </a:xfrm>
          <a:prstGeom prst="roundRect">
            <a:avLst>
              <a:gd name="adj" fmla="val 32000"/>
            </a:avLst>
          </a:prstGeom>
          <a:solidFill>
            <a:srgbClr val="1E2A30"/>
          </a:solidFill>
          <a:ln w="12700">
            <a:solidFill>
              <a:srgbClr val="1E2A30"/>
            </a:solidFill>
            <a:prstDash val="solid"/>
          </a:ln>
        </p:spPr>
      </p:sp>
      <p:sp>
        <p:nvSpPr>
          <p:cNvPr id="15" name="Shape 12"/>
          <p:cNvSpPr/>
          <p:nvPr/>
        </p:nvSpPr>
        <p:spPr>
          <a:xfrm>
            <a:off x="5257800" y="2651760"/>
            <a:ext cx="274320" cy="228600"/>
          </a:xfrm>
          <a:prstGeom prst="roundRect">
            <a:avLst>
              <a:gd name="adj" fmla="val 32000"/>
            </a:avLst>
          </a:prstGeom>
          <a:solidFill>
            <a:srgbClr val="1E2A30"/>
          </a:solidFill>
          <a:ln w="12700">
            <a:solidFill>
              <a:srgbClr val="1E2A30"/>
            </a:solidFill>
            <a:prstDash val="solid"/>
          </a:ln>
        </p:spPr>
      </p:sp>
      <p:sp>
        <p:nvSpPr>
          <p:cNvPr id="16" name="Shape 13"/>
          <p:cNvSpPr/>
          <p:nvPr/>
        </p:nvSpPr>
        <p:spPr>
          <a:xfrm>
            <a:off x="5852160" y="2651760"/>
            <a:ext cx="274320" cy="228600"/>
          </a:xfrm>
          <a:prstGeom prst="roundRect">
            <a:avLst>
              <a:gd name="adj" fmla="val 32000"/>
            </a:avLst>
          </a:prstGeom>
          <a:solidFill>
            <a:srgbClr val="1E2A30"/>
          </a:solidFill>
          <a:ln w="12700">
            <a:solidFill>
              <a:srgbClr val="1E2A30"/>
            </a:solidFill>
            <a:prstDash val="solid"/>
          </a:ln>
        </p:spPr>
      </p:sp>
      <p:sp>
        <p:nvSpPr>
          <p:cNvPr id="17" name="Shape 14"/>
          <p:cNvSpPr/>
          <p:nvPr/>
        </p:nvSpPr>
        <p:spPr>
          <a:xfrm>
            <a:off x="7223760" y="1463040"/>
            <a:ext cx="2743200" cy="1737360"/>
          </a:xfrm>
          <a:prstGeom prst="ellipse">
            <a:avLst/>
          </a:prstGeom>
          <a:solidFill>
            <a:srgbClr val="FFFFFF"/>
          </a:solidFill>
          <a:ln w="15875">
            <a:solidFill>
              <a:srgbClr val="0E6E7A"/>
            </a:solidFill>
            <a:prstDash val="dash"/>
          </a:ln>
        </p:spPr>
      </p:sp>
      <p:sp>
        <p:nvSpPr>
          <p:cNvPr id="18" name="Text 15"/>
          <p:cNvSpPr txBox="1"/>
          <p:nvPr/>
        </p:nvSpPr>
        <p:spPr>
          <a:xfrm>
            <a:off x="7223760" y="1783080"/>
            <a:ext cx="2743200" cy="457200"/>
          </a:xfrm>
          <a:prstGeom prst="rect">
            <a:avLst/>
          </a:prstGeom>
          <a:noFill/>
          <a:ln/>
        </p:spPr>
        <p:txBody>
          <a:bodyPr wrap="square" lIns="0" tIns="0" rIns="0" bIns="0" rtlCol="0" anchor="t"/>
          <a:lstStyle/>
          <a:p>
            <a:pPr algn="ctr" indent="0" marL="0">
              <a:buNone/>
            </a:pPr>
            <a:r>
              <a:rPr lang="en-US" sz="1800" b="1" dirty="0">
                <a:solidFill>
                  <a:srgbClr val="1E2A30"/>
                </a:solidFill>
                <a:latin typeface="맑은 고딕" pitchFamily="34" charset="0"/>
                <a:ea typeface="맑은 고딕" pitchFamily="34" charset="-122"/>
                <a:cs typeface="맑은 고딕" pitchFamily="34" charset="-120"/>
              </a:rPr>
              <a:t>AS 23576</a:t>
            </a:r>
            <a:endParaRPr lang="en-US" sz="1800" dirty="0"/>
          </a:p>
        </p:txBody>
      </p:sp>
      <p:sp>
        <p:nvSpPr>
          <p:cNvPr id="19" name="Text 16"/>
          <p:cNvSpPr txBox="1"/>
          <p:nvPr/>
        </p:nvSpPr>
        <p:spPr>
          <a:xfrm>
            <a:off x="7223760" y="2240280"/>
            <a:ext cx="2743200" cy="36576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포털 C</a:t>
            </a:r>
            <a:endParaRPr lang="en-US" sz="1400" dirty="0"/>
          </a:p>
        </p:txBody>
      </p:sp>
      <p:sp>
        <p:nvSpPr>
          <p:cNvPr id="20" name="Shape 17"/>
          <p:cNvSpPr/>
          <p:nvPr/>
        </p:nvSpPr>
        <p:spPr>
          <a:xfrm>
            <a:off x="7863840" y="2651760"/>
            <a:ext cx="274320" cy="228600"/>
          </a:xfrm>
          <a:prstGeom prst="roundRect">
            <a:avLst>
              <a:gd name="adj" fmla="val 32000"/>
            </a:avLst>
          </a:prstGeom>
          <a:solidFill>
            <a:srgbClr val="1E2A30"/>
          </a:solidFill>
          <a:ln w="12700">
            <a:solidFill>
              <a:srgbClr val="1E2A30"/>
            </a:solidFill>
            <a:prstDash val="solid"/>
          </a:ln>
        </p:spPr>
      </p:sp>
      <p:sp>
        <p:nvSpPr>
          <p:cNvPr id="21" name="Shape 18"/>
          <p:cNvSpPr/>
          <p:nvPr/>
        </p:nvSpPr>
        <p:spPr>
          <a:xfrm>
            <a:off x="8458200" y="2651760"/>
            <a:ext cx="274320" cy="228600"/>
          </a:xfrm>
          <a:prstGeom prst="roundRect">
            <a:avLst>
              <a:gd name="adj" fmla="val 32000"/>
            </a:avLst>
          </a:prstGeom>
          <a:solidFill>
            <a:srgbClr val="1E2A30"/>
          </a:solidFill>
          <a:ln w="12700">
            <a:solidFill>
              <a:srgbClr val="1E2A30"/>
            </a:solidFill>
            <a:prstDash val="solid"/>
          </a:ln>
        </p:spPr>
      </p:sp>
      <p:sp>
        <p:nvSpPr>
          <p:cNvPr id="22" name="Shape 19"/>
          <p:cNvSpPr/>
          <p:nvPr/>
        </p:nvSpPr>
        <p:spPr>
          <a:xfrm>
            <a:off x="9052560" y="2651760"/>
            <a:ext cx="274320" cy="228600"/>
          </a:xfrm>
          <a:prstGeom prst="roundRect">
            <a:avLst>
              <a:gd name="adj" fmla="val 32000"/>
            </a:avLst>
          </a:prstGeom>
          <a:solidFill>
            <a:srgbClr val="1E2A30"/>
          </a:solidFill>
          <a:ln w="12700">
            <a:solidFill>
              <a:srgbClr val="1E2A30"/>
            </a:solidFill>
            <a:prstDash val="solid"/>
          </a:ln>
        </p:spPr>
      </p:sp>
      <p:sp>
        <p:nvSpPr>
          <p:cNvPr id="23" name="Shape 20"/>
          <p:cNvSpPr/>
          <p:nvPr/>
        </p:nvSpPr>
        <p:spPr>
          <a:xfrm>
            <a:off x="3566160" y="2331720"/>
            <a:ext cx="457200" cy="914"/>
          </a:xfrm>
          <a:prstGeom prst="line">
            <a:avLst/>
          </a:prstGeom>
          <a:noFill/>
          <a:ln w="25400">
            <a:solidFill>
              <a:srgbClr val="1E2A30"/>
            </a:solidFill>
            <a:prstDash val="solid"/>
          </a:ln>
        </p:spPr>
      </p:sp>
      <p:sp>
        <p:nvSpPr>
          <p:cNvPr id="24" name="Shape 21"/>
          <p:cNvSpPr/>
          <p:nvPr/>
        </p:nvSpPr>
        <p:spPr>
          <a:xfrm>
            <a:off x="6766560" y="2331720"/>
            <a:ext cx="457200" cy="914"/>
          </a:xfrm>
          <a:prstGeom prst="line">
            <a:avLst/>
          </a:prstGeom>
          <a:noFill/>
          <a:ln w="25400">
            <a:solidFill>
              <a:srgbClr val="1E2A30"/>
            </a:solidFill>
            <a:prstDash val="solid"/>
          </a:ln>
        </p:spPr>
      </p:sp>
      <p:sp>
        <p:nvSpPr>
          <p:cNvPr id="25" name="Text 22"/>
          <p:cNvSpPr txBox="1"/>
          <p:nvPr/>
        </p:nvSpPr>
        <p:spPr>
          <a:xfrm>
            <a:off x="10012680" y="2926080"/>
            <a:ext cx="1645920" cy="274320"/>
          </a:xfrm>
          <a:prstGeom prst="rect">
            <a:avLst/>
          </a:prstGeom>
          <a:noFill/>
          <a:ln/>
        </p:spPr>
        <p:txBody>
          <a:bodyPr wrap="square" lIns="0" tIns="0" rIns="0" bIns="0" rtlCol="0" anchor="t"/>
          <a:lstStyle/>
          <a:p>
            <a:pPr indent="0" marL="0">
              <a:buNone/>
            </a:pPr>
            <a:r>
              <a:rPr lang="en-US" sz="1100" dirty="0">
                <a:solidFill>
                  <a:srgbClr val="66737C"/>
                </a:solidFill>
                <a:latin typeface="맑은 고딕" pitchFamily="34" charset="0"/>
                <a:ea typeface="맑은 고딕" pitchFamily="34" charset="-122"/>
                <a:cs typeface="맑은 고딕" pitchFamily="34" charset="-120"/>
              </a:rPr>
              <a:t>■ 라우터</a:t>
            </a:r>
            <a:endParaRPr lang="en-US" sz="1100" dirty="0"/>
          </a:p>
        </p:txBody>
      </p:sp>
      <p:sp>
        <p:nvSpPr>
          <p:cNvPr id="26" name="Shape 23"/>
          <p:cNvSpPr/>
          <p:nvPr/>
        </p:nvSpPr>
        <p:spPr>
          <a:xfrm>
            <a:off x="548640" y="3566160"/>
            <a:ext cx="5394960" cy="1920240"/>
          </a:xfrm>
          <a:prstGeom prst="roundRect">
            <a:avLst>
              <a:gd name="adj" fmla="val 3810"/>
            </a:avLst>
          </a:prstGeom>
          <a:solidFill>
            <a:srgbClr val="FFFFFF"/>
          </a:solidFill>
          <a:ln w="12700">
            <a:solidFill>
              <a:srgbClr val="9AA5AD"/>
            </a:solidFill>
            <a:prstDash val="solid"/>
          </a:ln>
        </p:spPr>
      </p:sp>
      <p:sp>
        <p:nvSpPr>
          <p:cNvPr id="27" name="Text 24"/>
          <p:cNvSpPr txBox="1"/>
          <p:nvPr/>
        </p:nvSpPr>
        <p:spPr>
          <a:xfrm>
            <a:off x="731520" y="370332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AS (Autonomous System)</a:t>
            </a:r>
            <a:endParaRPr lang="en-US" sz="1600" dirty="0"/>
          </a:p>
        </p:txBody>
      </p:sp>
      <p:sp>
        <p:nvSpPr>
          <p:cNvPr id="28" name="Text 25"/>
          <p:cNvSpPr txBox="1"/>
          <p:nvPr/>
        </p:nvSpPr>
        <p:spPr>
          <a:xfrm>
            <a:off x="731520" y="4160520"/>
            <a:ext cx="5029200" cy="121615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하나의 관리자가 같은 라우팅 정책으로 운영하는 네트워크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한 회사 · 단체가 관리하는 라우터 집단</a:t>
            </a:r>
            <a:endParaRPr lang="en-US" sz="1400" dirty="0"/>
          </a:p>
        </p:txBody>
      </p:sp>
      <p:sp>
        <p:nvSpPr>
          <p:cNvPr id="29" name="Shape 26"/>
          <p:cNvSpPr/>
          <p:nvPr/>
        </p:nvSpPr>
        <p:spPr>
          <a:xfrm>
            <a:off x="6245352" y="3566160"/>
            <a:ext cx="5394960" cy="1920240"/>
          </a:xfrm>
          <a:prstGeom prst="roundRect">
            <a:avLst>
              <a:gd name="adj" fmla="val 3810"/>
            </a:avLst>
          </a:prstGeom>
          <a:solidFill>
            <a:srgbClr val="E6F1F2"/>
          </a:solidFill>
          <a:ln w="12700">
            <a:solidFill>
              <a:srgbClr val="0E6E7A"/>
            </a:solidFill>
            <a:prstDash val="solid"/>
          </a:ln>
        </p:spPr>
      </p:sp>
      <p:sp>
        <p:nvSpPr>
          <p:cNvPr id="30" name="Text 27"/>
          <p:cNvSpPr txBox="1"/>
          <p:nvPr/>
        </p:nvSpPr>
        <p:spPr>
          <a:xfrm>
            <a:off x="6428232" y="370332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ASN (AS Number) = 망 식별번호</a:t>
            </a:r>
            <a:endParaRPr lang="en-US" sz="1600" dirty="0"/>
          </a:p>
        </p:txBody>
      </p:sp>
      <p:sp>
        <p:nvSpPr>
          <p:cNvPr id="31" name="Text 28"/>
          <p:cNvSpPr txBox="1"/>
          <p:nvPr/>
        </p:nvSpPr>
        <p:spPr>
          <a:xfrm>
            <a:off x="6428232" y="4160520"/>
            <a:ext cx="5029200" cy="121615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AS를 구별하는 인터넷상의 고유 번호</a:t>
            </a:r>
            <a:endParaRPr lang="en-US" sz="1400" dirty="0"/>
          </a:p>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2바이트(16비트) → 4바이트(32비트)로 확장</a:t>
            </a:r>
            <a:endParaRPr lang="en-US" sz="1400" dirty="0"/>
          </a:p>
        </p:txBody>
      </p:sp>
      <p:sp>
        <p:nvSpPr>
          <p:cNvPr id="32" name="Shape 29"/>
          <p:cNvSpPr/>
          <p:nvPr/>
        </p:nvSpPr>
        <p:spPr>
          <a:xfrm>
            <a:off x="548640" y="5760720"/>
            <a:ext cx="11091672" cy="457200"/>
          </a:xfrm>
          <a:prstGeom prst="roundRect">
            <a:avLst>
              <a:gd name="adj" fmla="val 16000"/>
            </a:avLst>
          </a:prstGeom>
          <a:solidFill>
            <a:srgbClr val="E6F1F2"/>
          </a:solidFill>
          <a:ln w="12700">
            <a:solidFill>
              <a:srgbClr val="E6F1F2"/>
            </a:solidFill>
            <a:prstDash val="solid"/>
          </a:ln>
        </p:spPr>
      </p:sp>
      <p:sp>
        <p:nvSpPr>
          <p:cNvPr id="33" name="Text 30"/>
          <p:cNvSpPr txBox="1"/>
          <p:nvPr/>
        </p:nvSpPr>
        <p:spPr>
          <a:xfrm>
            <a:off x="777240" y="576072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인터넷 = 수많은 AS가 서로 연결된 '네트워크의 네트워크'</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우리나라 인터넷은 어떻게 해외로 나가나 — 관문국</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Shape 2"/>
          <p:cNvSpPr/>
          <p:nvPr/>
        </p:nvSpPr>
        <p:spPr>
          <a:xfrm>
            <a:off x="548640" y="1371600"/>
            <a:ext cx="2880360" cy="2286000"/>
          </a:xfrm>
          <a:prstGeom prst="roundRect">
            <a:avLst>
              <a:gd name="adj" fmla="val 3200"/>
            </a:avLst>
          </a:prstGeom>
          <a:solidFill>
            <a:srgbClr val="E6F1F2"/>
          </a:solidFill>
          <a:ln w="12700">
            <a:solidFill>
              <a:srgbClr val="0E6E7A"/>
            </a:solidFill>
            <a:prstDash val="solid"/>
          </a:ln>
        </p:spPr>
      </p:sp>
      <p:sp>
        <p:nvSpPr>
          <p:cNvPr id="6" name="Text 3"/>
          <p:cNvSpPr txBox="1"/>
          <p:nvPr/>
        </p:nvSpPr>
        <p:spPr>
          <a:xfrm>
            <a:off x="777240" y="1508760"/>
            <a:ext cx="2468880" cy="914400"/>
          </a:xfrm>
          <a:prstGeom prst="rect">
            <a:avLst/>
          </a:prstGeom>
          <a:noFill/>
          <a:ln/>
        </p:spPr>
        <p:txBody>
          <a:bodyPr wrap="square" lIns="0" tIns="0" rIns="0" bIns="0" rtlCol="0" anchor="t"/>
          <a:lstStyle/>
          <a:p>
            <a:pPr indent="0" marL="0">
              <a:buNone/>
            </a:pPr>
            <a:r>
              <a:rPr lang="en-US" sz="4000" b="1" dirty="0">
                <a:solidFill>
                  <a:srgbClr val="0E6E7A"/>
                </a:solidFill>
                <a:latin typeface="맑은 고딕" pitchFamily="34" charset="0"/>
                <a:ea typeface="맑은 고딕" pitchFamily="34" charset="-122"/>
                <a:cs typeface="맑은 고딕" pitchFamily="34" charset="-120"/>
              </a:rPr>
              <a:t>99%+</a:t>
            </a:r>
            <a:endParaRPr lang="en-US" sz="4000" dirty="0"/>
          </a:p>
        </p:txBody>
      </p:sp>
      <p:sp>
        <p:nvSpPr>
          <p:cNvPr id="7" name="Text 4"/>
          <p:cNvSpPr txBox="1"/>
          <p:nvPr/>
        </p:nvSpPr>
        <p:spPr>
          <a:xfrm>
            <a:off x="777240" y="2468880"/>
            <a:ext cx="2468880" cy="457200"/>
          </a:xfrm>
          <a:prstGeom prst="rect">
            <a:avLst/>
          </a:prstGeom>
          <a:noFill/>
          <a:ln/>
        </p:spPr>
        <p:txBody>
          <a:bodyPr wrap="square" lIns="0" tIns="0" rIns="0" bIns="0" rtlCol="0" anchor="t"/>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해저 케이블</a:t>
            </a:r>
            <a:endParaRPr lang="en-US" sz="1800" dirty="0"/>
          </a:p>
        </p:txBody>
      </p:sp>
      <p:sp>
        <p:nvSpPr>
          <p:cNvPr id="8" name="Text 5"/>
          <p:cNvSpPr txBox="1"/>
          <p:nvPr/>
        </p:nvSpPr>
        <p:spPr>
          <a:xfrm>
            <a:off x="777240" y="2971800"/>
            <a:ext cx="2468880" cy="45720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국제 트래픽 대부분</a:t>
            </a:r>
            <a:endParaRPr lang="en-US" sz="1400" dirty="0"/>
          </a:p>
        </p:txBody>
      </p:sp>
      <p:sp>
        <p:nvSpPr>
          <p:cNvPr id="9" name="Shape 6"/>
          <p:cNvSpPr/>
          <p:nvPr/>
        </p:nvSpPr>
        <p:spPr>
          <a:xfrm>
            <a:off x="3657600" y="1371600"/>
            <a:ext cx="2880360" cy="2286000"/>
          </a:xfrm>
          <a:prstGeom prst="roundRect">
            <a:avLst>
              <a:gd name="adj" fmla="val 3200"/>
            </a:avLst>
          </a:prstGeom>
          <a:solidFill>
            <a:srgbClr val="FFFFFF"/>
          </a:solidFill>
          <a:ln w="12700">
            <a:solidFill>
              <a:srgbClr val="9AA5AD"/>
            </a:solidFill>
            <a:prstDash val="solid"/>
          </a:ln>
        </p:spPr>
      </p:sp>
      <p:sp>
        <p:nvSpPr>
          <p:cNvPr id="10" name="Text 7"/>
          <p:cNvSpPr txBox="1"/>
          <p:nvPr/>
        </p:nvSpPr>
        <p:spPr>
          <a:xfrm>
            <a:off x="3886200" y="1508760"/>
            <a:ext cx="2468880" cy="914400"/>
          </a:xfrm>
          <a:prstGeom prst="rect">
            <a:avLst/>
          </a:prstGeom>
          <a:noFill/>
          <a:ln/>
        </p:spPr>
        <p:txBody>
          <a:bodyPr wrap="square" lIns="0" tIns="0" rIns="0" bIns="0" rtlCol="0" anchor="t"/>
          <a:lstStyle/>
          <a:p>
            <a:pPr indent="0" marL="0">
              <a:buNone/>
            </a:pPr>
            <a:r>
              <a:rPr lang="en-US" sz="4000" b="1" dirty="0">
                <a:solidFill>
                  <a:srgbClr val="0E6E7A"/>
                </a:solidFill>
                <a:latin typeface="맑은 고딕" pitchFamily="34" charset="0"/>
                <a:ea typeface="맑은 고딕" pitchFamily="34" charset="-122"/>
                <a:cs typeface="맑은 고딕" pitchFamily="34" charset="-120"/>
              </a:rPr>
              <a:t>1% 미만</a:t>
            </a:r>
            <a:endParaRPr lang="en-US" sz="4000" dirty="0"/>
          </a:p>
        </p:txBody>
      </p:sp>
      <p:sp>
        <p:nvSpPr>
          <p:cNvPr id="11" name="Text 8"/>
          <p:cNvSpPr txBox="1"/>
          <p:nvPr/>
        </p:nvSpPr>
        <p:spPr>
          <a:xfrm>
            <a:off x="3886200" y="2468880"/>
            <a:ext cx="2468880" cy="457200"/>
          </a:xfrm>
          <a:prstGeom prst="rect">
            <a:avLst/>
          </a:prstGeom>
          <a:noFill/>
          <a:ln/>
        </p:spPr>
        <p:txBody>
          <a:bodyPr wrap="square" lIns="0" tIns="0" rIns="0" bIns="0" rtlCol="0" anchor="t"/>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인공위성</a:t>
            </a:r>
            <a:endParaRPr lang="en-US" sz="1800" dirty="0"/>
          </a:p>
        </p:txBody>
      </p:sp>
      <p:sp>
        <p:nvSpPr>
          <p:cNvPr id="12" name="Text 9"/>
          <p:cNvSpPr txBox="1"/>
          <p:nvPr/>
        </p:nvSpPr>
        <p:spPr>
          <a:xfrm>
            <a:off x="3886200" y="2971800"/>
            <a:ext cx="2468880" cy="457200"/>
          </a:xfrm>
          <a:prstGeom prst="rect">
            <a:avLst/>
          </a:prstGeom>
          <a:noFill/>
          <a:ln/>
        </p:spPr>
        <p:txBody>
          <a:bodyPr wrap="square" lIns="0" tIns="0" rIns="0" bIns="0" rtlCol="0" anchor="t"/>
          <a:lstStyle/>
          <a:p>
            <a:pPr indent="0" marL="0">
              <a:buNone/>
            </a:pPr>
            <a:r>
              <a:rPr lang="en-US" sz="1400" dirty="0">
                <a:solidFill>
                  <a:srgbClr val="66737C"/>
                </a:solidFill>
                <a:latin typeface="맑은 고딕" pitchFamily="34" charset="0"/>
                <a:ea typeface="맑은 고딕" pitchFamily="34" charset="-122"/>
                <a:cs typeface="맑은 고딕" pitchFamily="34" charset="-120"/>
              </a:rPr>
              <a:t>보조·도서지역</a:t>
            </a:r>
            <a:endParaRPr lang="en-US" sz="1400" dirty="0"/>
          </a:p>
        </p:txBody>
      </p:sp>
      <p:sp>
        <p:nvSpPr>
          <p:cNvPr id="13" name="Shape 10"/>
          <p:cNvSpPr/>
          <p:nvPr/>
        </p:nvSpPr>
        <p:spPr>
          <a:xfrm>
            <a:off x="6812280" y="1371600"/>
            <a:ext cx="4828032" cy="2286000"/>
          </a:xfrm>
          <a:prstGeom prst="roundRect">
            <a:avLst>
              <a:gd name="adj" fmla="val 3200"/>
            </a:avLst>
          </a:prstGeom>
          <a:solidFill>
            <a:srgbClr val="F4F6F7"/>
          </a:solidFill>
          <a:ln w="12700">
            <a:solidFill>
              <a:srgbClr val="9AA5AD"/>
            </a:solidFill>
            <a:prstDash val="solid"/>
          </a:ln>
        </p:spPr>
      </p:sp>
      <p:sp>
        <p:nvSpPr>
          <p:cNvPr id="14" name="Text 11"/>
          <p:cNvSpPr txBox="1"/>
          <p:nvPr/>
        </p:nvSpPr>
        <p:spPr>
          <a:xfrm>
            <a:off x="6995160" y="1508760"/>
            <a:ext cx="446227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용어</a:t>
            </a:r>
            <a:endParaRPr lang="en-US" sz="1600" dirty="0"/>
          </a:p>
        </p:txBody>
      </p:sp>
      <p:sp>
        <p:nvSpPr>
          <p:cNvPr id="15" name="Text 12"/>
          <p:cNvSpPr txBox="1"/>
          <p:nvPr/>
        </p:nvSpPr>
        <p:spPr>
          <a:xfrm>
            <a:off x="6995160" y="1965960"/>
            <a:ext cx="4462272" cy="15819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관문국: 국내망이 해외로 연결되는 접속점</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육양국(LS, Landing Station): 해저 케이블을 육지 통신망과 연결하는 시설</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국내 육양국: 부산 · 거제 · 태안</a:t>
            </a:r>
            <a:endParaRPr lang="en-US" sz="1400" dirty="0"/>
          </a:p>
        </p:txBody>
      </p:sp>
      <p:sp>
        <p:nvSpPr>
          <p:cNvPr id="16" name="Shape 13"/>
          <p:cNvSpPr/>
          <p:nvPr/>
        </p:nvSpPr>
        <p:spPr>
          <a:xfrm>
            <a:off x="548640" y="4069080"/>
            <a:ext cx="1920240" cy="914400"/>
          </a:xfrm>
          <a:prstGeom prst="roundRect">
            <a:avLst>
              <a:gd name="adj" fmla="val 8000"/>
            </a:avLst>
          </a:prstGeom>
          <a:solidFill>
            <a:srgbClr val="FFFFFF"/>
          </a:solidFill>
          <a:ln w="12700">
            <a:solidFill>
              <a:srgbClr val="1E2A30"/>
            </a:solidFill>
            <a:prstDash val="solid"/>
          </a:ln>
        </p:spPr>
      </p:sp>
      <p:sp>
        <p:nvSpPr>
          <p:cNvPr id="17" name="Text 14"/>
          <p:cNvSpPr txBox="1"/>
          <p:nvPr/>
        </p:nvSpPr>
        <p:spPr>
          <a:xfrm>
            <a:off x="548640" y="4069080"/>
            <a:ext cx="1920240" cy="914400"/>
          </a:xfrm>
          <a:prstGeom prst="rect">
            <a:avLst/>
          </a:prstGeom>
          <a:noFill/>
          <a:ln/>
        </p:spPr>
        <p:txBody>
          <a:bodyPr wrap="square" lIns="0" tIns="0" rIns="0" bIns="0" rtlCol="0" anchor="ctr"/>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국내망 (ISP)</a:t>
            </a:r>
            <a:endParaRPr lang="en-US" sz="1400" dirty="0"/>
          </a:p>
        </p:txBody>
      </p:sp>
      <p:sp>
        <p:nvSpPr>
          <p:cNvPr id="18" name="Shape 15"/>
          <p:cNvSpPr/>
          <p:nvPr/>
        </p:nvSpPr>
        <p:spPr>
          <a:xfrm>
            <a:off x="2487168" y="4526280"/>
            <a:ext cx="329184" cy="914"/>
          </a:xfrm>
          <a:prstGeom prst="line">
            <a:avLst/>
          </a:prstGeom>
          <a:noFill/>
          <a:ln w="19050">
            <a:solidFill>
              <a:srgbClr val="1E2A30"/>
            </a:solidFill>
            <a:prstDash val="solid"/>
            <a:headEnd type="triangle"/>
            <a:tailEnd type="triangle"/>
          </a:ln>
        </p:spPr>
      </p:sp>
      <p:sp>
        <p:nvSpPr>
          <p:cNvPr id="19" name="Shape 16"/>
          <p:cNvSpPr/>
          <p:nvPr/>
        </p:nvSpPr>
        <p:spPr>
          <a:xfrm>
            <a:off x="2834640" y="4069080"/>
            <a:ext cx="1920240" cy="914400"/>
          </a:xfrm>
          <a:prstGeom prst="roundRect">
            <a:avLst>
              <a:gd name="adj" fmla="val 8000"/>
            </a:avLst>
          </a:prstGeom>
          <a:solidFill>
            <a:srgbClr val="E6F1F2"/>
          </a:solidFill>
          <a:ln w="12700">
            <a:solidFill>
              <a:srgbClr val="0E6E7A"/>
            </a:solidFill>
            <a:prstDash val="solid"/>
          </a:ln>
        </p:spPr>
      </p:sp>
      <p:sp>
        <p:nvSpPr>
          <p:cNvPr id="20" name="Text 17"/>
          <p:cNvSpPr txBox="1"/>
          <p:nvPr/>
        </p:nvSpPr>
        <p:spPr>
          <a:xfrm>
            <a:off x="2834640" y="4069080"/>
            <a:ext cx="1920240" cy="91440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육양국</a:t>
            </a:r>
            <a:endParaRPr lang="en-US" sz="1400" dirty="0"/>
          </a:p>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부산·거제·태안</a:t>
            </a:r>
            <a:endParaRPr lang="en-US" sz="1400" dirty="0"/>
          </a:p>
        </p:txBody>
      </p:sp>
      <p:sp>
        <p:nvSpPr>
          <p:cNvPr id="21" name="Shape 18"/>
          <p:cNvSpPr/>
          <p:nvPr/>
        </p:nvSpPr>
        <p:spPr>
          <a:xfrm>
            <a:off x="4773168" y="4526280"/>
            <a:ext cx="329184" cy="914"/>
          </a:xfrm>
          <a:prstGeom prst="line">
            <a:avLst/>
          </a:prstGeom>
          <a:noFill/>
          <a:ln w="19050">
            <a:solidFill>
              <a:srgbClr val="1E2A30"/>
            </a:solidFill>
            <a:prstDash val="solid"/>
            <a:headEnd type="triangle"/>
            <a:tailEnd type="triangle"/>
          </a:ln>
        </p:spPr>
      </p:sp>
      <p:sp>
        <p:nvSpPr>
          <p:cNvPr id="22" name="Shape 19"/>
          <p:cNvSpPr/>
          <p:nvPr/>
        </p:nvSpPr>
        <p:spPr>
          <a:xfrm>
            <a:off x="5120640" y="4069080"/>
            <a:ext cx="1920240" cy="914400"/>
          </a:xfrm>
          <a:prstGeom prst="roundRect">
            <a:avLst>
              <a:gd name="adj" fmla="val 8000"/>
            </a:avLst>
          </a:prstGeom>
          <a:solidFill>
            <a:srgbClr val="FFFFFF"/>
          </a:solidFill>
          <a:ln w="12700">
            <a:solidFill>
              <a:srgbClr val="1E2A30"/>
            </a:solidFill>
            <a:prstDash val="dash"/>
          </a:ln>
        </p:spPr>
      </p:sp>
      <p:sp>
        <p:nvSpPr>
          <p:cNvPr id="23" name="Text 20"/>
          <p:cNvSpPr txBox="1"/>
          <p:nvPr/>
        </p:nvSpPr>
        <p:spPr>
          <a:xfrm>
            <a:off x="5120640" y="4069080"/>
            <a:ext cx="1920240" cy="914400"/>
          </a:xfrm>
          <a:prstGeom prst="rect">
            <a:avLst/>
          </a:prstGeom>
          <a:noFill/>
          <a:ln/>
        </p:spPr>
        <p:txBody>
          <a:bodyPr wrap="square" lIns="0" tIns="0" rIns="0" bIns="0" rtlCol="0" anchor="ctr"/>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해저 케이블</a:t>
            </a:r>
            <a:endParaRPr lang="en-US" sz="1400" dirty="0"/>
          </a:p>
        </p:txBody>
      </p:sp>
      <p:sp>
        <p:nvSpPr>
          <p:cNvPr id="24" name="Shape 21"/>
          <p:cNvSpPr/>
          <p:nvPr/>
        </p:nvSpPr>
        <p:spPr>
          <a:xfrm>
            <a:off x="7059168" y="4526280"/>
            <a:ext cx="329184" cy="914"/>
          </a:xfrm>
          <a:prstGeom prst="line">
            <a:avLst/>
          </a:prstGeom>
          <a:noFill/>
          <a:ln w="19050">
            <a:solidFill>
              <a:srgbClr val="1E2A30"/>
            </a:solidFill>
            <a:prstDash val="solid"/>
            <a:headEnd type="triangle"/>
            <a:tailEnd type="triangle"/>
          </a:ln>
        </p:spPr>
      </p:sp>
      <p:sp>
        <p:nvSpPr>
          <p:cNvPr id="25" name="Shape 22"/>
          <p:cNvSpPr/>
          <p:nvPr/>
        </p:nvSpPr>
        <p:spPr>
          <a:xfrm>
            <a:off x="7406640" y="4069080"/>
            <a:ext cx="1920240" cy="914400"/>
          </a:xfrm>
          <a:prstGeom prst="roundRect">
            <a:avLst>
              <a:gd name="adj" fmla="val 8000"/>
            </a:avLst>
          </a:prstGeom>
          <a:solidFill>
            <a:srgbClr val="FFFFFF"/>
          </a:solidFill>
          <a:ln w="12700">
            <a:solidFill>
              <a:srgbClr val="1E2A30"/>
            </a:solidFill>
            <a:prstDash val="solid"/>
          </a:ln>
        </p:spPr>
      </p:sp>
      <p:sp>
        <p:nvSpPr>
          <p:cNvPr id="26" name="Text 23"/>
          <p:cNvSpPr txBox="1"/>
          <p:nvPr/>
        </p:nvSpPr>
        <p:spPr>
          <a:xfrm>
            <a:off x="7406640" y="4069080"/>
            <a:ext cx="1920240" cy="914400"/>
          </a:xfrm>
          <a:prstGeom prst="rect">
            <a:avLst/>
          </a:prstGeom>
          <a:noFill/>
          <a:ln/>
        </p:spPr>
        <p:txBody>
          <a:bodyPr wrap="square" lIns="0" tIns="0" rIns="0" bIns="0" rtlCol="0" anchor="ctr"/>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해외 육양국</a:t>
            </a:r>
            <a:endParaRPr lang="en-US" sz="1400" dirty="0"/>
          </a:p>
        </p:txBody>
      </p:sp>
      <p:sp>
        <p:nvSpPr>
          <p:cNvPr id="27" name="Shape 24"/>
          <p:cNvSpPr/>
          <p:nvPr/>
        </p:nvSpPr>
        <p:spPr>
          <a:xfrm>
            <a:off x="9345168" y="4526280"/>
            <a:ext cx="329184" cy="914"/>
          </a:xfrm>
          <a:prstGeom prst="line">
            <a:avLst/>
          </a:prstGeom>
          <a:noFill/>
          <a:ln w="19050">
            <a:solidFill>
              <a:srgbClr val="1E2A30"/>
            </a:solidFill>
            <a:prstDash val="solid"/>
            <a:headEnd type="triangle"/>
            <a:tailEnd type="triangle"/>
          </a:ln>
        </p:spPr>
      </p:sp>
      <p:sp>
        <p:nvSpPr>
          <p:cNvPr id="28" name="Shape 25"/>
          <p:cNvSpPr/>
          <p:nvPr/>
        </p:nvSpPr>
        <p:spPr>
          <a:xfrm>
            <a:off x="9692640" y="4069080"/>
            <a:ext cx="1920240" cy="914400"/>
          </a:xfrm>
          <a:prstGeom prst="roundRect">
            <a:avLst>
              <a:gd name="adj" fmla="val 8000"/>
            </a:avLst>
          </a:prstGeom>
          <a:solidFill>
            <a:srgbClr val="FFFFFF"/>
          </a:solidFill>
          <a:ln w="12700">
            <a:solidFill>
              <a:srgbClr val="1E2A30"/>
            </a:solidFill>
            <a:prstDash val="solid"/>
          </a:ln>
        </p:spPr>
      </p:sp>
      <p:sp>
        <p:nvSpPr>
          <p:cNvPr id="29" name="Text 26"/>
          <p:cNvSpPr txBox="1"/>
          <p:nvPr/>
        </p:nvSpPr>
        <p:spPr>
          <a:xfrm>
            <a:off x="9692640" y="4069080"/>
            <a:ext cx="1920240" cy="914400"/>
          </a:xfrm>
          <a:prstGeom prst="rect">
            <a:avLst/>
          </a:prstGeom>
          <a:noFill/>
          <a:ln/>
        </p:spPr>
        <p:txBody>
          <a:bodyPr wrap="square" lIns="0" tIns="0" rIns="0" bIns="0" rtlCol="0" anchor="ctr"/>
          <a:lstStyle/>
          <a:p>
            <a:pPr algn="ctr" indent="0" marL="0">
              <a:buNone/>
            </a:pPr>
            <a:r>
              <a:rPr lang="en-US" sz="1400" dirty="0">
                <a:solidFill>
                  <a:srgbClr val="1E2A30"/>
                </a:solidFill>
                <a:latin typeface="맑은 고딕" pitchFamily="34" charset="0"/>
                <a:ea typeface="맑은 고딕" pitchFamily="34" charset="-122"/>
                <a:cs typeface="맑은 고딕" pitchFamily="34" charset="-120"/>
              </a:rPr>
              <a:t>해외망</a:t>
            </a:r>
            <a:endParaRPr lang="en-US" sz="1400" dirty="0"/>
          </a:p>
        </p:txBody>
      </p:sp>
      <p:sp>
        <p:nvSpPr>
          <p:cNvPr id="30" name="Text 27"/>
          <p:cNvSpPr txBox="1"/>
          <p:nvPr/>
        </p:nvSpPr>
        <p:spPr>
          <a:xfrm>
            <a:off x="548640" y="5257800"/>
            <a:ext cx="7315200" cy="36576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참고 사이트: www.submarinecablemap.com</a:t>
            </a:r>
            <a:endParaRPr lang="en-US" sz="13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인터넷은 이렇게 동작한다 — Host to Host</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Text 2"/>
          <p:cNvSpPr txBox="1"/>
          <p:nvPr/>
        </p:nvSpPr>
        <p:spPr>
          <a:xfrm>
            <a:off x="548640" y="1600200"/>
            <a:ext cx="914400" cy="45720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보내는</a:t>
            </a:r>
            <a:endParaRPr lang="en-US" sz="1400" dirty="0"/>
          </a:p>
          <a:p>
            <a:pPr indent="0" marL="0">
              <a:buNone/>
            </a:pPr>
            <a:r>
              <a:rPr lang="en-US" sz="1400" b="1" dirty="0">
                <a:solidFill>
                  <a:srgbClr val="0E6E7A"/>
                </a:solidFill>
                <a:latin typeface="맑은 고딕" pitchFamily="34" charset="0"/>
                <a:ea typeface="맑은 고딕" pitchFamily="34" charset="-122"/>
                <a:cs typeface="맑은 고딕" pitchFamily="34" charset="-120"/>
              </a:rPr>
              <a:t>쪽</a:t>
            </a:r>
            <a:endParaRPr lang="en-US" sz="1400" dirty="0"/>
          </a:p>
        </p:txBody>
      </p:sp>
      <p:sp>
        <p:nvSpPr>
          <p:cNvPr id="6" name="Shape 3"/>
          <p:cNvSpPr/>
          <p:nvPr/>
        </p:nvSpPr>
        <p:spPr>
          <a:xfrm>
            <a:off x="1463040" y="1463040"/>
            <a:ext cx="1508760" cy="731520"/>
          </a:xfrm>
          <a:prstGeom prst="roundRect">
            <a:avLst>
              <a:gd name="adj" fmla="val 10000"/>
            </a:avLst>
          </a:prstGeom>
          <a:solidFill>
            <a:srgbClr val="E6F1F2"/>
          </a:solidFill>
          <a:ln w="12700">
            <a:solidFill>
              <a:srgbClr val="1E2A30"/>
            </a:solidFill>
            <a:prstDash val="solid"/>
          </a:ln>
        </p:spPr>
      </p:sp>
      <p:sp>
        <p:nvSpPr>
          <p:cNvPr id="7" name="Text 4"/>
          <p:cNvSpPr txBox="1"/>
          <p:nvPr/>
        </p:nvSpPr>
        <p:spPr>
          <a:xfrm>
            <a:off x="1463040" y="146304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Client</a:t>
            </a:r>
            <a:endParaRPr lang="en-US" sz="1300" dirty="0"/>
          </a:p>
          <a:p>
            <a:pPr algn="ctr" indent="0" marL="0">
              <a:buNone/>
            </a:pPr>
            <a:r>
              <a:rPr lang="en-US" sz="1300" dirty="0">
                <a:solidFill>
                  <a:srgbClr val="1E2A30"/>
                </a:solidFill>
                <a:latin typeface="맑은 고딕" pitchFamily="34" charset="0"/>
                <a:ea typeface="맑은 고딕" pitchFamily="34" charset="-122"/>
                <a:cs typeface="맑은 고딕" pitchFamily="34" charset="-120"/>
              </a:rPr>
              <a:t>(NIC)</a:t>
            </a:r>
            <a:endParaRPr lang="en-US" sz="1300" dirty="0"/>
          </a:p>
        </p:txBody>
      </p:sp>
      <p:sp>
        <p:nvSpPr>
          <p:cNvPr id="8" name="Shape 5"/>
          <p:cNvSpPr/>
          <p:nvPr/>
        </p:nvSpPr>
        <p:spPr>
          <a:xfrm>
            <a:off x="2971800" y="1828800"/>
            <a:ext cx="274320" cy="914"/>
          </a:xfrm>
          <a:prstGeom prst="line">
            <a:avLst/>
          </a:prstGeom>
          <a:noFill/>
          <a:ln w="15875">
            <a:solidFill>
              <a:srgbClr val="1E2A30"/>
            </a:solidFill>
            <a:prstDash val="solid"/>
          </a:ln>
        </p:spPr>
      </p:sp>
      <p:sp>
        <p:nvSpPr>
          <p:cNvPr id="9" name="Shape 6"/>
          <p:cNvSpPr/>
          <p:nvPr/>
        </p:nvSpPr>
        <p:spPr>
          <a:xfrm>
            <a:off x="3246120" y="1463040"/>
            <a:ext cx="1508760" cy="731520"/>
          </a:xfrm>
          <a:prstGeom prst="roundRect">
            <a:avLst>
              <a:gd name="adj" fmla="val 10000"/>
            </a:avLst>
          </a:prstGeom>
          <a:solidFill>
            <a:srgbClr val="FFFFFF"/>
          </a:solidFill>
          <a:ln w="12700">
            <a:solidFill>
              <a:srgbClr val="1E2A30"/>
            </a:solidFill>
            <a:prstDash val="solid"/>
          </a:ln>
        </p:spPr>
      </p:sp>
      <p:sp>
        <p:nvSpPr>
          <p:cNvPr id="10" name="Text 7"/>
          <p:cNvSpPr txBox="1"/>
          <p:nvPr/>
        </p:nvSpPr>
        <p:spPr>
          <a:xfrm>
            <a:off x="3246120" y="146304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Switch</a:t>
            </a:r>
            <a:endParaRPr lang="en-US" sz="1300" dirty="0"/>
          </a:p>
        </p:txBody>
      </p:sp>
      <p:sp>
        <p:nvSpPr>
          <p:cNvPr id="11" name="Shape 8"/>
          <p:cNvSpPr/>
          <p:nvPr/>
        </p:nvSpPr>
        <p:spPr>
          <a:xfrm>
            <a:off x="4754880" y="1828800"/>
            <a:ext cx="274320" cy="914"/>
          </a:xfrm>
          <a:prstGeom prst="line">
            <a:avLst/>
          </a:prstGeom>
          <a:noFill/>
          <a:ln w="15875">
            <a:solidFill>
              <a:srgbClr val="1E2A30"/>
            </a:solidFill>
            <a:prstDash val="solid"/>
          </a:ln>
        </p:spPr>
      </p:sp>
      <p:sp>
        <p:nvSpPr>
          <p:cNvPr id="12" name="Shape 9"/>
          <p:cNvSpPr/>
          <p:nvPr/>
        </p:nvSpPr>
        <p:spPr>
          <a:xfrm>
            <a:off x="5029200" y="1463040"/>
            <a:ext cx="1508760" cy="731520"/>
          </a:xfrm>
          <a:prstGeom prst="roundRect">
            <a:avLst>
              <a:gd name="adj" fmla="val 10000"/>
            </a:avLst>
          </a:prstGeom>
          <a:solidFill>
            <a:srgbClr val="FFFFFF"/>
          </a:solidFill>
          <a:ln w="12700">
            <a:solidFill>
              <a:srgbClr val="1E2A30"/>
            </a:solidFill>
            <a:prstDash val="solid"/>
          </a:ln>
        </p:spPr>
      </p:sp>
      <p:sp>
        <p:nvSpPr>
          <p:cNvPr id="13" name="Text 10"/>
          <p:cNvSpPr txBox="1"/>
          <p:nvPr/>
        </p:nvSpPr>
        <p:spPr>
          <a:xfrm>
            <a:off x="5029200" y="146304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Router</a:t>
            </a:r>
            <a:endParaRPr lang="en-US" sz="1300" dirty="0"/>
          </a:p>
        </p:txBody>
      </p:sp>
      <p:sp>
        <p:nvSpPr>
          <p:cNvPr id="14" name="Shape 11"/>
          <p:cNvSpPr/>
          <p:nvPr/>
        </p:nvSpPr>
        <p:spPr>
          <a:xfrm>
            <a:off x="6537960" y="1828800"/>
            <a:ext cx="274320" cy="914"/>
          </a:xfrm>
          <a:prstGeom prst="line">
            <a:avLst/>
          </a:prstGeom>
          <a:noFill/>
          <a:ln w="15875">
            <a:solidFill>
              <a:srgbClr val="1E2A30"/>
            </a:solidFill>
            <a:prstDash val="solid"/>
          </a:ln>
        </p:spPr>
      </p:sp>
      <p:sp>
        <p:nvSpPr>
          <p:cNvPr id="15" name="Shape 12"/>
          <p:cNvSpPr/>
          <p:nvPr/>
        </p:nvSpPr>
        <p:spPr>
          <a:xfrm>
            <a:off x="6812280" y="1463040"/>
            <a:ext cx="1508760" cy="731520"/>
          </a:xfrm>
          <a:prstGeom prst="roundRect">
            <a:avLst>
              <a:gd name="adj" fmla="val 10000"/>
            </a:avLst>
          </a:prstGeom>
          <a:solidFill>
            <a:srgbClr val="FFFFFF"/>
          </a:solidFill>
          <a:ln w="12700">
            <a:solidFill>
              <a:srgbClr val="1E2A30"/>
            </a:solidFill>
            <a:prstDash val="solid"/>
          </a:ln>
        </p:spPr>
      </p:sp>
      <p:sp>
        <p:nvSpPr>
          <p:cNvPr id="16" name="Text 13"/>
          <p:cNvSpPr txBox="1"/>
          <p:nvPr/>
        </p:nvSpPr>
        <p:spPr>
          <a:xfrm>
            <a:off x="6812280" y="146304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ISP</a:t>
            </a:r>
            <a:endParaRPr lang="en-US" sz="1300" dirty="0"/>
          </a:p>
        </p:txBody>
      </p:sp>
      <p:sp>
        <p:nvSpPr>
          <p:cNvPr id="17" name="Shape 14"/>
          <p:cNvSpPr/>
          <p:nvPr/>
        </p:nvSpPr>
        <p:spPr>
          <a:xfrm>
            <a:off x="8321040" y="1828800"/>
            <a:ext cx="274320" cy="914"/>
          </a:xfrm>
          <a:prstGeom prst="line">
            <a:avLst/>
          </a:prstGeom>
          <a:noFill/>
          <a:ln w="15875">
            <a:solidFill>
              <a:srgbClr val="1E2A30"/>
            </a:solidFill>
            <a:prstDash val="solid"/>
          </a:ln>
        </p:spPr>
      </p:sp>
      <p:sp>
        <p:nvSpPr>
          <p:cNvPr id="18" name="Shape 15"/>
          <p:cNvSpPr/>
          <p:nvPr/>
        </p:nvSpPr>
        <p:spPr>
          <a:xfrm>
            <a:off x="8595360" y="1463040"/>
            <a:ext cx="1508760" cy="731520"/>
          </a:xfrm>
          <a:prstGeom prst="roundRect">
            <a:avLst>
              <a:gd name="adj" fmla="val 10000"/>
            </a:avLst>
          </a:prstGeom>
          <a:solidFill>
            <a:srgbClr val="FFFFFF"/>
          </a:solidFill>
          <a:ln w="12700">
            <a:solidFill>
              <a:srgbClr val="1E2A30"/>
            </a:solidFill>
            <a:prstDash val="solid"/>
          </a:ln>
        </p:spPr>
      </p:sp>
      <p:sp>
        <p:nvSpPr>
          <p:cNvPr id="19" name="Text 16"/>
          <p:cNvSpPr txBox="1"/>
          <p:nvPr/>
        </p:nvSpPr>
        <p:spPr>
          <a:xfrm>
            <a:off x="8595360" y="146304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Router</a:t>
            </a:r>
            <a:endParaRPr lang="en-US" sz="1300" dirty="0"/>
          </a:p>
        </p:txBody>
      </p:sp>
      <p:sp>
        <p:nvSpPr>
          <p:cNvPr id="20" name="Text 17"/>
          <p:cNvSpPr txBox="1"/>
          <p:nvPr/>
        </p:nvSpPr>
        <p:spPr>
          <a:xfrm>
            <a:off x="548640" y="3703320"/>
            <a:ext cx="914400" cy="45720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받는</a:t>
            </a:r>
            <a:endParaRPr lang="en-US" sz="1400" dirty="0"/>
          </a:p>
          <a:p>
            <a:pPr indent="0" marL="0">
              <a:buNone/>
            </a:pPr>
            <a:r>
              <a:rPr lang="en-US" sz="1400" b="1" dirty="0">
                <a:solidFill>
                  <a:srgbClr val="0E6E7A"/>
                </a:solidFill>
                <a:latin typeface="맑은 고딕" pitchFamily="34" charset="0"/>
                <a:ea typeface="맑은 고딕" pitchFamily="34" charset="-122"/>
                <a:cs typeface="맑은 고딕" pitchFamily="34" charset="-120"/>
              </a:rPr>
              <a:t>쪽</a:t>
            </a:r>
            <a:endParaRPr lang="en-US" sz="1400" dirty="0"/>
          </a:p>
        </p:txBody>
      </p:sp>
      <p:sp>
        <p:nvSpPr>
          <p:cNvPr id="21" name="Shape 18"/>
          <p:cNvSpPr/>
          <p:nvPr/>
        </p:nvSpPr>
        <p:spPr>
          <a:xfrm>
            <a:off x="1463040" y="3566160"/>
            <a:ext cx="1508760" cy="731520"/>
          </a:xfrm>
          <a:prstGeom prst="roundRect">
            <a:avLst>
              <a:gd name="adj" fmla="val 10000"/>
            </a:avLst>
          </a:prstGeom>
          <a:solidFill>
            <a:srgbClr val="E6F1F2"/>
          </a:solidFill>
          <a:ln w="12700">
            <a:solidFill>
              <a:srgbClr val="1E2A30"/>
            </a:solidFill>
            <a:prstDash val="solid"/>
          </a:ln>
        </p:spPr>
      </p:sp>
      <p:sp>
        <p:nvSpPr>
          <p:cNvPr id="22" name="Text 19"/>
          <p:cNvSpPr txBox="1"/>
          <p:nvPr/>
        </p:nvSpPr>
        <p:spPr>
          <a:xfrm>
            <a:off x="1463040" y="356616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Server</a:t>
            </a:r>
            <a:endParaRPr lang="en-US" sz="1300" dirty="0"/>
          </a:p>
          <a:p>
            <a:pPr algn="ctr" indent="0" marL="0">
              <a:buNone/>
            </a:pPr>
            <a:r>
              <a:rPr lang="en-US" sz="1300" dirty="0">
                <a:solidFill>
                  <a:srgbClr val="1E2A30"/>
                </a:solidFill>
                <a:latin typeface="맑은 고딕" pitchFamily="34" charset="0"/>
                <a:ea typeface="맑은 고딕" pitchFamily="34" charset="-122"/>
                <a:cs typeface="맑은 고딕" pitchFamily="34" charset="-120"/>
              </a:rPr>
              <a:t>(NIC)</a:t>
            </a:r>
            <a:endParaRPr lang="en-US" sz="1300" dirty="0"/>
          </a:p>
        </p:txBody>
      </p:sp>
      <p:sp>
        <p:nvSpPr>
          <p:cNvPr id="23" name="Shape 20"/>
          <p:cNvSpPr/>
          <p:nvPr/>
        </p:nvSpPr>
        <p:spPr>
          <a:xfrm>
            <a:off x="2971800" y="3931920"/>
            <a:ext cx="274320" cy="914"/>
          </a:xfrm>
          <a:prstGeom prst="line">
            <a:avLst/>
          </a:prstGeom>
          <a:noFill/>
          <a:ln w="15875">
            <a:solidFill>
              <a:srgbClr val="1E2A30"/>
            </a:solidFill>
            <a:prstDash val="solid"/>
          </a:ln>
        </p:spPr>
      </p:sp>
      <p:sp>
        <p:nvSpPr>
          <p:cNvPr id="24" name="Shape 21"/>
          <p:cNvSpPr/>
          <p:nvPr/>
        </p:nvSpPr>
        <p:spPr>
          <a:xfrm>
            <a:off x="3246120" y="3566160"/>
            <a:ext cx="1508760" cy="731520"/>
          </a:xfrm>
          <a:prstGeom prst="roundRect">
            <a:avLst>
              <a:gd name="adj" fmla="val 10000"/>
            </a:avLst>
          </a:prstGeom>
          <a:solidFill>
            <a:srgbClr val="FFFFFF"/>
          </a:solidFill>
          <a:ln w="12700">
            <a:solidFill>
              <a:srgbClr val="1E2A30"/>
            </a:solidFill>
            <a:prstDash val="solid"/>
          </a:ln>
        </p:spPr>
      </p:sp>
      <p:sp>
        <p:nvSpPr>
          <p:cNvPr id="25" name="Text 22"/>
          <p:cNvSpPr txBox="1"/>
          <p:nvPr/>
        </p:nvSpPr>
        <p:spPr>
          <a:xfrm>
            <a:off x="3246120" y="356616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Switch</a:t>
            </a:r>
            <a:endParaRPr lang="en-US" sz="1300" dirty="0"/>
          </a:p>
        </p:txBody>
      </p:sp>
      <p:sp>
        <p:nvSpPr>
          <p:cNvPr id="26" name="Shape 23"/>
          <p:cNvSpPr/>
          <p:nvPr/>
        </p:nvSpPr>
        <p:spPr>
          <a:xfrm>
            <a:off x="4754880" y="3931920"/>
            <a:ext cx="274320" cy="914"/>
          </a:xfrm>
          <a:prstGeom prst="line">
            <a:avLst/>
          </a:prstGeom>
          <a:noFill/>
          <a:ln w="15875">
            <a:solidFill>
              <a:srgbClr val="1E2A30"/>
            </a:solidFill>
            <a:prstDash val="solid"/>
          </a:ln>
        </p:spPr>
      </p:sp>
      <p:sp>
        <p:nvSpPr>
          <p:cNvPr id="27" name="Shape 24"/>
          <p:cNvSpPr/>
          <p:nvPr/>
        </p:nvSpPr>
        <p:spPr>
          <a:xfrm>
            <a:off x="5029200" y="3566160"/>
            <a:ext cx="1508760" cy="731520"/>
          </a:xfrm>
          <a:prstGeom prst="roundRect">
            <a:avLst>
              <a:gd name="adj" fmla="val 10000"/>
            </a:avLst>
          </a:prstGeom>
          <a:solidFill>
            <a:srgbClr val="FFFFFF"/>
          </a:solidFill>
          <a:ln w="12700">
            <a:solidFill>
              <a:srgbClr val="1E2A30"/>
            </a:solidFill>
            <a:prstDash val="solid"/>
          </a:ln>
        </p:spPr>
      </p:sp>
      <p:sp>
        <p:nvSpPr>
          <p:cNvPr id="28" name="Text 25"/>
          <p:cNvSpPr txBox="1"/>
          <p:nvPr/>
        </p:nvSpPr>
        <p:spPr>
          <a:xfrm>
            <a:off x="5029200" y="356616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Router</a:t>
            </a:r>
            <a:endParaRPr lang="en-US" sz="1300" dirty="0"/>
          </a:p>
        </p:txBody>
      </p:sp>
      <p:sp>
        <p:nvSpPr>
          <p:cNvPr id="29" name="Shape 26"/>
          <p:cNvSpPr/>
          <p:nvPr/>
        </p:nvSpPr>
        <p:spPr>
          <a:xfrm>
            <a:off x="6537960" y="3931920"/>
            <a:ext cx="274320" cy="914"/>
          </a:xfrm>
          <a:prstGeom prst="line">
            <a:avLst/>
          </a:prstGeom>
          <a:noFill/>
          <a:ln w="15875">
            <a:solidFill>
              <a:srgbClr val="1E2A30"/>
            </a:solidFill>
            <a:prstDash val="solid"/>
          </a:ln>
        </p:spPr>
      </p:sp>
      <p:sp>
        <p:nvSpPr>
          <p:cNvPr id="30" name="Shape 27"/>
          <p:cNvSpPr/>
          <p:nvPr/>
        </p:nvSpPr>
        <p:spPr>
          <a:xfrm>
            <a:off x="6812280" y="3566160"/>
            <a:ext cx="1508760" cy="731520"/>
          </a:xfrm>
          <a:prstGeom prst="roundRect">
            <a:avLst>
              <a:gd name="adj" fmla="val 10000"/>
            </a:avLst>
          </a:prstGeom>
          <a:solidFill>
            <a:srgbClr val="FFFFFF"/>
          </a:solidFill>
          <a:ln w="12700">
            <a:solidFill>
              <a:srgbClr val="1E2A30"/>
            </a:solidFill>
            <a:prstDash val="solid"/>
          </a:ln>
        </p:spPr>
      </p:sp>
      <p:sp>
        <p:nvSpPr>
          <p:cNvPr id="31" name="Text 28"/>
          <p:cNvSpPr txBox="1"/>
          <p:nvPr/>
        </p:nvSpPr>
        <p:spPr>
          <a:xfrm>
            <a:off x="6812280" y="356616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ISP</a:t>
            </a:r>
            <a:endParaRPr lang="en-US" sz="1300" dirty="0"/>
          </a:p>
        </p:txBody>
      </p:sp>
      <p:sp>
        <p:nvSpPr>
          <p:cNvPr id="32" name="Shape 29"/>
          <p:cNvSpPr/>
          <p:nvPr/>
        </p:nvSpPr>
        <p:spPr>
          <a:xfrm>
            <a:off x="8321040" y="3931920"/>
            <a:ext cx="274320" cy="914"/>
          </a:xfrm>
          <a:prstGeom prst="line">
            <a:avLst/>
          </a:prstGeom>
          <a:noFill/>
          <a:ln w="15875">
            <a:solidFill>
              <a:srgbClr val="1E2A30"/>
            </a:solidFill>
            <a:prstDash val="solid"/>
          </a:ln>
        </p:spPr>
      </p:sp>
      <p:sp>
        <p:nvSpPr>
          <p:cNvPr id="33" name="Shape 30"/>
          <p:cNvSpPr/>
          <p:nvPr/>
        </p:nvSpPr>
        <p:spPr>
          <a:xfrm>
            <a:off x="8595360" y="3566160"/>
            <a:ext cx="1508760" cy="731520"/>
          </a:xfrm>
          <a:prstGeom prst="roundRect">
            <a:avLst>
              <a:gd name="adj" fmla="val 10000"/>
            </a:avLst>
          </a:prstGeom>
          <a:solidFill>
            <a:srgbClr val="FFFFFF"/>
          </a:solidFill>
          <a:ln w="12700">
            <a:solidFill>
              <a:srgbClr val="1E2A30"/>
            </a:solidFill>
            <a:prstDash val="solid"/>
          </a:ln>
        </p:spPr>
      </p:sp>
      <p:sp>
        <p:nvSpPr>
          <p:cNvPr id="34" name="Text 31"/>
          <p:cNvSpPr txBox="1"/>
          <p:nvPr/>
        </p:nvSpPr>
        <p:spPr>
          <a:xfrm>
            <a:off x="8595360" y="3566160"/>
            <a:ext cx="1508760" cy="731520"/>
          </a:xfrm>
          <a:prstGeom prst="rect">
            <a:avLst/>
          </a:prstGeom>
          <a:noFill/>
          <a:ln/>
        </p:spPr>
        <p:txBody>
          <a:bodyPr wrap="square" lIns="0" tIns="0" rIns="0" bIns="0" rtlCol="0" anchor="ctr"/>
          <a:lstStyle/>
          <a:p>
            <a:pPr algn="ctr" indent="0" marL="0">
              <a:buNone/>
            </a:pPr>
            <a:r>
              <a:rPr lang="en-US" sz="1300" dirty="0">
                <a:solidFill>
                  <a:srgbClr val="1E2A30"/>
                </a:solidFill>
                <a:latin typeface="맑은 고딕" pitchFamily="34" charset="0"/>
                <a:ea typeface="맑은 고딕" pitchFamily="34" charset="-122"/>
                <a:cs typeface="맑은 고딕" pitchFamily="34" charset="-120"/>
              </a:rPr>
              <a:t>Router</a:t>
            </a:r>
            <a:endParaRPr lang="en-US" sz="1300" dirty="0"/>
          </a:p>
        </p:txBody>
      </p:sp>
      <p:sp>
        <p:nvSpPr>
          <p:cNvPr id="35" name="Shape 32"/>
          <p:cNvSpPr/>
          <p:nvPr/>
        </p:nvSpPr>
        <p:spPr>
          <a:xfrm>
            <a:off x="10378440" y="2514600"/>
            <a:ext cx="1261872" cy="1280160"/>
          </a:xfrm>
          <a:prstGeom prst="roundRect">
            <a:avLst>
              <a:gd name="adj" fmla="val 5797"/>
            </a:avLst>
          </a:prstGeom>
          <a:solidFill>
            <a:srgbClr val="F4F6F7"/>
          </a:solidFill>
          <a:ln w="12700">
            <a:solidFill>
              <a:srgbClr val="0E6E7A"/>
            </a:solidFill>
            <a:prstDash val="dash"/>
          </a:ln>
        </p:spPr>
      </p:sp>
      <p:sp>
        <p:nvSpPr>
          <p:cNvPr id="36" name="Text 33"/>
          <p:cNvSpPr txBox="1"/>
          <p:nvPr/>
        </p:nvSpPr>
        <p:spPr>
          <a:xfrm>
            <a:off x="10378440" y="2514600"/>
            <a:ext cx="1261872" cy="1280160"/>
          </a:xfrm>
          <a:prstGeom prst="rect">
            <a:avLst/>
          </a:prstGeom>
          <a:noFill/>
          <a:ln/>
        </p:spPr>
        <p:txBody>
          <a:bodyPr wrap="square" lIns="0" tIns="0" rIns="0" bIns="0" rtlCol="0" anchor="ctr"/>
          <a:lstStyle/>
          <a:p>
            <a:pPr algn="ctr" indent="0" marL="0">
              <a:buNone/>
            </a:pPr>
            <a:r>
              <a:rPr lang="en-US" sz="1300" b="1" dirty="0">
                <a:solidFill>
                  <a:srgbClr val="1E2A30"/>
                </a:solidFill>
                <a:latin typeface="맑은 고딕" pitchFamily="34" charset="0"/>
                <a:ea typeface="맑은 고딕" pitchFamily="34" charset="-122"/>
                <a:cs typeface="맑은 고딕" pitchFamily="34" charset="-120"/>
              </a:rPr>
              <a:t>인터넷</a:t>
            </a:r>
            <a:endParaRPr lang="en-US" sz="1300" dirty="0"/>
          </a:p>
          <a:p>
            <a:pPr algn="ctr" indent="0" marL="0">
              <a:buNone/>
            </a:pPr>
            <a:r>
              <a:rPr lang="en-US" sz="1300" b="1" dirty="0">
                <a:solidFill>
                  <a:srgbClr val="1E2A30"/>
                </a:solidFill>
                <a:latin typeface="맑은 고딕" pitchFamily="34" charset="0"/>
                <a:ea typeface="맑은 고딕" pitchFamily="34" charset="-122"/>
                <a:cs typeface="맑은 고딕" pitchFamily="34" charset="-120"/>
              </a:rPr>
              <a:t>백본</a:t>
            </a:r>
            <a:endParaRPr lang="en-US" sz="1300" dirty="0"/>
          </a:p>
          <a:p>
            <a:pPr algn="ctr" indent="0" marL="0">
              <a:buNone/>
            </a:pPr>
            <a:r>
              <a:rPr lang="en-US" sz="1300" b="1" dirty="0">
                <a:solidFill>
                  <a:srgbClr val="1E2A30"/>
                </a:solidFill>
                <a:latin typeface="맑은 고딕" pitchFamily="34" charset="0"/>
                <a:ea typeface="맑은 고딕" pitchFamily="34" charset="-122"/>
                <a:cs typeface="맑은 고딕" pitchFamily="34" charset="-120"/>
              </a:rPr>
              <a:t>(라우터들)</a:t>
            </a:r>
            <a:endParaRPr lang="en-US" sz="1300" dirty="0"/>
          </a:p>
        </p:txBody>
      </p:sp>
      <p:sp>
        <p:nvSpPr>
          <p:cNvPr id="37" name="Shape 34"/>
          <p:cNvSpPr/>
          <p:nvPr/>
        </p:nvSpPr>
        <p:spPr>
          <a:xfrm>
            <a:off x="10104120" y="1828800"/>
            <a:ext cx="905256" cy="685800"/>
          </a:xfrm>
          <a:prstGeom prst="line">
            <a:avLst/>
          </a:prstGeom>
          <a:noFill/>
          <a:ln w="15875">
            <a:solidFill>
              <a:srgbClr val="1E2A30"/>
            </a:solidFill>
            <a:prstDash val="solid"/>
          </a:ln>
        </p:spPr>
      </p:sp>
      <p:sp>
        <p:nvSpPr>
          <p:cNvPr id="38" name="Shape 35"/>
          <p:cNvSpPr/>
          <p:nvPr/>
        </p:nvSpPr>
        <p:spPr>
          <a:xfrm flipV="1">
            <a:off x="10104120" y="3794760"/>
            <a:ext cx="905256" cy="137160"/>
          </a:xfrm>
          <a:prstGeom prst="line">
            <a:avLst/>
          </a:prstGeom>
          <a:noFill/>
          <a:ln w="15875">
            <a:solidFill>
              <a:srgbClr val="1E2A30"/>
            </a:solidFill>
            <a:prstDash val="solid"/>
          </a:ln>
        </p:spPr>
      </p:sp>
      <p:sp>
        <p:nvSpPr>
          <p:cNvPr id="39" name="Shape 36"/>
          <p:cNvSpPr/>
          <p:nvPr/>
        </p:nvSpPr>
        <p:spPr>
          <a:xfrm>
            <a:off x="548640" y="4663440"/>
            <a:ext cx="5394960" cy="1097280"/>
          </a:xfrm>
          <a:prstGeom prst="roundRect">
            <a:avLst>
              <a:gd name="adj" fmla="val 6667"/>
            </a:avLst>
          </a:prstGeom>
          <a:solidFill>
            <a:srgbClr val="FFFFFF"/>
          </a:solidFill>
          <a:ln w="12700">
            <a:solidFill>
              <a:srgbClr val="9AA5AD"/>
            </a:solidFill>
            <a:prstDash val="solid"/>
          </a:ln>
        </p:spPr>
      </p:sp>
      <p:sp>
        <p:nvSpPr>
          <p:cNvPr id="40" name="Text 37"/>
          <p:cNvSpPr txBox="1"/>
          <p:nvPr/>
        </p:nvSpPr>
        <p:spPr>
          <a:xfrm>
            <a:off x="731520" y="4800600"/>
            <a:ext cx="5029200" cy="850392"/>
          </a:xfrm>
          <a:prstGeom prst="rect">
            <a:avLst/>
          </a:prstGeom>
          <a:noFill/>
          <a:ln/>
        </p:spPr>
        <p:txBody>
          <a:bodyPr wrap="square" lIns="0" tIns="0" rIns="0" bIns="0" rtlCol="0" anchor="t"/>
          <a:lstStyle/>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스위치 구간(같은 네트워크): MAC 주소로 전달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랜카드 → 스위치 → 라우터</a:t>
            </a:r>
            <a:endParaRPr lang="en-US" sz="1400" dirty="0"/>
          </a:p>
        </p:txBody>
      </p:sp>
      <p:sp>
        <p:nvSpPr>
          <p:cNvPr id="41" name="Shape 38"/>
          <p:cNvSpPr/>
          <p:nvPr/>
        </p:nvSpPr>
        <p:spPr>
          <a:xfrm>
            <a:off x="6245352" y="4663440"/>
            <a:ext cx="5394960" cy="1097280"/>
          </a:xfrm>
          <a:prstGeom prst="roundRect">
            <a:avLst>
              <a:gd name="adj" fmla="val 6667"/>
            </a:avLst>
          </a:prstGeom>
          <a:solidFill>
            <a:srgbClr val="E6F1F2"/>
          </a:solidFill>
          <a:ln w="12700">
            <a:solidFill>
              <a:srgbClr val="0E6E7A"/>
            </a:solidFill>
            <a:prstDash val="solid"/>
          </a:ln>
        </p:spPr>
      </p:sp>
      <p:sp>
        <p:nvSpPr>
          <p:cNvPr id="42" name="Text 39"/>
          <p:cNvSpPr txBox="1"/>
          <p:nvPr/>
        </p:nvSpPr>
        <p:spPr>
          <a:xfrm>
            <a:off x="6428232" y="4800600"/>
            <a:ext cx="5029200" cy="850392"/>
          </a:xfrm>
          <a:prstGeom prst="rect">
            <a:avLst/>
          </a:prstGeom>
          <a:noFill/>
          <a:ln/>
        </p:spPr>
        <p:txBody>
          <a:bodyPr wrap="square" lIns="0" tIns="0" rIns="0" bIns="0" rtlCol="0" anchor="t"/>
          <a:lstStyle/>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라우터 구간(네트워크 사이): IP 주소로 전달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tracert 로 경로 확인 (7파트)</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랜카드(NIC) — 호스트와 네트워크의 연결점</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Shape 2"/>
          <p:cNvSpPr/>
          <p:nvPr/>
        </p:nvSpPr>
        <p:spPr>
          <a:xfrm>
            <a:off x="548640" y="1463040"/>
            <a:ext cx="2377440" cy="2103120"/>
          </a:xfrm>
          <a:prstGeom prst="roundRect">
            <a:avLst>
              <a:gd name="adj" fmla="val 3478"/>
            </a:avLst>
          </a:prstGeom>
          <a:solidFill>
            <a:srgbClr val="F4F6F7"/>
          </a:solidFill>
          <a:ln w="12700">
            <a:solidFill>
              <a:srgbClr val="1E2A30"/>
            </a:solidFill>
            <a:prstDash val="solid"/>
          </a:ln>
        </p:spPr>
      </p:sp>
      <p:sp>
        <p:nvSpPr>
          <p:cNvPr id="6" name="Text 3"/>
          <p:cNvSpPr txBox="1"/>
          <p:nvPr/>
        </p:nvSpPr>
        <p:spPr>
          <a:xfrm>
            <a:off x="548640" y="1463040"/>
            <a:ext cx="2377440" cy="210312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호스트</a:t>
            </a:r>
            <a:endParaRPr lang="en-US" sz="1600" dirty="0"/>
          </a:p>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(PC · 서버)</a:t>
            </a:r>
            <a:endParaRPr lang="en-US" sz="1600" dirty="0"/>
          </a:p>
        </p:txBody>
      </p:sp>
      <p:sp>
        <p:nvSpPr>
          <p:cNvPr id="7" name="Shape 4"/>
          <p:cNvSpPr/>
          <p:nvPr/>
        </p:nvSpPr>
        <p:spPr>
          <a:xfrm>
            <a:off x="3566160" y="1783080"/>
            <a:ext cx="2286000" cy="1463040"/>
          </a:xfrm>
          <a:prstGeom prst="roundRect">
            <a:avLst>
              <a:gd name="adj" fmla="val 5000"/>
            </a:avLst>
          </a:prstGeom>
          <a:solidFill>
            <a:srgbClr val="E6F1F2"/>
          </a:solidFill>
          <a:ln w="19050">
            <a:solidFill>
              <a:srgbClr val="0E6E7A"/>
            </a:solidFill>
            <a:prstDash val="solid"/>
          </a:ln>
        </p:spPr>
      </p:sp>
      <p:sp>
        <p:nvSpPr>
          <p:cNvPr id="8" name="Text 5"/>
          <p:cNvSpPr txBox="1"/>
          <p:nvPr/>
        </p:nvSpPr>
        <p:spPr>
          <a:xfrm>
            <a:off x="3566160" y="1783080"/>
            <a:ext cx="2286000" cy="1463040"/>
          </a:xfrm>
          <a:prstGeom prst="rect">
            <a:avLst/>
          </a:prstGeom>
          <a:noFill/>
          <a:ln/>
        </p:spPr>
        <p:txBody>
          <a:bodyPr wrap="square" lIns="0" tIns="0" rIns="0" bIns="0" rtlCol="0" anchor="ctr"/>
          <a:lstStyle/>
          <a:p>
            <a:pPr algn="ctr" indent="0" marL="0">
              <a:buNone/>
            </a:pPr>
            <a:r>
              <a:rPr lang="en-US" sz="1800" b="1" dirty="0">
                <a:solidFill>
                  <a:srgbClr val="0E6E7A"/>
                </a:solidFill>
                <a:latin typeface="맑은 고딕" pitchFamily="34" charset="0"/>
                <a:ea typeface="맑은 고딕" pitchFamily="34" charset="-122"/>
                <a:cs typeface="맑은 고딕" pitchFamily="34" charset="-120"/>
              </a:rPr>
              <a:t>NIC</a:t>
            </a:r>
            <a:endParaRPr lang="en-US" sz="1800" dirty="0"/>
          </a:p>
          <a:p>
            <a:pPr algn="ctr" indent="0" marL="0">
              <a:buNone/>
            </a:pPr>
            <a:r>
              <a:rPr lang="en-US" sz="1800" b="1" dirty="0">
                <a:solidFill>
                  <a:srgbClr val="0E6E7A"/>
                </a:solidFill>
                <a:latin typeface="맑은 고딕" pitchFamily="34" charset="0"/>
                <a:ea typeface="맑은 고딕" pitchFamily="34" charset="-122"/>
                <a:cs typeface="맑은 고딕" pitchFamily="34" charset="-120"/>
              </a:rPr>
              <a:t>(랜카드)</a:t>
            </a:r>
            <a:endParaRPr lang="en-US" sz="1800" dirty="0"/>
          </a:p>
        </p:txBody>
      </p:sp>
      <p:sp>
        <p:nvSpPr>
          <p:cNvPr id="9" name="Shape 6"/>
          <p:cNvSpPr/>
          <p:nvPr/>
        </p:nvSpPr>
        <p:spPr>
          <a:xfrm>
            <a:off x="6492240" y="1463040"/>
            <a:ext cx="2377440" cy="2103120"/>
          </a:xfrm>
          <a:prstGeom prst="roundRect">
            <a:avLst>
              <a:gd name="adj" fmla="val 3478"/>
            </a:avLst>
          </a:prstGeom>
          <a:solidFill>
            <a:srgbClr val="FFFFFF"/>
          </a:solidFill>
          <a:ln w="12700">
            <a:solidFill>
              <a:srgbClr val="1E2A30"/>
            </a:solidFill>
            <a:prstDash val="solid"/>
          </a:ln>
        </p:spPr>
      </p:sp>
      <p:sp>
        <p:nvSpPr>
          <p:cNvPr id="10" name="Text 7"/>
          <p:cNvSpPr txBox="1"/>
          <p:nvPr/>
        </p:nvSpPr>
        <p:spPr>
          <a:xfrm>
            <a:off x="6492240" y="1463040"/>
            <a:ext cx="2377440" cy="210312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네트워크</a:t>
            </a:r>
            <a:endParaRPr lang="en-US" sz="1600" dirty="0"/>
          </a:p>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(LAN · 이더넷)</a:t>
            </a:r>
            <a:endParaRPr lang="en-US" sz="1600" dirty="0"/>
          </a:p>
        </p:txBody>
      </p:sp>
      <p:sp>
        <p:nvSpPr>
          <p:cNvPr id="11" name="Shape 8"/>
          <p:cNvSpPr/>
          <p:nvPr/>
        </p:nvSpPr>
        <p:spPr>
          <a:xfrm>
            <a:off x="2926080" y="2514600"/>
            <a:ext cx="640080" cy="914"/>
          </a:xfrm>
          <a:prstGeom prst="line">
            <a:avLst/>
          </a:prstGeom>
          <a:noFill/>
          <a:ln w="19050">
            <a:solidFill>
              <a:srgbClr val="1E2A30"/>
            </a:solidFill>
            <a:prstDash val="solid"/>
            <a:headEnd type="triangle"/>
            <a:tailEnd type="triangle"/>
          </a:ln>
        </p:spPr>
      </p:sp>
      <p:sp>
        <p:nvSpPr>
          <p:cNvPr id="12" name="Shape 9"/>
          <p:cNvSpPr/>
          <p:nvPr/>
        </p:nvSpPr>
        <p:spPr>
          <a:xfrm>
            <a:off x="5852160" y="2514600"/>
            <a:ext cx="640080" cy="914"/>
          </a:xfrm>
          <a:prstGeom prst="line">
            <a:avLst/>
          </a:prstGeom>
          <a:noFill/>
          <a:ln w="19050">
            <a:solidFill>
              <a:srgbClr val="1E2A30"/>
            </a:solidFill>
            <a:prstDash val="solid"/>
            <a:headEnd type="triangle"/>
            <a:tailEnd type="triangle"/>
          </a:ln>
        </p:spPr>
      </p:sp>
      <p:sp>
        <p:nvSpPr>
          <p:cNvPr id="13" name="Text 10"/>
          <p:cNvSpPr txBox="1"/>
          <p:nvPr/>
        </p:nvSpPr>
        <p:spPr>
          <a:xfrm>
            <a:off x="2743200" y="2103120"/>
            <a:ext cx="1005840" cy="320040"/>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데이터</a:t>
            </a:r>
            <a:endParaRPr lang="en-US" sz="1200" dirty="0"/>
          </a:p>
        </p:txBody>
      </p:sp>
      <p:sp>
        <p:nvSpPr>
          <p:cNvPr id="14" name="Text 11"/>
          <p:cNvSpPr txBox="1"/>
          <p:nvPr/>
        </p:nvSpPr>
        <p:spPr>
          <a:xfrm>
            <a:off x="5760720" y="2103120"/>
            <a:ext cx="822960" cy="320040"/>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신호</a:t>
            </a:r>
            <a:endParaRPr lang="en-US" sz="1200" dirty="0"/>
          </a:p>
        </p:txBody>
      </p:sp>
      <p:sp>
        <p:nvSpPr>
          <p:cNvPr id="15" name="Shape 12"/>
          <p:cNvSpPr/>
          <p:nvPr/>
        </p:nvSpPr>
        <p:spPr>
          <a:xfrm>
            <a:off x="9235440" y="1463040"/>
            <a:ext cx="2404872" cy="2103120"/>
          </a:xfrm>
          <a:prstGeom prst="roundRect">
            <a:avLst>
              <a:gd name="adj" fmla="val 3478"/>
            </a:avLst>
          </a:prstGeom>
          <a:solidFill>
            <a:srgbClr val="FFFFFF"/>
          </a:solidFill>
          <a:ln w="12700">
            <a:solidFill>
              <a:srgbClr val="9AA5AD"/>
            </a:solidFill>
            <a:prstDash val="solid"/>
          </a:ln>
        </p:spPr>
      </p:sp>
      <p:sp>
        <p:nvSpPr>
          <p:cNvPr id="16" name="Text 13"/>
          <p:cNvSpPr txBox="1"/>
          <p:nvPr/>
        </p:nvSpPr>
        <p:spPr>
          <a:xfrm>
            <a:off x="9418320" y="1600200"/>
            <a:ext cx="203911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계층</a:t>
            </a:r>
            <a:endParaRPr lang="en-US" sz="1600" dirty="0"/>
          </a:p>
        </p:txBody>
      </p:sp>
      <p:sp>
        <p:nvSpPr>
          <p:cNvPr id="17" name="Text 14"/>
          <p:cNvSpPr txBox="1"/>
          <p:nvPr/>
        </p:nvSpPr>
        <p:spPr>
          <a:xfrm>
            <a:off x="9418320" y="2057400"/>
            <a:ext cx="2039112" cy="139903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L2 장비</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(데이터링크)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MAC 주소 보유</a:t>
            </a:r>
            <a:endParaRPr lang="en-US" sz="1400" dirty="0"/>
          </a:p>
        </p:txBody>
      </p:sp>
      <p:sp>
        <p:nvSpPr>
          <p:cNvPr id="18" name="Text 15"/>
          <p:cNvSpPr txBox="1"/>
          <p:nvPr/>
        </p:nvSpPr>
        <p:spPr>
          <a:xfrm>
            <a:off x="548640" y="3931920"/>
            <a:ext cx="54864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MAC 주소 구조 (48비트)</a:t>
            </a:r>
            <a:endParaRPr lang="en-US" sz="1700" dirty="0"/>
          </a:p>
        </p:txBody>
      </p:sp>
      <p:sp>
        <p:nvSpPr>
          <p:cNvPr id="19" name="Shape 16"/>
          <p:cNvSpPr/>
          <p:nvPr/>
        </p:nvSpPr>
        <p:spPr>
          <a:xfrm>
            <a:off x="548640" y="4434840"/>
            <a:ext cx="4114800" cy="685800"/>
          </a:xfrm>
          <a:prstGeom prst="roundRect">
            <a:avLst>
              <a:gd name="adj" fmla="val 10667"/>
            </a:avLst>
          </a:prstGeom>
          <a:solidFill>
            <a:srgbClr val="E6F1F2"/>
          </a:solidFill>
          <a:ln w="12700">
            <a:solidFill>
              <a:srgbClr val="0E6E7A"/>
            </a:solidFill>
            <a:prstDash val="solid"/>
          </a:ln>
        </p:spPr>
      </p:sp>
      <p:sp>
        <p:nvSpPr>
          <p:cNvPr id="20" name="Text 17"/>
          <p:cNvSpPr txBox="1"/>
          <p:nvPr/>
        </p:nvSpPr>
        <p:spPr>
          <a:xfrm>
            <a:off x="548640" y="4434840"/>
            <a:ext cx="4114800" cy="685800"/>
          </a:xfrm>
          <a:prstGeom prst="rect">
            <a:avLst/>
          </a:prstGeom>
          <a:noFill/>
          <a:ln/>
        </p:spPr>
        <p:txBody>
          <a:bodyPr wrap="square" lIns="0" tIns="0" rIns="0" bIns="0" rtlCol="0" anchor="ctr"/>
          <a:lstStyle/>
          <a:p>
            <a:pPr algn="ctr" indent="0" marL="0">
              <a:buNone/>
            </a:pPr>
            <a:r>
              <a:rPr lang="en-US" sz="2200" b="1" dirty="0">
                <a:solidFill>
                  <a:srgbClr val="1E2A30"/>
                </a:solidFill>
                <a:latin typeface="Consolas" pitchFamily="34" charset="0"/>
                <a:ea typeface="Consolas" pitchFamily="34" charset="-122"/>
                <a:cs typeface="Consolas" pitchFamily="34" charset="-120"/>
              </a:rPr>
              <a:t>00-1A-2B</a:t>
            </a:r>
            <a:endParaRPr lang="en-US" sz="2200" dirty="0"/>
          </a:p>
        </p:txBody>
      </p:sp>
      <p:sp>
        <p:nvSpPr>
          <p:cNvPr id="21" name="Shape 18"/>
          <p:cNvSpPr/>
          <p:nvPr/>
        </p:nvSpPr>
        <p:spPr>
          <a:xfrm>
            <a:off x="4663440" y="4434840"/>
            <a:ext cx="4114800" cy="685800"/>
          </a:xfrm>
          <a:prstGeom prst="roundRect">
            <a:avLst>
              <a:gd name="adj" fmla="val 10667"/>
            </a:avLst>
          </a:prstGeom>
          <a:solidFill>
            <a:srgbClr val="FFFFFF"/>
          </a:solidFill>
          <a:ln w="12700">
            <a:solidFill>
              <a:srgbClr val="1E2A30"/>
            </a:solidFill>
            <a:prstDash val="solid"/>
          </a:ln>
        </p:spPr>
      </p:sp>
      <p:sp>
        <p:nvSpPr>
          <p:cNvPr id="22" name="Text 19"/>
          <p:cNvSpPr txBox="1"/>
          <p:nvPr/>
        </p:nvSpPr>
        <p:spPr>
          <a:xfrm>
            <a:off x="4663440" y="4434840"/>
            <a:ext cx="4114800" cy="685800"/>
          </a:xfrm>
          <a:prstGeom prst="rect">
            <a:avLst/>
          </a:prstGeom>
          <a:noFill/>
          <a:ln/>
        </p:spPr>
        <p:txBody>
          <a:bodyPr wrap="square" lIns="0" tIns="0" rIns="0" bIns="0" rtlCol="0" anchor="ctr"/>
          <a:lstStyle/>
          <a:p>
            <a:pPr algn="ctr" indent="0" marL="0">
              <a:buNone/>
            </a:pPr>
            <a:r>
              <a:rPr lang="en-US" sz="2200" b="1" dirty="0">
                <a:solidFill>
                  <a:srgbClr val="1E2A30"/>
                </a:solidFill>
                <a:latin typeface="Consolas" pitchFamily="34" charset="0"/>
                <a:ea typeface="Consolas" pitchFamily="34" charset="-122"/>
                <a:cs typeface="Consolas" pitchFamily="34" charset="-120"/>
              </a:rPr>
              <a:t>3C-4D-5E</a:t>
            </a:r>
            <a:endParaRPr lang="en-US" sz="2200" dirty="0"/>
          </a:p>
        </p:txBody>
      </p:sp>
      <p:sp>
        <p:nvSpPr>
          <p:cNvPr id="23" name="Text 20"/>
          <p:cNvSpPr txBox="1"/>
          <p:nvPr/>
        </p:nvSpPr>
        <p:spPr>
          <a:xfrm>
            <a:off x="548640" y="5212080"/>
            <a:ext cx="4114800" cy="36576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OUI — 제조사 번호 (24비트)</a:t>
            </a:r>
            <a:endParaRPr lang="en-US" sz="1400" dirty="0"/>
          </a:p>
        </p:txBody>
      </p:sp>
      <p:sp>
        <p:nvSpPr>
          <p:cNvPr id="24" name="Text 21"/>
          <p:cNvSpPr txBox="1"/>
          <p:nvPr/>
        </p:nvSpPr>
        <p:spPr>
          <a:xfrm>
            <a:off x="4663440" y="5212080"/>
            <a:ext cx="4114800" cy="365760"/>
          </a:xfrm>
          <a:prstGeom prst="rect">
            <a:avLst/>
          </a:prstGeom>
          <a:noFill/>
          <a:ln/>
        </p:spPr>
        <p:txBody>
          <a:bodyPr wrap="square" lIns="0" tIns="0" rIns="0" bIns="0" rtlCol="0" anchor="t"/>
          <a:lstStyle/>
          <a:p>
            <a:pPr algn="ctr" indent="0" marL="0">
              <a:buNone/>
            </a:pPr>
            <a:r>
              <a:rPr lang="en-US" sz="1400" dirty="0">
                <a:solidFill>
                  <a:srgbClr val="66737C"/>
                </a:solidFill>
                <a:latin typeface="맑은 고딕" pitchFamily="34" charset="0"/>
                <a:ea typeface="맑은 고딕" pitchFamily="34" charset="-122"/>
                <a:cs typeface="맑은 고딕" pitchFamily="34" charset="-120"/>
              </a:rPr>
              <a:t>제품 일련번호 (24비트)</a:t>
            </a:r>
            <a:endParaRPr lang="en-US" sz="1400" dirty="0"/>
          </a:p>
        </p:txBody>
      </p:sp>
      <p:sp>
        <p:nvSpPr>
          <p:cNvPr id="25" name="Shape 22"/>
          <p:cNvSpPr/>
          <p:nvPr/>
        </p:nvSpPr>
        <p:spPr>
          <a:xfrm>
            <a:off x="9235440" y="3931920"/>
            <a:ext cx="2404872" cy="1691640"/>
          </a:xfrm>
          <a:prstGeom prst="roundRect">
            <a:avLst>
              <a:gd name="adj" fmla="val 4324"/>
            </a:avLst>
          </a:prstGeom>
          <a:solidFill>
            <a:srgbClr val="F4F6F7"/>
          </a:solidFill>
          <a:ln w="12700">
            <a:solidFill>
              <a:srgbClr val="9AA5AD"/>
            </a:solidFill>
            <a:prstDash val="solid"/>
          </a:ln>
        </p:spPr>
      </p:sp>
      <p:sp>
        <p:nvSpPr>
          <p:cNvPr id="26" name="Text 23"/>
          <p:cNvSpPr txBox="1"/>
          <p:nvPr/>
        </p:nvSpPr>
        <p:spPr>
          <a:xfrm>
            <a:off x="9418320" y="4069080"/>
            <a:ext cx="203911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확인</a:t>
            </a:r>
            <a:endParaRPr lang="en-US" sz="1600" dirty="0"/>
          </a:p>
        </p:txBody>
      </p:sp>
      <p:sp>
        <p:nvSpPr>
          <p:cNvPr id="27" name="Text 24"/>
          <p:cNvSpPr txBox="1"/>
          <p:nvPr/>
        </p:nvSpPr>
        <p:spPr>
          <a:xfrm>
            <a:off x="9418320" y="4526280"/>
            <a:ext cx="2039112" cy="98755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Windows:</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ipconfig /all</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 물리적 주소</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네트워크 토폴로지 — 물리적 연결 모양 5가지</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Shape 2"/>
          <p:cNvSpPr/>
          <p:nvPr/>
        </p:nvSpPr>
        <p:spPr>
          <a:xfrm>
            <a:off x="777240" y="2514600"/>
            <a:ext cx="1828800" cy="914"/>
          </a:xfrm>
          <a:prstGeom prst="line">
            <a:avLst/>
          </a:prstGeom>
          <a:noFill/>
          <a:ln w="25400">
            <a:solidFill>
              <a:srgbClr val="1E2A30"/>
            </a:solidFill>
            <a:prstDash val="solid"/>
          </a:ln>
        </p:spPr>
      </p:sp>
      <p:sp>
        <p:nvSpPr>
          <p:cNvPr id="6" name="Shape 3"/>
          <p:cNvSpPr/>
          <p:nvPr/>
        </p:nvSpPr>
        <p:spPr>
          <a:xfrm flipV="1">
            <a:off x="1051560" y="1965960"/>
            <a:ext cx="914" cy="548640"/>
          </a:xfrm>
          <a:prstGeom prst="line">
            <a:avLst/>
          </a:prstGeom>
          <a:noFill/>
          <a:ln w="15875">
            <a:solidFill>
              <a:srgbClr val="1E2A30"/>
            </a:solidFill>
            <a:prstDash val="solid"/>
          </a:ln>
        </p:spPr>
      </p:sp>
      <p:sp>
        <p:nvSpPr>
          <p:cNvPr id="7" name="Shape 4"/>
          <p:cNvSpPr/>
          <p:nvPr/>
        </p:nvSpPr>
        <p:spPr>
          <a:xfrm>
            <a:off x="923544" y="1837944"/>
            <a:ext cx="256032" cy="256032"/>
          </a:xfrm>
          <a:prstGeom prst="ellipse">
            <a:avLst/>
          </a:prstGeom>
          <a:solidFill>
            <a:srgbClr val="FFFFFF"/>
          </a:solidFill>
          <a:ln w="15875">
            <a:solidFill>
              <a:srgbClr val="1E2A30"/>
            </a:solidFill>
            <a:prstDash val="solid"/>
          </a:ln>
        </p:spPr>
      </p:sp>
      <p:sp>
        <p:nvSpPr>
          <p:cNvPr id="8" name="Shape 5"/>
          <p:cNvSpPr/>
          <p:nvPr/>
        </p:nvSpPr>
        <p:spPr>
          <a:xfrm flipV="1">
            <a:off x="1691640" y="1965960"/>
            <a:ext cx="914" cy="548640"/>
          </a:xfrm>
          <a:prstGeom prst="line">
            <a:avLst/>
          </a:prstGeom>
          <a:noFill/>
          <a:ln w="15875">
            <a:solidFill>
              <a:srgbClr val="1E2A30"/>
            </a:solidFill>
            <a:prstDash val="solid"/>
          </a:ln>
        </p:spPr>
      </p:sp>
      <p:sp>
        <p:nvSpPr>
          <p:cNvPr id="9" name="Shape 6"/>
          <p:cNvSpPr/>
          <p:nvPr/>
        </p:nvSpPr>
        <p:spPr>
          <a:xfrm>
            <a:off x="1563624" y="1837944"/>
            <a:ext cx="256032" cy="256032"/>
          </a:xfrm>
          <a:prstGeom prst="ellipse">
            <a:avLst/>
          </a:prstGeom>
          <a:solidFill>
            <a:srgbClr val="FFFFFF"/>
          </a:solidFill>
          <a:ln w="15875">
            <a:solidFill>
              <a:srgbClr val="1E2A30"/>
            </a:solidFill>
            <a:prstDash val="solid"/>
          </a:ln>
        </p:spPr>
      </p:sp>
      <p:sp>
        <p:nvSpPr>
          <p:cNvPr id="10" name="Shape 7"/>
          <p:cNvSpPr/>
          <p:nvPr/>
        </p:nvSpPr>
        <p:spPr>
          <a:xfrm flipV="1">
            <a:off x="2331720" y="1965960"/>
            <a:ext cx="914" cy="548640"/>
          </a:xfrm>
          <a:prstGeom prst="line">
            <a:avLst/>
          </a:prstGeom>
          <a:noFill/>
          <a:ln w="15875">
            <a:solidFill>
              <a:srgbClr val="1E2A30"/>
            </a:solidFill>
            <a:prstDash val="solid"/>
          </a:ln>
        </p:spPr>
      </p:sp>
      <p:sp>
        <p:nvSpPr>
          <p:cNvPr id="11" name="Shape 8"/>
          <p:cNvSpPr/>
          <p:nvPr/>
        </p:nvSpPr>
        <p:spPr>
          <a:xfrm>
            <a:off x="2203704" y="1837944"/>
            <a:ext cx="256032" cy="256032"/>
          </a:xfrm>
          <a:prstGeom prst="ellipse">
            <a:avLst/>
          </a:prstGeom>
          <a:solidFill>
            <a:srgbClr val="FFFFFF"/>
          </a:solidFill>
          <a:ln w="15875">
            <a:solidFill>
              <a:srgbClr val="1E2A30"/>
            </a:solidFill>
            <a:prstDash val="solid"/>
          </a:ln>
        </p:spPr>
      </p:sp>
      <p:sp>
        <p:nvSpPr>
          <p:cNvPr id="12" name="Shape 9"/>
          <p:cNvSpPr/>
          <p:nvPr/>
        </p:nvSpPr>
        <p:spPr>
          <a:xfrm>
            <a:off x="1371600" y="2514600"/>
            <a:ext cx="914" cy="548640"/>
          </a:xfrm>
          <a:prstGeom prst="line">
            <a:avLst/>
          </a:prstGeom>
          <a:noFill/>
          <a:ln w="15875">
            <a:solidFill>
              <a:srgbClr val="1E2A30"/>
            </a:solidFill>
            <a:prstDash val="solid"/>
          </a:ln>
        </p:spPr>
      </p:sp>
      <p:sp>
        <p:nvSpPr>
          <p:cNvPr id="13" name="Shape 10"/>
          <p:cNvSpPr/>
          <p:nvPr/>
        </p:nvSpPr>
        <p:spPr>
          <a:xfrm>
            <a:off x="1243584" y="2935224"/>
            <a:ext cx="256032" cy="256032"/>
          </a:xfrm>
          <a:prstGeom prst="ellipse">
            <a:avLst/>
          </a:prstGeom>
          <a:solidFill>
            <a:srgbClr val="FFFFFF"/>
          </a:solidFill>
          <a:ln w="15875">
            <a:solidFill>
              <a:srgbClr val="1E2A30"/>
            </a:solidFill>
            <a:prstDash val="solid"/>
          </a:ln>
        </p:spPr>
      </p:sp>
      <p:sp>
        <p:nvSpPr>
          <p:cNvPr id="14" name="Shape 11"/>
          <p:cNvSpPr/>
          <p:nvPr/>
        </p:nvSpPr>
        <p:spPr>
          <a:xfrm>
            <a:off x="2011680" y="2514600"/>
            <a:ext cx="914" cy="548640"/>
          </a:xfrm>
          <a:prstGeom prst="line">
            <a:avLst/>
          </a:prstGeom>
          <a:noFill/>
          <a:ln w="15875">
            <a:solidFill>
              <a:srgbClr val="1E2A30"/>
            </a:solidFill>
            <a:prstDash val="solid"/>
          </a:ln>
        </p:spPr>
      </p:sp>
      <p:sp>
        <p:nvSpPr>
          <p:cNvPr id="15" name="Shape 12"/>
          <p:cNvSpPr/>
          <p:nvPr/>
        </p:nvSpPr>
        <p:spPr>
          <a:xfrm>
            <a:off x="1883664" y="2935224"/>
            <a:ext cx="256032" cy="256032"/>
          </a:xfrm>
          <a:prstGeom prst="ellipse">
            <a:avLst/>
          </a:prstGeom>
          <a:solidFill>
            <a:srgbClr val="FFFFFF"/>
          </a:solidFill>
          <a:ln w="15875">
            <a:solidFill>
              <a:srgbClr val="1E2A30"/>
            </a:solidFill>
            <a:prstDash val="solid"/>
          </a:ln>
        </p:spPr>
      </p:sp>
      <p:sp>
        <p:nvSpPr>
          <p:cNvPr id="16" name="Shape 13"/>
          <p:cNvSpPr/>
          <p:nvPr/>
        </p:nvSpPr>
        <p:spPr>
          <a:xfrm flipV="1">
            <a:off x="3931920" y="1737360"/>
            <a:ext cx="914" cy="777240"/>
          </a:xfrm>
          <a:prstGeom prst="line">
            <a:avLst/>
          </a:prstGeom>
          <a:noFill/>
          <a:ln w="15875">
            <a:solidFill>
              <a:srgbClr val="1E2A30"/>
            </a:solidFill>
            <a:prstDash val="solid"/>
          </a:ln>
        </p:spPr>
      </p:sp>
      <p:sp>
        <p:nvSpPr>
          <p:cNvPr id="17" name="Shape 14"/>
          <p:cNvSpPr/>
          <p:nvPr/>
        </p:nvSpPr>
        <p:spPr>
          <a:xfrm>
            <a:off x="3803904" y="1609344"/>
            <a:ext cx="256032" cy="256032"/>
          </a:xfrm>
          <a:prstGeom prst="ellipse">
            <a:avLst/>
          </a:prstGeom>
          <a:solidFill>
            <a:srgbClr val="FFFFFF"/>
          </a:solidFill>
          <a:ln w="15875">
            <a:solidFill>
              <a:srgbClr val="1E2A30"/>
            </a:solidFill>
            <a:prstDash val="solid"/>
          </a:ln>
        </p:spPr>
      </p:sp>
      <p:sp>
        <p:nvSpPr>
          <p:cNvPr id="18" name="Shape 15"/>
          <p:cNvSpPr/>
          <p:nvPr/>
        </p:nvSpPr>
        <p:spPr>
          <a:xfrm flipV="1">
            <a:off x="3931920" y="2274420"/>
            <a:ext cx="739199" cy="240180"/>
          </a:xfrm>
          <a:prstGeom prst="line">
            <a:avLst/>
          </a:prstGeom>
          <a:noFill/>
          <a:ln w="15875">
            <a:solidFill>
              <a:srgbClr val="1E2A30"/>
            </a:solidFill>
            <a:prstDash val="solid"/>
          </a:ln>
        </p:spPr>
      </p:sp>
      <p:sp>
        <p:nvSpPr>
          <p:cNvPr id="19" name="Shape 16"/>
          <p:cNvSpPr/>
          <p:nvPr/>
        </p:nvSpPr>
        <p:spPr>
          <a:xfrm>
            <a:off x="4543103" y="2146404"/>
            <a:ext cx="256032" cy="256032"/>
          </a:xfrm>
          <a:prstGeom prst="ellipse">
            <a:avLst/>
          </a:prstGeom>
          <a:solidFill>
            <a:srgbClr val="FFFFFF"/>
          </a:solidFill>
          <a:ln w="15875">
            <a:solidFill>
              <a:srgbClr val="1E2A30"/>
            </a:solidFill>
            <a:prstDash val="solid"/>
          </a:ln>
        </p:spPr>
      </p:sp>
      <p:sp>
        <p:nvSpPr>
          <p:cNvPr id="20" name="Shape 17"/>
          <p:cNvSpPr/>
          <p:nvPr/>
        </p:nvSpPr>
        <p:spPr>
          <a:xfrm>
            <a:off x="3931920" y="2514600"/>
            <a:ext cx="456850" cy="628800"/>
          </a:xfrm>
          <a:prstGeom prst="line">
            <a:avLst/>
          </a:prstGeom>
          <a:noFill/>
          <a:ln w="15875">
            <a:solidFill>
              <a:srgbClr val="1E2A30"/>
            </a:solidFill>
            <a:prstDash val="solid"/>
          </a:ln>
        </p:spPr>
      </p:sp>
      <p:sp>
        <p:nvSpPr>
          <p:cNvPr id="21" name="Shape 18"/>
          <p:cNvSpPr/>
          <p:nvPr/>
        </p:nvSpPr>
        <p:spPr>
          <a:xfrm>
            <a:off x="4260754" y="3015384"/>
            <a:ext cx="256032" cy="256032"/>
          </a:xfrm>
          <a:prstGeom prst="ellipse">
            <a:avLst/>
          </a:prstGeom>
          <a:solidFill>
            <a:srgbClr val="FFFFFF"/>
          </a:solidFill>
          <a:ln w="15875">
            <a:solidFill>
              <a:srgbClr val="1E2A30"/>
            </a:solidFill>
            <a:prstDash val="solid"/>
          </a:ln>
        </p:spPr>
      </p:sp>
      <p:sp>
        <p:nvSpPr>
          <p:cNvPr id="22" name="Shape 19"/>
          <p:cNvSpPr/>
          <p:nvPr/>
        </p:nvSpPr>
        <p:spPr>
          <a:xfrm flipH="1">
            <a:off x="3475070" y="2514600"/>
            <a:ext cx="456850" cy="628800"/>
          </a:xfrm>
          <a:prstGeom prst="line">
            <a:avLst/>
          </a:prstGeom>
          <a:noFill/>
          <a:ln w="15875">
            <a:solidFill>
              <a:srgbClr val="1E2A30"/>
            </a:solidFill>
            <a:prstDash val="solid"/>
          </a:ln>
        </p:spPr>
      </p:sp>
      <p:sp>
        <p:nvSpPr>
          <p:cNvPr id="23" name="Shape 20"/>
          <p:cNvSpPr/>
          <p:nvPr/>
        </p:nvSpPr>
        <p:spPr>
          <a:xfrm>
            <a:off x="3347054" y="3015384"/>
            <a:ext cx="256032" cy="256032"/>
          </a:xfrm>
          <a:prstGeom prst="ellipse">
            <a:avLst/>
          </a:prstGeom>
          <a:solidFill>
            <a:srgbClr val="FFFFFF"/>
          </a:solidFill>
          <a:ln w="15875">
            <a:solidFill>
              <a:srgbClr val="1E2A30"/>
            </a:solidFill>
            <a:prstDash val="solid"/>
          </a:ln>
        </p:spPr>
      </p:sp>
      <p:sp>
        <p:nvSpPr>
          <p:cNvPr id="24" name="Shape 21"/>
          <p:cNvSpPr/>
          <p:nvPr/>
        </p:nvSpPr>
        <p:spPr>
          <a:xfrm flipH="1" flipV="1">
            <a:off x="3192721" y="2274420"/>
            <a:ext cx="739199" cy="240180"/>
          </a:xfrm>
          <a:prstGeom prst="line">
            <a:avLst/>
          </a:prstGeom>
          <a:noFill/>
          <a:ln w="15875">
            <a:solidFill>
              <a:srgbClr val="1E2A30"/>
            </a:solidFill>
            <a:prstDash val="solid"/>
          </a:ln>
        </p:spPr>
      </p:sp>
      <p:sp>
        <p:nvSpPr>
          <p:cNvPr id="25" name="Shape 22"/>
          <p:cNvSpPr/>
          <p:nvPr/>
        </p:nvSpPr>
        <p:spPr>
          <a:xfrm>
            <a:off x="3064705" y="2146404"/>
            <a:ext cx="256032" cy="256032"/>
          </a:xfrm>
          <a:prstGeom prst="ellipse">
            <a:avLst/>
          </a:prstGeom>
          <a:solidFill>
            <a:srgbClr val="FFFFFF"/>
          </a:solidFill>
          <a:ln w="15875">
            <a:solidFill>
              <a:srgbClr val="1E2A30"/>
            </a:solidFill>
            <a:prstDash val="solid"/>
          </a:ln>
        </p:spPr>
      </p:sp>
      <p:sp>
        <p:nvSpPr>
          <p:cNvPr id="26" name="Shape 23"/>
          <p:cNvSpPr/>
          <p:nvPr/>
        </p:nvSpPr>
        <p:spPr>
          <a:xfrm>
            <a:off x="3803904" y="2386584"/>
            <a:ext cx="256032" cy="256032"/>
          </a:xfrm>
          <a:prstGeom prst="ellipse">
            <a:avLst/>
          </a:prstGeom>
          <a:solidFill>
            <a:srgbClr val="0E6E7A"/>
          </a:solidFill>
          <a:ln w="15875">
            <a:solidFill>
              <a:srgbClr val="1E2A30"/>
            </a:solidFill>
            <a:prstDash val="solid"/>
          </a:ln>
        </p:spPr>
      </p:sp>
      <p:sp>
        <p:nvSpPr>
          <p:cNvPr id="27" name="Shape 24"/>
          <p:cNvSpPr/>
          <p:nvPr/>
        </p:nvSpPr>
        <p:spPr>
          <a:xfrm>
            <a:off x="6172200" y="1737360"/>
            <a:ext cx="673110" cy="388620"/>
          </a:xfrm>
          <a:prstGeom prst="line">
            <a:avLst/>
          </a:prstGeom>
          <a:noFill/>
          <a:ln w="15875">
            <a:solidFill>
              <a:srgbClr val="1E2A30"/>
            </a:solidFill>
            <a:prstDash val="solid"/>
          </a:ln>
        </p:spPr>
      </p:sp>
      <p:sp>
        <p:nvSpPr>
          <p:cNvPr id="28" name="Shape 25"/>
          <p:cNvSpPr/>
          <p:nvPr/>
        </p:nvSpPr>
        <p:spPr>
          <a:xfrm>
            <a:off x="6845310" y="2125980"/>
            <a:ext cx="914" cy="777240"/>
          </a:xfrm>
          <a:prstGeom prst="line">
            <a:avLst/>
          </a:prstGeom>
          <a:noFill/>
          <a:ln w="15875">
            <a:solidFill>
              <a:srgbClr val="1E2A30"/>
            </a:solidFill>
            <a:prstDash val="solid"/>
          </a:ln>
        </p:spPr>
      </p:sp>
      <p:sp>
        <p:nvSpPr>
          <p:cNvPr id="29" name="Shape 26"/>
          <p:cNvSpPr/>
          <p:nvPr/>
        </p:nvSpPr>
        <p:spPr>
          <a:xfrm flipH="1">
            <a:off x="6172200" y="2903220"/>
            <a:ext cx="673110" cy="388620"/>
          </a:xfrm>
          <a:prstGeom prst="line">
            <a:avLst/>
          </a:prstGeom>
          <a:noFill/>
          <a:ln w="15875">
            <a:solidFill>
              <a:srgbClr val="1E2A30"/>
            </a:solidFill>
            <a:prstDash val="solid"/>
          </a:ln>
        </p:spPr>
      </p:sp>
      <p:sp>
        <p:nvSpPr>
          <p:cNvPr id="30" name="Shape 27"/>
          <p:cNvSpPr/>
          <p:nvPr/>
        </p:nvSpPr>
        <p:spPr>
          <a:xfrm flipH="1" flipV="1">
            <a:off x="5499090" y="2903220"/>
            <a:ext cx="673110" cy="388620"/>
          </a:xfrm>
          <a:prstGeom prst="line">
            <a:avLst/>
          </a:prstGeom>
          <a:noFill/>
          <a:ln w="15875">
            <a:solidFill>
              <a:srgbClr val="1E2A30"/>
            </a:solidFill>
            <a:prstDash val="solid"/>
          </a:ln>
        </p:spPr>
      </p:sp>
      <p:sp>
        <p:nvSpPr>
          <p:cNvPr id="31" name="Shape 28"/>
          <p:cNvSpPr/>
          <p:nvPr/>
        </p:nvSpPr>
        <p:spPr>
          <a:xfrm flipV="1">
            <a:off x="5499090" y="2125980"/>
            <a:ext cx="914" cy="777240"/>
          </a:xfrm>
          <a:prstGeom prst="line">
            <a:avLst/>
          </a:prstGeom>
          <a:noFill/>
          <a:ln w="15875">
            <a:solidFill>
              <a:srgbClr val="1E2A30"/>
            </a:solidFill>
            <a:prstDash val="solid"/>
          </a:ln>
        </p:spPr>
      </p:sp>
      <p:sp>
        <p:nvSpPr>
          <p:cNvPr id="32" name="Shape 29"/>
          <p:cNvSpPr/>
          <p:nvPr/>
        </p:nvSpPr>
        <p:spPr>
          <a:xfrm flipV="1">
            <a:off x="5499090" y="1737360"/>
            <a:ext cx="673110" cy="388620"/>
          </a:xfrm>
          <a:prstGeom prst="line">
            <a:avLst/>
          </a:prstGeom>
          <a:noFill/>
          <a:ln w="15875">
            <a:solidFill>
              <a:srgbClr val="1E2A30"/>
            </a:solidFill>
            <a:prstDash val="solid"/>
          </a:ln>
        </p:spPr>
      </p:sp>
      <p:sp>
        <p:nvSpPr>
          <p:cNvPr id="33" name="Shape 30"/>
          <p:cNvSpPr/>
          <p:nvPr/>
        </p:nvSpPr>
        <p:spPr>
          <a:xfrm>
            <a:off x="6044184" y="1609344"/>
            <a:ext cx="256032" cy="256032"/>
          </a:xfrm>
          <a:prstGeom prst="ellipse">
            <a:avLst/>
          </a:prstGeom>
          <a:solidFill>
            <a:srgbClr val="FFFFFF"/>
          </a:solidFill>
          <a:ln w="15875">
            <a:solidFill>
              <a:srgbClr val="1E2A30"/>
            </a:solidFill>
            <a:prstDash val="solid"/>
          </a:ln>
        </p:spPr>
      </p:sp>
      <p:sp>
        <p:nvSpPr>
          <p:cNvPr id="34" name="Shape 31"/>
          <p:cNvSpPr/>
          <p:nvPr/>
        </p:nvSpPr>
        <p:spPr>
          <a:xfrm>
            <a:off x="6717294" y="1997964"/>
            <a:ext cx="256032" cy="256032"/>
          </a:xfrm>
          <a:prstGeom prst="ellipse">
            <a:avLst/>
          </a:prstGeom>
          <a:solidFill>
            <a:srgbClr val="FFFFFF"/>
          </a:solidFill>
          <a:ln w="15875">
            <a:solidFill>
              <a:srgbClr val="1E2A30"/>
            </a:solidFill>
            <a:prstDash val="solid"/>
          </a:ln>
        </p:spPr>
      </p:sp>
      <p:sp>
        <p:nvSpPr>
          <p:cNvPr id="35" name="Shape 32"/>
          <p:cNvSpPr/>
          <p:nvPr/>
        </p:nvSpPr>
        <p:spPr>
          <a:xfrm>
            <a:off x="6717294" y="2775204"/>
            <a:ext cx="256032" cy="256032"/>
          </a:xfrm>
          <a:prstGeom prst="ellipse">
            <a:avLst/>
          </a:prstGeom>
          <a:solidFill>
            <a:srgbClr val="FFFFFF"/>
          </a:solidFill>
          <a:ln w="15875">
            <a:solidFill>
              <a:srgbClr val="1E2A30"/>
            </a:solidFill>
            <a:prstDash val="solid"/>
          </a:ln>
        </p:spPr>
      </p:sp>
      <p:sp>
        <p:nvSpPr>
          <p:cNvPr id="36" name="Shape 33"/>
          <p:cNvSpPr/>
          <p:nvPr/>
        </p:nvSpPr>
        <p:spPr>
          <a:xfrm>
            <a:off x="6044184" y="3163824"/>
            <a:ext cx="256032" cy="256032"/>
          </a:xfrm>
          <a:prstGeom prst="ellipse">
            <a:avLst/>
          </a:prstGeom>
          <a:solidFill>
            <a:srgbClr val="FFFFFF"/>
          </a:solidFill>
          <a:ln w="15875">
            <a:solidFill>
              <a:srgbClr val="1E2A30"/>
            </a:solidFill>
            <a:prstDash val="solid"/>
          </a:ln>
        </p:spPr>
      </p:sp>
      <p:sp>
        <p:nvSpPr>
          <p:cNvPr id="37" name="Shape 34"/>
          <p:cNvSpPr/>
          <p:nvPr/>
        </p:nvSpPr>
        <p:spPr>
          <a:xfrm>
            <a:off x="5371074" y="2775204"/>
            <a:ext cx="256032" cy="256032"/>
          </a:xfrm>
          <a:prstGeom prst="ellipse">
            <a:avLst/>
          </a:prstGeom>
          <a:solidFill>
            <a:srgbClr val="FFFFFF"/>
          </a:solidFill>
          <a:ln w="15875">
            <a:solidFill>
              <a:srgbClr val="1E2A30"/>
            </a:solidFill>
            <a:prstDash val="solid"/>
          </a:ln>
        </p:spPr>
      </p:sp>
      <p:sp>
        <p:nvSpPr>
          <p:cNvPr id="38" name="Shape 35"/>
          <p:cNvSpPr/>
          <p:nvPr/>
        </p:nvSpPr>
        <p:spPr>
          <a:xfrm>
            <a:off x="5371074" y="1997964"/>
            <a:ext cx="256032" cy="256032"/>
          </a:xfrm>
          <a:prstGeom prst="ellipse">
            <a:avLst/>
          </a:prstGeom>
          <a:solidFill>
            <a:srgbClr val="FFFFFF"/>
          </a:solidFill>
          <a:ln w="15875">
            <a:solidFill>
              <a:srgbClr val="1E2A30"/>
            </a:solidFill>
            <a:prstDash val="solid"/>
          </a:ln>
        </p:spPr>
      </p:sp>
      <p:sp>
        <p:nvSpPr>
          <p:cNvPr id="39" name="Shape 36"/>
          <p:cNvSpPr/>
          <p:nvPr/>
        </p:nvSpPr>
        <p:spPr>
          <a:xfrm flipH="1">
            <a:off x="7863840" y="1783080"/>
            <a:ext cx="548640" cy="731520"/>
          </a:xfrm>
          <a:prstGeom prst="line">
            <a:avLst/>
          </a:prstGeom>
          <a:noFill/>
          <a:ln w="15875">
            <a:solidFill>
              <a:srgbClr val="1E2A30"/>
            </a:solidFill>
            <a:prstDash val="solid"/>
          </a:ln>
        </p:spPr>
      </p:sp>
      <p:sp>
        <p:nvSpPr>
          <p:cNvPr id="40" name="Shape 37"/>
          <p:cNvSpPr/>
          <p:nvPr/>
        </p:nvSpPr>
        <p:spPr>
          <a:xfrm>
            <a:off x="8412480" y="1783080"/>
            <a:ext cx="548640" cy="731520"/>
          </a:xfrm>
          <a:prstGeom prst="line">
            <a:avLst/>
          </a:prstGeom>
          <a:noFill/>
          <a:ln w="15875">
            <a:solidFill>
              <a:srgbClr val="1E2A30"/>
            </a:solidFill>
            <a:prstDash val="solid"/>
          </a:ln>
        </p:spPr>
      </p:sp>
      <p:sp>
        <p:nvSpPr>
          <p:cNvPr id="41" name="Shape 38"/>
          <p:cNvSpPr/>
          <p:nvPr/>
        </p:nvSpPr>
        <p:spPr>
          <a:xfrm flipH="1">
            <a:off x="7589520" y="2514600"/>
            <a:ext cx="274320" cy="731520"/>
          </a:xfrm>
          <a:prstGeom prst="line">
            <a:avLst/>
          </a:prstGeom>
          <a:noFill/>
          <a:ln w="15875">
            <a:solidFill>
              <a:srgbClr val="1E2A30"/>
            </a:solidFill>
            <a:prstDash val="solid"/>
          </a:ln>
        </p:spPr>
      </p:sp>
      <p:sp>
        <p:nvSpPr>
          <p:cNvPr id="42" name="Shape 39"/>
          <p:cNvSpPr/>
          <p:nvPr/>
        </p:nvSpPr>
        <p:spPr>
          <a:xfrm>
            <a:off x="7863840" y="2514600"/>
            <a:ext cx="274320" cy="731520"/>
          </a:xfrm>
          <a:prstGeom prst="line">
            <a:avLst/>
          </a:prstGeom>
          <a:noFill/>
          <a:ln w="15875">
            <a:solidFill>
              <a:srgbClr val="1E2A30"/>
            </a:solidFill>
            <a:prstDash val="solid"/>
          </a:ln>
        </p:spPr>
      </p:sp>
      <p:sp>
        <p:nvSpPr>
          <p:cNvPr id="43" name="Shape 40"/>
          <p:cNvSpPr/>
          <p:nvPr/>
        </p:nvSpPr>
        <p:spPr>
          <a:xfrm flipH="1">
            <a:off x="8686800" y="2514600"/>
            <a:ext cx="274320" cy="731520"/>
          </a:xfrm>
          <a:prstGeom prst="line">
            <a:avLst/>
          </a:prstGeom>
          <a:noFill/>
          <a:ln w="15875">
            <a:solidFill>
              <a:srgbClr val="1E2A30"/>
            </a:solidFill>
            <a:prstDash val="solid"/>
          </a:ln>
        </p:spPr>
      </p:sp>
      <p:sp>
        <p:nvSpPr>
          <p:cNvPr id="44" name="Shape 41"/>
          <p:cNvSpPr/>
          <p:nvPr/>
        </p:nvSpPr>
        <p:spPr>
          <a:xfrm>
            <a:off x="8961120" y="2514600"/>
            <a:ext cx="274320" cy="731520"/>
          </a:xfrm>
          <a:prstGeom prst="line">
            <a:avLst/>
          </a:prstGeom>
          <a:noFill/>
          <a:ln w="15875">
            <a:solidFill>
              <a:srgbClr val="1E2A30"/>
            </a:solidFill>
            <a:prstDash val="solid"/>
          </a:ln>
        </p:spPr>
      </p:sp>
      <p:sp>
        <p:nvSpPr>
          <p:cNvPr id="45" name="Shape 42"/>
          <p:cNvSpPr/>
          <p:nvPr/>
        </p:nvSpPr>
        <p:spPr>
          <a:xfrm>
            <a:off x="8284464" y="1655064"/>
            <a:ext cx="256032" cy="256032"/>
          </a:xfrm>
          <a:prstGeom prst="ellipse">
            <a:avLst/>
          </a:prstGeom>
          <a:solidFill>
            <a:srgbClr val="0E6E7A"/>
          </a:solidFill>
          <a:ln w="15875">
            <a:solidFill>
              <a:srgbClr val="1E2A30"/>
            </a:solidFill>
            <a:prstDash val="solid"/>
          </a:ln>
        </p:spPr>
      </p:sp>
      <p:sp>
        <p:nvSpPr>
          <p:cNvPr id="46" name="Shape 43"/>
          <p:cNvSpPr/>
          <p:nvPr/>
        </p:nvSpPr>
        <p:spPr>
          <a:xfrm>
            <a:off x="7735824" y="2386584"/>
            <a:ext cx="256032" cy="256032"/>
          </a:xfrm>
          <a:prstGeom prst="ellipse">
            <a:avLst/>
          </a:prstGeom>
          <a:solidFill>
            <a:srgbClr val="FFFFFF"/>
          </a:solidFill>
          <a:ln w="15875">
            <a:solidFill>
              <a:srgbClr val="1E2A30"/>
            </a:solidFill>
            <a:prstDash val="solid"/>
          </a:ln>
        </p:spPr>
      </p:sp>
      <p:sp>
        <p:nvSpPr>
          <p:cNvPr id="47" name="Shape 44"/>
          <p:cNvSpPr/>
          <p:nvPr/>
        </p:nvSpPr>
        <p:spPr>
          <a:xfrm>
            <a:off x="8833104" y="2386584"/>
            <a:ext cx="256032" cy="256032"/>
          </a:xfrm>
          <a:prstGeom prst="ellipse">
            <a:avLst/>
          </a:prstGeom>
          <a:solidFill>
            <a:srgbClr val="FFFFFF"/>
          </a:solidFill>
          <a:ln w="15875">
            <a:solidFill>
              <a:srgbClr val="1E2A30"/>
            </a:solidFill>
            <a:prstDash val="solid"/>
          </a:ln>
        </p:spPr>
      </p:sp>
      <p:sp>
        <p:nvSpPr>
          <p:cNvPr id="48" name="Shape 45"/>
          <p:cNvSpPr/>
          <p:nvPr/>
        </p:nvSpPr>
        <p:spPr>
          <a:xfrm>
            <a:off x="7461504" y="3118104"/>
            <a:ext cx="256032" cy="256032"/>
          </a:xfrm>
          <a:prstGeom prst="ellipse">
            <a:avLst/>
          </a:prstGeom>
          <a:solidFill>
            <a:srgbClr val="FFFFFF"/>
          </a:solidFill>
          <a:ln w="15875">
            <a:solidFill>
              <a:srgbClr val="1E2A30"/>
            </a:solidFill>
            <a:prstDash val="solid"/>
          </a:ln>
        </p:spPr>
      </p:sp>
      <p:sp>
        <p:nvSpPr>
          <p:cNvPr id="49" name="Shape 46"/>
          <p:cNvSpPr/>
          <p:nvPr/>
        </p:nvSpPr>
        <p:spPr>
          <a:xfrm>
            <a:off x="8010144" y="3118104"/>
            <a:ext cx="256032" cy="256032"/>
          </a:xfrm>
          <a:prstGeom prst="ellipse">
            <a:avLst/>
          </a:prstGeom>
          <a:solidFill>
            <a:srgbClr val="FFFFFF"/>
          </a:solidFill>
          <a:ln w="15875">
            <a:solidFill>
              <a:srgbClr val="1E2A30"/>
            </a:solidFill>
            <a:prstDash val="solid"/>
          </a:ln>
        </p:spPr>
      </p:sp>
      <p:sp>
        <p:nvSpPr>
          <p:cNvPr id="50" name="Shape 47"/>
          <p:cNvSpPr/>
          <p:nvPr/>
        </p:nvSpPr>
        <p:spPr>
          <a:xfrm>
            <a:off x="8558784" y="3118104"/>
            <a:ext cx="256032" cy="256032"/>
          </a:xfrm>
          <a:prstGeom prst="ellipse">
            <a:avLst/>
          </a:prstGeom>
          <a:solidFill>
            <a:srgbClr val="FFFFFF"/>
          </a:solidFill>
          <a:ln w="15875">
            <a:solidFill>
              <a:srgbClr val="1E2A30"/>
            </a:solidFill>
            <a:prstDash val="solid"/>
          </a:ln>
        </p:spPr>
      </p:sp>
      <p:sp>
        <p:nvSpPr>
          <p:cNvPr id="51" name="Shape 48"/>
          <p:cNvSpPr/>
          <p:nvPr/>
        </p:nvSpPr>
        <p:spPr>
          <a:xfrm>
            <a:off x="9107424" y="3118104"/>
            <a:ext cx="256032" cy="256032"/>
          </a:xfrm>
          <a:prstGeom prst="ellipse">
            <a:avLst/>
          </a:prstGeom>
          <a:solidFill>
            <a:srgbClr val="FFFFFF"/>
          </a:solidFill>
          <a:ln w="15875">
            <a:solidFill>
              <a:srgbClr val="1E2A30"/>
            </a:solidFill>
            <a:prstDash val="solid"/>
          </a:ln>
        </p:spPr>
      </p:sp>
      <p:sp>
        <p:nvSpPr>
          <p:cNvPr id="52" name="Shape 49"/>
          <p:cNvSpPr/>
          <p:nvPr/>
        </p:nvSpPr>
        <p:spPr>
          <a:xfrm>
            <a:off x="10607040" y="1737360"/>
            <a:ext cx="739199" cy="537060"/>
          </a:xfrm>
          <a:prstGeom prst="line">
            <a:avLst/>
          </a:prstGeom>
          <a:noFill/>
          <a:ln w="12700">
            <a:solidFill>
              <a:srgbClr val="1E2A30"/>
            </a:solidFill>
            <a:prstDash val="solid"/>
          </a:ln>
        </p:spPr>
      </p:sp>
      <p:sp>
        <p:nvSpPr>
          <p:cNvPr id="53" name="Shape 50"/>
          <p:cNvSpPr/>
          <p:nvPr/>
        </p:nvSpPr>
        <p:spPr>
          <a:xfrm>
            <a:off x="10607040" y="1737360"/>
            <a:ext cx="456850" cy="1406040"/>
          </a:xfrm>
          <a:prstGeom prst="line">
            <a:avLst/>
          </a:prstGeom>
          <a:noFill/>
          <a:ln w="12700">
            <a:solidFill>
              <a:srgbClr val="1E2A30"/>
            </a:solidFill>
            <a:prstDash val="solid"/>
          </a:ln>
        </p:spPr>
      </p:sp>
      <p:sp>
        <p:nvSpPr>
          <p:cNvPr id="54" name="Shape 51"/>
          <p:cNvSpPr/>
          <p:nvPr/>
        </p:nvSpPr>
        <p:spPr>
          <a:xfrm flipH="1">
            <a:off x="10150190" y="1737360"/>
            <a:ext cx="456850" cy="1406040"/>
          </a:xfrm>
          <a:prstGeom prst="line">
            <a:avLst/>
          </a:prstGeom>
          <a:noFill/>
          <a:ln w="12700">
            <a:solidFill>
              <a:srgbClr val="1E2A30"/>
            </a:solidFill>
            <a:prstDash val="solid"/>
          </a:ln>
        </p:spPr>
      </p:sp>
      <p:sp>
        <p:nvSpPr>
          <p:cNvPr id="55" name="Shape 52"/>
          <p:cNvSpPr/>
          <p:nvPr/>
        </p:nvSpPr>
        <p:spPr>
          <a:xfrm flipH="1">
            <a:off x="9867841" y="1737360"/>
            <a:ext cx="739199" cy="537060"/>
          </a:xfrm>
          <a:prstGeom prst="line">
            <a:avLst/>
          </a:prstGeom>
          <a:noFill/>
          <a:ln w="12700">
            <a:solidFill>
              <a:srgbClr val="1E2A30"/>
            </a:solidFill>
            <a:prstDash val="solid"/>
          </a:ln>
        </p:spPr>
      </p:sp>
      <p:sp>
        <p:nvSpPr>
          <p:cNvPr id="56" name="Shape 53"/>
          <p:cNvSpPr/>
          <p:nvPr/>
        </p:nvSpPr>
        <p:spPr>
          <a:xfrm flipH="1">
            <a:off x="11063890" y="2274420"/>
            <a:ext cx="282349" cy="868981"/>
          </a:xfrm>
          <a:prstGeom prst="line">
            <a:avLst/>
          </a:prstGeom>
          <a:noFill/>
          <a:ln w="12700">
            <a:solidFill>
              <a:srgbClr val="1E2A30"/>
            </a:solidFill>
            <a:prstDash val="solid"/>
          </a:ln>
        </p:spPr>
      </p:sp>
      <p:sp>
        <p:nvSpPr>
          <p:cNvPr id="57" name="Shape 54"/>
          <p:cNvSpPr/>
          <p:nvPr/>
        </p:nvSpPr>
        <p:spPr>
          <a:xfrm flipH="1">
            <a:off x="10150190" y="2274420"/>
            <a:ext cx="1196049" cy="868981"/>
          </a:xfrm>
          <a:prstGeom prst="line">
            <a:avLst/>
          </a:prstGeom>
          <a:noFill/>
          <a:ln w="12700">
            <a:solidFill>
              <a:srgbClr val="1E2A30"/>
            </a:solidFill>
            <a:prstDash val="solid"/>
          </a:ln>
        </p:spPr>
      </p:sp>
      <p:sp>
        <p:nvSpPr>
          <p:cNvPr id="58" name="Shape 55"/>
          <p:cNvSpPr/>
          <p:nvPr/>
        </p:nvSpPr>
        <p:spPr>
          <a:xfrm flipH="1">
            <a:off x="9867841" y="2274420"/>
            <a:ext cx="1478398" cy="914"/>
          </a:xfrm>
          <a:prstGeom prst="line">
            <a:avLst/>
          </a:prstGeom>
          <a:noFill/>
          <a:ln w="12700">
            <a:solidFill>
              <a:srgbClr val="1E2A30"/>
            </a:solidFill>
            <a:prstDash val="solid"/>
          </a:ln>
        </p:spPr>
      </p:sp>
      <p:sp>
        <p:nvSpPr>
          <p:cNvPr id="59" name="Shape 56"/>
          <p:cNvSpPr/>
          <p:nvPr/>
        </p:nvSpPr>
        <p:spPr>
          <a:xfrm flipH="1">
            <a:off x="10150190" y="3143400"/>
            <a:ext cx="913700" cy="914"/>
          </a:xfrm>
          <a:prstGeom prst="line">
            <a:avLst/>
          </a:prstGeom>
          <a:noFill/>
          <a:ln w="12700">
            <a:solidFill>
              <a:srgbClr val="1E2A30"/>
            </a:solidFill>
            <a:prstDash val="solid"/>
          </a:ln>
        </p:spPr>
      </p:sp>
      <p:sp>
        <p:nvSpPr>
          <p:cNvPr id="60" name="Shape 57"/>
          <p:cNvSpPr/>
          <p:nvPr/>
        </p:nvSpPr>
        <p:spPr>
          <a:xfrm flipH="1" flipV="1">
            <a:off x="9867841" y="2274420"/>
            <a:ext cx="1196049" cy="868981"/>
          </a:xfrm>
          <a:prstGeom prst="line">
            <a:avLst/>
          </a:prstGeom>
          <a:noFill/>
          <a:ln w="12700">
            <a:solidFill>
              <a:srgbClr val="1E2A30"/>
            </a:solidFill>
            <a:prstDash val="solid"/>
          </a:ln>
        </p:spPr>
      </p:sp>
      <p:sp>
        <p:nvSpPr>
          <p:cNvPr id="61" name="Shape 58"/>
          <p:cNvSpPr/>
          <p:nvPr/>
        </p:nvSpPr>
        <p:spPr>
          <a:xfrm flipH="1" flipV="1">
            <a:off x="9867841" y="2274420"/>
            <a:ext cx="282349" cy="868981"/>
          </a:xfrm>
          <a:prstGeom prst="line">
            <a:avLst/>
          </a:prstGeom>
          <a:noFill/>
          <a:ln w="12700">
            <a:solidFill>
              <a:srgbClr val="1E2A30"/>
            </a:solidFill>
            <a:prstDash val="solid"/>
          </a:ln>
        </p:spPr>
      </p:sp>
      <p:sp>
        <p:nvSpPr>
          <p:cNvPr id="62" name="Shape 59"/>
          <p:cNvSpPr/>
          <p:nvPr/>
        </p:nvSpPr>
        <p:spPr>
          <a:xfrm>
            <a:off x="10479024" y="1609344"/>
            <a:ext cx="256032" cy="256032"/>
          </a:xfrm>
          <a:prstGeom prst="ellipse">
            <a:avLst/>
          </a:prstGeom>
          <a:solidFill>
            <a:srgbClr val="FFFFFF"/>
          </a:solidFill>
          <a:ln w="15875">
            <a:solidFill>
              <a:srgbClr val="1E2A30"/>
            </a:solidFill>
            <a:prstDash val="solid"/>
          </a:ln>
        </p:spPr>
      </p:sp>
      <p:sp>
        <p:nvSpPr>
          <p:cNvPr id="63" name="Shape 60"/>
          <p:cNvSpPr/>
          <p:nvPr/>
        </p:nvSpPr>
        <p:spPr>
          <a:xfrm>
            <a:off x="11218223" y="2146404"/>
            <a:ext cx="256032" cy="256032"/>
          </a:xfrm>
          <a:prstGeom prst="ellipse">
            <a:avLst/>
          </a:prstGeom>
          <a:solidFill>
            <a:srgbClr val="FFFFFF"/>
          </a:solidFill>
          <a:ln w="15875">
            <a:solidFill>
              <a:srgbClr val="1E2A30"/>
            </a:solidFill>
            <a:prstDash val="solid"/>
          </a:ln>
        </p:spPr>
      </p:sp>
      <p:sp>
        <p:nvSpPr>
          <p:cNvPr id="64" name="Shape 61"/>
          <p:cNvSpPr/>
          <p:nvPr/>
        </p:nvSpPr>
        <p:spPr>
          <a:xfrm>
            <a:off x="10935874" y="3015384"/>
            <a:ext cx="256032" cy="256032"/>
          </a:xfrm>
          <a:prstGeom prst="ellipse">
            <a:avLst/>
          </a:prstGeom>
          <a:solidFill>
            <a:srgbClr val="FFFFFF"/>
          </a:solidFill>
          <a:ln w="15875">
            <a:solidFill>
              <a:srgbClr val="1E2A30"/>
            </a:solidFill>
            <a:prstDash val="solid"/>
          </a:ln>
        </p:spPr>
      </p:sp>
      <p:sp>
        <p:nvSpPr>
          <p:cNvPr id="65" name="Shape 62"/>
          <p:cNvSpPr/>
          <p:nvPr/>
        </p:nvSpPr>
        <p:spPr>
          <a:xfrm>
            <a:off x="10022174" y="3015384"/>
            <a:ext cx="256032" cy="256032"/>
          </a:xfrm>
          <a:prstGeom prst="ellipse">
            <a:avLst/>
          </a:prstGeom>
          <a:solidFill>
            <a:srgbClr val="FFFFFF"/>
          </a:solidFill>
          <a:ln w="15875">
            <a:solidFill>
              <a:srgbClr val="1E2A30"/>
            </a:solidFill>
            <a:prstDash val="solid"/>
          </a:ln>
        </p:spPr>
      </p:sp>
      <p:sp>
        <p:nvSpPr>
          <p:cNvPr id="66" name="Shape 63"/>
          <p:cNvSpPr/>
          <p:nvPr/>
        </p:nvSpPr>
        <p:spPr>
          <a:xfrm>
            <a:off x="9739825" y="2146404"/>
            <a:ext cx="256032" cy="256032"/>
          </a:xfrm>
          <a:prstGeom prst="ellipse">
            <a:avLst/>
          </a:prstGeom>
          <a:solidFill>
            <a:srgbClr val="FFFFFF"/>
          </a:solidFill>
          <a:ln w="15875">
            <a:solidFill>
              <a:srgbClr val="1E2A30"/>
            </a:solidFill>
            <a:prstDash val="solid"/>
          </a:ln>
        </p:spPr>
      </p:sp>
      <p:sp>
        <p:nvSpPr>
          <p:cNvPr id="67" name="Text 64"/>
          <p:cNvSpPr txBox="1"/>
          <p:nvPr/>
        </p:nvSpPr>
        <p:spPr>
          <a:xfrm>
            <a:off x="640080" y="3520440"/>
            <a:ext cx="2103120" cy="365760"/>
          </a:xfrm>
          <a:prstGeom prst="rect">
            <a:avLst/>
          </a:prstGeom>
          <a:noFill/>
          <a:ln/>
        </p:spPr>
        <p:txBody>
          <a:bodyPr wrap="square" lIns="0" tIns="0" rIns="0" bIns="0" rtlCol="0" anchor="t"/>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버스형 (Bus)</a:t>
            </a:r>
            <a:endParaRPr lang="en-US" sz="1500" dirty="0"/>
          </a:p>
        </p:txBody>
      </p:sp>
      <p:sp>
        <p:nvSpPr>
          <p:cNvPr id="68" name="Text 65"/>
          <p:cNvSpPr txBox="1"/>
          <p:nvPr/>
        </p:nvSpPr>
        <p:spPr>
          <a:xfrm>
            <a:off x="640080" y="3886200"/>
            <a:ext cx="2103120" cy="320040"/>
          </a:xfrm>
          <a:prstGeom prst="rect">
            <a:avLst/>
          </a:prstGeom>
          <a:noFill/>
          <a:ln/>
        </p:spPr>
        <p:txBody>
          <a:bodyPr wrap="square" lIns="0" tIns="0" rIns="0" bIns="0" rtlCol="0" anchor="t"/>
          <a:lstStyle/>
          <a:p>
            <a:pPr algn="ctr" indent="0" marL="0">
              <a:buNone/>
            </a:pPr>
            <a:r>
              <a:rPr lang="en-US" sz="1300" dirty="0">
                <a:solidFill>
                  <a:srgbClr val="66737C"/>
                </a:solidFill>
                <a:latin typeface="맑은 고딕" pitchFamily="34" charset="0"/>
                <a:ea typeface="맑은 고딕" pitchFamily="34" charset="-122"/>
                <a:cs typeface="맑은 고딕" pitchFamily="34" charset="-120"/>
              </a:rPr>
              <a:t>선형</a:t>
            </a:r>
            <a:endParaRPr lang="en-US" sz="1300" dirty="0"/>
          </a:p>
        </p:txBody>
      </p:sp>
      <p:sp>
        <p:nvSpPr>
          <p:cNvPr id="69" name="Text 66"/>
          <p:cNvSpPr txBox="1"/>
          <p:nvPr/>
        </p:nvSpPr>
        <p:spPr>
          <a:xfrm>
            <a:off x="2880360" y="3520440"/>
            <a:ext cx="2103120" cy="365760"/>
          </a:xfrm>
          <a:prstGeom prst="rect">
            <a:avLst/>
          </a:prstGeom>
          <a:noFill/>
          <a:ln/>
        </p:spPr>
        <p:txBody>
          <a:bodyPr wrap="square" lIns="0" tIns="0" rIns="0" bIns="0" rtlCol="0" anchor="t"/>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성형 (Star)</a:t>
            </a:r>
            <a:endParaRPr lang="en-US" sz="1500" dirty="0"/>
          </a:p>
        </p:txBody>
      </p:sp>
      <p:sp>
        <p:nvSpPr>
          <p:cNvPr id="70" name="Text 67"/>
          <p:cNvSpPr txBox="1"/>
          <p:nvPr/>
        </p:nvSpPr>
        <p:spPr>
          <a:xfrm>
            <a:off x="2880360" y="3886200"/>
            <a:ext cx="2103120" cy="320040"/>
          </a:xfrm>
          <a:prstGeom prst="rect">
            <a:avLst/>
          </a:prstGeom>
          <a:noFill/>
          <a:ln/>
        </p:spPr>
        <p:txBody>
          <a:bodyPr wrap="square" lIns="0" tIns="0" rIns="0" bIns="0" rtlCol="0" anchor="t"/>
          <a:lstStyle/>
          <a:p>
            <a:pPr algn="ctr" indent="0" marL="0">
              <a:buNone/>
            </a:pPr>
            <a:r>
              <a:rPr lang="en-US" sz="1300" b="1" dirty="0">
                <a:solidFill>
                  <a:srgbClr val="0E6E7A"/>
                </a:solidFill>
                <a:latin typeface="맑은 고딕" pitchFamily="34" charset="0"/>
                <a:ea typeface="맑은 고딕" pitchFamily="34" charset="-122"/>
                <a:cs typeface="맑은 고딕" pitchFamily="34" charset="-120"/>
              </a:rPr>
              <a:t>LAN에 주로 사용</a:t>
            </a:r>
            <a:endParaRPr lang="en-US" sz="1300" dirty="0"/>
          </a:p>
        </p:txBody>
      </p:sp>
      <p:sp>
        <p:nvSpPr>
          <p:cNvPr id="71" name="Text 68"/>
          <p:cNvSpPr txBox="1"/>
          <p:nvPr/>
        </p:nvSpPr>
        <p:spPr>
          <a:xfrm>
            <a:off x="5120640" y="3520440"/>
            <a:ext cx="2103120" cy="365760"/>
          </a:xfrm>
          <a:prstGeom prst="rect">
            <a:avLst/>
          </a:prstGeom>
          <a:noFill/>
          <a:ln/>
        </p:spPr>
        <p:txBody>
          <a:bodyPr wrap="square" lIns="0" tIns="0" rIns="0" bIns="0" rtlCol="0" anchor="t"/>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링형 (Ring)</a:t>
            </a:r>
            <a:endParaRPr lang="en-US" sz="1500" dirty="0"/>
          </a:p>
        </p:txBody>
      </p:sp>
      <p:sp>
        <p:nvSpPr>
          <p:cNvPr id="72" name="Text 69"/>
          <p:cNvSpPr txBox="1"/>
          <p:nvPr/>
        </p:nvSpPr>
        <p:spPr>
          <a:xfrm>
            <a:off x="5120640" y="3886200"/>
            <a:ext cx="2103120" cy="320040"/>
          </a:xfrm>
          <a:prstGeom prst="rect">
            <a:avLst/>
          </a:prstGeom>
          <a:noFill/>
          <a:ln/>
        </p:spPr>
        <p:txBody>
          <a:bodyPr wrap="square" lIns="0" tIns="0" rIns="0" bIns="0" rtlCol="0" anchor="t"/>
          <a:lstStyle/>
          <a:p>
            <a:pPr algn="ctr" indent="0" marL="0">
              <a:buNone/>
            </a:pPr>
            <a:r>
              <a:rPr lang="en-US" sz="1300" dirty="0">
                <a:solidFill>
                  <a:srgbClr val="66737C"/>
                </a:solidFill>
                <a:latin typeface="맑은 고딕" pitchFamily="34" charset="0"/>
                <a:ea typeface="맑은 고딕" pitchFamily="34" charset="-122"/>
                <a:cs typeface="맑은 고딕" pitchFamily="34" charset="-120"/>
              </a:rPr>
              <a:t>고리 모양</a:t>
            </a:r>
            <a:endParaRPr lang="en-US" sz="1300" dirty="0"/>
          </a:p>
        </p:txBody>
      </p:sp>
      <p:sp>
        <p:nvSpPr>
          <p:cNvPr id="73" name="Text 70"/>
          <p:cNvSpPr txBox="1"/>
          <p:nvPr/>
        </p:nvSpPr>
        <p:spPr>
          <a:xfrm>
            <a:off x="7360920" y="3520440"/>
            <a:ext cx="2103120" cy="365760"/>
          </a:xfrm>
          <a:prstGeom prst="rect">
            <a:avLst/>
          </a:prstGeom>
          <a:noFill/>
          <a:ln/>
        </p:spPr>
        <p:txBody>
          <a:bodyPr wrap="square" lIns="0" tIns="0" rIns="0" bIns="0" rtlCol="0" anchor="t"/>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트리형 (Tree)</a:t>
            </a:r>
            <a:endParaRPr lang="en-US" sz="1500" dirty="0"/>
          </a:p>
        </p:txBody>
      </p:sp>
      <p:sp>
        <p:nvSpPr>
          <p:cNvPr id="74" name="Text 71"/>
          <p:cNvSpPr txBox="1"/>
          <p:nvPr/>
        </p:nvSpPr>
        <p:spPr>
          <a:xfrm>
            <a:off x="7360920" y="3886200"/>
            <a:ext cx="2103120" cy="320040"/>
          </a:xfrm>
          <a:prstGeom prst="rect">
            <a:avLst/>
          </a:prstGeom>
          <a:noFill/>
          <a:ln/>
        </p:spPr>
        <p:txBody>
          <a:bodyPr wrap="square" lIns="0" tIns="0" rIns="0" bIns="0" rtlCol="0" anchor="t"/>
          <a:lstStyle/>
          <a:p>
            <a:pPr algn="ctr" indent="0" marL="0">
              <a:buNone/>
            </a:pPr>
            <a:r>
              <a:rPr lang="en-US" sz="1300" dirty="0">
                <a:solidFill>
                  <a:srgbClr val="66737C"/>
                </a:solidFill>
                <a:latin typeface="맑은 고딕" pitchFamily="34" charset="0"/>
                <a:ea typeface="맑은 고딕" pitchFamily="34" charset="-122"/>
                <a:cs typeface="맑은 고딕" pitchFamily="34" charset="-120"/>
              </a:rPr>
              <a:t>계층형</a:t>
            </a:r>
            <a:endParaRPr lang="en-US" sz="1300" dirty="0"/>
          </a:p>
        </p:txBody>
      </p:sp>
      <p:sp>
        <p:nvSpPr>
          <p:cNvPr id="75" name="Text 72"/>
          <p:cNvSpPr txBox="1"/>
          <p:nvPr/>
        </p:nvSpPr>
        <p:spPr>
          <a:xfrm>
            <a:off x="9555480" y="3520440"/>
            <a:ext cx="2103120" cy="365760"/>
          </a:xfrm>
          <a:prstGeom prst="rect">
            <a:avLst/>
          </a:prstGeom>
          <a:noFill/>
          <a:ln/>
        </p:spPr>
        <p:txBody>
          <a:bodyPr wrap="square" lIns="0" tIns="0" rIns="0" bIns="0" rtlCol="0" anchor="t"/>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망형 (Mesh)</a:t>
            </a:r>
            <a:endParaRPr lang="en-US" sz="1500" dirty="0"/>
          </a:p>
        </p:txBody>
      </p:sp>
      <p:sp>
        <p:nvSpPr>
          <p:cNvPr id="76" name="Text 73"/>
          <p:cNvSpPr txBox="1"/>
          <p:nvPr/>
        </p:nvSpPr>
        <p:spPr>
          <a:xfrm>
            <a:off x="9555480" y="3886200"/>
            <a:ext cx="2103120" cy="320040"/>
          </a:xfrm>
          <a:prstGeom prst="rect">
            <a:avLst/>
          </a:prstGeom>
          <a:noFill/>
          <a:ln/>
        </p:spPr>
        <p:txBody>
          <a:bodyPr wrap="square" lIns="0" tIns="0" rIns="0" bIns="0" rtlCol="0" anchor="t"/>
          <a:lstStyle/>
          <a:p>
            <a:pPr algn="ctr" indent="0" marL="0">
              <a:buNone/>
            </a:pPr>
            <a:r>
              <a:rPr lang="en-US" sz="1300" b="1" dirty="0">
                <a:solidFill>
                  <a:srgbClr val="0E6E7A"/>
                </a:solidFill>
                <a:latin typeface="맑은 고딕" pitchFamily="34" charset="0"/>
                <a:ea typeface="맑은 고딕" pitchFamily="34" charset="-122"/>
                <a:cs typeface="맑은 고딕" pitchFamily="34" charset="-120"/>
              </a:rPr>
              <a:t>WAN에 주로 사용</a:t>
            </a:r>
            <a:endParaRPr lang="en-US" sz="1300" dirty="0"/>
          </a:p>
        </p:txBody>
      </p:sp>
      <p:sp>
        <p:nvSpPr>
          <p:cNvPr id="77" name="Shape 74"/>
          <p:cNvSpPr/>
          <p:nvPr/>
        </p:nvSpPr>
        <p:spPr>
          <a:xfrm>
            <a:off x="548640" y="4526280"/>
            <a:ext cx="5394960" cy="1188720"/>
          </a:xfrm>
          <a:prstGeom prst="roundRect">
            <a:avLst>
              <a:gd name="adj" fmla="val 6154"/>
            </a:avLst>
          </a:prstGeom>
          <a:solidFill>
            <a:srgbClr val="FFFFFF"/>
          </a:solidFill>
          <a:ln w="12700">
            <a:solidFill>
              <a:srgbClr val="9AA5AD"/>
            </a:solidFill>
            <a:prstDash val="solid"/>
          </a:ln>
        </p:spPr>
      </p:sp>
      <p:sp>
        <p:nvSpPr>
          <p:cNvPr id="78" name="Text 75"/>
          <p:cNvSpPr txBox="1"/>
          <p:nvPr/>
        </p:nvSpPr>
        <p:spPr>
          <a:xfrm>
            <a:off x="731520" y="466344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물리적 토폴로지</a:t>
            </a:r>
            <a:endParaRPr lang="en-US" sz="1600" dirty="0"/>
          </a:p>
        </p:txBody>
      </p:sp>
      <p:sp>
        <p:nvSpPr>
          <p:cNvPr id="79" name="Text 76"/>
          <p:cNvSpPr txBox="1"/>
          <p:nvPr/>
        </p:nvSpPr>
        <p:spPr>
          <a:xfrm>
            <a:off x="731520" y="5120640"/>
            <a:ext cx="5029200" cy="48463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실제 케이블 연결과 배치 형태 (위 5가지)</a:t>
            </a:r>
            <a:endParaRPr lang="en-US" sz="1400" dirty="0"/>
          </a:p>
        </p:txBody>
      </p:sp>
      <p:sp>
        <p:nvSpPr>
          <p:cNvPr id="80" name="Shape 77"/>
          <p:cNvSpPr/>
          <p:nvPr/>
        </p:nvSpPr>
        <p:spPr>
          <a:xfrm>
            <a:off x="6245352" y="4526280"/>
            <a:ext cx="5394960" cy="1188720"/>
          </a:xfrm>
          <a:prstGeom prst="roundRect">
            <a:avLst>
              <a:gd name="adj" fmla="val 6154"/>
            </a:avLst>
          </a:prstGeom>
          <a:solidFill>
            <a:srgbClr val="E6F1F2"/>
          </a:solidFill>
          <a:ln w="12700">
            <a:solidFill>
              <a:srgbClr val="0E6E7A"/>
            </a:solidFill>
            <a:prstDash val="solid"/>
          </a:ln>
        </p:spPr>
      </p:sp>
      <p:sp>
        <p:nvSpPr>
          <p:cNvPr id="81" name="Text 78"/>
          <p:cNvSpPr txBox="1"/>
          <p:nvPr/>
        </p:nvSpPr>
        <p:spPr>
          <a:xfrm>
            <a:off x="6428232" y="466344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논리적 토폴로지</a:t>
            </a:r>
            <a:endParaRPr lang="en-US" sz="1600" dirty="0"/>
          </a:p>
        </p:txBody>
      </p:sp>
      <p:sp>
        <p:nvSpPr>
          <p:cNvPr id="82" name="Text 79"/>
          <p:cNvSpPr txBox="1"/>
          <p:nvPr/>
        </p:nvSpPr>
        <p:spPr>
          <a:xfrm>
            <a:off x="6428232" y="5120640"/>
            <a:ext cx="5029200" cy="48463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호스트가 매체에 접근하는 동작 방식 → 버스형, 링형</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토폴로지별 장단점 비교</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463040"/>
                <a:gridCol w="3566160"/>
                <a:gridCol w="3959352"/>
                <a:gridCol w="2103120"/>
              </a:tblGrid>
              <a:tr h="566928">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토폴로지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장점</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단점</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주 사용처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56692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버스형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설치 간단, 케이블 적게 듦</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케이블 한 곳 고장 시 전체 영향, 충돌 발생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초기 이더넷</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성형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관리·장애 위치 파악 쉬움, 확장 쉬움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중앙 장비 고장 시 전체 마비</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LAN (스위치 중심)</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r h="56692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링형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토큰 방식으로 충돌 없음</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노드 하나 고장 시 전체에 영향</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토큰링, FDDI</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트리형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계층적 확장 쉬움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상위 노드 고장 시 하위 전체 영향</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캠퍼스·건물망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66928">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망형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경로가 여러 개 → 신뢰성 최고</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회선·비용 최대  n(n-1)/2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WAN · 백본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bl>
          </a:graphicData>
        </a:graphic>
      </p:graphicFrame>
      <p:sp>
        <p:nvSpPr>
          <p:cNvPr id="6" name="Shape 2"/>
          <p:cNvSpPr/>
          <p:nvPr/>
        </p:nvSpPr>
        <p:spPr>
          <a:xfrm>
            <a:off x="548640" y="5349240"/>
            <a:ext cx="11091672" cy="457200"/>
          </a:xfrm>
          <a:prstGeom prst="roundRect">
            <a:avLst>
              <a:gd name="adj" fmla="val 16000"/>
            </a:avLst>
          </a:prstGeom>
          <a:solidFill>
            <a:srgbClr val="E6F1F2"/>
          </a:solidFill>
          <a:ln w="12700">
            <a:solidFill>
              <a:srgbClr val="E6F1F2"/>
            </a:solidFill>
            <a:prstDash val="solid"/>
          </a:ln>
        </p:spPr>
      </p:sp>
      <p:sp>
        <p:nvSpPr>
          <p:cNvPr id="7" name="Text 3"/>
          <p:cNvSpPr txBox="1"/>
          <p:nvPr/>
        </p:nvSpPr>
        <p:spPr>
          <a:xfrm>
            <a:off x="777240" y="534924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LAN = 성형(Star), WAN = 망형(Mesh)</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PART 2 확인 문제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2 · 인터넷 구조</a:t>
            </a:r>
            <a:endParaRPr lang="en-US" sz="1100" dirty="0"/>
          </a:p>
        </p:txBody>
      </p:sp>
      <p:sp>
        <p:nvSpPr>
          <p:cNvPr id="5" name="Shape 2"/>
          <p:cNvSpPr/>
          <p:nvPr/>
        </p:nvSpPr>
        <p:spPr>
          <a:xfrm>
            <a:off x="548640" y="1325880"/>
            <a:ext cx="11091672" cy="841248"/>
          </a:xfrm>
          <a:prstGeom prst="roundRect">
            <a:avLst>
              <a:gd name="adj" fmla="val 8696"/>
            </a:avLst>
          </a:prstGeom>
          <a:solidFill>
            <a:srgbClr val="F4F6F7"/>
          </a:solidFill>
          <a:ln w="12700">
            <a:solidFill>
              <a:srgbClr val="9AA5AD"/>
            </a:solidFill>
            <a:prstDash val="solid"/>
          </a:ln>
        </p:spPr>
      </p:sp>
      <p:sp>
        <p:nvSpPr>
          <p:cNvPr id="6" name="Shape 3"/>
          <p:cNvSpPr/>
          <p:nvPr/>
        </p:nvSpPr>
        <p:spPr>
          <a:xfrm>
            <a:off x="777240" y="1517904"/>
            <a:ext cx="457200" cy="457200"/>
          </a:xfrm>
          <a:prstGeom prst="ellipse">
            <a:avLst/>
          </a:prstGeom>
          <a:solidFill>
            <a:srgbClr val="0E6E7A"/>
          </a:solidFill>
          <a:ln w="12700">
            <a:solidFill>
              <a:srgbClr val="0E6E7A"/>
            </a:solidFill>
            <a:prstDash val="solid"/>
          </a:ln>
        </p:spPr>
      </p:sp>
      <p:sp>
        <p:nvSpPr>
          <p:cNvPr id="7" name="Text 4"/>
          <p:cNvSpPr txBox="1"/>
          <p:nvPr/>
        </p:nvSpPr>
        <p:spPr>
          <a:xfrm>
            <a:off x="777240" y="1517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Q1</a:t>
            </a:r>
            <a:endParaRPr lang="en-US" sz="1200" dirty="0"/>
          </a:p>
        </p:txBody>
      </p:sp>
      <p:sp>
        <p:nvSpPr>
          <p:cNvPr id="8" name="Text 5"/>
          <p:cNvSpPr txBox="1"/>
          <p:nvPr/>
        </p:nvSpPr>
        <p:spPr>
          <a:xfrm>
            <a:off x="1463040" y="1325880"/>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IP 주소 배정 순서를 쓰시오: (   ) → APNIC → (   ) → ISP → 사용자</a:t>
            </a:r>
            <a:endParaRPr lang="en-US" sz="1600" dirty="0"/>
          </a:p>
        </p:txBody>
      </p:sp>
      <p:sp>
        <p:nvSpPr>
          <p:cNvPr id="9" name="Shape 6"/>
          <p:cNvSpPr/>
          <p:nvPr/>
        </p:nvSpPr>
        <p:spPr>
          <a:xfrm>
            <a:off x="548640" y="2350008"/>
            <a:ext cx="11091672" cy="841248"/>
          </a:xfrm>
          <a:prstGeom prst="roundRect">
            <a:avLst>
              <a:gd name="adj" fmla="val 8696"/>
            </a:avLst>
          </a:prstGeom>
          <a:solidFill>
            <a:srgbClr val="FFFFFF"/>
          </a:solidFill>
          <a:ln w="12700">
            <a:solidFill>
              <a:srgbClr val="9AA5AD"/>
            </a:solidFill>
            <a:prstDash val="solid"/>
          </a:ln>
        </p:spPr>
      </p:sp>
      <p:sp>
        <p:nvSpPr>
          <p:cNvPr id="10" name="Shape 7"/>
          <p:cNvSpPr/>
          <p:nvPr/>
        </p:nvSpPr>
        <p:spPr>
          <a:xfrm>
            <a:off x="777240" y="2542032"/>
            <a:ext cx="457200" cy="457200"/>
          </a:xfrm>
          <a:prstGeom prst="ellipse">
            <a:avLst/>
          </a:prstGeom>
          <a:solidFill>
            <a:srgbClr val="0E6E7A"/>
          </a:solidFill>
          <a:ln w="12700">
            <a:solidFill>
              <a:srgbClr val="0E6E7A"/>
            </a:solidFill>
            <a:prstDash val="solid"/>
          </a:ln>
        </p:spPr>
      </p:sp>
      <p:sp>
        <p:nvSpPr>
          <p:cNvPr id="11" name="Text 8"/>
          <p:cNvSpPr txBox="1"/>
          <p:nvPr/>
        </p:nvSpPr>
        <p:spPr>
          <a:xfrm>
            <a:off x="777240" y="25420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Q2</a:t>
            </a:r>
            <a:endParaRPr lang="en-US" sz="1200" dirty="0"/>
          </a:p>
        </p:txBody>
      </p:sp>
      <p:sp>
        <p:nvSpPr>
          <p:cNvPr id="12" name="Text 9"/>
          <p:cNvSpPr txBox="1"/>
          <p:nvPr/>
        </p:nvSpPr>
        <p:spPr>
          <a:xfrm>
            <a:off x="1463040" y="2350008"/>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유럽 지역 IP 주소를 관리하는 RIR 은? 아프리카는?</a:t>
            </a:r>
            <a:endParaRPr lang="en-US" sz="1600" dirty="0"/>
          </a:p>
        </p:txBody>
      </p:sp>
      <p:sp>
        <p:nvSpPr>
          <p:cNvPr id="13" name="Shape 10"/>
          <p:cNvSpPr/>
          <p:nvPr/>
        </p:nvSpPr>
        <p:spPr>
          <a:xfrm>
            <a:off x="548640" y="3374136"/>
            <a:ext cx="11091672" cy="841248"/>
          </a:xfrm>
          <a:prstGeom prst="roundRect">
            <a:avLst>
              <a:gd name="adj" fmla="val 8696"/>
            </a:avLst>
          </a:prstGeom>
          <a:solidFill>
            <a:srgbClr val="F4F6F7"/>
          </a:solidFill>
          <a:ln w="12700">
            <a:solidFill>
              <a:srgbClr val="9AA5AD"/>
            </a:solidFill>
            <a:prstDash val="solid"/>
          </a:ln>
        </p:spPr>
      </p:sp>
      <p:sp>
        <p:nvSpPr>
          <p:cNvPr id="14" name="Shape 11"/>
          <p:cNvSpPr/>
          <p:nvPr/>
        </p:nvSpPr>
        <p:spPr>
          <a:xfrm>
            <a:off x="777240" y="3566160"/>
            <a:ext cx="457200" cy="457200"/>
          </a:xfrm>
          <a:prstGeom prst="ellipse">
            <a:avLst/>
          </a:prstGeom>
          <a:solidFill>
            <a:srgbClr val="0E6E7A"/>
          </a:solidFill>
          <a:ln w="12700">
            <a:solidFill>
              <a:srgbClr val="0E6E7A"/>
            </a:solidFill>
            <a:prstDash val="solid"/>
          </a:ln>
        </p:spPr>
      </p:sp>
      <p:sp>
        <p:nvSpPr>
          <p:cNvPr id="15" name="Text 12"/>
          <p:cNvSpPr txBox="1"/>
          <p:nvPr/>
        </p:nvSpPr>
        <p:spPr>
          <a:xfrm>
            <a:off x="777240" y="3566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Q3</a:t>
            </a:r>
            <a:endParaRPr lang="en-US" sz="1200" dirty="0"/>
          </a:p>
        </p:txBody>
      </p:sp>
      <p:sp>
        <p:nvSpPr>
          <p:cNvPr id="16" name="Text 13"/>
          <p:cNvSpPr txBox="1"/>
          <p:nvPr/>
        </p:nvSpPr>
        <p:spPr>
          <a:xfrm>
            <a:off x="1463040" y="3374136"/>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하나의 관리자가 같은 라우팅 정책으로 운영하는 네트워크와, 그 식별 번호를 각각 무엇이라 하는가?</a:t>
            </a:r>
            <a:endParaRPr lang="en-US" sz="1600" dirty="0"/>
          </a:p>
        </p:txBody>
      </p:sp>
      <p:sp>
        <p:nvSpPr>
          <p:cNvPr id="17" name="Shape 14"/>
          <p:cNvSpPr/>
          <p:nvPr/>
        </p:nvSpPr>
        <p:spPr>
          <a:xfrm>
            <a:off x="548640" y="4398264"/>
            <a:ext cx="11091672" cy="841248"/>
          </a:xfrm>
          <a:prstGeom prst="roundRect">
            <a:avLst>
              <a:gd name="adj" fmla="val 8696"/>
            </a:avLst>
          </a:prstGeom>
          <a:solidFill>
            <a:srgbClr val="FFFFFF"/>
          </a:solidFill>
          <a:ln w="12700">
            <a:solidFill>
              <a:srgbClr val="9AA5AD"/>
            </a:solidFill>
            <a:prstDash val="solid"/>
          </a:ln>
        </p:spPr>
      </p:sp>
      <p:sp>
        <p:nvSpPr>
          <p:cNvPr id="18" name="Shape 15"/>
          <p:cNvSpPr/>
          <p:nvPr/>
        </p:nvSpPr>
        <p:spPr>
          <a:xfrm>
            <a:off x="777240" y="4590288"/>
            <a:ext cx="457200" cy="457200"/>
          </a:xfrm>
          <a:prstGeom prst="ellipse">
            <a:avLst/>
          </a:prstGeom>
          <a:solidFill>
            <a:srgbClr val="0E6E7A"/>
          </a:solidFill>
          <a:ln w="12700">
            <a:solidFill>
              <a:srgbClr val="0E6E7A"/>
            </a:solidFill>
            <a:prstDash val="solid"/>
          </a:ln>
        </p:spPr>
      </p:sp>
      <p:sp>
        <p:nvSpPr>
          <p:cNvPr id="19" name="Text 16"/>
          <p:cNvSpPr txBox="1"/>
          <p:nvPr/>
        </p:nvSpPr>
        <p:spPr>
          <a:xfrm>
            <a:off x="777240" y="459028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Q4</a:t>
            </a:r>
            <a:endParaRPr lang="en-US" sz="1200" dirty="0"/>
          </a:p>
        </p:txBody>
      </p:sp>
      <p:sp>
        <p:nvSpPr>
          <p:cNvPr id="20" name="Text 17"/>
          <p:cNvSpPr txBox="1"/>
          <p:nvPr/>
        </p:nvSpPr>
        <p:spPr>
          <a:xfrm>
            <a:off x="1463040" y="4398264"/>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LAN 에 주로 쓰이는 토폴로지와 WAN 에 주로 쓰이는 토폴로지는?</a:t>
            </a:r>
            <a:endParaRPr lang="en-US" sz="1600" dirty="0"/>
          </a:p>
        </p:txBody>
      </p:sp>
      <p:sp>
        <p:nvSpPr>
          <p:cNvPr id="21" name="Shape 18"/>
          <p:cNvSpPr/>
          <p:nvPr/>
        </p:nvSpPr>
        <p:spPr>
          <a:xfrm>
            <a:off x="548640" y="5422392"/>
            <a:ext cx="11091672" cy="841248"/>
          </a:xfrm>
          <a:prstGeom prst="roundRect">
            <a:avLst>
              <a:gd name="adj" fmla="val 8696"/>
            </a:avLst>
          </a:prstGeom>
          <a:solidFill>
            <a:srgbClr val="F4F6F7"/>
          </a:solidFill>
          <a:ln w="12700">
            <a:solidFill>
              <a:srgbClr val="9AA5AD"/>
            </a:solidFill>
            <a:prstDash val="solid"/>
          </a:ln>
        </p:spPr>
      </p:sp>
      <p:sp>
        <p:nvSpPr>
          <p:cNvPr id="22" name="Shape 19"/>
          <p:cNvSpPr/>
          <p:nvPr/>
        </p:nvSpPr>
        <p:spPr>
          <a:xfrm>
            <a:off x="777240" y="5614416"/>
            <a:ext cx="457200" cy="457200"/>
          </a:xfrm>
          <a:prstGeom prst="ellipse">
            <a:avLst/>
          </a:prstGeom>
          <a:solidFill>
            <a:srgbClr val="0E6E7A"/>
          </a:solidFill>
          <a:ln w="12700">
            <a:solidFill>
              <a:srgbClr val="0E6E7A"/>
            </a:solidFill>
            <a:prstDash val="solid"/>
          </a:ln>
        </p:spPr>
      </p:sp>
      <p:sp>
        <p:nvSpPr>
          <p:cNvPr id="23" name="Text 20"/>
          <p:cNvSpPr txBox="1"/>
          <p:nvPr/>
        </p:nvSpPr>
        <p:spPr>
          <a:xfrm>
            <a:off x="777240" y="5614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Q5</a:t>
            </a:r>
            <a:endParaRPr lang="en-US" sz="1200" dirty="0"/>
          </a:p>
        </p:txBody>
      </p:sp>
      <p:sp>
        <p:nvSpPr>
          <p:cNvPr id="24" name="Text 21"/>
          <p:cNvSpPr txBox="1"/>
          <p:nvPr/>
        </p:nvSpPr>
        <p:spPr>
          <a:xfrm>
            <a:off x="1463040" y="5422392"/>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우리나라 국제 인터넷 트래픽의 대부분(99% 이상)을 처리하는 전송 수단은?</a:t>
            </a:r>
            <a:endParaRPr lang="en-US" sz="1600" dirty="0"/>
          </a:p>
        </p:txBody>
      </p:sp>
      <p:sp>
        <p:nvSpPr>
          <p:cNvPr id="25" name="Text 22"/>
          <p:cNvSpPr txBox="1"/>
          <p:nvPr/>
        </p:nvSpPr>
        <p:spPr>
          <a:xfrm>
            <a:off x="5486400" y="6382512"/>
            <a:ext cx="5394960" cy="274320"/>
          </a:xfrm>
          <a:prstGeom prst="rect">
            <a:avLst/>
          </a:prstGeom>
          <a:noFill/>
          <a:ln/>
        </p:spPr>
        <p:txBody>
          <a:bodyPr wrap="square" lIns="0" tIns="0" rIns="0" bIns="0" rtlCol="0" anchor="t"/>
          <a:lstStyle/>
          <a:p>
            <a:pPr algn="r" indent="0" marL="0">
              <a:buNone/>
            </a:pPr>
            <a:r>
              <a:rPr lang="en-US" sz="1000" dirty="0">
                <a:solidFill>
                  <a:srgbClr val="66737C"/>
                </a:solidFill>
                <a:latin typeface="맑은 고딕" pitchFamily="34" charset="0"/>
                <a:ea typeface="맑은 고딕" pitchFamily="34" charset="-122"/>
                <a:cs typeface="맑은 고딕" pitchFamily="34" charset="-120"/>
              </a:rPr>
              <a:t>정답과 해설은 발표자 노트에 있습니다</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5486400" cy="1097280"/>
          </a:xfrm>
          <a:prstGeom prst="rect">
            <a:avLst/>
          </a:prstGeom>
          <a:noFill/>
          <a:ln/>
        </p:spPr>
        <p:txBody>
          <a:bodyPr wrap="square" lIns="0" tIns="0" rIns="0" bIns="0" rtlCol="0" anchor="b"/>
          <a:lstStyle/>
          <a:p>
            <a:pPr indent="0" marL="0">
              <a:buNone/>
            </a:pPr>
            <a:r>
              <a:rPr lang="en-US" sz="5400" b="1" dirty="0">
                <a:solidFill>
                  <a:srgbClr val="7FB2B8"/>
                </a:solidFill>
                <a:latin typeface="맑은 고딕" pitchFamily="34" charset="0"/>
                <a:ea typeface="맑은 고딕" pitchFamily="34" charset="-122"/>
                <a:cs typeface="맑은 고딕" pitchFamily="34" charset="-120"/>
              </a:rPr>
              <a:t>PART 3</a:t>
            </a:r>
            <a:endParaRPr lang="en-US" sz="5400" dirty="0"/>
          </a:p>
        </p:txBody>
      </p:sp>
      <p:sp>
        <p:nvSpPr>
          <p:cNvPr id="3" name="Text 0"/>
          <p:cNvSpPr/>
          <p:nvPr>
            <p:ph idx="101" type="title" hasCustomPrompt="1"/>
          </p:nvPr>
        </p:nvSpPr>
        <p:spPr>
          <a:xfrm>
            <a:off x="731520" y="2560320"/>
            <a:ext cx="10698480" cy="100584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통신 모델 — OSI 7계층과 TCP/IP</a:t>
            </a:r>
            <a:endParaRPr lang="en-US" sz="3800" dirty="0"/>
          </a:p>
        </p:txBody>
      </p:sp>
      <p:sp>
        <p:nvSpPr>
          <p:cNvPr id="4" name="Text 0"/>
          <p:cNvSpPr/>
          <p:nvPr>
            <p:ph idx="102" type="body" hasCustomPrompt="1"/>
          </p:nvPr>
        </p:nvSpPr>
        <p:spPr>
          <a:xfrm>
            <a:off x="731520" y="3749040"/>
            <a:ext cx="10698480"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왜 통신을 계층으로 나누나</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OSI 7계층의 기능과 전송 단위(PDU)</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TCP/IP 4계층과 OSI의 대응 관계</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왜 계층으로 나눌까 — 택배 비유</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3 · 통신 모델</a:t>
            </a:r>
            <a:endParaRPr lang="en-US" sz="1100" dirty="0"/>
          </a:p>
        </p:txBody>
      </p:sp>
      <p:sp>
        <p:nvSpPr>
          <p:cNvPr id="5" name="Shape 2"/>
          <p:cNvSpPr/>
          <p:nvPr/>
        </p:nvSpPr>
        <p:spPr>
          <a:xfrm>
            <a:off x="548640" y="1371600"/>
            <a:ext cx="2743200" cy="777240"/>
          </a:xfrm>
          <a:prstGeom prst="roundRect">
            <a:avLst>
              <a:gd name="adj" fmla="val 9412"/>
            </a:avLst>
          </a:prstGeom>
          <a:solidFill>
            <a:srgbClr val="F4F6F7"/>
          </a:solidFill>
          <a:ln w="12700">
            <a:solidFill>
              <a:srgbClr val="1E2A30"/>
            </a:solidFill>
            <a:prstDash val="solid"/>
          </a:ln>
        </p:spPr>
      </p:sp>
      <p:sp>
        <p:nvSpPr>
          <p:cNvPr id="6" name="Text 3"/>
          <p:cNvSpPr txBox="1"/>
          <p:nvPr/>
        </p:nvSpPr>
        <p:spPr>
          <a:xfrm>
            <a:off x="548640" y="1371600"/>
            <a:ext cx="2743200" cy="77724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물건 포장</a:t>
            </a:r>
            <a:endParaRPr lang="en-US" sz="1600" dirty="0"/>
          </a:p>
        </p:txBody>
      </p:sp>
      <p:sp>
        <p:nvSpPr>
          <p:cNvPr id="7" name="Shape 4"/>
          <p:cNvSpPr/>
          <p:nvPr/>
        </p:nvSpPr>
        <p:spPr>
          <a:xfrm>
            <a:off x="3337560" y="1755648"/>
            <a:ext cx="548640" cy="914"/>
          </a:xfrm>
          <a:prstGeom prst="line">
            <a:avLst/>
          </a:prstGeom>
          <a:noFill/>
          <a:ln w="19050">
            <a:solidFill>
              <a:srgbClr val="0E6E7A"/>
            </a:solidFill>
            <a:prstDash val="solid"/>
            <a:tailEnd type="triangle"/>
          </a:ln>
        </p:spPr>
      </p:sp>
      <p:sp>
        <p:nvSpPr>
          <p:cNvPr id="8" name="Shape 5"/>
          <p:cNvSpPr/>
          <p:nvPr/>
        </p:nvSpPr>
        <p:spPr>
          <a:xfrm>
            <a:off x="3931920" y="1371600"/>
            <a:ext cx="2926080" cy="777240"/>
          </a:xfrm>
          <a:prstGeom prst="roundRect">
            <a:avLst>
              <a:gd name="adj" fmla="val 9412"/>
            </a:avLst>
          </a:prstGeom>
          <a:solidFill>
            <a:srgbClr val="E6F1F2"/>
          </a:solidFill>
          <a:ln w="12700">
            <a:solidFill>
              <a:srgbClr val="0E6E7A"/>
            </a:solidFill>
            <a:prstDash val="solid"/>
          </a:ln>
        </p:spPr>
      </p:sp>
      <p:sp>
        <p:nvSpPr>
          <p:cNvPr id="9" name="Text 6"/>
          <p:cNvSpPr txBox="1"/>
          <p:nvPr/>
        </p:nvSpPr>
        <p:spPr>
          <a:xfrm>
            <a:off x="3931920" y="1371600"/>
            <a:ext cx="2926080" cy="777240"/>
          </a:xfrm>
          <a:prstGeom prst="rect">
            <a:avLst/>
          </a:prstGeom>
          <a:noFill/>
          <a:ln/>
        </p:spPr>
        <p:txBody>
          <a:bodyPr wrap="square" lIns="0" tIns="0" rIns="0" bIns="0" rtlCol="0" anchor="ctr"/>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응용 · 표현 · 세션</a:t>
            </a:r>
            <a:endParaRPr lang="en-US" sz="1600" dirty="0"/>
          </a:p>
        </p:txBody>
      </p:sp>
      <p:sp>
        <p:nvSpPr>
          <p:cNvPr id="10" name="Text 7"/>
          <p:cNvSpPr txBox="1"/>
          <p:nvPr/>
        </p:nvSpPr>
        <p:spPr>
          <a:xfrm>
            <a:off x="3931920" y="2176272"/>
            <a:ext cx="2926080" cy="182880"/>
          </a:xfrm>
          <a:prstGeom prst="rect">
            <a:avLst/>
          </a:prstGeom>
          <a:noFill/>
          <a:ln/>
        </p:spPr>
        <p:txBody>
          <a:bodyPr wrap="square" lIns="0" tIns="0" rIns="0" bIns="0" rtlCol="0" anchor="t"/>
          <a:lstStyle/>
          <a:p>
            <a:pPr indent="0" marL="0">
              <a:buNone/>
            </a:pPr>
            <a:r>
              <a:rPr lang="en-US" sz="100" dirty="0">
                <a:solidFill>
                  <a:srgbClr val="1E2A30"/>
                </a:solidFill>
                <a:latin typeface="맑은 고딕" pitchFamily="34" charset="0"/>
                <a:ea typeface="맑은 고딕" pitchFamily="34" charset="-122"/>
                <a:cs typeface="맑은 고딕" pitchFamily="34" charset="-120"/>
              </a:rPr>
              <a:t>무엇을 보낼까</a:t>
            </a:r>
            <a:endParaRPr lang="en-US" sz="100" dirty="0"/>
          </a:p>
        </p:txBody>
      </p:sp>
      <p:sp>
        <p:nvSpPr>
          <p:cNvPr id="11" name="Shape 8"/>
          <p:cNvSpPr/>
          <p:nvPr/>
        </p:nvSpPr>
        <p:spPr>
          <a:xfrm>
            <a:off x="548640" y="2331720"/>
            <a:ext cx="2743200" cy="777240"/>
          </a:xfrm>
          <a:prstGeom prst="roundRect">
            <a:avLst>
              <a:gd name="adj" fmla="val 9412"/>
            </a:avLst>
          </a:prstGeom>
          <a:solidFill>
            <a:srgbClr val="F4F6F7"/>
          </a:solidFill>
          <a:ln w="12700">
            <a:solidFill>
              <a:srgbClr val="1E2A30"/>
            </a:solidFill>
            <a:prstDash val="solid"/>
          </a:ln>
        </p:spPr>
      </p:sp>
      <p:sp>
        <p:nvSpPr>
          <p:cNvPr id="12" name="Text 9"/>
          <p:cNvSpPr txBox="1"/>
          <p:nvPr/>
        </p:nvSpPr>
        <p:spPr>
          <a:xfrm>
            <a:off x="548640" y="2331720"/>
            <a:ext cx="2743200" cy="77724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송장 붙이기</a:t>
            </a:r>
            <a:endParaRPr lang="en-US" sz="1600" dirty="0"/>
          </a:p>
        </p:txBody>
      </p:sp>
      <p:sp>
        <p:nvSpPr>
          <p:cNvPr id="13" name="Shape 10"/>
          <p:cNvSpPr/>
          <p:nvPr/>
        </p:nvSpPr>
        <p:spPr>
          <a:xfrm>
            <a:off x="3337560" y="2715768"/>
            <a:ext cx="548640" cy="914"/>
          </a:xfrm>
          <a:prstGeom prst="line">
            <a:avLst/>
          </a:prstGeom>
          <a:noFill/>
          <a:ln w="19050">
            <a:solidFill>
              <a:srgbClr val="0E6E7A"/>
            </a:solidFill>
            <a:prstDash val="solid"/>
            <a:tailEnd type="triangle"/>
          </a:ln>
        </p:spPr>
      </p:sp>
      <p:sp>
        <p:nvSpPr>
          <p:cNvPr id="14" name="Shape 11"/>
          <p:cNvSpPr/>
          <p:nvPr/>
        </p:nvSpPr>
        <p:spPr>
          <a:xfrm>
            <a:off x="3931920" y="2331720"/>
            <a:ext cx="2926080" cy="777240"/>
          </a:xfrm>
          <a:prstGeom prst="roundRect">
            <a:avLst>
              <a:gd name="adj" fmla="val 9412"/>
            </a:avLst>
          </a:prstGeom>
          <a:solidFill>
            <a:srgbClr val="E6F1F2"/>
          </a:solidFill>
          <a:ln w="12700">
            <a:solidFill>
              <a:srgbClr val="0E6E7A"/>
            </a:solidFill>
            <a:prstDash val="solid"/>
          </a:ln>
        </p:spPr>
      </p:sp>
      <p:sp>
        <p:nvSpPr>
          <p:cNvPr id="15" name="Text 12"/>
          <p:cNvSpPr txBox="1"/>
          <p:nvPr/>
        </p:nvSpPr>
        <p:spPr>
          <a:xfrm>
            <a:off x="3931920" y="2331720"/>
            <a:ext cx="2926080" cy="777240"/>
          </a:xfrm>
          <a:prstGeom prst="rect">
            <a:avLst/>
          </a:prstGeom>
          <a:noFill/>
          <a:ln/>
        </p:spPr>
        <p:txBody>
          <a:bodyPr wrap="square" lIns="0" tIns="0" rIns="0" bIns="0" rtlCol="0" anchor="ctr"/>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전송</a:t>
            </a:r>
            <a:endParaRPr lang="en-US" sz="1600" dirty="0"/>
          </a:p>
        </p:txBody>
      </p:sp>
      <p:sp>
        <p:nvSpPr>
          <p:cNvPr id="16" name="Text 13"/>
          <p:cNvSpPr txBox="1"/>
          <p:nvPr/>
        </p:nvSpPr>
        <p:spPr>
          <a:xfrm>
            <a:off x="3931920" y="3136392"/>
            <a:ext cx="2926080" cy="182880"/>
          </a:xfrm>
          <a:prstGeom prst="rect">
            <a:avLst/>
          </a:prstGeom>
          <a:noFill/>
          <a:ln/>
        </p:spPr>
        <p:txBody>
          <a:bodyPr wrap="square" lIns="0" tIns="0" rIns="0" bIns="0" rtlCol="0" anchor="t"/>
          <a:lstStyle/>
          <a:p>
            <a:pPr indent="0" marL="0">
              <a:buNone/>
            </a:pPr>
            <a:r>
              <a:rPr lang="en-US" sz="100" dirty="0">
                <a:solidFill>
                  <a:srgbClr val="1E2A30"/>
                </a:solidFill>
                <a:latin typeface="맑은 고딕" pitchFamily="34" charset="0"/>
                <a:ea typeface="맑은 고딕" pitchFamily="34" charset="-122"/>
                <a:cs typeface="맑은 고딕" pitchFamily="34" charset="-120"/>
              </a:rPr>
              <a:t>누구의 어느 창구로</a:t>
            </a:r>
            <a:endParaRPr lang="en-US" sz="100" dirty="0"/>
          </a:p>
        </p:txBody>
      </p:sp>
      <p:sp>
        <p:nvSpPr>
          <p:cNvPr id="17" name="Shape 14"/>
          <p:cNvSpPr/>
          <p:nvPr/>
        </p:nvSpPr>
        <p:spPr>
          <a:xfrm>
            <a:off x="548640" y="3291840"/>
            <a:ext cx="2743200" cy="777240"/>
          </a:xfrm>
          <a:prstGeom prst="roundRect">
            <a:avLst>
              <a:gd name="adj" fmla="val 9412"/>
            </a:avLst>
          </a:prstGeom>
          <a:solidFill>
            <a:srgbClr val="F4F6F7"/>
          </a:solidFill>
          <a:ln w="12700">
            <a:solidFill>
              <a:srgbClr val="1E2A30"/>
            </a:solidFill>
            <a:prstDash val="solid"/>
          </a:ln>
        </p:spPr>
      </p:sp>
      <p:sp>
        <p:nvSpPr>
          <p:cNvPr id="18" name="Text 15"/>
          <p:cNvSpPr txBox="1"/>
          <p:nvPr/>
        </p:nvSpPr>
        <p:spPr>
          <a:xfrm>
            <a:off x="548640" y="3291840"/>
            <a:ext cx="2743200" cy="77724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배송 경로 결정</a:t>
            </a:r>
            <a:endParaRPr lang="en-US" sz="1600" dirty="0"/>
          </a:p>
        </p:txBody>
      </p:sp>
      <p:sp>
        <p:nvSpPr>
          <p:cNvPr id="19" name="Shape 16"/>
          <p:cNvSpPr/>
          <p:nvPr/>
        </p:nvSpPr>
        <p:spPr>
          <a:xfrm>
            <a:off x="3337560" y="3675888"/>
            <a:ext cx="548640" cy="914"/>
          </a:xfrm>
          <a:prstGeom prst="line">
            <a:avLst/>
          </a:prstGeom>
          <a:noFill/>
          <a:ln w="19050">
            <a:solidFill>
              <a:srgbClr val="0E6E7A"/>
            </a:solidFill>
            <a:prstDash val="solid"/>
            <a:tailEnd type="triangle"/>
          </a:ln>
        </p:spPr>
      </p:sp>
      <p:sp>
        <p:nvSpPr>
          <p:cNvPr id="20" name="Shape 17"/>
          <p:cNvSpPr/>
          <p:nvPr/>
        </p:nvSpPr>
        <p:spPr>
          <a:xfrm>
            <a:off x="3931920" y="3291840"/>
            <a:ext cx="2926080" cy="777240"/>
          </a:xfrm>
          <a:prstGeom prst="roundRect">
            <a:avLst>
              <a:gd name="adj" fmla="val 9412"/>
            </a:avLst>
          </a:prstGeom>
          <a:solidFill>
            <a:srgbClr val="E6F1F2"/>
          </a:solidFill>
          <a:ln w="12700">
            <a:solidFill>
              <a:srgbClr val="0E6E7A"/>
            </a:solidFill>
            <a:prstDash val="solid"/>
          </a:ln>
        </p:spPr>
      </p:sp>
      <p:sp>
        <p:nvSpPr>
          <p:cNvPr id="21" name="Text 18"/>
          <p:cNvSpPr txBox="1"/>
          <p:nvPr/>
        </p:nvSpPr>
        <p:spPr>
          <a:xfrm>
            <a:off x="3931920" y="3291840"/>
            <a:ext cx="2926080" cy="777240"/>
          </a:xfrm>
          <a:prstGeom prst="rect">
            <a:avLst/>
          </a:prstGeom>
          <a:noFill/>
          <a:ln/>
        </p:spPr>
        <p:txBody>
          <a:bodyPr wrap="square" lIns="0" tIns="0" rIns="0" bIns="0" rtlCol="0" anchor="ctr"/>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네트워크</a:t>
            </a:r>
            <a:endParaRPr lang="en-US" sz="1600" dirty="0"/>
          </a:p>
        </p:txBody>
      </p:sp>
      <p:sp>
        <p:nvSpPr>
          <p:cNvPr id="22" name="Text 19"/>
          <p:cNvSpPr txBox="1"/>
          <p:nvPr/>
        </p:nvSpPr>
        <p:spPr>
          <a:xfrm>
            <a:off x="3931920" y="4096512"/>
            <a:ext cx="2926080" cy="182880"/>
          </a:xfrm>
          <a:prstGeom prst="rect">
            <a:avLst/>
          </a:prstGeom>
          <a:noFill/>
          <a:ln/>
        </p:spPr>
        <p:txBody>
          <a:bodyPr wrap="square" lIns="0" tIns="0" rIns="0" bIns="0" rtlCol="0" anchor="t"/>
          <a:lstStyle/>
          <a:p>
            <a:pPr indent="0" marL="0">
              <a:buNone/>
            </a:pPr>
            <a:r>
              <a:rPr lang="en-US" sz="100" dirty="0">
                <a:solidFill>
                  <a:srgbClr val="1E2A30"/>
                </a:solidFill>
                <a:latin typeface="맑은 고딕" pitchFamily="34" charset="0"/>
                <a:ea typeface="맑은 고딕" pitchFamily="34" charset="-122"/>
                <a:cs typeface="맑은 고딕" pitchFamily="34" charset="-120"/>
              </a:rPr>
              <a:t>어느 길로</a:t>
            </a:r>
            <a:endParaRPr lang="en-US" sz="100" dirty="0"/>
          </a:p>
        </p:txBody>
      </p:sp>
      <p:sp>
        <p:nvSpPr>
          <p:cNvPr id="23" name="Shape 20"/>
          <p:cNvSpPr/>
          <p:nvPr/>
        </p:nvSpPr>
        <p:spPr>
          <a:xfrm>
            <a:off x="548640" y="4251960"/>
            <a:ext cx="2743200" cy="777240"/>
          </a:xfrm>
          <a:prstGeom prst="roundRect">
            <a:avLst>
              <a:gd name="adj" fmla="val 9412"/>
            </a:avLst>
          </a:prstGeom>
          <a:solidFill>
            <a:srgbClr val="F4F6F7"/>
          </a:solidFill>
          <a:ln w="12700">
            <a:solidFill>
              <a:srgbClr val="1E2A30"/>
            </a:solidFill>
            <a:prstDash val="solid"/>
          </a:ln>
        </p:spPr>
      </p:sp>
      <p:sp>
        <p:nvSpPr>
          <p:cNvPr id="24" name="Text 21"/>
          <p:cNvSpPr txBox="1"/>
          <p:nvPr/>
        </p:nvSpPr>
        <p:spPr>
          <a:xfrm>
            <a:off x="548640" y="4251960"/>
            <a:ext cx="2743200" cy="77724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트럭으로 운반</a:t>
            </a:r>
            <a:endParaRPr lang="en-US" sz="1600" dirty="0"/>
          </a:p>
        </p:txBody>
      </p:sp>
      <p:sp>
        <p:nvSpPr>
          <p:cNvPr id="25" name="Shape 22"/>
          <p:cNvSpPr/>
          <p:nvPr/>
        </p:nvSpPr>
        <p:spPr>
          <a:xfrm>
            <a:off x="3337560" y="4636008"/>
            <a:ext cx="548640" cy="914"/>
          </a:xfrm>
          <a:prstGeom prst="line">
            <a:avLst/>
          </a:prstGeom>
          <a:noFill/>
          <a:ln w="19050">
            <a:solidFill>
              <a:srgbClr val="0E6E7A"/>
            </a:solidFill>
            <a:prstDash val="solid"/>
            <a:tailEnd type="triangle"/>
          </a:ln>
        </p:spPr>
      </p:sp>
      <p:sp>
        <p:nvSpPr>
          <p:cNvPr id="26" name="Shape 23"/>
          <p:cNvSpPr/>
          <p:nvPr/>
        </p:nvSpPr>
        <p:spPr>
          <a:xfrm>
            <a:off x="3931920" y="4251960"/>
            <a:ext cx="2926080" cy="777240"/>
          </a:xfrm>
          <a:prstGeom prst="roundRect">
            <a:avLst>
              <a:gd name="adj" fmla="val 9412"/>
            </a:avLst>
          </a:prstGeom>
          <a:solidFill>
            <a:srgbClr val="E6F1F2"/>
          </a:solidFill>
          <a:ln w="12700">
            <a:solidFill>
              <a:srgbClr val="0E6E7A"/>
            </a:solidFill>
            <a:prstDash val="solid"/>
          </a:ln>
        </p:spPr>
      </p:sp>
      <p:sp>
        <p:nvSpPr>
          <p:cNvPr id="27" name="Text 24"/>
          <p:cNvSpPr txBox="1"/>
          <p:nvPr/>
        </p:nvSpPr>
        <p:spPr>
          <a:xfrm>
            <a:off x="3931920" y="4251960"/>
            <a:ext cx="2926080" cy="777240"/>
          </a:xfrm>
          <a:prstGeom prst="rect">
            <a:avLst/>
          </a:prstGeom>
          <a:noFill/>
          <a:ln/>
        </p:spPr>
        <p:txBody>
          <a:bodyPr wrap="square" lIns="0" tIns="0" rIns="0" bIns="0" rtlCol="0" anchor="ctr"/>
          <a:lstStyle/>
          <a:p>
            <a:pPr algn="ctr" indent="0" marL="0">
              <a:buNone/>
            </a:pPr>
            <a:r>
              <a:rPr lang="en-US" sz="1600" b="1" dirty="0">
                <a:solidFill>
                  <a:srgbClr val="0E6E7A"/>
                </a:solidFill>
                <a:latin typeface="맑은 고딕" pitchFamily="34" charset="0"/>
                <a:ea typeface="맑은 고딕" pitchFamily="34" charset="-122"/>
                <a:cs typeface="맑은 고딕" pitchFamily="34" charset="-120"/>
              </a:rPr>
              <a:t>데이터링크 · 물리</a:t>
            </a:r>
            <a:endParaRPr lang="en-US" sz="1600" dirty="0"/>
          </a:p>
        </p:txBody>
      </p:sp>
      <p:sp>
        <p:nvSpPr>
          <p:cNvPr id="28" name="Text 25"/>
          <p:cNvSpPr txBox="1"/>
          <p:nvPr/>
        </p:nvSpPr>
        <p:spPr>
          <a:xfrm>
            <a:off x="3931920" y="5056632"/>
            <a:ext cx="2926080" cy="182880"/>
          </a:xfrm>
          <a:prstGeom prst="rect">
            <a:avLst/>
          </a:prstGeom>
          <a:noFill/>
          <a:ln/>
        </p:spPr>
        <p:txBody>
          <a:bodyPr wrap="square" lIns="0" tIns="0" rIns="0" bIns="0" rtlCol="0" anchor="t"/>
          <a:lstStyle/>
          <a:p>
            <a:pPr indent="0" marL="0">
              <a:buNone/>
            </a:pPr>
            <a:r>
              <a:rPr lang="en-US" sz="100" dirty="0">
                <a:solidFill>
                  <a:srgbClr val="1E2A30"/>
                </a:solidFill>
                <a:latin typeface="맑은 고딕" pitchFamily="34" charset="0"/>
                <a:ea typeface="맑은 고딕" pitchFamily="34" charset="-122"/>
                <a:cs typeface="맑은 고딕" pitchFamily="34" charset="-120"/>
              </a:rPr>
              <a:t>실제로 옮기기</a:t>
            </a:r>
            <a:endParaRPr lang="en-US" sz="100" dirty="0"/>
          </a:p>
        </p:txBody>
      </p:sp>
      <p:sp>
        <p:nvSpPr>
          <p:cNvPr id="29" name="Shape 26"/>
          <p:cNvSpPr/>
          <p:nvPr/>
        </p:nvSpPr>
        <p:spPr>
          <a:xfrm>
            <a:off x="7315200" y="1371600"/>
            <a:ext cx="4325112" cy="3657600"/>
          </a:xfrm>
          <a:prstGeom prst="roundRect">
            <a:avLst>
              <a:gd name="adj" fmla="val 2000"/>
            </a:avLst>
          </a:prstGeom>
          <a:solidFill>
            <a:srgbClr val="FFFFFF"/>
          </a:solidFill>
          <a:ln w="12700">
            <a:solidFill>
              <a:srgbClr val="9AA5AD"/>
            </a:solidFill>
            <a:prstDash val="solid"/>
          </a:ln>
        </p:spPr>
      </p:sp>
      <p:sp>
        <p:nvSpPr>
          <p:cNvPr id="30" name="Text 27"/>
          <p:cNvSpPr txBox="1"/>
          <p:nvPr/>
        </p:nvSpPr>
        <p:spPr>
          <a:xfrm>
            <a:off x="7498080" y="1508760"/>
            <a:ext cx="395935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계층 모델의 장점</a:t>
            </a:r>
            <a:endParaRPr lang="en-US" sz="1600" dirty="0"/>
          </a:p>
        </p:txBody>
      </p:sp>
      <p:sp>
        <p:nvSpPr>
          <p:cNvPr id="31" name="Text 28"/>
          <p:cNvSpPr txBox="1"/>
          <p:nvPr/>
        </p:nvSpPr>
        <p:spPr>
          <a:xfrm>
            <a:off x="7498080" y="1965960"/>
            <a:ext cx="3959352" cy="295351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복잡한 통신을 단계별로 단순화</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한 계층을 바꿔도 다른 계층 영향 적음</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제조사가 달라도 표준만 맞추면 통신</a:t>
            </a:r>
            <a:endParaRPr lang="en-US" sz="1500" dirty="0"/>
          </a:p>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장애 시 '몇 계층 문제인가'로 범위 축소</a:t>
            </a:r>
            <a:endParaRPr lang="en-US" sz="1500" dirty="0"/>
          </a:p>
        </p:txBody>
      </p:sp>
      <p:sp>
        <p:nvSpPr>
          <p:cNvPr id="32" name="Shape 29"/>
          <p:cNvSpPr/>
          <p:nvPr/>
        </p:nvSpPr>
        <p:spPr>
          <a:xfrm>
            <a:off x="548640" y="5349240"/>
            <a:ext cx="11091672" cy="457200"/>
          </a:xfrm>
          <a:prstGeom prst="roundRect">
            <a:avLst>
              <a:gd name="adj" fmla="val 16000"/>
            </a:avLst>
          </a:prstGeom>
          <a:solidFill>
            <a:srgbClr val="E6F1F2"/>
          </a:solidFill>
          <a:ln w="12700">
            <a:solidFill>
              <a:srgbClr val="E6F1F2"/>
            </a:solidFill>
            <a:prstDash val="solid"/>
          </a:ln>
        </p:spPr>
      </p:sp>
      <p:sp>
        <p:nvSpPr>
          <p:cNvPr id="33" name="Text 30"/>
          <p:cNvSpPr txBox="1"/>
          <p:nvPr/>
        </p:nvSpPr>
        <p:spPr>
          <a:xfrm>
            <a:off x="777240" y="534924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통신 모델 2가지: ISO 의 OSI 7계층(이론 표준) · TCP/IP 4계층(실제 인터넷)</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OSI 7계층 한눈에 보기</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3 · 통신 모델</a:t>
            </a:r>
            <a:endParaRPr lang="en-US" sz="1100" dirty="0"/>
          </a:p>
        </p:txBody>
      </p:sp>
      <p:sp>
        <p:nvSpPr>
          <p:cNvPr id="5" name="Shape 2"/>
          <p:cNvSpPr/>
          <p:nvPr/>
        </p:nvSpPr>
        <p:spPr>
          <a:xfrm>
            <a:off x="548640" y="1280160"/>
            <a:ext cx="11091672" cy="548640"/>
          </a:xfrm>
          <a:prstGeom prst="roundRect">
            <a:avLst>
              <a:gd name="adj" fmla="val 13333"/>
            </a:avLst>
          </a:prstGeom>
          <a:solidFill>
            <a:srgbClr val="F4F6F7"/>
          </a:solidFill>
          <a:ln w="12700">
            <a:solidFill>
              <a:srgbClr val="9AA5AD"/>
            </a:solidFill>
            <a:prstDash val="solid"/>
          </a:ln>
        </p:spPr>
      </p:sp>
      <p:sp>
        <p:nvSpPr>
          <p:cNvPr id="6" name="Shape 3"/>
          <p:cNvSpPr/>
          <p:nvPr/>
        </p:nvSpPr>
        <p:spPr>
          <a:xfrm>
            <a:off x="640080" y="1344168"/>
            <a:ext cx="420624" cy="420624"/>
          </a:xfrm>
          <a:prstGeom prst="ellipse">
            <a:avLst/>
          </a:prstGeom>
          <a:solidFill>
            <a:srgbClr val="0E6E7A"/>
          </a:solidFill>
          <a:ln w="12700">
            <a:solidFill>
              <a:srgbClr val="0E6E7A"/>
            </a:solidFill>
            <a:prstDash val="solid"/>
          </a:ln>
        </p:spPr>
      </p:sp>
      <p:sp>
        <p:nvSpPr>
          <p:cNvPr id="7" name="Text 4"/>
          <p:cNvSpPr txBox="1"/>
          <p:nvPr/>
        </p:nvSpPr>
        <p:spPr>
          <a:xfrm>
            <a:off x="640080" y="134416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L7</a:t>
            </a:r>
            <a:endParaRPr lang="en-US" sz="1200" dirty="0"/>
          </a:p>
        </p:txBody>
      </p:sp>
      <p:sp>
        <p:nvSpPr>
          <p:cNvPr id="8" name="Text 5"/>
          <p:cNvSpPr txBox="1"/>
          <p:nvPr/>
        </p:nvSpPr>
        <p:spPr>
          <a:xfrm>
            <a:off x="1234440" y="1280160"/>
            <a:ext cx="3108960" cy="5486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응용 (Application)</a:t>
            </a:r>
            <a:endParaRPr lang="en-US" sz="1600" dirty="0"/>
          </a:p>
        </p:txBody>
      </p:sp>
      <p:sp>
        <p:nvSpPr>
          <p:cNvPr id="9" name="Text 6"/>
          <p:cNvSpPr txBox="1"/>
          <p:nvPr/>
        </p:nvSpPr>
        <p:spPr>
          <a:xfrm>
            <a:off x="4389120" y="1280160"/>
            <a:ext cx="4937760" cy="5486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사용자에게 서비스 인터페이스 제공</a:t>
            </a:r>
            <a:endParaRPr lang="en-US" sz="1500" dirty="0"/>
          </a:p>
        </p:txBody>
      </p:sp>
      <p:sp>
        <p:nvSpPr>
          <p:cNvPr id="10" name="Text 7"/>
          <p:cNvSpPr txBox="1"/>
          <p:nvPr/>
        </p:nvSpPr>
        <p:spPr>
          <a:xfrm>
            <a:off x="9418320" y="1280160"/>
            <a:ext cx="2103120" cy="548640"/>
          </a:xfrm>
          <a:prstGeom prst="rect">
            <a:avLst/>
          </a:prstGeom>
          <a:noFill/>
          <a:ln/>
        </p:spPr>
        <p:txBody>
          <a:bodyPr wrap="square" lIns="0" tIns="0" rIns="0" bIns="0" rtlCol="0" anchor="ctr"/>
          <a:lstStyle/>
          <a:p>
            <a:pPr algn="r" indent="0" marL="0">
              <a:buNone/>
            </a:pPr>
            <a:r>
              <a:rPr lang="en-US" sz="1500" b="1" dirty="0">
                <a:solidFill>
                  <a:srgbClr val="0E6E7A"/>
                </a:solidFill>
                <a:latin typeface="맑은 고딕" pitchFamily="34" charset="0"/>
                <a:ea typeface="맑은 고딕" pitchFamily="34" charset="-122"/>
                <a:cs typeface="맑은 고딕" pitchFamily="34" charset="-120"/>
              </a:rPr>
              <a:t>데이터(메시지)</a:t>
            </a:r>
            <a:endParaRPr lang="en-US" sz="1500" dirty="0"/>
          </a:p>
        </p:txBody>
      </p:sp>
      <p:sp>
        <p:nvSpPr>
          <p:cNvPr id="11" name="Shape 8"/>
          <p:cNvSpPr/>
          <p:nvPr/>
        </p:nvSpPr>
        <p:spPr>
          <a:xfrm>
            <a:off x="548640" y="1920240"/>
            <a:ext cx="11091672" cy="548640"/>
          </a:xfrm>
          <a:prstGeom prst="roundRect">
            <a:avLst>
              <a:gd name="adj" fmla="val 13333"/>
            </a:avLst>
          </a:prstGeom>
          <a:solidFill>
            <a:srgbClr val="FFFFFF"/>
          </a:solidFill>
          <a:ln w="12700">
            <a:solidFill>
              <a:srgbClr val="9AA5AD"/>
            </a:solidFill>
            <a:prstDash val="solid"/>
          </a:ln>
        </p:spPr>
      </p:sp>
      <p:sp>
        <p:nvSpPr>
          <p:cNvPr id="12" name="Shape 9"/>
          <p:cNvSpPr/>
          <p:nvPr/>
        </p:nvSpPr>
        <p:spPr>
          <a:xfrm>
            <a:off x="640080" y="1984248"/>
            <a:ext cx="420624" cy="420624"/>
          </a:xfrm>
          <a:prstGeom prst="ellipse">
            <a:avLst/>
          </a:prstGeom>
          <a:solidFill>
            <a:srgbClr val="0E6E7A"/>
          </a:solidFill>
          <a:ln w="12700">
            <a:solidFill>
              <a:srgbClr val="0E6E7A"/>
            </a:solidFill>
            <a:prstDash val="solid"/>
          </a:ln>
        </p:spPr>
      </p:sp>
      <p:sp>
        <p:nvSpPr>
          <p:cNvPr id="13" name="Text 10"/>
          <p:cNvSpPr txBox="1"/>
          <p:nvPr/>
        </p:nvSpPr>
        <p:spPr>
          <a:xfrm>
            <a:off x="640080" y="19842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L6</a:t>
            </a:r>
            <a:endParaRPr lang="en-US" sz="1200" dirty="0"/>
          </a:p>
        </p:txBody>
      </p:sp>
      <p:sp>
        <p:nvSpPr>
          <p:cNvPr id="14" name="Text 11"/>
          <p:cNvSpPr txBox="1"/>
          <p:nvPr/>
        </p:nvSpPr>
        <p:spPr>
          <a:xfrm>
            <a:off x="1234440" y="1920240"/>
            <a:ext cx="3108960" cy="5486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표현 (Presentation)</a:t>
            </a:r>
            <a:endParaRPr lang="en-US" sz="1600" dirty="0"/>
          </a:p>
        </p:txBody>
      </p:sp>
      <p:sp>
        <p:nvSpPr>
          <p:cNvPr id="15" name="Text 12"/>
          <p:cNvSpPr txBox="1"/>
          <p:nvPr/>
        </p:nvSpPr>
        <p:spPr>
          <a:xfrm>
            <a:off x="4389120" y="1920240"/>
            <a:ext cx="4937760" cy="5486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데이터 형식 정의 · 암호화 · 압축</a:t>
            </a:r>
            <a:endParaRPr lang="en-US" sz="1500" dirty="0"/>
          </a:p>
        </p:txBody>
      </p:sp>
      <p:sp>
        <p:nvSpPr>
          <p:cNvPr id="16" name="Text 13"/>
          <p:cNvSpPr txBox="1"/>
          <p:nvPr/>
        </p:nvSpPr>
        <p:spPr>
          <a:xfrm>
            <a:off x="9418320" y="1920240"/>
            <a:ext cx="2103120" cy="548640"/>
          </a:xfrm>
          <a:prstGeom prst="rect">
            <a:avLst/>
          </a:prstGeom>
          <a:noFill/>
          <a:ln/>
        </p:spPr>
        <p:txBody>
          <a:bodyPr wrap="square" lIns="0" tIns="0" rIns="0" bIns="0" rtlCol="0" anchor="ctr"/>
          <a:lstStyle/>
          <a:p>
            <a:pPr algn="r" indent="0" marL="0">
              <a:buNone/>
            </a:pPr>
            <a:r>
              <a:rPr lang="en-US" sz="1500" b="1" dirty="0">
                <a:solidFill>
                  <a:srgbClr val="0E6E7A"/>
                </a:solidFill>
                <a:latin typeface="맑은 고딕" pitchFamily="34" charset="0"/>
                <a:ea typeface="맑은 고딕" pitchFamily="34" charset="-122"/>
                <a:cs typeface="맑은 고딕" pitchFamily="34" charset="-120"/>
              </a:rPr>
              <a:t>데이터(메시지)</a:t>
            </a:r>
            <a:endParaRPr lang="en-US" sz="1500" dirty="0"/>
          </a:p>
        </p:txBody>
      </p:sp>
      <p:sp>
        <p:nvSpPr>
          <p:cNvPr id="17" name="Shape 14"/>
          <p:cNvSpPr/>
          <p:nvPr/>
        </p:nvSpPr>
        <p:spPr>
          <a:xfrm>
            <a:off x="548640" y="2560320"/>
            <a:ext cx="11091672" cy="548640"/>
          </a:xfrm>
          <a:prstGeom prst="roundRect">
            <a:avLst>
              <a:gd name="adj" fmla="val 13333"/>
            </a:avLst>
          </a:prstGeom>
          <a:solidFill>
            <a:srgbClr val="F4F6F7"/>
          </a:solidFill>
          <a:ln w="12700">
            <a:solidFill>
              <a:srgbClr val="9AA5AD"/>
            </a:solidFill>
            <a:prstDash val="solid"/>
          </a:ln>
        </p:spPr>
      </p:sp>
      <p:sp>
        <p:nvSpPr>
          <p:cNvPr id="18" name="Shape 15"/>
          <p:cNvSpPr/>
          <p:nvPr/>
        </p:nvSpPr>
        <p:spPr>
          <a:xfrm>
            <a:off x="640080" y="2624328"/>
            <a:ext cx="420624" cy="420624"/>
          </a:xfrm>
          <a:prstGeom prst="ellipse">
            <a:avLst/>
          </a:prstGeom>
          <a:solidFill>
            <a:srgbClr val="0E6E7A"/>
          </a:solidFill>
          <a:ln w="12700">
            <a:solidFill>
              <a:srgbClr val="0E6E7A"/>
            </a:solidFill>
            <a:prstDash val="solid"/>
          </a:ln>
        </p:spPr>
      </p:sp>
      <p:sp>
        <p:nvSpPr>
          <p:cNvPr id="19" name="Text 16"/>
          <p:cNvSpPr txBox="1"/>
          <p:nvPr/>
        </p:nvSpPr>
        <p:spPr>
          <a:xfrm>
            <a:off x="640080" y="262432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L5</a:t>
            </a:r>
            <a:endParaRPr lang="en-US" sz="1200" dirty="0"/>
          </a:p>
        </p:txBody>
      </p:sp>
      <p:sp>
        <p:nvSpPr>
          <p:cNvPr id="20" name="Text 17"/>
          <p:cNvSpPr txBox="1"/>
          <p:nvPr/>
        </p:nvSpPr>
        <p:spPr>
          <a:xfrm>
            <a:off x="1234440" y="2560320"/>
            <a:ext cx="3108960" cy="5486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세션 (Session)</a:t>
            </a:r>
            <a:endParaRPr lang="en-US" sz="1600" dirty="0"/>
          </a:p>
        </p:txBody>
      </p:sp>
      <p:sp>
        <p:nvSpPr>
          <p:cNvPr id="21" name="Text 18"/>
          <p:cNvSpPr txBox="1"/>
          <p:nvPr/>
        </p:nvSpPr>
        <p:spPr>
          <a:xfrm>
            <a:off x="4389120" y="2560320"/>
            <a:ext cx="4937760" cy="5486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세션 설정 · 동기화 · 대화 관리</a:t>
            </a:r>
            <a:endParaRPr lang="en-US" sz="1500" dirty="0"/>
          </a:p>
        </p:txBody>
      </p:sp>
      <p:sp>
        <p:nvSpPr>
          <p:cNvPr id="22" name="Text 19"/>
          <p:cNvSpPr txBox="1"/>
          <p:nvPr/>
        </p:nvSpPr>
        <p:spPr>
          <a:xfrm>
            <a:off x="9418320" y="2560320"/>
            <a:ext cx="2103120" cy="548640"/>
          </a:xfrm>
          <a:prstGeom prst="rect">
            <a:avLst/>
          </a:prstGeom>
          <a:noFill/>
          <a:ln/>
        </p:spPr>
        <p:txBody>
          <a:bodyPr wrap="square" lIns="0" tIns="0" rIns="0" bIns="0" rtlCol="0" anchor="ctr"/>
          <a:lstStyle/>
          <a:p>
            <a:pPr algn="r" indent="0" marL="0">
              <a:buNone/>
            </a:pPr>
            <a:r>
              <a:rPr lang="en-US" sz="1500" b="1" dirty="0">
                <a:solidFill>
                  <a:srgbClr val="0E6E7A"/>
                </a:solidFill>
                <a:latin typeface="맑은 고딕" pitchFamily="34" charset="0"/>
                <a:ea typeface="맑은 고딕" pitchFamily="34" charset="-122"/>
                <a:cs typeface="맑은 고딕" pitchFamily="34" charset="-120"/>
              </a:rPr>
              <a:t>데이터(메시지)</a:t>
            </a:r>
            <a:endParaRPr lang="en-US" sz="1500" dirty="0"/>
          </a:p>
        </p:txBody>
      </p:sp>
      <p:sp>
        <p:nvSpPr>
          <p:cNvPr id="23" name="Shape 20"/>
          <p:cNvSpPr/>
          <p:nvPr/>
        </p:nvSpPr>
        <p:spPr>
          <a:xfrm>
            <a:off x="548640" y="3200400"/>
            <a:ext cx="11091672" cy="548640"/>
          </a:xfrm>
          <a:prstGeom prst="roundRect">
            <a:avLst>
              <a:gd name="adj" fmla="val 13333"/>
            </a:avLst>
          </a:prstGeom>
          <a:solidFill>
            <a:srgbClr val="E6F1F2"/>
          </a:solidFill>
          <a:ln w="12700">
            <a:solidFill>
              <a:srgbClr val="0E6E7A"/>
            </a:solidFill>
            <a:prstDash val="solid"/>
          </a:ln>
        </p:spPr>
      </p:sp>
      <p:sp>
        <p:nvSpPr>
          <p:cNvPr id="24" name="Shape 21"/>
          <p:cNvSpPr/>
          <p:nvPr/>
        </p:nvSpPr>
        <p:spPr>
          <a:xfrm>
            <a:off x="640080" y="3264408"/>
            <a:ext cx="420624" cy="420624"/>
          </a:xfrm>
          <a:prstGeom prst="ellipse">
            <a:avLst/>
          </a:prstGeom>
          <a:solidFill>
            <a:srgbClr val="0E6E7A"/>
          </a:solidFill>
          <a:ln w="12700">
            <a:solidFill>
              <a:srgbClr val="0E6E7A"/>
            </a:solidFill>
            <a:prstDash val="solid"/>
          </a:ln>
        </p:spPr>
      </p:sp>
      <p:sp>
        <p:nvSpPr>
          <p:cNvPr id="25" name="Text 22"/>
          <p:cNvSpPr txBox="1"/>
          <p:nvPr/>
        </p:nvSpPr>
        <p:spPr>
          <a:xfrm>
            <a:off x="640080" y="32644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L4</a:t>
            </a:r>
            <a:endParaRPr lang="en-US" sz="1200" dirty="0"/>
          </a:p>
        </p:txBody>
      </p:sp>
      <p:sp>
        <p:nvSpPr>
          <p:cNvPr id="26" name="Text 23"/>
          <p:cNvSpPr txBox="1"/>
          <p:nvPr/>
        </p:nvSpPr>
        <p:spPr>
          <a:xfrm>
            <a:off x="1234440" y="3200400"/>
            <a:ext cx="3108960" cy="5486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전송 (Transport)</a:t>
            </a:r>
            <a:endParaRPr lang="en-US" sz="1600" dirty="0"/>
          </a:p>
        </p:txBody>
      </p:sp>
      <p:sp>
        <p:nvSpPr>
          <p:cNvPr id="27" name="Text 24"/>
          <p:cNvSpPr txBox="1"/>
          <p:nvPr/>
        </p:nvSpPr>
        <p:spPr>
          <a:xfrm>
            <a:off x="4389120" y="3200400"/>
            <a:ext cx="4937760" cy="5486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종단 간 신뢰성 · 오류/흐름 제어 · 분할</a:t>
            </a:r>
            <a:endParaRPr lang="en-US" sz="1500" dirty="0"/>
          </a:p>
        </p:txBody>
      </p:sp>
      <p:sp>
        <p:nvSpPr>
          <p:cNvPr id="28" name="Text 25"/>
          <p:cNvSpPr txBox="1"/>
          <p:nvPr/>
        </p:nvSpPr>
        <p:spPr>
          <a:xfrm>
            <a:off x="9418320" y="3200400"/>
            <a:ext cx="2103120" cy="548640"/>
          </a:xfrm>
          <a:prstGeom prst="rect">
            <a:avLst/>
          </a:prstGeom>
          <a:noFill/>
          <a:ln/>
        </p:spPr>
        <p:txBody>
          <a:bodyPr wrap="square" lIns="0" tIns="0" rIns="0" bIns="0" rtlCol="0" anchor="ctr"/>
          <a:lstStyle/>
          <a:p>
            <a:pPr algn="r" indent="0" marL="0">
              <a:buNone/>
            </a:pPr>
            <a:r>
              <a:rPr lang="en-US" sz="1500" b="1" dirty="0">
                <a:solidFill>
                  <a:srgbClr val="0E6E7A"/>
                </a:solidFill>
                <a:latin typeface="맑은 고딕" pitchFamily="34" charset="0"/>
                <a:ea typeface="맑은 고딕" pitchFamily="34" charset="-122"/>
                <a:cs typeface="맑은 고딕" pitchFamily="34" charset="-120"/>
              </a:rPr>
              <a:t>세그먼트</a:t>
            </a:r>
            <a:endParaRPr lang="en-US" sz="1500" dirty="0"/>
          </a:p>
        </p:txBody>
      </p:sp>
      <p:sp>
        <p:nvSpPr>
          <p:cNvPr id="29" name="Shape 26"/>
          <p:cNvSpPr/>
          <p:nvPr/>
        </p:nvSpPr>
        <p:spPr>
          <a:xfrm>
            <a:off x="548640" y="3840480"/>
            <a:ext cx="11091672" cy="548640"/>
          </a:xfrm>
          <a:prstGeom prst="roundRect">
            <a:avLst>
              <a:gd name="adj" fmla="val 13333"/>
            </a:avLst>
          </a:prstGeom>
          <a:solidFill>
            <a:srgbClr val="E6F1F2"/>
          </a:solidFill>
          <a:ln w="12700">
            <a:solidFill>
              <a:srgbClr val="0E6E7A"/>
            </a:solidFill>
            <a:prstDash val="solid"/>
          </a:ln>
        </p:spPr>
      </p:sp>
      <p:sp>
        <p:nvSpPr>
          <p:cNvPr id="30" name="Shape 27"/>
          <p:cNvSpPr/>
          <p:nvPr/>
        </p:nvSpPr>
        <p:spPr>
          <a:xfrm>
            <a:off x="640080" y="3904488"/>
            <a:ext cx="420624" cy="420624"/>
          </a:xfrm>
          <a:prstGeom prst="ellipse">
            <a:avLst/>
          </a:prstGeom>
          <a:solidFill>
            <a:srgbClr val="0E6E7A"/>
          </a:solidFill>
          <a:ln w="12700">
            <a:solidFill>
              <a:srgbClr val="0E6E7A"/>
            </a:solidFill>
            <a:prstDash val="solid"/>
          </a:ln>
        </p:spPr>
      </p:sp>
      <p:sp>
        <p:nvSpPr>
          <p:cNvPr id="31" name="Text 28"/>
          <p:cNvSpPr txBox="1"/>
          <p:nvPr/>
        </p:nvSpPr>
        <p:spPr>
          <a:xfrm>
            <a:off x="640080" y="390448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L3</a:t>
            </a:r>
            <a:endParaRPr lang="en-US" sz="1200" dirty="0"/>
          </a:p>
        </p:txBody>
      </p:sp>
      <p:sp>
        <p:nvSpPr>
          <p:cNvPr id="32" name="Text 29"/>
          <p:cNvSpPr txBox="1"/>
          <p:nvPr/>
        </p:nvSpPr>
        <p:spPr>
          <a:xfrm>
            <a:off x="1234440" y="3840480"/>
            <a:ext cx="3108960" cy="5486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네트워크 (Network)</a:t>
            </a:r>
            <a:endParaRPr lang="en-US" sz="1600" dirty="0"/>
          </a:p>
        </p:txBody>
      </p:sp>
      <p:sp>
        <p:nvSpPr>
          <p:cNvPr id="33" name="Text 30"/>
          <p:cNvSpPr txBox="1"/>
          <p:nvPr/>
        </p:nvSpPr>
        <p:spPr>
          <a:xfrm>
            <a:off x="4389120" y="3840480"/>
            <a:ext cx="4937760" cy="5486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경로 선택(라우팅) · 패킷 전달</a:t>
            </a:r>
            <a:endParaRPr lang="en-US" sz="1500" dirty="0"/>
          </a:p>
        </p:txBody>
      </p:sp>
      <p:sp>
        <p:nvSpPr>
          <p:cNvPr id="34" name="Text 31"/>
          <p:cNvSpPr txBox="1"/>
          <p:nvPr/>
        </p:nvSpPr>
        <p:spPr>
          <a:xfrm>
            <a:off x="9418320" y="3840480"/>
            <a:ext cx="2103120" cy="548640"/>
          </a:xfrm>
          <a:prstGeom prst="rect">
            <a:avLst/>
          </a:prstGeom>
          <a:noFill/>
          <a:ln/>
        </p:spPr>
        <p:txBody>
          <a:bodyPr wrap="square" lIns="0" tIns="0" rIns="0" bIns="0" rtlCol="0" anchor="ctr"/>
          <a:lstStyle/>
          <a:p>
            <a:pPr algn="r" indent="0" marL="0">
              <a:buNone/>
            </a:pPr>
            <a:r>
              <a:rPr lang="en-US" sz="1500" b="1" dirty="0">
                <a:solidFill>
                  <a:srgbClr val="0E6E7A"/>
                </a:solidFill>
                <a:latin typeface="맑은 고딕" pitchFamily="34" charset="0"/>
                <a:ea typeface="맑은 고딕" pitchFamily="34" charset="-122"/>
                <a:cs typeface="맑은 고딕" pitchFamily="34" charset="-120"/>
              </a:rPr>
              <a:t>패킷</a:t>
            </a:r>
            <a:endParaRPr lang="en-US" sz="1500" dirty="0"/>
          </a:p>
        </p:txBody>
      </p:sp>
      <p:sp>
        <p:nvSpPr>
          <p:cNvPr id="35" name="Shape 32"/>
          <p:cNvSpPr/>
          <p:nvPr/>
        </p:nvSpPr>
        <p:spPr>
          <a:xfrm>
            <a:off x="548640" y="4480560"/>
            <a:ext cx="11091672" cy="548640"/>
          </a:xfrm>
          <a:prstGeom prst="roundRect">
            <a:avLst>
              <a:gd name="adj" fmla="val 13333"/>
            </a:avLst>
          </a:prstGeom>
          <a:solidFill>
            <a:srgbClr val="E6F1F2"/>
          </a:solidFill>
          <a:ln w="12700">
            <a:solidFill>
              <a:srgbClr val="0E6E7A"/>
            </a:solidFill>
            <a:prstDash val="solid"/>
          </a:ln>
        </p:spPr>
      </p:sp>
      <p:sp>
        <p:nvSpPr>
          <p:cNvPr id="36" name="Shape 33"/>
          <p:cNvSpPr/>
          <p:nvPr/>
        </p:nvSpPr>
        <p:spPr>
          <a:xfrm>
            <a:off x="640080" y="4544568"/>
            <a:ext cx="420624" cy="420624"/>
          </a:xfrm>
          <a:prstGeom prst="ellipse">
            <a:avLst/>
          </a:prstGeom>
          <a:solidFill>
            <a:srgbClr val="0E6E7A"/>
          </a:solidFill>
          <a:ln w="12700">
            <a:solidFill>
              <a:srgbClr val="0E6E7A"/>
            </a:solidFill>
            <a:prstDash val="solid"/>
          </a:ln>
        </p:spPr>
      </p:sp>
      <p:sp>
        <p:nvSpPr>
          <p:cNvPr id="37" name="Text 34"/>
          <p:cNvSpPr txBox="1"/>
          <p:nvPr/>
        </p:nvSpPr>
        <p:spPr>
          <a:xfrm>
            <a:off x="640080" y="454456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L2</a:t>
            </a:r>
            <a:endParaRPr lang="en-US" sz="1200" dirty="0"/>
          </a:p>
        </p:txBody>
      </p:sp>
      <p:sp>
        <p:nvSpPr>
          <p:cNvPr id="38" name="Text 35"/>
          <p:cNvSpPr txBox="1"/>
          <p:nvPr/>
        </p:nvSpPr>
        <p:spPr>
          <a:xfrm>
            <a:off x="1234440" y="4480560"/>
            <a:ext cx="3108960" cy="5486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데이터링크 (Data Link)</a:t>
            </a:r>
            <a:endParaRPr lang="en-US" sz="1600" dirty="0"/>
          </a:p>
        </p:txBody>
      </p:sp>
      <p:sp>
        <p:nvSpPr>
          <p:cNvPr id="39" name="Text 36"/>
          <p:cNvSpPr txBox="1"/>
          <p:nvPr/>
        </p:nvSpPr>
        <p:spPr>
          <a:xfrm>
            <a:off x="4389120" y="4480560"/>
            <a:ext cx="4937760" cy="5486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인접 장비 간 신뢰성 전송 · MAC</a:t>
            </a:r>
            <a:endParaRPr lang="en-US" sz="1500" dirty="0"/>
          </a:p>
        </p:txBody>
      </p:sp>
      <p:sp>
        <p:nvSpPr>
          <p:cNvPr id="40" name="Text 37"/>
          <p:cNvSpPr txBox="1"/>
          <p:nvPr/>
        </p:nvSpPr>
        <p:spPr>
          <a:xfrm>
            <a:off x="9418320" y="4480560"/>
            <a:ext cx="2103120" cy="548640"/>
          </a:xfrm>
          <a:prstGeom prst="rect">
            <a:avLst/>
          </a:prstGeom>
          <a:noFill/>
          <a:ln/>
        </p:spPr>
        <p:txBody>
          <a:bodyPr wrap="square" lIns="0" tIns="0" rIns="0" bIns="0" rtlCol="0" anchor="ctr"/>
          <a:lstStyle/>
          <a:p>
            <a:pPr algn="r" indent="0" marL="0">
              <a:buNone/>
            </a:pPr>
            <a:r>
              <a:rPr lang="en-US" sz="1500" b="1" dirty="0">
                <a:solidFill>
                  <a:srgbClr val="0E6E7A"/>
                </a:solidFill>
                <a:latin typeface="맑은 고딕" pitchFamily="34" charset="0"/>
                <a:ea typeface="맑은 고딕" pitchFamily="34" charset="-122"/>
                <a:cs typeface="맑은 고딕" pitchFamily="34" charset="-120"/>
              </a:rPr>
              <a:t>프레임</a:t>
            </a:r>
            <a:endParaRPr lang="en-US" sz="1500" dirty="0"/>
          </a:p>
        </p:txBody>
      </p:sp>
      <p:sp>
        <p:nvSpPr>
          <p:cNvPr id="41" name="Shape 38"/>
          <p:cNvSpPr/>
          <p:nvPr/>
        </p:nvSpPr>
        <p:spPr>
          <a:xfrm>
            <a:off x="548640" y="5120640"/>
            <a:ext cx="11091672" cy="548640"/>
          </a:xfrm>
          <a:prstGeom prst="roundRect">
            <a:avLst>
              <a:gd name="adj" fmla="val 13333"/>
            </a:avLst>
          </a:prstGeom>
          <a:solidFill>
            <a:srgbClr val="F4F6F7"/>
          </a:solidFill>
          <a:ln w="12700">
            <a:solidFill>
              <a:srgbClr val="9AA5AD"/>
            </a:solidFill>
            <a:prstDash val="solid"/>
          </a:ln>
        </p:spPr>
      </p:sp>
      <p:sp>
        <p:nvSpPr>
          <p:cNvPr id="42" name="Shape 39"/>
          <p:cNvSpPr/>
          <p:nvPr/>
        </p:nvSpPr>
        <p:spPr>
          <a:xfrm>
            <a:off x="640080" y="5184648"/>
            <a:ext cx="420624" cy="420624"/>
          </a:xfrm>
          <a:prstGeom prst="ellipse">
            <a:avLst/>
          </a:prstGeom>
          <a:solidFill>
            <a:srgbClr val="0E6E7A"/>
          </a:solidFill>
          <a:ln w="12700">
            <a:solidFill>
              <a:srgbClr val="0E6E7A"/>
            </a:solidFill>
            <a:prstDash val="solid"/>
          </a:ln>
        </p:spPr>
      </p:sp>
      <p:sp>
        <p:nvSpPr>
          <p:cNvPr id="43" name="Text 40"/>
          <p:cNvSpPr txBox="1"/>
          <p:nvPr/>
        </p:nvSpPr>
        <p:spPr>
          <a:xfrm>
            <a:off x="640080" y="518464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L1</a:t>
            </a:r>
            <a:endParaRPr lang="en-US" sz="1200" dirty="0"/>
          </a:p>
        </p:txBody>
      </p:sp>
      <p:sp>
        <p:nvSpPr>
          <p:cNvPr id="44" name="Text 41"/>
          <p:cNvSpPr txBox="1"/>
          <p:nvPr/>
        </p:nvSpPr>
        <p:spPr>
          <a:xfrm>
            <a:off x="1234440" y="5120640"/>
            <a:ext cx="3108960" cy="5486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물리 (Physical)</a:t>
            </a:r>
            <a:endParaRPr lang="en-US" sz="1600" dirty="0"/>
          </a:p>
        </p:txBody>
      </p:sp>
      <p:sp>
        <p:nvSpPr>
          <p:cNvPr id="45" name="Text 42"/>
          <p:cNvSpPr txBox="1"/>
          <p:nvPr/>
        </p:nvSpPr>
        <p:spPr>
          <a:xfrm>
            <a:off x="4389120" y="5120640"/>
            <a:ext cx="4937760" cy="5486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물리적 연결 · 신호 전송</a:t>
            </a:r>
            <a:endParaRPr lang="en-US" sz="1500" dirty="0"/>
          </a:p>
        </p:txBody>
      </p:sp>
      <p:sp>
        <p:nvSpPr>
          <p:cNvPr id="46" name="Text 43"/>
          <p:cNvSpPr txBox="1"/>
          <p:nvPr/>
        </p:nvSpPr>
        <p:spPr>
          <a:xfrm>
            <a:off x="9418320" y="5120640"/>
            <a:ext cx="2103120" cy="548640"/>
          </a:xfrm>
          <a:prstGeom prst="rect">
            <a:avLst/>
          </a:prstGeom>
          <a:noFill/>
          <a:ln/>
        </p:spPr>
        <p:txBody>
          <a:bodyPr wrap="square" lIns="0" tIns="0" rIns="0" bIns="0" rtlCol="0" anchor="ctr"/>
          <a:lstStyle/>
          <a:p>
            <a:pPr algn="r" indent="0" marL="0">
              <a:buNone/>
            </a:pPr>
            <a:r>
              <a:rPr lang="en-US" sz="1500" b="1" dirty="0">
                <a:solidFill>
                  <a:srgbClr val="0E6E7A"/>
                </a:solidFill>
                <a:latin typeface="맑은 고딕" pitchFamily="34" charset="0"/>
                <a:ea typeface="맑은 고딕" pitchFamily="34" charset="-122"/>
                <a:cs typeface="맑은 고딕" pitchFamily="34" charset="-120"/>
              </a:rPr>
              <a:t>비트</a:t>
            </a:r>
            <a:endParaRPr lang="en-US" sz="1500" dirty="0"/>
          </a:p>
        </p:txBody>
      </p:sp>
      <p:sp>
        <p:nvSpPr>
          <p:cNvPr id="47" name="Text 44"/>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500" b="1" dirty="0">
                <a:solidFill>
                  <a:srgbClr val="66737C"/>
                </a:solidFill>
                <a:latin typeface="맑은 고딕" pitchFamily="34" charset="0"/>
                <a:ea typeface="맑은 고딕" pitchFamily="34" charset="-122"/>
                <a:cs typeface="맑은 고딕" pitchFamily="34" charset="-120"/>
              </a:rPr>
              <a:t>암기: 아래부터  물 · 데 · 네 · 전 · 세 · 표 · 응</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상위 계층 (L7 ~ L5) — 사용자 쪽 일</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3 · 통신 모델</a:t>
            </a:r>
            <a:endParaRPr lang="en-US" sz="1100" dirty="0"/>
          </a:p>
        </p:txBody>
      </p:sp>
      <p:sp>
        <p:nvSpPr>
          <p:cNvPr id="5" name="Shape 2"/>
          <p:cNvSpPr/>
          <p:nvPr/>
        </p:nvSpPr>
        <p:spPr>
          <a:xfrm>
            <a:off x="548640" y="1371600"/>
            <a:ext cx="3566160" cy="3291840"/>
          </a:xfrm>
          <a:prstGeom prst="roundRect">
            <a:avLst>
              <a:gd name="adj" fmla="val 2222"/>
            </a:avLst>
          </a:prstGeom>
          <a:solidFill>
            <a:srgbClr val="FFFFFF"/>
          </a:solidFill>
          <a:ln w="12700">
            <a:solidFill>
              <a:srgbClr val="9AA5AD"/>
            </a:solidFill>
            <a:prstDash val="solid"/>
          </a:ln>
        </p:spPr>
      </p:sp>
      <p:sp>
        <p:nvSpPr>
          <p:cNvPr id="6" name="Text 3"/>
          <p:cNvSpPr txBox="1"/>
          <p:nvPr/>
        </p:nvSpPr>
        <p:spPr>
          <a:xfrm>
            <a:off x="731520" y="1508760"/>
            <a:ext cx="3200400" cy="548640"/>
          </a:xfrm>
          <a:prstGeom prst="rect">
            <a:avLst/>
          </a:prstGeom>
          <a:noFill/>
          <a:ln/>
        </p:spPr>
        <p:txBody>
          <a:bodyPr wrap="square" lIns="0" tIns="0" rIns="0" bIns="0" rtlCol="0" anchor="ctr"/>
          <a:lstStyle/>
          <a:p>
            <a:pPr indent="0" marL="0">
              <a:buNone/>
            </a:pPr>
            <a:r>
              <a:rPr lang="en-US" sz="2200" b="1" dirty="0">
                <a:solidFill>
                  <a:srgbClr val="0E6E7A"/>
                </a:solidFill>
                <a:latin typeface="맑은 고딕" pitchFamily="34" charset="0"/>
                <a:ea typeface="맑은 고딕" pitchFamily="34" charset="-122"/>
                <a:cs typeface="맑은 고딕" pitchFamily="34" charset="-120"/>
              </a:rPr>
              <a:t>L7  응용</a:t>
            </a:r>
            <a:endParaRPr lang="en-US" sz="2200" dirty="0"/>
          </a:p>
        </p:txBody>
      </p:sp>
      <p:sp>
        <p:nvSpPr>
          <p:cNvPr id="7" name="Text 4"/>
          <p:cNvSpPr txBox="1"/>
          <p:nvPr/>
        </p:nvSpPr>
        <p:spPr>
          <a:xfrm>
            <a:off x="731520" y="2130552"/>
            <a:ext cx="3200400" cy="2423160"/>
          </a:xfrm>
          <a:prstGeom prst="rect">
            <a:avLst/>
          </a:prstGeom>
          <a:noFill/>
          <a:ln/>
        </p:spPr>
        <p:txBody>
          <a:bodyPr wrap="square" lIns="0" tIns="0" rIns="0" bIns="0" rtlCol="0" anchor="t"/>
          <a:lstStyle/>
          <a:p>
            <a:pPr marL="177800" indent="-177800">
              <a:spcAft>
                <a:spcPts val="400"/>
              </a:spcAft>
              <a:buSzPct val="100000"/>
              <a:buChar char="•"/>
            </a:pPr>
            <a:r>
              <a:rPr lang="en-US" sz="1700" dirty="0">
                <a:solidFill>
                  <a:srgbClr val="1E2A30"/>
                </a:solidFill>
                <a:latin typeface="맑은 고딕" pitchFamily="34" charset="0"/>
                <a:ea typeface="맑은 고딕" pitchFamily="34" charset="-122"/>
                <a:cs typeface="맑은 고딕" pitchFamily="34" charset="-120"/>
              </a:rPr>
              <a:t>사용자에게 서비스 인터페이스 제공</a:t>
            </a:r>
            <a:endParaRPr lang="en-US" sz="1700" dirty="0"/>
          </a:p>
          <a:p>
            <a:pPr marL="177800" indent="-177800">
              <a:spcAft>
                <a:spcPts val="400"/>
              </a:spcAft>
              <a:buSzPct val="100000"/>
              <a:buChar char="•"/>
            </a:pPr>
            <a:r>
              <a:rPr lang="en-US" sz="1700" dirty="0">
                <a:solidFill>
                  <a:srgbClr val="1E2A30"/>
                </a:solidFill>
                <a:latin typeface="맑은 고딕" pitchFamily="34" charset="0"/>
                <a:ea typeface="맑은 고딕" pitchFamily="34" charset="-122"/>
                <a:cs typeface="맑은 고딕" pitchFamily="34" charset="-120"/>
              </a:rPr>
              <a:t>예: HTTP · FTP · SMTP · DNS</a:t>
            </a:r>
            <a:endParaRPr lang="en-US" sz="1700" dirty="0"/>
          </a:p>
        </p:txBody>
      </p:sp>
      <p:sp>
        <p:nvSpPr>
          <p:cNvPr id="8" name="Shape 5"/>
          <p:cNvSpPr/>
          <p:nvPr/>
        </p:nvSpPr>
        <p:spPr>
          <a:xfrm>
            <a:off x="4297680" y="1371600"/>
            <a:ext cx="3566160" cy="3291840"/>
          </a:xfrm>
          <a:prstGeom prst="roundRect">
            <a:avLst>
              <a:gd name="adj" fmla="val 2222"/>
            </a:avLst>
          </a:prstGeom>
          <a:solidFill>
            <a:srgbClr val="FFFFFF"/>
          </a:solidFill>
          <a:ln w="12700">
            <a:solidFill>
              <a:srgbClr val="9AA5AD"/>
            </a:solidFill>
            <a:prstDash val="solid"/>
          </a:ln>
        </p:spPr>
      </p:sp>
      <p:sp>
        <p:nvSpPr>
          <p:cNvPr id="9" name="Text 6"/>
          <p:cNvSpPr txBox="1"/>
          <p:nvPr/>
        </p:nvSpPr>
        <p:spPr>
          <a:xfrm>
            <a:off x="4480560" y="1508760"/>
            <a:ext cx="3200400" cy="548640"/>
          </a:xfrm>
          <a:prstGeom prst="rect">
            <a:avLst/>
          </a:prstGeom>
          <a:noFill/>
          <a:ln/>
        </p:spPr>
        <p:txBody>
          <a:bodyPr wrap="square" lIns="0" tIns="0" rIns="0" bIns="0" rtlCol="0" anchor="ctr"/>
          <a:lstStyle/>
          <a:p>
            <a:pPr indent="0" marL="0">
              <a:buNone/>
            </a:pPr>
            <a:r>
              <a:rPr lang="en-US" sz="2200" b="1" dirty="0">
                <a:solidFill>
                  <a:srgbClr val="0E6E7A"/>
                </a:solidFill>
                <a:latin typeface="맑은 고딕" pitchFamily="34" charset="0"/>
                <a:ea typeface="맑은 고딕" pitchFamily="34" charset="-122"/>
                <a:cs typeface="맑은 고딕" pitchFamily="34" charset="-120"/>
              </a:rPr>
              <a:t>L6  표현</a:t>
            </a:r>
            <a:endParaRPr lang="en-US" sz="2200" dirty="0"/>
          </a:p>
        </p:txBody>
      </p:sp>
      <p:sp>
        <p:nvSpPr>
          <p:cNvPr id="10" name="Text 7"/>
          <p:cNvSpPr txBox="1"/>
          <p:nvPr/>
        </p:nvSpPr>
        <p:spPr>
          <a:xfrm>
            <a:off x="4480560" y="2130552"/>
            <a:ext cx="3200400" cy="2423160"/>
          </a:xfrm>
          <a:prstGeom prst="rect">
            <a:avLst/>
          </a:prstGeom>
          <a:noFill/>
          <a:ln/>
        </p:spPr>
        <p:txBody>
          <a:bodyPr wrap="square" lIns="0" tIns="0" rIns="0" bIns="0" rtlCol="0" anchor="t"/>
          <a:lstStyle/>
          <a:p>
            <a:pPr marL="177800" indent="-177800">
              <a:spcAft>
                <a:spcPts val="400"/>
              </a:spcAft>
              <a:buSzPct val="100000"/>
              <a:buChar char="•"/>
            </a:pPr>
            <a:r>
              <a:rPr lang="en-US" sz="1700" dirty="0">
                <a:solidFill>
                  <a:srgbClr val="1E2A30"/>
                </a:solidFill>
                <a:latin typeface="맑은 고딕" pitchFamily="34" charset="0"/>
                <a:ea typeface="맑은 고딕" pitchFamily="34" charset="-122"/>
                <a:cs typeface="맑은 고딕" pitchFamily="34" charset="-120"/>
              </a:rPr>
              <a:t>데이터 형식 정의</a:t>
            </a:r>
            <a:endParaRPr lang="en-US" sz="1700" dirty="0"/>
          </a:p>
          <a:p>
            <a:pPr marL="177800" indent="-177800">
              <a:spcAft>
                <a:spcPts val="400"/>
              </a:spcAft>
              <a:buSzPct val="100000"/>
              <a:buChar char="•"/>
            </a:pPr>
            <a:r>
              <a:rPr lang="en-US" sz="1700" dirty="0">
                <a:solidFill>
                  <a:srgbClr val="1E2A30"/>
                </a:solidFill>
                <a:latin typeface="맑은 고딕" pitchFamily="34" charset="0"/>
                <a:ea typeface="맑은 고딕" pitchFamily="34" charset="-122"/>
                <a:cs typeface="맑은 고딕" pitchFamily="34" charset="-120"/>
              </a:rPr>
              <a:t>암호화/복호화 · 압축/해제</a:t>
            </a:r>
            <a:endParaRPr lang="en-US" sz="1700" dirty="0"/>
          </a:p>
          <a:p>
            <a:pPr marL="177800" indent="-177800">
              <a:spcAft>
                <a:spcPts val="400"/>
              </a:spcAft>
              <a:buSzPct val="100000"/>
              <a:buChar char="•"/>
            </a:pPr>
            <a:r>
              <a:rPr lang="en-US" sz="1700" dirty="0">
                <a:solidFill>
                  <a:srgbClr val="1E2A30"/>
                </a:solidFill>
                <a:latin typeface="맑은 고딕" pitchFamily="34" charset="0"/>
                <a:ea typeface="맑은 고딕" pitchFamily="34" charset="-122"/>
                <a:cs typeface="맑은 고딕" pitchFamily="34" charset="-120"/>
              </a:rPr>
              <a:t>예: JPEG · ASCII</a:t>
            </a:r>
            <a:endParaRPr lang="en-US" sz="1700" dirty="0"/>
          </a:p>
        </p:txBody>
      </p:sp>
      <p:sp>
        <p:nvSpPr>
          <p:cNvPr id="11" name="Shape 8"/>
          <p:cNvSpPr/>
          <p:nvPr/>
        </p:nvSpPr>
        <p:spPr>
          <a:xfrm>
            <a:off x="8046720" y="1371600"/>
            <a:ext cx="3566160" cy="3291840"/>
          </a:xfrm>
          <a:prstGeom prst="roundRect">
            <a:avLst>
              <a:gd name="adj" fmla="val 2222"/>
            </a:avLst>
          </a:prstGeom>
          <a:solidFill>
            <a:srgbClr val="FFFFFF"/>
          </a:solidFill>
          <a:ln w="12700">
            <a:solidFill>
              <a:srgbClr val="9AA5AD"/>
            </a:solidFill>
            <a:prstDash val="solid"/>
          </a:ln>
        </p:spPr>
      </p:sp>
      <p:sp>
        <p:nvSpPr>
          <p:cNvPr id="12" name="Text 9"/>
          <p:cNvSpPr txBox="1"/>
          <p:nvPr/>
        </p:nvSpPr>
        <p:spPr>
          <a:xfrm>
            <a:off x="8229600" y="1508760"/>
            <a:ext cx="3200400" cy="548640"/>
          </a:xfrm>
          <a:prstGeom prst="rect">
            <a:avLst/>
          </a:prstGeom>
          <a:noFill/>
          <a:ln/>
        </p:spPr>
        <p:txBody>
          <a:bodyPr wrap="square" lIns="0" tIns="0" rIns="0" bIns="0" rtlCol="0" anchor="ctr"/>
          <a:lstStyle/>
          <a:p>
            <a:pPr indent="0" marL="0">
              <a:buNone/>
            </a:pPr>
            <a:r>
              <a:rPr lang="en-US" sz="2200" b="1" dirty="0">
                <a:solidFill>
                  <a:srgbClr val="0E6E7A"/>
                </a:solidFill>
                <a:latin typeface="맑은 고딕" pitchFamily="34" charset="0"/>
                <a:ea typeface="맑은 고딕" pitchFamily="34" charset="-122"/>
                <a:cs typeface="맑은 고딕" pitchFamily="34" charset="-120"/>
              </a:rPr>
              <a:t>L5  세션</a:t>
            </a:r>
            <a:endParaRPr lang="en-US" sz="2200" dirty="0"/>
          </a:p>
        </p:txBody>
      </p:sp>
      <p:sp>
        <p:nvSpPr>
          <p:cNvPr id="13" name="Text 10"/>
          <p:cNvSpPr txBox="1"/>
          <p:nvPr/>
        </p:nvSpPr>
        <p:spPr>
          <a:xfrm>
            <a:off x="8229600" y="2130552"/>
            <a:ext cx="3200400" cy="2423160"/>
          </a:xfrm>
          <a:prstGeom prst="rect">
            <a:avLst/>
          </a:prstGeom>
          <a:noFill/>
          <a:ln/>
        </p:spPr>
        <p:txBody>
          <a:bodyPr wrap="square" lIns="0" tIns="0" rIns="0" bIns="0" rtlCol="0" anchor="t"/>
          <a:lstStyle/>
          <a:p>
            <a:pPr marL="177800" indent="-177800">
              <a:spcAft>
                <a:spcPts val="400"/>
              </a:spcAft>
              <a:buSzPct val="100000"/>
              <a:buChar char="•"/>
            </a:pPr>
            <a:r>
              <a:rPr lang="en-US" sz="1700" dirty="0">
                <a:solidFill>
                  <a:srgbClr val="1E2A30"/>
                </a:solidFill>
                <a:latin typeface="맑은 고딕" pitchFamily="34" charset="0"/>
                <a:ea typeface="맑은 고딕" pitchFamily="34" charset="-122"/>
                <a:cs typeface="맑은 고딕" pitchFamily="34" charset="-120"/>
              </a:rPr>
              <a:t>두 호스트 사이 세션 설정</a:t>
            </a:r>
            <a:endParaRPr lang="en-US" sz="1700" dirty="0"/>
          </a:p>
          <a:p>
            <a:pPr marL="177800" indent="-177800">
              <a:spcAft>
                <a:spcPts val="400"/>
              </a:spcAft>
              <a:buSzPct val="100000"/>
              <a:buChar char="•"/>
            </a:pPr>
            <a:r>
              <a:rPr lang="en-US" sz="1700" dirty="0">
                <a:solidFill>
                  <a:srgbClr val="1E2A30"/>
                </a:solidFill>
                <a:latin typeface="맑은 고딕" pitchFamily="34" charset="0"/>
                <a:ea typeface="맑은 고딕" pitchFamily="34" charset="-122"/>
                <a:cs typeface="맑은 고딕" pitchFamily="34" charset="-120"/>
              </a:rPr>
              <a:t>동기화 · 대화(다이얼로그) 관리</a:t>
            </a:r>
            <a:endParaRPr lang="en-US" sz="1700" dirty="0"/>
          </a:p>
          <a:p>
            <a:pPr marL="177800" indent="-177800">
              <a:spcAft>
                <a:spcPts val="400"/>
              </a:spcAft>
              <a:buSzPct val="100000"/>
              <a:buChar char="•"/>
            </a:pPr>
            <a:r>
              <a:rPr lang="en-US" sz="1700" dirty="0">
                <a:solidFill>
                  <a:srgbClr val="1E2A30"/>
                </a:solidFill>
                <a:latin typeface="맑은 고딕" pitchFamily="34" charset="0"/>
                <a:ea typeface="맑은 고딕" pitchFamily="34" charset="-122"/>
                <a:cs typeface="맑은 고딕" pitchFamily="34" charset="-120"/>
              </a:rPr>
              <a:t>예: 로그인 세션 유지</a:t>
            </a:r>
            <a:endParaRPr lang="en-US" sz="1700" dirty="0"/>
          </a:p>
        </p:txBody>
      </p:sp>
      <p:sp>
        <p:nvSpPr>
          <p:cNvPr id="14" name="Shape 11"/>
          <p:cNvSpPr/>
          <p:nvPr/>
        </p:nvSpPr>
        <p:spPr>
          <a:xfrm>
            <a:off x="548640" y="5029200"/>
            <a:ext cx="11091672" cy="457200"/>
          </a:xfrm>
          <a:prstGeom prst="roundRect">
            <a:avLst>
              <a:gd name="adj" fmla="val 16000"/>
            </a:avLst>
          </a:prstGeom>
          <a:solidFill>
            <a:srgbClr val="E6F1F2"/>
          </a:solidFill>
          <a:ln w="12700">
            <a:solidFill>
              <a:srgbClr val="E6F1F2"/>
            </a:solidFill>
            <a:prstDash val="solid"/>
          </a:ln>
        </p:spPr>
      </p:sp>
      <p:sp>
        <p:nvSpPr>
          <p:cNvPr id="15" name="Text 12"/>
          <p:cNvSpPr txBox="1"/>
          <p:nvPr/>
        </p:nvSpPr>
        <p:spPr>
          <a:xfrm>
            <a:off x="777240" y="502920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L5~L7 의 전송 단위 = 데이터(메시지) · TCP/IP 에서는 '응용 계층' 하나로 통합</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하위 계층 (L4 ~ L1) — 전달하는 일</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3 · 통신 모델</a:t>
            </a:r>
            <a:endParaRPr lang="en-US" sz="1100" dirty="0"/>
          </a:p>
        </p:txBody>
      </p:sp>
      <p:sp>
        <p:nvSpPr>
          <p:cNvPr id="5" name="Shape 2"/>
          <p:cNvSpPr/>
          <p:nvPr/>
        </p:nvSpPr>
        <p:spPr>
          <a:xfrm>
            <a:off x="548640" y="1325880"/>
            <a:ext cx="2651760" cy="2743200"/>
          </a:xfrm>
          <a:prstGeom prst="roundRect">
            <a:avLst>
              <a:gd name="adj" fmla="val 2759"/>
            </a:avLst>
          </a:prstGeom>
          <a:solidFill>
            <a:srgbClr val="FFFFFF"/>
          </a:solidFill>
          <a:ln w="12700">
            <a:solidFill>
              <a:srgbClr val="9AA5AD"/>
            </a:solidFill>
            <a:prstDash val="solid"/>
          </a:ln>
        </p:spPr>
      </p:sp>
      <p:sp>
        <p:nvSpPr>
          <p:cNvPr id="6" name="Text 3"/>
          <p:cNvSpPr txBox="1"/>
          <p:nvPr/>
        </p:nvSpPr>
        <p:spPr>
          <a:xfrm>
            <a:off x="731520" y="1463040"/>
            <a:ext cx="2286000" cy="384048"/>
          </a:xfrm>
          <a:prstGeom prst="rect">
            <a:avLst/>
          </a:prstGeom>
          <a:noFill/>
          <a:ln/>
        </p:spPr>
        <p:txBody>
          <a:bodyPr wrap="square" lIns="0" tIns="0" rIns="0" bIns="0" rtlCol="0" anchor="ctr"/>
          <a:lstStyle/>
          <a:p>
            <a:pPr indent="0" marL="0">
              <a:buNone/>
            </a:pPr>
            <a:r>
              <a:rPr lang="en-US" sz="1700" b="1" dirty="0">
                <a:solidFill>
                  <a:srgbClr val="0E6E7A"/>
                </a:solidFill>
                <a:latin typeface="맑은 고딕" pitchFamily="34" charset="0"/>
                <a:ea typeface="맑은 고딕" pitchFamily="34" charset="-122"/>
                <a:cs typeface="맑은 고딕" pitchFamily="34" charset="-120"/>
              </a:rPr>
              <a:t>L4  전송</a:t>
            </a:r>
            <a:endParaRPr lang="en-US" sz="1700" dirty="0"/>
          </a:p>
        </p:txBody>
      </p:sp>
      <p:sp>
        <p:nvSpPr>
          <p:cNvPr id="7" name="Text 4"/>
          <p:cNvSpPr txBox="1"/>
          <p:nvPr/>
        </p:nvSpPr>
        <p:spPr>
          <a:xfrm>
            <a:off x="731520" y="1920240"/>
            <a:ext cx="2286000" cy="20391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종단 간 투명한 데이터 전송</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오류 · 흐름 제어</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TCP · UDP · 포트 번호</a:t>
            </a:r>
            <a:endParaRPr lang="en-US" sz="1400" dirty="0"/>
          </a:p>
        </p:txBody>
      </p:sp>
      <p:sp>
        <p:nvSpPr>
          <p:cNvPr id="8" name="Shape 5"/>
          <p:cNvSpPr/>
          <p:nvPr/>
        </p:nvSpPr>
        <p:spPr>
          <a:xfrm>
            <a:off x="731520" y="3520440"/>
            <a:ext cx="2286000" cy="411480"/>
          </a:xfrm>
          <a:prstGeom prst="roundRect">
            <a:avLst>
              <a:gd name="adj" fmla="val 17778"/>
            </a:avLst>
          </a:prstGeom>
          <a:solidFill>
            <a:srgbClr val="E6F1F2"/>
          </a:solidFill>
          <a:ln w="12700">
            <a:solidFill>
              <a:srgbClr val="E6F1F2"/>
            </a:solidFill>
            <a:prstDash val="solid"/>
          </a:ln>
        </p:spPr>
      </p:sp>
      <p:sp>
        <p:nvSpPr>
          <p:cNvPr id="9" name="Text 6"/>
          <p:cNvSpPr txBox="1"/>
          <p:nvPr/>
        </p:nvSpPr>
        <p:spPr>
          <a:xfrm>
            <a:off x="731520" y="3520440"/>
            <a:ext cx="2286000" cy="41148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PDU: 세그먼트</a:t>
            </a:r>
            <a:endParaRPr lang="en-US" sz="1400" dirty="0"/>
          </a:p>
        </p:txBody>
      </p:sp>
      <p:sp>
        <p:nvSpPr>
          <p:cNvPr id="10" name="Shape 7"/>
          <p:cNvSpPr/>
          <p:nvPr/>
        </p:nvSpPr>
        <p:spPr>
          <a:xfrm>
            <a:off x="3364992" y="1325880"/>
            <a:ext cx="2651760" cy="2743200"/>
          </a:xfrm>
          <a:prstGeom prst="roundRect">
            <a:avLst>
              <a:gd name="adj" fmla="val 2759"/>
            </a:avLst>
          </a:prstGeom>
          <a:solidFill>
            <a:srgbClr val="FFFFFF"/>
          </a:solidFill>
          <a:ln w="12700">
            <a:solidFill>
              <a:srgbClr val="9AA5AD"/>
            </a:solidFill>
            <a:prstDash val="solid"/>
          </a:ln>
        </p:spPr>
      </p:sp>
      <p:sp>
        <p:nvSpPr>
          <p:cNvPr id="11" name="Text 8"/>
          <p:cNvSpPr txBox="1"/>
          <p:nvPr/>
        </p:nvSpPr>
        <p:spPr>
          <a:xfrm>
            <a:off x="3547872" y="1463040"/>
            <a:ext cx="2286000" cy="384048"/>
          </a:xfrm>
          <a:prstGeom prst="rect">
            <a:avLst/>
          </a:prstGeom>
          <a:noFill/>
          <a:ln/>
        </p:spPr>
        <p:txBody>
          <a:bodyPr wrap="square" lIns="0" tIns="0" rIns="0" bIns="0" rtlCol="0" anchor="ctr"/>
          <a:lstStyle/>
          <a:p>
            <a:pPr indent="0" marL="0">
              <a:buNone/>
            </a:pPr>
            <a:r>
              <a:rPr lang="en-US" sz="1700" b="1" dirty="0">
                <a:solidFill>
                  <a:srgbClr val="0E6E7A"/>
                </a:solidFill>
                <a:latin typeface="맑은 고딕" pitchFamily="34" charset="0"/>
                <a:ea typeface="맑은 고딕" pitchFamily="34" charset="-122"/>
                <a:cs typeface="맑은 고딕" pitchFamily="34" charset="-120"/>
              </a:rPr>
              <a:t>L3  네트워크</a:t>
            </a:r>
            <a:endParaRPr lang="en-US" sz="1700" dirty="0"/>
          </a:p>
        </p:txBody>
      </p:sp>
      <p:sp>
        <p:nvSpPr>
          <p:cNvPr id="12" name="Text 9"/>
          <p:cNvSpPr txBox="1"/>
          <p:nvPr/>
        </p:nvSpPr>
        <p:spPr>
          <a:xfrm>
            <a:off x="3547872" y="1920240"/>
            <a:ext cx="2286000" cy="20391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네트워크 간 경로 선택</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라우팅 테이블 관리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IP · 라우터</a:t>
            </a:r>
            <a:endParaRPr lang="en-US" sz="1400" dirty="0"/>
          </a:p>
        </p:txBody>
      </p:sp>
      <p:sp>
        <p:nvSpPr>
          <p:cNvPr id="13" name="Shape 10"/>
          <p:cNvSpPr/>
          <p:nvPr/>
        </p:nvSpPr>
        <p:spPr>
          <a:xfrm>
            <a:off x="3547872" y="3520440"/>
            <a:ext cx="2286000" cy="411480"/>
          </a:xfrm>
          <a:prstGeom prst="roundRect">
            <a:avLst>
              <a:gd name="adj" fmla="val 17778"/>
            </a:avLst>
          </a:prstGeom>
          <a:solidFill>
            <a:srgbClr val="E6F1F2"/>
          </a:solidFill>
          <a:ln w="12700">
            <a:solidFill>
              <a:srgbClr val="E6F1F2"/>
            </a:solidFill>
            <a:prstDash val="solid"/>
          </a:ln>
        </p:spPr>
      </p:sp>
      <p:sp>
        <p:nvSpPr>
          <p:cNvPr id="14" name="Text 11"/>
          <p:cNvSpPr txBox="1"/>
          <p:nvPr/>
        </p:nvSpPr>
        <p:spPr>
          <a:xfrm>
            <a:off x="3547872" y="3520440"/>
            <a:ext cx="2286000" cy="41148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PDU: 패킷</a:t>
            </a:r>
            <a:endParaRPr lang="en-US" sz="1400" dirty="0"/>
          </a:p>
        </p:txBody>
      </p:sp>
      <p:sp>
        <p:nvSpPr>
          <p:cNvPr id="15" name="Shape 12"/>
          <p:cNvSpPr/>
          <p:nvPr/>
        </p:nvSpPr>
        <p:spPr>
          <a:xfrm>
            <a:off x="6181344" y="1325880"/>
            <a:ext cx="2651760" cy="2743200"/>
          </a:xfrm>
          <a:prstGeom prst="roundRect">
            <a:avLst>
              <a:gd name="adj" fmla="val 2759"/>
            </a:avLst>
          </a:prstGeom>
          <a:solidFill>
            <a:srgbClr val="FFFFFF"/>
          </a:solidFill>
          <a:ln w="12700">
            <a:solidFill>
              <a:srgbClr val="9AA5AD"/>
            </a:solidFill>
            <a:prstDash val="solid"/>
          </a:ln>
        </p:spPr>
      </p:sp>
      <p:sp>
        <p:nvSpPr>
          <p:cNvPr id="16" name="Text 13"/>
          <p:cNvSpPr txBox="1"/>
          <p:nvPr/>
        </p:nvSpPr>
        <p:spPr>
          <a:xfrm>
            <a:off x="6364224" y="1463040"/>
            <a:ext cx="2286000" cy="384048"/>
          </a:xfrm>
          <a:prstGeom prst="rect">
            <a:avLst/>
          </a:prstGeom>
          <a:noFill/>
          <a:ln/>
        </p:spPr>
        <p:txBody>
          <a:bodyPr wrap="square" lIns="0" tIns="0" rIns="0" bIns="0" rtlCol="0" anchor="ctr"/>
          <a:lstStyle/>
          <a:p>
            <a:pPr indent="0" marL="0">
              <a:buNone/>
            </a:pPr>
            <a:r>
              <a:rPr lang="en-US" sz="1700" b="1" dirty="0">
                <a:solidFill>
                  <a:srgbClr val="0E6E7A"/>
                </a:solidFill>
                <a:latin typeface="맑은 고딕" pitchFamily="34" charset="0"/>
                <a:ea typeface="맑은 고딕" pitchFamily="34" charset="-122"/>
                <a:cs typeface="맑은 고딕" pitchFamily="34" charset="-120"/>
              </a:rPr>
              <a:t>L2  데이터링크</a:t>
            </a:r>
            <a:endParaRPr lang="en-US" sz="1700" dirty="0"/>
          </a:p>
        </p:txBody>
      </p:sp>
      <p:sp>
        <p:nvSpPr>
          <p:cNvPr id="17" name="Text 14"/>
          <p:cNvSpPr txBox="1"/>
          <p:nvPr/>
        </p:nvSpPr>
        <p:spPr>
          <a:xfrm>
            <a:off x="6364224" y="1920240"/>
            <a:ext cx="2286000" cy="20391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인접 장비 간 신뢰성 전송</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오류 · 흐름 제어</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MAC · 스위치</a:t>
            </a:r>
            <a:endParaRPr lang="en-US" sz="1400" dirty="0"/>
          </a:p>
        </p:txBody>
      </p:sp>
      <p:sp>
        <p:nvSpPr>
          <p:cNvPr id="18" name="Shape 15"/>
          <p:cNvSpPr/>
          <p:nvPr/>
        </p:nvSpPr>
        <p:spPr>
          <a:xfrm>
            <a:off x="6364224" y="3520440"/>
            <a:ext cx="2286000" cy="411480"/>
          </a:xfrm>
          <a:prstGeom prst="roundRect">
            <a:avLst>
              <a:gd name="adj" fmla="val 17778"/>
            </a:avLst>
          </a:prstGeom>
          <a:solidFill>
            <a:srgbClr val="E6F1F2"/>
          </a:solidFill>
          <a:ln w="12700">
            <a:solidFill>
              <a:srgbClr val="E6F1F2"/>
            </a:solidFill>
            <a:prstDash val="solid"/>
          </a:ln>
        </p:spPr>
      </p:sp>
      <p:sp>
        <p:nvSpPr>
          <p:cNvPr id="19" name="Text 16"/>
          <p:cNvSpPr txBox="1"/>
          <p:nvPr/>
        </p:nvSpPr>
        <p:spPr>
          <a:xfrm>
            <a:off x="6364224" y="3520440"/>
            <a:ext cx="2286000" cy="41148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PDU: 프레임</a:t>
            </a:r>
            <a:endParaRPr lang="en-US" sz="1400" dirty="0"/>
          </a:p>
        </p:txBody>
      </p:sp>
      <p:sp>
        <p:nvSpPr>
          <p:cNvPr id="20" name="Shape 17"/>
          <p:cNvSpPr/>
          <p:nvPr/>
        </p:nvSpPr>
        <p:spPr>
          <a:xfrm>
            <a:off x="8997696" y="1325880"/>
            <a:ext cx="2651760" cy="2743200"/>
          </a:xfrm>
          <a:prstGeom prst="roundRect">
            <a:avLst>
              <a:gd name="adj" fmla="val 2759"/>
            </a:avLst>
          </a:prstGeom>
          <a:solidFill>
            <a:srgbClr val="FFFFFF"/>
          </a:solidFill>
          <a:ln w="12700">
            <a:solidFill>
              <a:srgbClr val="9AA5AD"/>
            </a:solidFill>
            <a:prstDash val="solid"/>
          </a:ln>
        </p:spPr>
      </p:sp>
      <p:sp>
        <p:nvSpPr>
          <p:cNvPr id="21" name="Text 18"/>
          <p:cNvSpPr txBox="1"/>
          <p:nvPr/>
        </p:nvSpPr>
        <p:spPr>
          <a:xfrm>
            <a:off x="9180576" y="1463040"/>
            <a:ext cx="2286000" cy="384048"/>
          </a:xfrm>
          <a:prstGeom prst="rect">
            <a:avLst/>
          </a:prstGeom>
          <a:noFill/>
          <a:ln/>
        </p:spPr>
        <p:txBody>
          <a:bodyPr wrap="square" lIns="0" tIns="0" rIns="0" bIns="0" rtlCol="0" anchor="ctr"/>
          <a:lstStyle/>
          <a:p>
            <a:pPr indent="0" marL="0">
              <a:buNone/>
            </a:pPr>
            <a:r>
              <a:rPr lang="en-US" sz="1700" b="1" dirty="0">
                <a:solidFill>
                  <a:srgbClr val="0E6E7A"/>
                </a:solidFill>
                <a:latin typeface="맑은 고딕" pitchFamily="34" charset="0"/>
                <a:ea typeface="맑은 고딕" pitchFamily="34" charset="-122"/>
                <a:cs typeface="맑은 고딕" pitchFamily="34" charset="-120"/>
              </a:rPr>
              <a:t>L1  물리</a:t>
            </a:r>
            <a:endParaRPr lang="en-US" sz="1700" dirty="0"/>
          </a:p>
        </p:txBody>
      </p:sp>
      <p:sp>
        <p:nvSpPr>
          <p:cNvPr id="22" name="Text 19"/>
          <p:cNvSpPr txBox="1"/>
          <p:nvPr/>
        </p:nvSpPr>
        <p:spPr>
          <a:xfrm>
            <a:off x="9180576" y="1920240"/>
            <a:ext cx="2286000" cy="20391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물리적 연결 · 신호 전송</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케이블 · 허브 · 리피터</a:t>
            </a:r>
            <a:endParaRPr lang="en-US" sz="1400" dirty="0"/>
          </a:p>
        </p:txBody>
      </p:sp>
      <p:sp>
        <p:nvSpPr>
          <p:cNvPr id="23" name="Shape 20"/>
          <p:cNvSpPr/>
          <p:nvPr/>
        </p:nvSpPr>
        <p:spPr>
          <a:xfrm>
            <a:off x="9180576" y="3520440"/>
            <a:ext cx="2286000" cy="411480"/>
          </a:xfrm>
          <a:prstGeom prst="roundRect">
            <a:avLst>
              <a:gd name="adj" fmla="val 17778"/>
            </a:avLst>
          </a:prstGeom>
          <a:solidFill>
            <a:srgbClr val="E6F1F2"/>
          </a:solidFill>
          <a:ln w="12700">
            <a:solidFill>
              <a:srgbClr val="E6F1F2"/>
            </a:solidFill>
            <a:prstDash val="solid"/>
          </a:ln>
        </p:spPr>
      </p:sp>
      <p:sp>
        <p:nvSpPr>
          <p:cNvPr id="24" name="Text 21"/>
          <p:cNvSpPr txBox="1"/>
          <p:nvPr/>
        </p:nvSpPr>
        <p:spPr>
          <a:xfrm>
            <a:off x="9180576" y="3520440"/>
            <a:ext cx="2286000" cy="41148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PDU: 비트</a:t>
            </a:r>
            <a:endParaRPr lang="en-US" sz="1400" dirty="0"/>
          </a:p>
        </p:txBody>
      </p:sp>
      <p:sp>
        <p:nvSpPr>
          <p:cNvPr id="25" name="Text 22"/>
          <p:cNvSpPr txBox="1"/>
          <p:nvPr/>
        </p:nvSpPr>
        <p:spPr>
          <a:xfrm>
            <a:off x="548640" y="4297680"/>
            <a:ext cx="5486400" cy="365760"/>
          </a:xfrm>
          <a:prstGeom prst="rect">
            <a:avLst/>
          </a:prstGeom>
          <a:noFill/>
          <a:ln/>
        </p:spPr>
        <p:txBody>
          <a:bodyPr wrap="square" lIns="0" tIns="0" rIns="0" bIns="0" rtlCol="0" anchor="t"/>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물리 계층의 4가지 특성</a:t>
            </a:r>
            <a:endParaRPr lang="en-US" sz="1600" dirty="0"/>
          </a:p>
        </p:txBody>
      </p:sp>
      <p:sp>
        <p:nvSpPr>
          <p:cNvPr id="26" name="Shape 23"/>
          <p:cNvSpPr/>
          <p:nvPr/>
        </p:nvSpPr>
        <p:spPr>
          <a:xfrm>
            <a:off x="548640" y="4754880"/>
            <a:ext cx="2651760" cy="914400"/>
          </a:xfrm>
          <a:prstGeom prst="roundRect">
            <a:avLst>
              <a:gd name="adj" fmla="val 8000"/>
            </a:avLst>
          </a:prstGeom>
          <a:solidFill>
            <a:srgbClr val="F4F6F7"/>
          </a:solidFill>
          <a:ln w="12700">
            <a:solidFill>
              <a:srgbClr val="9AA5AD"/>
            </a:solidFill>
            <a:prstDash val="solid"/>
          </a:ln>
        </p:spPr>
      </p:sp>
      <p:sp>
        <p:nvSpPr>
          <p:cNvPr id="27" name="Text 24"/>
          <p:cNvSpPr txBox="1"/>
          <p:nvPr/>
        </p:nvSpPr>
        <p:spPr>
          <a:xfrm>
            <a:off x="731520" y="4800600"/>
            <a:ext cx="2286000" cy="365760"/>
          </a:xfrm>
          <a:prstGeom prst="rect">
            <a:avLst/>
          </a:prstGeom>
          <a:noFill/>
          <a:ln/>
        </p:spPr>
        <p:txBody>
          <a:bodyPr wrap="square" lIns="0" tIns="0" rIns="0" bIns="0" rtlCol="0" anchor="t"/>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기계적</a:t>
            </a:r>
            <a:endParaRPr lang="en-US" sz="1500" dirty="0"/>
          </a:p>
        </p:txBody>
      </p:sp>
      <p:sp>
        <p:nvSpPr>
          <p:cNvPr id="28" name="Text 25"/>
          <p:cNvSpPr txBox="1"/>
          <p:nvPr/>
        </p:nvSpPr>
        <p:spPr>
          <a:xfrm>
            <a:off x="731520" y="5166360"/>
            <a:ext cx="2377440" cy="45720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커넥터 모양 · 핀 수</a:t>
            </a:r>
            <a:endParaRPr lang="en-US" sz="1300" dirty="0"/>
          </a:p>
        </p:txBody>
      </p:sp>
      <p:sp>
        <p:nvSpPr>
          <p:cNvPr id="29" name="Shape 26"/>
          <p:cNvSpPr/>
          <p:nvPr/>
        </p:nvSpPr>
        <p:spPr>
          <a:xfrm>
            <a:off x="3364992" y="4754880"/>
            <a:ext cx="2651760" cy="914400"/>
          </a:xfrm>
          <a:prstGeom prst="roundRect">
            <a:avLst>
              <a:gd name="adj" fmla="val 8000"/>
            </a:avLst>
          </a:prstGeom>
          <a:solidFill>
            <a:srgbClr val="F4F6F7"/>
          </a:solidFill>
          <a:ln w="12700">
            <a:solidFill>
              <a:srgbClr val="9AA5AD"/>
            </a:solidFill>
            <a:prstDash val="solid"/>
          </a:ln>
        </p:spPr>
      </p:sp>
      <p:sp>
        <p:nvSpPr>
          <p:cNvPr id="30" name="Text 27"/>
          <p:cNvSpPr txBox="1"/>
          <p:nvPr/>
        </p:nvSpPr>
        <p:spPr>
          <a:xfrm>
            <a:off x="3547872" y="4800600"/>
            <a:ext cx="2286000" cy="365760"/>
          </a:xfrm>
          <a:prstGeom prst="rect">
            <a:avLst/>
          </a:prstGeom>
          <a:noFill/>
          <a:ln/>
        </p:spPr>
        <p:txBody>
          <a:bodyPr wrap="square" lIns="0" tIns="0" rIns="0" bIns="0" rtlCol="0" anchor="t"/>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전기적</a:t>
            </a:r>
            <a:endParaRPr lang="en-US" sz="1500" dirty="0"/>
          </a:p>
        </p:txBody>
      </p:sp>
      <p:sp>
        <p:nvSpPr>
          <p:cNvPr id="31" name="Text 28"/>
          <p:cNvSpPr txBox="1"/>
          <p:nvPr/>
        </p:nvSpPr>
        <p:spPr>
          <a:xfrm>
            <a:off x="3547872" y="5166360"/>
            <a:ext cx="2377440" cy="45720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전압 · 신호 레벨</a:t>
            </a:r>
            <a:endParaRPr lang="en-US" sz="1300" dirty="0"/>
          </a:p>
        </p:txBody>
      </p:sp>
      <p:sp>
        <p:nvSpPr>
          <p:cNvPr id="32" name="Shape 29"/>
          <p:cNvSpPr/>
          <p:nvPr/>
        </p:nvSpPr>
        <p:spPr>
          <a:xfrm>
            <a:off x="6181344" y="4754880"/>
            <a:ext cx="2651760" cy="914400"/>
          </a:xfrm>
          <a:prstGeom prst="roundRect">
            <a:avLst>
              <a:gd name="adj" fmla="val 8000"/>
            </a:avLst>
          </a:prstGeom>
          <a:solidFill>
            <a:srgbClr val="F4F6F7"/>
          </a:solidFill>
          <a:ln w="12700">
            <a:solidFill>
              <a:srgbClr val="9AA5AD"/>
            </a:solidFill>
            <a:prstDash val="solid"/>
          </a:ln>
        </p:spPr>
      </p:sp>
      <p:sp>
        <p:nvSpPr>
          <p:cNvPr id="33" name="Text 30"/>
          <p:cNvSpPr txBox="1"/>
          <p:nvPr/>
        </p:nvSpPr>
        <p:spPr>
          <a:xfrm>
            <a:off x="6364224" y="4800600"/>
            <a:ext cx="2286000" cy="365760"/>
          </a:xfrm>
          <a:prstGeom prst="rect">
            <a:avLst/>
          </a:prstGeom>
          <a:noFill/>
          <a:ln/>
        </p:spPr>
        <p:txBody>
          <a:bodyPr wrap="square" lIns="0" tIns="0" rIns="0" bIns="0" rtlCol="0" anchor="t"/>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기능적</a:t>
            </a:r>
            <a:endParaRPr lang="en-US" sz="1500" dirty="0"/>
          </a:p>
        </p:txBody>
      </p:sp>
      <p:sp>
        <p:nvSpPr>
          <p:cNvPr id="34" name="Text 31"/>
          <p:cNvSpPr txBox="1"/>
          <p:nvPr/>
        </p:nvSpPr>
        <p:spPr>
          <a:xfrm>
            <a:off x="6364224" y="5166360"/>
            <a:ext cx="2377440" cy="45720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각 핀(단자)의 역할</a:t>
            </a:r>
            <a:endParaRPr lang="en-US" sz="1300" dirty="0"/>
          </a:p>
        </p:txBody>
      </p:sp>
      <p:sp>
        <p:nvSpPr>
          <p:cNvPr id="35" name="Shape 32"/>
          <p:cNvSpPr/>
          <p:nvPr/>
        </p:nvSpPr>
        <p:spPr>
          <a:xfrm>
            <a:off x="8997696" y="4754880"/>
            <a:ext cx="2651760" cy="914400"/>
          </a:xfrm>
          <a:prstGeom prst="roundRect">
            <a:avLst>
              <a:gd name="adj" fmla="val 8000"/>
            </a:avLst>
          </a:prstGeom>
          <a:solidFill>
            <a:srgbClr val="F4F6F7"/>
          </a:solidFill>
          <a:ln w="12700">
            <a:solidFill>
              <a:srgbClr val="9AA5AD"/>
            </a:solidFill>
            <a:prstDash val="solid"/>
          </a:ln>
        </p:spPr>
      </p:sp>
      <p:sp>
        <p:nvSpPr>
          <p:cNvPr id="36" name="Text 33"/>
          <p:cNvSpPr txBox="1"/>
          <p:nvPr/>
        </p:nvSpPr>
        <p:spPr>
          <a:xfrm>
            <a:off x="9180576" y="4800600"/>
            <a:ext cx="2286000" cy="365760"/>
          </a:xfrm>
          <a:prstGeom prst="rect">
            <a:avLst/>
          </a:prstGeom>
          <a:noFill/>
          <a:ln/>
        </p:spPr>
        <p:txBody>
          <a:bodyPr wrap="square" lIns="0" tIns="0" rIns="0" bIns="0" rtlCol="0" anchor="t"/>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절차적</a:t>
            </a:r>
            <a:endParaRPr lang="en-US" sz="1500" dirty="0"/>
          </a:p>
        </p:txBody>
      </p:sp>
      <p:sp>
        <p:nvSpPr>
          <p:cNvPr id="37" name="Text 34"/>
          <p:cNvSpPr txBox="1"/>
          <p:nvPr/>
        </p:nvSpPr>
        <p:spPr>
          <a:xfrm>
            <a:off x="9180576" y="5166360"/>
            <a:ext cx="2377440" cy="45720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DTR·DSR·RTS·CTS·DCD 신호 순서</a:t>
            </a:r>
            <a:endParaRPr lang="en-US" sz="13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캡슐화 — 계층을 내려가며 헤더가 붙는다</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3 · 통신 모델</a:t>
            </a:r>
            <a:endParaRPr lang="en-US" sz="1100" dirty="0"/>
          </a:p>
        </p:txBody>
      </p:sp>
      <p:sp>
        <p:nvSpPr>
          <p:cNvPr id="5" name="Text 2"/>
          <p:cNvSpPr txBox="1"/>
          <p:nvPr/>
        </p:nvSpPr>
        <p:spPr>
          <a:xfrm>
            <a:off x="548640" y="1325880"/>
            <a:ext cx="731520" cy="6858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L5~7</a:t>
            </a:r>
            <a:endParaRPr lang="en-US" sz="1500" dirty="0"/>
          </a:p>
        </p:txBody>
      </p:sp>
      <p:sp>
        <p:nvSpPr>
          <p:cNvPr id="6" name="Text 3"/>
          <p:cNvSpPr txBox="1"/>
          <p:nvPr/>
        </p:nvSpPr>
        <p:spPr>
          <a:xfrm>
            <a:off x="1280160" y="1325880"/>
            <a:ext cx="1280160" cy="68580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데이터</a:t>
            </a:r>
            <a:endParaRPr lang="en-US" sz="1500" dirty="0"/>
          </a:p>
        </p:txBody>
      </p:sp>
      <p:sp>
        <p:nvSpPr>
          <p:cNvPr id="7" name="Shape 4"/>
          <p:cNvSpPr/>
          <p:nvPr/>
        </p:nvSpPr>
        <p:spPr>
          <a:xfrm>
            <a:off x="7982712" y="1325880"/>
            <a:ext cx="3611880" cy="685800"/>
          </a:xfrm>
          <a:prstGeom prst="roundRect">
            <a:avLst>
              <a:gd name="adj" fmla="val 10667"/>
            </a:avLst>
          </a:prstGeom>
          <a:solidFill>
            <a:srgbClr val="F4F6F7"/>
          </a:solidFill>
          <a:ln w="12700">
            <a:solidFill>
              <a:srgbClr val="9AA5AD"/>
            </a:solidFill>
            <a:prstDash val="solid"/>
          </a:ln>
        </p:spPr>
      </p:sp>
      <p:sp>
        <p:nvSpPr>
          <p:cNvPr id="8" name="Text 5"/>
          <p:cNvSpPr txBox="1"/>
          <p:nvPr/>
        </p:nvSpPr>
        <p:spPr>
          <a:xfrm>
            <a:off x="7982712" y="1325880"/>
            <a:ext cx="3611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데이터</a:t>
            </a:r>
            <a:endParaRPr lang="en-US" sz="1200" dirty="0"/>
          </a:p>
        </p:txBody>
      </p:sp>
      <p:sp>
        <p:nvSpPr>
          <p:cNvPr id="9" name="Text 6"/>
          <p:cNvSpPr txBox="1"/>
          <p:nvPr/>
        </p:nvSpPr>
        <p:spPr>
          <a:xfrm>
            <a:off x="548640" y="2194560"/>
            <a:ext cx="731520" cy="6858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L4</a:t>
            </a:r>
            <a:endParaRPr lang="en-US" sz="1500" dirty="0"/>
          </a:p>
        </p:txBody>
      </p:sp>
      <p:sp>
        <p:nvSpPr>
          <p:cNvPr id="10" name="Text 7"/>
          <p:cNvSpPr txBox="1"/>
          <p:nvPr/>
        </p:nvSpPr>
        <p:spPr>
          <a:xfrm>
            <a:off x="1280160" y="2194560"/>
            <a:ext cx="1280160" cy="68580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세그먼트</a:t>
            </a:r>
            <a:endParaRPr lang="en-US" sz="1500" dirty="0"/>
          </a:p>
        </p:txBody>
      </p:sp>
      <p:sp>
        <p:nvSpPr>
          <p:cNvPr id="11" name="Shape 8"/>
          <p:cNvSpPr/>
          <p:nvPr/>
        </p:nvSpPr>
        <p:spPr>
          <a:xfrm>
            <a:off x="7982712" y="2194560"/>
            <a:ext cx="3611880" cy="685800"/>
          </a:xfrm>
          <a:prstGeom prst="roundRect">
            <a:avLst>
              <a:gd name="adj" fmla="val 10667"/>
            </a:avLst>
          </a:prstGeom>
          <a:solidFill>
            <a:srgbClr val="F4F6F7"/>
          </a:solidFill>
          <a:ln w="12700">
            <a:solidFill>
              <a:srgbClr val="9AA5AD"/>
            </a:solidFill>
            <a:prstDash val="solid"/>
          </a:ln>
        </p:spPr>
      </p:sp>
      <p:sp>
        <p:nvSpPr>
          <p:cNvPr id="12" name="Text 9"/>
          <p:cNvSpPr txBox="1"/>
          <p:nvPr/>
        </p:nvSpPr>
        <p:spPr>
          <a:xfrm>
            <a:off x="7982712" y="2194560"/>
            <a:ext cx="3611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데이터</a:t>
            </a:r>
            <a:endParaRPr lang="en-US" sz="1200" dirty="0"/>
          </a:p>
        </p:txBody>
      </p:sp>
      <p:sp>
        <p:nvSpPr>
          <p:cNvPr id="13" name="Shape 10"/>
          <p:cNvSpPr/>
          <p:nvPr/>
        </p:nvSpPr>
        <p:spPr>
          <a:xfrm>
            <a:off x="6611112" y="2194560"/>
            <a:ext cx="1325880" cy="685800"/>
          </a:xfrm>
          <a:prstGeom prst="roundRect">
            <a:avLst>
              <a:gd name="adj" fmla="val 10667"/>
            </a:avLst>
          </a:prstGeom>
          <a:solidFill>
            <a:srgbClr val="E6F1F2"/>
          </a:solidFill>
          <a:ln w="12700">
            <a:solidFill>
              <a:srgbClr val="0E6E7A"/>
            </a:solidFill>
            <a:prstDash val="solid"/>
          </a:ln>
        </p:spPr>
      </p:sp>
      <p:sp>
        <p:nvSpPr>
          <p:cNvPr id="14" name="Text 11"/>
          <p:cNvSpPr txBox="1"/>
          <p:nvPr/>
        </p:nvSpPr>
        <p:spPr>
          <a:xfrm>
            <a:off x="6611112" y="2194560"/>
            <a:ext cx="1325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TCP 헤더</a:t>
            </a:r>
            <a:endParaRPr lang="en-US" sz="1200" dirty="0"/>
          </a:p>
          <a:p>
            <a:pPr algn="ctr" indent="0" marL="0">
              <a:buNone/>
            </a:pPr>
            <a:r>
              <a:rPr lang="en-US" sz="1200" dirty="0">
                <a:solidFill>
                  <a:srgbClr val="1E2A30"/>
                </a:solidFill>
                <a:latin typeface="맑은 고딕" pitchFamily="34" charset="0"/>
                <a:ea typeface="맑은 고딕" pitchFamily="34" charset="-122"/>
                <a:cs typeface="맑은 고딕" pitchFamily="34" charset="-120"/>
              </a:rPr>
              <a:t>포트</a:t>
            </a:r>
            <a:endParaRPr lang="en-US" sz="1200" dirty="0"/>
          </a:p>
        </p:txBody>
      </p:sp>
      <p:sp>
        <p:nvSpPr>
          <p:cNvPr id="15" name="Text 12"/>
          <p:cNvSpPr txBox="1"/>
          <p:nvPr/>
        </p:nvSpPr>
        <p:spPr>
          <a:xfrm>
            <a:off x="548640" y="3063240"/>
            <a:ext cx="731520" cy="6858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L3</a:t>
            </a:r>
            <a:endParaRPr lang="en-US" sz="1500" dirty="0"/>
          </a:p>
        </p:txBody>
      </p:sp>
      <p:sp>
        <p:nvSpPr>
          <p:cNvPr id="16" name="Text 13"/>
          <p:cNvSpPr txBox="1"/>
          <p:nvPr/>
        </p:nvSpPr>
        <p:spPr>
          <a:xfrm>
            <a:off x="1280160" y="3063240"/>
            <a:ext cx="1280160" cy="68580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패킷</a:t>
            </a:r>
            <a:endParaRPr lang="en-US" sz="1500" dirty="0"/>
          </a:p>
        </p:txBody>
      </p:sp>
      <p:sp>
        <p:nvSpPr>
          <p:cNvPr id="17" name="Shape 14"/>
          <p:cNvSpPr/>
          <p:nvPr/>
        </p:nvSpPr>
        <p:spPr>
          <a:xfrm>
            <a:off x="7982712" y="3063240"/>
            <a:ext cx="3611880" cy="685800"/>
          </a:xfrm>
          <a:prstGeom prst="roundRect">
            <a:avLst>
              <a:gd name="adj" fmla="val 10667"/>
            </a:avLst>
          </a:prstGeom>
          <a:solidFill>
            <a:srgbClr val="F4F6F7"/>
          </a:solidFill>
          <a:ln w="12700">
            <a:solidFill>
              <a:srgbClr val="9AA5AD"/>
            </a:solidFill>
            <a:prstDash val="solid"/>
          </a:ln>
        </p:spPr>
      </p:sp>
      <p:sp>
        <p:nvSpPr>
          <p:cNvPr id="18" name="Text 15"/>
          <p:cNvSpPr txBox="1"/>
          <p:nvPr/>
        </p:nvSpPr>
        <p:spPr>
          <a:xfrm>
            <a:off x="7982712" y="3063240"/>
            <a:ext cx="3611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데이터</a:t>
            </a:r>
            <a:endParaRPr lang="en-US" sz="1200" dirty="0"/>
          </a:p>
        </p:txBody>
      </p:sp>
      <p:sp>
        <p:nvSpPr>
          <p:cNvPr id="19" name="Shape 16"/>
          <p:cNvSpPr/>
          <p:nvPr/>
        </p:nvSpPr>
        <p:spPr>
          <a:xfrm>
            <a:off x="6611112" y="3063240"/>
            <a:ext cx="1325880" cy="685800"/>
          </a:xfrm>
          <a:prstGeom prst="roundRect">
            <a:avLst>
              <a:gd name="adj" fmla="val 10667"/>
            </a:avLst>
          </a:prstGeom>
          <a:solidFill>
            <a:srgbClr val="E6F1F2"/>
          </a:solidFill>
          <a:ln w="12700">
            <a:solidFill>
              <a:srgbClr val="0E6E7A"/>
            </a:solidFill>
            <a:prstDash val="solid"/>
          </a:ln>
        </p:spPr>
      </p:sp>
      <p:sp>
        <p:nvSpPr>
          <p:cNvPr id="20" name="Text 17"/>
          <p:cNvSpPr txBox="1"/>
          <p:nvPr/>
        </p:nvSpPr>
        <p:spPr>
          <a:xfrm>
            <a:off x="6611112" y="3063240"/>
            <a:ext cx="1325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TCP 헤더</a:t>
            </a:r>
            <a:endParaRPr lang="en-US" sz="1200" dirty="0"/>
          </a:p>
        </p:txBody>
      </p:sp>
      <p:sp>
        <p:nvSpPr>
          <p:cNvPr id="21" name="Shape 18"/>
          <p:cNvSpPr/>
          <p:nvPr/>
        </p:nvSpPr>
        <p:spPr>
          <a:xfrm>
            <a:off x="5239512" y="3063240"/>
            <a:ext cx="1325880" cy="685800"/>
          </a:xfrm>
          <a:prstGeom prst="roundRect">
            <a:avLst>
              <a:gd name="adj" fmla="val 10667"/>
            </a:avLst>
          </a:prstGeom>
          <a:solidFill>
            <a:srgbClr val="E6F1F2"/>
          </a:solidFill>
          <a:ln w="12700">
            <a:solidFill>
              <a:srgbClr val="0E6E7A"/>
            </a:solidFill>
            <a:prstDash val="solid"/>
          </a:ln>
        </p:spPr>
      </p:sp>
      <p:sp>
        <p:nvSpPr>
          <p:cNvPr id="22" name="Text 19"/>
          <p:cNvSpPr txBox="1"/>
          <p:nvPr/>
        </p:nvSpPr>
        <p:spPr>
          <a:xfrm>
            <a:off x="5239512" y="3063240"/>
            <a:ext cx="1325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IP 헤더</a:t>
            </a:r>
            <a:endParaRPr lang="en-US" sz="1200" dirty="0"/>
          </a:p>
          <a:p>
            <a:pPr algn="ctr" indent="0" marL="0">
              <a:buNone/>
            </a:pPr>
            <a:r>
              <a:rPr lang="en-US" sz="1200" dirty="0">
                <a:solidFill>
                  <a:srgbClr val="1E2A30"/>
                </a:solidFill>
                <a:latin typeface="맑은 고딕" pitchFamily="34" charset="0"/>
                <a:ea typeface="맑은 고딕" pitchFamily="34" charset="-122"/>
                <a:cs typeface="맑은 고딕" pitchFamily="34" charset="-120"/>
              </a:rPr>
              <a:t>IP 주소</a:t>
            </a:r>
            <a:endParaRPr lang="en-US" sz="1200" dirty="0"/>
          </a:p>
        </p:txBody>
      </p:sp>
      <p:sp>
        <p:nvSpPr>
          <p:cNvPr id="23" name="Text 20"/>
          <p:cNvSpPr txBox="1"/>
          <p:nvPr/>
        </p:nvSpPr>
        <p:spPr>
          <a:xfrm>
            <a:off x="548640" y="3931920"/>
            <a:ext cx="731520" cy="6858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L2</a:t>
            </a:r>
            <a:endParaRPr lang="en-US" sz="1500" dirty="0"/>
          </a:p>
        </p:txBody>
      </p:sp>
      <p:sp>
        <p:nvSpPr>
          <p:cNvPr id="24" name="Text 21"/>
          <p:cNvSpPr txBox="1"/>
          <p:nvPr/>
        </p:nvSpPr>
        <p:spPr>
          <a:xfrm>
            <a:off x="1280160" y="3931920"/>
            <a:ext cx="1280160" cy="68580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프레임</a:t>
            </a:r>
            <a:endParaRPr lang="en-US" sz="1500" dirty="0"/>
          </a:p>
        </p:txBody>
      </p:sp>
      <p:sp>
        <p:nvSpPr>
          <p:cNvPr id="25" name="Shape 22"/>
          <p:cNvSpPr/>
          <p:nvPr/>
        </p:nvSpPr>
        <p:spPr>
          <a:xfrm>
            <a:off x="10634472" y="3931920"/>
            <a:ext cx="960120" cy="685800"/>
          </a:xfrm>
          <a:prstGeom prst="roundRect">
            <a:avLst>
              <a:gd name="adj" fmla="val 10667"/>
            </a:avLst>
          </a:prstGeom>
          <a:solidFill>
            <a:srgbClr val="E6F1F2"/>
          </a:solidFill>
          <a:ln w="12700">
            <a:solidFill>
              <a:srgbClr val="0E6E7A"/>
            </a:solidFill>
            <a:prstDash val="solid"/>
          </a:ln>
        </p:spPr>
      </p:sp>
      <p:sp>
        <p:nvSpPr>
          <p:cNvPr id="26" name="Text 23"/>
          <p:cNvSpPr txBox="1"/>
          <p:nvPr/>
        </p:nvSpPr>
        <p:spPr>
          <a:xfrm>
            <a:off x="10634472" y="3931920"/>
            <a:ext cx="96012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트레일러</a:t>
            </a:r>
            <a:endParaRPr lang="en-US" sz="1200" dirty="0"/>
          </a:p>
        </p:txBody>
      </p:sp>
      <p:sp>
        <p:nvSpPr>
          <p:cNvPr id="27" name="Shape 24"/>
          <p:cNvSpPr/>
          <p:nvPr/>
        </p:nvSpPr>
        <p:spPr>
          <a:xfrm>
            <a:off x="6976872" y="3931920"/>
            <a:ext cx="3611880" cy="685800"/>
          </a:xfrm>
          <a:prstGeom prst="roundRect">
            <a:avLst>
              <a:gd name="adj" fmla="val 10667"/>
            </a:avLst>
          </a:prstGeom>
          <a:solidFill>
            <a:srgbClr val="F4F6F7"/>
          </a:solidFill>
          <a:ln w="12700">
            <a:solidFill>
              <a:srgbClr val="9AA5AD"/>
            </a:solidFill>
            <a:prstDash val="solid"/>
          </a:ln>
        </p:spPr>
      </p:sp>
      <p:sp>
        <p:nvSpPr>
          <p:cNvPr id="28" name="Text 25"/>
          <p:cNvSpPr txBox="1"/>
          <p:nvPr/>
        </p:nvSpPr>
        <p:spPr>
          <a:xfrm>
            <a:off x="6976872" y="3931920"/>
            <a:ext cx="3611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데이터</a:t>
            </a:r>
            <a:endParaRPr lang="en-US" sz="1200" dirty="0"/>
          </a:p>
        </p:txBody>
      </p:sp>
      <p:sp>
        <p:nvSpPr>
          <p:cNvPr id="29" name="Shape 26"/>
          <p:cNvSpPr/>
          <p:nvPr/>
        </p:nvSpPr>
        <p:spPr>
          <a:xfrm>
            <a:off x="5605272" y="3931920"/>
            <a:ext cx="1325880" cy="685800"/>
          </a:xfrm>
          <a:prstGeom prst="roundRect">
            <a:avLst>
              <a:gd name="adj" fmla="val 10667"/>
            </a:avLst>
          </a:prstGeom>
          <a:solidFill>
            <a:srgbClr val="E6F1F2"/>
          </a:solidFill>
          <a:ln w="12700">
            <a:solidFill>
              <a:srgbClr val="0E6E7A"/>
            </a:solidFill>
            <a:prstDash val="solid"/>
          </a:ln>
        </p:spPr>
      </p:sp>
      <p:sp>
        <p:nvSpPr>
          <p:cNvPr id="30" name="Text 27"/>
          <p:cNvSpPr txBox="1"/>
          <p:nvPr/>
        </p:nvSpPr>
        <p:spPr>
          <a:xfrm>
            <a:off x="5605272" y="3931920"/>
            <a:ext cx="1325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TCP 헤더</a:t>
            </a:r>
            <a:endParaRPr lang="en-US" sz="1200" dirty="0"/>
          </a:p>
        </p:txBody>
      </p:sp>
      <p:sp>
        <p:nvSpPr>
          <p:cNvPr id="31" name="Shape 28"/>
          <p:cNvSpPr/>
          <p:nvPr/>
        </p:nvSpPr>
        <p:spPr>
          <a:xfrm>
            <a:off x="4233672" y="3931920"/>
            <a:ext cx="1325880" cy="685800"/>
          </a:xfrm>
          <a:prstGeom prst="roundRect">
            <a:avLst>
              <a:gd name="adj" fmla="val 10667"/>
            </a:avLst>
          </a:prstGeom>
          <a:solidFill>
            <a:srgbClr val="E6F1F2"/>
          </a:solidFill>
          <a:ln w="12700">
            <a:solidFill>
              <a:srgbClr val="0E6E7A"/>
            </a:solidFill>
            <a:prstDash val="solid"/>
          </a:ln>
        </p:spPr>
      </p:sp>
      <p:sp>
        <p:nvSpPr>
          <p:cNvPr id="32" name="Text 29"/>
          <p:cNvSpPr txBox="1"/>
          <p:nvPr/>
        </p:nvSpPr>
        <p:spPr>
          <a:xfrm>
            <a:off x="4233672" y="3931920"/>
            <a:ext cx="1325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IP 헤더</a:t>
            </a:r>
            <a:endParaRPr lang="en-US" sz="1200" dirty="0"/>
          </a:p>
        </p:txBody>
      </p:sp>
      <p:sp>
        <p:nvSpPr>
          <p:cNvPr id="33" name="Shape 30"/>
          <p:cNvSpPr/>
          <p:nvPr/>
        </p:nvSpPr>
        <p:spPr>
          <a:xfrm>
            <a:off x="2862072" y="3931920"/>
            <a:ext cx="1325880" cy="685800"/>
          </a:xfrm>
          <a:prstGeom prst="roundRect">
            <a:avLst>
              <a:gd name="adj" fmla="val 10667"/>
            </a:avLst>
          </a:prstGeom>
          <a:solidFill>
            <a:srgbClr val="E6F1F2"/>
          </a:solidFill>
          <a:ln w="12700">
            <a:solidFill>
              <a:srgbClr val="0E6E7A"/>
            </a:solidFill>
            <a:prstDash val="solid"/>
          </a:ln>
        </p:spPr>
      </p:sp>
      <p:sp>
        <p:nvSpPr>
          <p:cNvPr id="34" name="Text 31"/>
          <p:cNvSpPr txBox="1"/>
          <p:nvPr/>
        </p:nvSpPr>
        <p:spPr>
          <a:xfrm>
            <a:off x="2862072" y="3931920"/>
            <a:ext cx="132588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MAC 헤더</a:t>
            </a:r>
            <a:endParaRPr lang="en-US" sz="1200" dirty="0"/>
          </a:p>
          <a:p>
            <a:pPr algn="ctr" indent="0" marL="0">
              <a:buNone/>
            </a:pPr>
            <a:r>
              <a:rPr lang="en-US" sz="1200" dirty="0">
                <a:solidFill>
                  <a:srgbClr val="1E2A30"/>
                </a:solidFill>
                <a:latin typeface="맑은 고딕" pitchFamily="34" charset="0"/>
                <a:ea typeface="맑은 고딕" pitchFamily="34" charset="-122"/>
                <a:cs typeface="맑은 고딕" pitchFamily="34" charset="-120"/>
              </a:rPr>
              <a:t>MAC 주소</a:t>
            </a:r>
            <a:endParaRPr lang="en-US" sz="1200" dirty="0"/>
          </a:p>
        </p:txBody>
      </p:sp>
      <p:sp>
        <p:nvSpPr>
          <p:cNvPr id="35" name="Text 32"/>
          <p:cNvSpPr txBox="1"/>
          <p:nvPr/>
        </p:nvSpPr>
        <p:spPr>
          <a:xfrm>
            <a:off x="548640" y="4800600"/>
            <a:ext cx="731520" cy="6858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L1</a:t>
            </a:r>
            <a:endParaRPr lang="en-US" sz="1500" dirty="0"/>
          </a:p>
        </p:txBody>
      </p:sp>
      <p:sp>
        <p:nvSpPr>
          <p:cNvPr id="36" name="Text 33"/>
          <p:cNvSpPr txBox="1"/>
          <p:nvPr/>
        </p:nvSpPr>
        <p:spPr>
          <a:xfrm>
            <a:off x="1280160" y="4800600"/>
            <a:ext cx="1280160" cy="685800"/>
          </a:xfrm>
          <a:prstGeom prst="rect">
            <a:avLst/>
          </a:prstGeom>
          <a:noFill/>
          <a:ln/>
        </p:spPr>
        <p:txBody>
          <a:bodyPr wrap="square" lIns="0" tIns="0" rIns="0" bIns="0" rtlCol="0" anchor="ct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비트</a:t>
            </a:r>
            <a:endParaRPr lang="en-US" sz="1500" dirty="0"/>
          </a:p>
        </p:txBody>
      </p:sp>
      <p:sp>
        <p:nvSpPr>
          <p:cNvPr id="37" name="Shape 34"/>
          <p:cNvSpPr/>
          <p:nvPr/>
        </p:nvSpPr>
        <p:spPr>
          <a:xfrm>
            <a:off x="2862072" y="4800600"/>
            <a:ext cx="8732520" cy="685800"/>
          </a:xfrm>
          <a:prstGeom prst="roundRect">
            <a:avLst>
              <a:gd name="adj" fmla="val 10667"/>
            </a:avLst>
          </a:prstGeom>
          <a:solidFill>
            <a:srgbClr val="FFFFFF"/>
          </a:solidFill>
          <a:ln w="12700">
            <a:solidFill>
              <a:srgbClr val="0E6E7A"/>
            </a:solidFill>
            <a:prstDash val="solid"/>
          </a:ln>
        </p:spPr>
      </p:sp>
      <p:sp>
        <p:nvSpPr>
          <p:cNvPr id="38" name="Text 35"/>
          <p:cNvSpPr txBox="1"/>
          <p:nvPr/>
        </p:nvSpPr>
        <p:spPr>
          <a:xfrm>
            <a:off x="2862072" y="4800600"/>
            <a:ext cx="8732520" cy="685800"/>
          </a:xfrm>
          <a:prstGeom prst="rect">
            <a:avLst/>
          </a:prstGeom>
          <a:noFill/>
          <a:ln/>
        </p:spPr>
        <p:txBody>
          <a:bodyPr wrap="square" lIns="0" tIns="0" rIns="0" bIns="0" rtlCol="0" anchor="ctr"/>
          <a:lstStyle/>
          <a:p>
            <a:pPr algn="ctr" indent="0" marL="0">
              <a:buNone/>
            </a:pPr>
            <a:r>
              <a:rPr lang="en-US" sz="1200" dirty="0">
                <a:solidFill>
                  <a:srgbClr val="1E2A30"/>
                </a:solidFill>
                <a:latin typeface="Consolas" pitchFamily="34" charset="0"/>
                <a:ea typeface="Consolas" pitchFamily="34" charset="-122"/>
                <a:cs typeface="Consolas" pitchFamily="34" charset="-120"/>
              </a:rPr>
              <a:t>0 1 1 0 1 0 0 1 0 1 1 1 0 0 1 0 1 0 1 1 0 …</a:t>
            </a:r>
            <a:endParaRPr lang="en-US" sz="1200" dirty="0"/>
          </a:p>
        </p:txBody>
      </p:sp>
      <p:sp>
        <p:nvSpPr>
          <p:cNvPr id="39" name="Shape 36"/>
          <p:cNvSpPr/>
          <p:nvPr/>
        </p:nvSpPr>
        <p:spPr>
          <a:xfrm>
            <a:off x="2651760" y="1463040"/>
            <a:ext cx="914" cy="3657600"/>
          </a:xfrm>
          <a:prstGeom prst="line">
            <a:avLst/>
          </a:prstGeom>
          <a:noFill/>
          <a:ln w="25400">
            <a:solidFill>
              <a:srgbClr val="0E6E7A"/>
            </a:solidFill>
            <a:prstDash val="solid"/>
            <a:tailEnd type="triangle"/>
          </a:ln>
        </p:spPr>
      </p:sp>
      <p:sp>
        <p:nvSpPr>
          <p:cNvPr id="40" name="Text 37"/>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600" b="1" dirty="0">
                <a:solidFill>
                  <a:srgbClr val="66737C"/>
                </a:solidFill>
                <a:latin typeface="맑은 고딕" pitchFamily="34" charset="0"/>
                <a:ea typeface="맑은 고딕" pitchFamily="34" charset="-122"/>
                <a:cs typeface="맑은 고딕" pitchFamily="34" charset="-120"/>
              </a:rPr>
              <a:t>보낼 때: 캡슐화 ↓   /   받을 때: 역캡슐화 ↑</a:t>
            </a:r>
            <a:endParaRPr lang="en-US" sz="1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TCP/IP 4계층과 OSI 7계층의 대응</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3 · 통신 모델</a:t>
            </a:r>
            <a:endParaRPr lang="en-US" sz="1100" dirty="0"/>
          </a:p>
        </p:txBody>
      </p:sp>
      <p:sp>
        <p:nvSpPr>
          <p:cNvPr id="5" name="Shape 2"/>
          <p:cNvSpPr/>
          <p:nvPr/>
        </p:nvSpPr>
        <p:spPr>
          <a:xfrm>
            <a:off x="548640" y="1325880"/>
            <a:ext cx="2651760" cy="548640"/>
          </a:xfrm>
          <a:prstGeom prst="roundRect">
            <a:avLst>
              <a:gd name="adj" fmla="val 13333"/>
            </a:avLst>
          </a:prstGeom>
          <a:solidFill>
            <a:srgbClr val="F4F6F7"/>
          </a:solidFill>
          <a:ln w="12700">
            <a:solidFill>
              <a:srgbClr val="9AA5AD"/>
            </a:solidFill>
            <a:prstDash val="solid"/>
          </a:ln>
        </p:spPr>
      </p:sp>
      <p:sp>
        <p:nvSpPr>
          <p:cNvPr id="6" name="Text 3"/>
          <p:cNvSpPr txBox="1"/>
          <p:nvPr/>
        </p:nvSpPr>
        <p:spPr>
          <a:xfrm>
            <a:off x="548640" y="1325880"/>
            <a:ext cx="2651760" cy="54864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L7 응용</a:t>
            </a:r>
            <a:endParaRPr lang="en-US" sz="1500" dirty="0"/>
          </a:p>
        </p:txBody>
      </p:sp>
      <p:sp>
        <p:nvSpPr>
          <p:cNvPr id="7" name="Shape 4"/>
          <p:cNvSpPr/>
          <p:nvPr/>
        </p:nvSpPr>
        <p:spPr>
          <a:xfrm>
            <a:off x="548640" y="1947672"/>
            <a:ext cx="2651760" cy="548640"/>
          </a:xfrm>
          <a:prstGeom prst="roundRect">
            <a:avLst>
              <a:gd name="adj" fmla="val 13333"/>
            </a:avLst>
          </a:prstGeom>
          <a:solidFill>
            <a:srgbClr val="F4F6F7"/>
          </a:solidFill>
          <a:ln w="12700">
            <a:solidFill>
              <a:srgbClr val="9AA5AD"/>
            </a:solidFill>
            <a:prstDash val="solid"/>
          </a:ln>
        </p:spPr>
      </p:sp>
      <p:sp>
        <p:nvSpPr>
          <p:cNvPr id="8" name="Text 5"/>
          <p:cNvSpPr txBox="1"/>
          <p:nvPr/>
        </p:nvSpPr>
        <p:spPr>
          <a:xfrm>
            <a:off x="548640" y="1947672"/>
            <a:ext cx="2651760" cy="54864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L6 표현</a:t>
            </a:r>
            <a:endParaRPr lang="en-US" sz="1500" dirty="0"/>
          </a:p>
        </p:txBody>
      </p:sp>
      <p:sp>
        <p:nvSpPr>
          <p:cNvPr id="9" name="Shape 6"/>
          <p:cNvSpPr/>
          <p:nvPr/>
        </p:nvSpPr>
        <p:spPr>
          <a:xfrm>
            <a:off x="548640" y="2569464"/>
            <a:ext cx="2651760" cy="548640"/>
          </a:xfrm>
          <a:prstGeom prst="roundRect">
            <a:avLst>
              <a:gd name="adj" fmla="val 13333"/>
            </a:avLst>
          </a:prstGeom>
          <a:solidFill>
            <a:srgbClr val="F4F6F7"/>
          </a:solidFill>
          <a:ln w="12700">
            <a:solidFill>
              <a:srgbClr val="9AA5AD"/>
            </a:solidFill>
            <a:prstDash val="solid"/>
          </a:ln>
        </p:spPr>
      </p:sp>
      <p:sp>
        <p:nvSpPr>
          <p:cNvPr id="10" name="Text 7"/>
          <p:cNvSpPr txBox="1"/>
          <p:nvPr/>
        </p:nvSpPr>
        <p:spPr>
          <a:xfrm>
            <a:off x="548640" y="2569464"/>
            <a:ext cx="2651760" cy="54864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L5 세션</a:t>
            </a:r>
            <a:endParaRPr lang="en-US" sz="1500" dirty="0"/>
          </a:p>
        </p:txBody>
      </p:sp>
      <p:sp>
        <p:nvSpPr>
          <p:cNvPr id="11" name="Shape 8"/>
          <p:cNvSpPr/>
          <p:nvPr/>
        </p:nvSpPr>
        <p:spPr>
          <a:xfrm>
            <a:off x="548640" y="3191256"/>
            <a:ext cx="2651760" cy="548640"/>
          </a:xfrm>
          <a:prstGeom prst="roundRect">
            <a:avLst>
              <a:gd name="adj" fmla="val 13333"/>
            </a:avLst>
          </a:prstGeom>
          <a:solidFill>
            <a:srgbClr val="F4F6F7"/>
          </a:solidFill>
          <a:ln w="12700">
            <a:solidFill>
              <a:srgbClr val="9AA5AD"/>
            </a:solidFill>
            <a:prstDash val="solid"/>
          </a:ln>
        </p:spPr>
      </p:sp>
      <p:sp>
        <p:nvSpPr>
          <p:cNvPr id="12" name="Text 9"/>
          <p:cNvSpPr txBox="1"/>
          <p:nvPr/>
        </p:nvSpPr>
        <p:spPr>
          <a:xfrm>
            <a:off x="548640" y="3191256"/>
            <a:ext cx="2651760" cy="54864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L4 전송</a:t>
            </a:r>
            <a:endParaRPr lang="en-US" sz="1500" dirty="0"/>
          </a:p>
        </p:txBody>
      </p:sp>
      <p:sp>
        <p:nvSpPr>
          <p:cNvPr id="13" name="Shape 10"/>
          <p:cNvSpPr/>
          <p:nvPr/>
        </p:nvSpPr>
        <p:spPr>
          <a:xfrm>
            <a:off x="548640" y="3813048"/>
            <a:ext cx="2651760" cy="548640"/>
          </a:xfrm>
          <a:prstGeom prst="roundRect">
            <a:avLst>
              <a:gd name="adj" fmla="val 13333"/>
            </a:avLst>
          </a:prstGeom>
          <a:solidFill>
            <a:srgbClr val="F4F6F7"/>
          </a:solidFill>
          <a:ln w="12700">
            <a:solidFill>
              <a:srgbClr val="9AA5AD"/>
            </a:solidFill>
            <a:prstDash val="solid"/>
          </a:ln>
        </p:spPr>
      </p:sp>
      <p:sp>
        <p:nvSpPr>
          <p:cNvPr id="14" name="Text 11"/>
          <p:cNvSpPr txBox="1"/>
          <p:nvPr/>
        </p:nvSpPr>
        <p:spPr>
          <a:xfrm>
            <a:off x="548640" y="3813048"/>
            <a:ext cx="2651760" cy="54864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L3 네트워크</a:t>
            </a:r>
            <a:endParaRPr lang="en-US" sz="1500" dirty="0"/>
          </a:p>
        </p:txBody>
      </p:sp>
      <p:sp>
        <p:nvSpPr>
          <p:cNvPr id="15" name="Shape 12"/>
          <p:cNvSpPr/>
          <p:nvPr/>
        </p:nvSpPr>
        <p:spPr>
          <a:xfrm>
            <a:off x="548640" y="4434840"/>
            <a:ext cx="2651760" cy="548640"/>
          </a:xfrm>
          <a:prstGeom prst="roundRect">
            <a:avLst>
              <a:gd name="adj" fmla="val 13333"/>
            </a:avLst>
          </a:prstGeom>
          <a:solidFill>
            <a:srgbClr val="F4F6F7"/>
          </a:solidFill>
          <a:ln w="12700">
            <a:solidFill>
              <a:srgbClr val="9AA5AD"/>
            </a:solidFill>
            <a:prstDash val="solid"/>
          </a:ln>
        </p:spPr>
      </p:sp>
      <p:sp>
        <p:nvSpPr>
          <p:cNvPr id="16" name="Text 13"/>
          <p:cNvSpPr txBox="1"/>
          <p:nvPr/>
        </p:nvSpPr>
        <p:spPr>
          <a:xfrm>
            <a:off x="548640" y="4434840"/>
            <a:ext cx="2651760" cy="54864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L2 데이터링크</a:t>
            </a:r>
            <a:endParaRPr lang="en-US" sz="1500" dirty="0"/>
          </a:p>
        </p:txBody>
      </p:sp>
      <p:sp>
        <p:nvSpPr>
          <p:cNvPr id="17" name="Shape 14"/>
          <p:cNvSpPr/>
          <p:nvPr/>
        </p:nvSpPr>
        <p:spPr>
          <a:xfrm>
            <a:off x="548640" y="5056632"/>
            <a:ext cx="2651760" cy="548640"/>
          </a:xfrm>
          <a:prstGeom prst="roundRect">
            <a:avLst>
              <a:gd name="adj" fmla="val 13333"/>
            </a:avLst>
          </a:prstGeom>
          <a:solidFill>
            <a:srgbClr val="F4F6F7"/>
          </a:solidFill>
          <a:ln w="12700">
            <a:solidFill>
              <a:srgbClr val="9AA5AD"/>
            </a:solidFill>
            <a:prstDash val="solid"/>
          </a:ln>
        </p:spPr>
      </p:sp>
      <p:sp>
        <p:nvSpPr>
          <p:cNvPr id="18" name="Text 15"/>
          <p:cNvSpPr txBox="1"/>
          <p:nvPr/>
        </p:nvSpPr>
        <p:spPr>
          <a:xfrm>
            <a:off x="548640" y="5056632"/>
            <a:ext cx="2651760" cy="54864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L1 물리</a:t>
            </a:r>
            <a:endParaRPr lang="en-US" sz="1500" dirty="0"/>
          </a:p>
        </p:txBody>
      </p:sp>
      <p:sp>
        <p:nvSpPr>
          <p:cNvPr id="19" name="Shape 16"/>
          <p:cNvSpPr/>
          <p:nvPr/>
        </p:nvSpPr>
        <p:spPr>
          <a:xfrm>
            <a:off x="3931920" y="1325880"/>
            <a:ext cx="3017520" cy="1792224"/>
          </a:xfrm>
          <a:prstGeom prst="roundRect">
            <a:avLst>
              <a:gd name="adj" fmla="val 4082"/>
            </a:avLst>
          </a:prstGeom>
          <a:solidFill>
            <a:srgbClr val="E6F1F2"/>
          </a:solidFill>
          <a:ln w="15875">
            <a:solidFill>
              <a:srgbClr val="0E6E7A"/>
            </a:solidFill>
            <a:prstDash val="solid"/>
          </a:ln>
        </p:spPr>
      </p:sp>
      <p:sp>
        <p:nvSpPr>
          <p:cNvPr id="20" name="Text 17"/>
          <p:cNvSpPr txBox="1"/>
          <p:nvPr/>
        </p:nvSpPr>
        <p:spPr>
          <a:xfrm>
            <a:off x="3931920" y="1325880"/>
            <a:ext cx="3017520" cy="1792224"/>
          </a:xfrm>
          <a:prstGeom prst="rect">
            <a:avLst/>
          </a:prstGeom>
          <a:noFill/>
          <a:ln/>
        </p:spPr>
        <p:txBody>
          <a:bodyPr wrap="square" lIns="0" tIns="0" rIns="0" bIns="0" rtlCol="0" anchor="ctr"/>
          <a:lstStyle/>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응용 (Application)</a:t>
            </a:r>
            <a:endParaRPr lang="en-US" sz="1500" dirty="0"/>
          </a:p>
        </p:txBody>
      </p:sp>
      <p:sp>
        <p:nvSpPr>
          <p:cNvPr id="21" name="Text 18"/>
          <p:cNvSpPr txBox="1"/>
          <p:nvPr/>
        </p:nvSpPr>
        <p:spPr>
          <a:xfrm>
            <a:off x="7178040" y="1325880"/>
            <a:ext cx="4480560" cy="1792224"/>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HTTP · FTP · DNS · SSH</a:t>
            </a:r>
            <a:endParaRPr lang="en-US" sz="1400" dirty="0"/>
          </a:p>
        </p:txBody>
      </p:sp>
      <p:sp>
        <p:nvSpPr>
          <p:cNvPr id="22" name="Shape 19"/>
          <p:cNvSpPr/>
          <p:nvPr/>
        </p:nvSpPr>
        <p:spPr>
          <a:xfrm>
            <a:off x="3200400" y="2221992"/>
            <a:ext cx="731520" cy="914"/>
          </a:xfrm>
          <a:prstGeom prst="line">
            <a:avLst/>
          </a:prstGeom>
          <a:noFill/>
          <a:ln w="12700">
            <a:solidFill>
              <a:srgbClr val="9AA5AD"/>
            </a:solidFill>
            <a:prstDash val="dash"/>
          </a:ln>
        </p:spPr>
      </p:sp>
      <p:sp>
        <p:nvSpPr>
          <p:cNvPr id="23" name="Shape 20"/>
          <p:cNvSpPr/>
          <p:nvPr/>
        </p:nvSpPr>
        <p:spPr>
          <a:xfrm>
            <a:off x="3931920" y="3191256"/>
            <a:ext cx="3017520" cy="548640"/>
          </a:xfrm>
          <a:prstGeom prst="roundRect">
            <a:avLst>
              <a:gd name="adj" fmla="val 13333"/>
            </a:avLst>
          </a:prstGeom>
          <a:solidFill>
            <a:srgbClr val="E6F1F2"/>
          </a:solidFill>
          <a:ln w="15875">
            <a:solidFill>
              <a:srgbClr val="0E6E7A"/>
            </a:solidFill>
            <a:prstDash val="solid"/>
          </a:ln>
        </p:spPr>
      </p:sp>
      <p:sp>
        <p:nvSpPr>
          <p:cNvPr id="24" name="Text 21"/>
          <p:cNvSpPr txBox="1"/>
          <p:nvPr/>
        </p:nvSpPr>
        <p:spPr>
          <a:xfrm>
            <a:off x="3931920" y="3191256"/>
            <a:ext cx="3017520" cy="548640"/>
          </a:xfrm>
          <a:prstGeom prst="rect">
            <a:avLst/>
          </a:prstGeom>
          <a:noFill/>
          <a:ln/>
        </p:spPr>
        <p:txBody>
          <a:bodyPr wrap="square" lIns="0" tIns="0" rIns="0" bIns="0" rtlCol="0" anchor="ctr"/>
          <a:lstStyle/>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전송 (Transport)</a:t>
            </a:r>
            <a:endParaRPr lang="en-US" sz="1500" dirty="0"/>
          </a:p>
        </p:txBody>
      </p:sp>
      <p:sp>
        <p:nvSpPr>
          <p:cNvPr id="25" name="Text 22"/>
          <p:cNvSpPr txBox="1"/>
          <p:nvPr/>
        </p:nvSpPr>
        <p:spPr>
          <a:xfrm>
            <a:off x="7178040" y="3191256"/>
            <a:ext cx="4480560" cy="548640"/>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TCP · UDP / 포트 번호</a:t>
            </a:r>
            <a:endParaRPr lang="en-US" sz="1400" dirty="0"/>
          </a:p>
        </p:txBody>
      </p:sp>
      <p:sp>
        <p:nvSpPr>
          <p:cNvPr id="26" name="Shape 23"/>
          <p:cNvSpPr/>
          <p:nvPr/>
        </p:nvSpPr>
        <p:spPr>
          <a:xfrm>
            <a:off x="3200400" y="3465576"/>
            <a:ext cx="731520" cy="914"/>
          </a:xfrm>
          <a:prstGeom prst="line">
            <a:avLst/>
          </a:prstGeom>
          <a:noFill/>
          <a:ln w="12700">
            <a:solidFill>
              <a:srgbClr val="9AA5AD"/>
            </a:solidFill>
            <a:prstDash val="dash"/>
          </a:ln>
        </p:spPr>
      </p:sp>
      <p:sp>
        <p:nvSpPr>
          <p:cNvPr id="27" name="Shape 24"/>
          <p:cNvSpPr/>
          <p:nvPr/>
        </p:nvSpPr>
        <p:spPr>
          <a:xfrm>
            <a:off x="3931920" y="3813048"/>
            <a:ext cx="3017520" cy="548640"/>
          </a:xfrm>
          <a:prstGeom prst="roundRect">
            <a:avLst>
              <a:gd name="adj" fmla="val 13333"/>
            </a:avLst>
          </a:prstGeom>
          <a:solidFill>
            <a:srgbClr val="E6F1F2"/>
          </a:solidFill>
          <a:ln w="15875">
            <a:solidFill>
              <a:srgbClr val="0E6E7A"/>
            </a:solidFill>
            <a:prstDash val="solid"/>
          </a:ln>
        </p:spPr>
      </p:sp>
      <p:sp>
        <p:nvSpPr>
          <p:cNvPr id="28" name="Text 25"/>
          <p:cNvSpPr txBox="1"/>
          <p:nvPr/>
        </p:nvSpPr>
        <p:spPr>
          <a:xfrm>
            <a:off x="3931920" y="3813048"/>
            <a:ext cx="3017520" cy="548640"/>
          </a:xfrm>
          <a:prstGeom prst="rect">
            <a:avLst/>
          </a:prstGeom>
          <a:noFill/>
          <a:ln/>
        </p:spPr>
        <p:txBody>
          <a:bodyPr wrap="square" lIns="0" tIns="0" rIns="0" bIns="0" rtlCol="0" anchor="ctr"/>
          <a:lstStyle/>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인터넷 (Internet)</a:t>
            </a:r>
            <a:endParaRPr lang="en-US" sz="1500" dirty="0"/>
          </a:p>
        </p:txBody>
      </p:sp>
      <p:sp>
        <p:nvSpPr>
          <p:cNvPr id="29" name="Text 26"/>
          <p:cNvSpPr txBox="1"/>
          <p:nvPr/>
        </p:nvSpPr>
        <p:spPr>
          <a:xfrm>
            <a:off x="7178040" y="3813048"/>
            <a:ext cx="4480560" cy="548640"/>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IP · ICMP · ARP / 프로토콜 번호</a:t>
            </a:r>
            <a:endParaRPr lang="en-US" sz="1400" dirty="0"/>
          </a:p>
        </p:txBody>
      </p:sp>
      <p:sp>
        <p:nvSpPr>
          <p:cNvPr id="30" name="Shape 27"/>
          <p:cNvSpPr/>
          <p:nvPr/>
        </p:nvSpPr>
        <p:spPr>
          <a:xfrm>
            <a:off x="3200400" y="4087368"/>
            <a:ext cx="731520" cy="914"/>
          </a:xfrm>
          <a:prstGeom prst="line">
            <a:avLst/>
          </a:prstGeom>
          <a:noFill/>
          <a:ln w="12700">
            <a:solidFill>
              <a:srgbClr val="9AA5AD"/>
            </a:solidFill>
            <a:prstDash val="dash"/>
          </a:ln>
        </p:spPr>
      </p:sp>
      <p:sp>
        <p:nvSpPr>
          <p:cNvPr id="31" name="Shape 28"/>
          <p:cNvSpPr/>
          <p:nvPr/>
        </p:nvSpPr>
        <p:spPr>
          <a:xfrm>
            <a:off x="3931920" y="4434840"/>
            <a:ext cx="3017520" cy="1170432"/>
          </a:xfrm>
          <a:prstGeom prst="roundRect">
            <a:avLst>
              <a:gd name="adj" fmla="val 6250"/>
            </a:avLst>
          </a:prstGeom>
          <a:solidFill>
            <a:srgbClr val="E6F1F2"/>
          </a:solidFill>
          <a:ln w="15875">
            <a:solidFill>
              <a:srgbClr val="0E6E7A"/>
            </a:solidFill>
            <a:prstDash val="solid"/>
          </a:ln>
        </p:spPr>
      </p:sp>
      <p:sp>
        <p:nvSpPr>
          <p:cNvPr id="32" name="Text 29"/>
          <p:cNvSpPr txBox="1"/>
          <p:nvPr/>
        </p:nvSpPr>
        <p:spPr>
          <a:xfrm>
            <a:off x="3931920" y="4434840"/>
            <a:ext cx="3017520" cy="1170432"/>
          </a:xfrm>
          <a:prstGeom prst="rect">
            <a:avLst/>
          </a:prstGeom>
          <a:noFill/>
          <a:ln/>
        </p:spPr>
        <p:txBody>
          <a:bodyPr wrap="square" lIns="0" tIns="0" rIns="0" bIns="0" rtlCol="0" anchor="ctr"/>
          <a:lstStyle/>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네트워크 접속</a:t>
            </a:r>
            <a:endParaRPr lang="en-US" sz="1500" dirty="0"/>
          </a:p>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(Network Access)</a:t>
            </a:r>
            <a:endParaRPr lang="en-US" sz="1500" dirty="0"/>
          </a:p>
        </p:txBody>
      </p:sp>
      <p:sp>
        <p:nvSpPr>
          <p:cNvPr id="33" name="Text 30"/>
          <p:cNvSpPr txBox="1"/>
          <p:nvPr/>
        </p:nvSpPr>
        <p:spPr>
          <a:xfrm>
            <a:off x="7178040" y="4434840"/>
            <a:ext cx="4480560" cy="1170432"/>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이더넷 · Wi-Fi / MAC</a:t>
            </a:r>
            <a:endParaRPr lang="en-US" sz="1400" dirty="0"/>
          </a:p>
        </p:txBody>
      </p:sp>
      <p:sp>
        <p:nvSpPr>
          <p:cNvPr id="34" name="Shape 31"/>
          <p:cNvSpPr/>
          <p:nvPr/>
        </p:nvSpPr>
        <p:spPr>
          <a:xfrm>
            <a:off x="3200400" y="5020056"/>
            <a:ext cx="731520" cy="914"/>
          </a:xfrm>
          <a:prstGeom prst="line">
            <a:avLst/>
          </a:prstGeom>
          <a:noFill/>
          <a:ln w="12700">
            <a:solidFill>
              <a:srgbClr val="9AA5AD"/>
            </a:solidFill>
            <a:prstDash val="dash"/>
          </a:ln>
        </p:spPr>
      </p:sp>
      <p:sp>
        <p:nvSpPr>
          <p:cNvPr id="35" name="Text 32"/>
          <p:cNvSpPr txBox="1"/>
          <p:nvPr/>
        </p:nvSpPr>
        <p:spPr>
          <a:xfrm>
            <a:off x="548640" y="5715000"/>
            <a:ext cx="2651760" cy="365760"/>
          </a:xfrm>
          <a:prstGeom prst="rect">
            <a:avLst/>
          </a:prstGeom>
          <a:noFill/>
          <a:ln/>
        </p:spPr>
        <p:txBody>
          <a:bodyPr wrap="square" lIns="0" tIns="0" rIns="0" bIns="0" rtlCol="0" anchor="t"/>
          <a:lstStyle/>
          <a:p>
            <a:pPr algn="ctr" indent="0" marL="0">
              <a:buNone/>
            </a:pPr>
            <a:r>
              <a:rPr lang="en-US" sz="1300" dirty="0">
                <a:solidFill>
                  <a:srgbClr val="66737C"/>
                </a:solidFill>
                <a:latin typeface="맑은 고딕" pitchFamily="34" charset="0"/>
                <a:ea typeface="맑은 고딕" pitchFamily="34" charset="-122"/>
                <a:cs typeface="맑은 고딕" pitchFamily="34" charset="-120"/>
              </a:rPr>
              <a:t>OSI 7계층</a:t>
            </a:r>
            <a:endParaRPr lang="en-US" sz="1300" dirty="0"/>
          </a:p>
        </p:txBody>
      </p:sp>
      <p:sp>
        <p:nvSpPr>
          <p:cNvPr id="36" name="Text 33"/>
          <p:cNvSpPr txBox="1"/>
          <p:nvPr/>
        </p:nvSpPr>
        <p:spPr>
          <a:xfrm>
            <a:off x="3931920" y="5715000"/>
            <a:ext cx="3017520" cy="365760"/>
          </a:xfrm>
          <a:prstGeom prst="rect">
            <a:avLst/>
          </a:prstGeom>
          <a:noFill/>
          <a:ln/>
        </p:spPr>
        <p:txBody>
          <a:bodyPr wrap="square" lIns="0" tIns="0" rIns="0" bIns="0" rtlCol="0" anchor="t"/>
          <a:lstStyle/>
          <a:p>
            <a:pPr algn="ctr" indent="0" marL="0">
              <a:buNone/>
            </a:pPr>
            <a:r>
              <a:rPr lang="en-US" sz="1300" dirty="0">
                <a:solidFill>
                  <a:srgbClr val="66737C"/>
                </a:solidFill>
                <a:latin typeface="맑은 고딕" pitchFamily="34" charset="0"/>
                <a:ea typeface="맑은 고딕" pitchFamily="34" charset="-122"/>
                <a:cs typeface="맑은 고딕" pitchFamily="34" charset="-120"/>
              </a:rPr>
              <a:t>TCP/IP 4계층</a:t>
            </a:r>
            <a:endParaRPr lang="en-US" sz="1300" dirty="0"/>
          </a:p>
        </p:txBody>
      </p:sp>
      <p:sp>
        <p:nvSpPr>
          <p:cNvPr id="37" name="Text 34"/>
          <p:cNvSpPr txBox="1"/>
          <p:nvPr/>
        </p:nvSpPr>
        <p:spPr>
          <a:xfrm>
            <a:off x="7178040" y="5715000"/>
            <a:ext cx="4480560" cy="548640"/>
          </a:xfrm>
          <a:prstGeom prst="rect">
            <a:avLst/>
          </a:prstGeom>
          <a:noFill/>
          <a:ln/>
        </p:spPr>
        <p:txBody>
          <a:bodyPr wrap="square" lIns="0" tIns="0" rIns="0" bIns="0" rtlCol="0" anchor="t"/>
          <a:lstStyle/>
          <a:p>
            <a:pPr indent="0" marL="0">
              <a:buNone/>
            </a:pPr>
            <a:r>
              <a:rPr lang="en-US" sz="1100" dirty="0">
                <a:solidFill>
                  <a:srgbClr val="66737C"/>
                </a:solidFill>
                <a:latin typeface="맑은 고딕" pitchFamily="34" charset="0"/>
                <a:ea typeface="맑은 고딕" pitchFamily="34" charset="-122"/>
                <a:cs typeface="맑은 고딕" pitchFamily="34" charset="-120"/>
              </a:rPr>
              <a:t>네트워크 접속 계층의 다른 이름: Link (RFC 1122) · Network Interface (RFC 871, Cisco)</a:t>
            </a:r>
            <a:endParaRPr lang="en-US" sz="11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PART 3 확인 문제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3 · 통신 모델</a:t>
            </a:r>
            <a:endParaRPr lang="en-US" sz="1100" dirty="0"/>
          </a:p>
        </p:txBody>
      </p:sp>
      <p:sp>
        <p:nvSpPr>
          <p:cNvPr id="5" name="Shape 2"/>
          <p:cNvSpPr/>
          <p:nvPr/>
        </p:nvSpPr>
        <p:spPr>
          <a:xfrm>
            <a:off x="548640" y="1325880"/>
            <a:ext cx="11091672" cy="841248"/>
          </a:xfrm>
          <a:prstGeom prst="roundRect">
            <a:avLst>
              <a:gd name="adj" fmla="val 8696"/>
            </a:avLst>
          </a:prstGeom>
          <a:solidFill>
            <a:srgbClr val="F4F6F7"/>
          </a:solidFill>
          <a:ln w="12700">
            <a:solidFill>
              <a:srgbClr val="9AA5AD"/>
            </a:solidFill>
            <a:prstDash val="solid"/>
          </a:ln>
        </p:spPr>
      </p:sp>
      <p:sp>
        <p:nvSpPr>
          <p:cNvPr id="6" name="Shape 3"/>
          <p:cNvSpPr/>
          <p:nvPr/>
        </p:nvSpPr>
        <p:spPr>
          <a:xfrm>
            <a:off x="777240" y="1517904"/>
            <a:ext cx="457200" cy="457200"/>
          </a:xfrm>
          <a:prstGeom prst="ellipse">
            <a:avLst/>
          </a:prstGeom>
          <a:solidFill>
            <a:srgbClr val="0E6E7A"/>
          </a:solidFill>
          <a:ln w="12700">
            <a:solidFill>
              <a:srgbClr val="0E6E7A"/>
            </a:solidFill>
            <a:prstDash val="solid"/>
          </a:ln>
        </p:spPr>
      </p:sp>
      <p:sp>
        <p:nvSpPr>
          <p:cNvPr id="7" name="Text 4"/>
          <p:cNvSpPr txBox="1"/>
          <p:nvPr/>
        </p:nvSpPr>
        <p:spPr>
          <a:xfrm>
            <a:off x="777240" y="1517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Q1</a:t>
            </a:r>
            <a:endParaRPr lang="en-US" sz="1200" dirty="0"/>
          </a:p>
        </p:txBody>
      </p:sp>
      <p:sp>
        <p:nvSpPr>
          <p:cNvPr id="8" name="Text 5"/>
          <p:cNvSpPr txBox="1"/>
          <p:nvPr/>
        </p:nvSpPr>
        <p:spPr>
          <a:xfrm>
            <a:off x="1463040" y="1325880"/>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OSI 7계층을 아래(1계층)부터 순서대로 쓰시오.</a:t>
            </a:r>
            <a:endParaRPr lang="en-US" sz="1600" dirty="0"/>
          </a:p>
        </p:txBody>
      </p:sp>
      <p:sp>
        <p:nvSpPr>
          <p:cNvPr id="9" name="Shape 6"/>
          <p:cNvSpPr/>
          <p:nvPr/>
        </p:nvSpPr>
        <p:spPr>
          <a:xfrm>
            <a:off x="548640" y="2350008"/>
            <a:ext cx="11091672" cy="841248"/>
          </a:xfrm>
          <a:prstGeom prst="roundRect">
            <a:avLst>
              <a:gd name="adj" fmla="val 8696"/>
            </a:avLst>
          </a:prstGeom>
          <a:solidFill>
            <a:srgbClr val="FFFFFF"/>
          </a:solidFill>
          <a:ln w="12700">
            <a:solidFill>
              <a:srgbClr val="9AA5AD"/>
            </a:solidFill>
            <a:prstDash val="solid"/>
          </a:ln>
        </p:spPr>
      </p:sp>
      <p:sp>
        <p:nvSpPr>
          <p:cNvPr id="10" name="Shape 7"/>
          <p:cNvSpPr/>
          <p:nvPr/>
        </p:nvSpPr>
        <p:spPr>
          <a:xfrm>
            <a:off x="777240" y="2542032"/>
            <a:ext cx="457200" cy="457200"/>
          </a:xfrm>
          <a:prstGeom prst="ellipse">
            <a:avLst/>
          </a:prstGeom>
          <a:solidFill>
            <a:srgbClr val="0E6E7A"/>
          </a:solidFill>
          <a:ln w="12700">
            <a:solidFill>
              <a:srgbClr val="0E6E7A"/>
            </a:solidFill>
            <a:prstDash val="solid"/>
          </a:ln>
        </p:spPr>
      </p:sp>
      <p:sp>
        <p:nvSpPr>
          <p:cNvPr id="11" name="Text 8"/>
          <p:cNvSpPr txBox="1"/>
          <p:nvPr/>
        </p:nvSpPr>
        <p:spPr>
          <a:xfrm>
            <a:off x="777240" y="25420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Q2</a:t>
            </a:r>
            <a:endParaRPr lang="en-US" sz="1200" dirty="0"/>
          </a:p>
        </p:txBody>
      </p:sp>
      <p:sp>
        <p:nvSpPr>
          <p:cNvPr id="12" name="Text 9"/>
          <p:cNvSpPr txBox="1"/>
          <p:nvPr/>
        </p:nvSpPr>
        <p:spPr>
          <a:xfrm>
            <a:off x="1463040" y="2350008"/>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암호화·압축·데이터 형식 정의를 담당하는 OSI 계층은?</a:t>
            </a:r>
            <a:endParaRPr lang="en-US" sz="1600" dirty="0"/>
          </a:p>
        </p:txBody>
      </p:sp>
      <p:sp>
        <p:nvSpPr>
          <p:cNvPr id="13" name="Shape 10"/>
          <p:cNvSpPr/>
          <p:nvPr/>
        </p:nvSpPr>
        <p:spPr>
          <a:xfrm>
            <a:off x="548640" y="3374136"/>
            <a:ext cx="11091672" cy="841248"/>
          </a:xfrm>
          <a:prstGeom prst="roundRect">
            <a:avLst>
              <a:gd name="adj" fmla="val 8696"/>
            </a:avLst>
          </a:prstGeom>
          <a:solidFill>
            <a:srgbClr val="F4F6F7"/>
          </a:solidFill>
          <a:ln w="12700">
            <a:solidFill>
              <a:srgbClr val="9AA5AD"/>
            </a:solidFill>
            <a:prstDash val="solid"/>
          </a:ln>
        </p:spPr>
      </p:sp>
      <p:sp>
        <p:nvSpPr>
          <p:cNvPr id="14" name="Shape 11"/>
          <p:cNvSpPr/>
          <p:nvPr/>
        </p:nvSpPr>
        <p:spPr>
          <a:xfrm>
            <a:off x="777240" y="3566160"/>
            <a:ext cx="457200" cy="457200"/>
          </a:xfrm>
          <a:prstGeom prst="ellipse">
            <a:avLst/>
          </a:prstGeom>
          <a:solidFill>
            <a:srgbClr val="0E6E7A"/>
          </a:solidFill>
          <a:ln w="12700">
            <a:solidFill>
              <a:srgbClr val="0E6E7A"/>
            </a:solidFill>
            <a:prstDash val="solid"/>
          </a:ln>
        </p:spPr>
      </p:sp>
      <p:sp>
        <p:nvSpPr>
          <p:cNvPr id="15" name="Text 12"/>
          <p:cNvSpPr txBox="1"/>
          <p:nvPr/>
        </p:nvSpPr>
        <p:spPr>
          <a:xfrm>
            <a:off x="777240" y="3566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Q3</a:t>
            </a:r>
            <a:endParaRPr lang="en-US" sz="1200" dirty="0"/>
          </a:p>
        </p:txBody>
      </p:sp>
      <p:sp>
        <p:nvSpPr>
          <p:cNvPr id="16" name="Text 13"/>
          <p:cNvSpPr txBox="1"/>
          <p:nvPr/>
        </p:nvSpPr>
        <p:spPr>
          <a:xfrm>
            <a:off x="1463040" y="3374136"/>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OSI 의 4·3·2·1 계층 전송 단위(PDU)를 각각 쓰시오.</a:t>
            </a:r>
            <a:endParaRPr lang="en-US" sz="1600" dirty="0"/>
          </a:p>
        </p:txBody>
      </p:sp>
      <p:sp>
        <p:nvSpPr>
          <p:cNvPr id="17" name="Shape 14"/>
          <p:cNvSpPr/>
          <p:nvPr/>
        </p:nvSpPr>
        <p:spPr>
          <a:xfrm>
            <a:off x="548640" y="4398264"/>
            <a:ext cx="11091672" cy="841248"/>
          </a:xfrm>
          <a:prstGeom prst="roundRect">
            <a:avLst>
              <a:gd name="adj" fmla="val 8696"/>
            </a:avLst>
          </a:prstGeom>
          <a:solidFill>
            <a:srgbClr val="FFFFFF"/>
          </a:solidFill>
          <a:ln w="12700">
            <a:solidFill>
              <a:srgbClr val="9AA5AD"/>
            </a:solidFill>
            <a:prstDash val="solid"/>
          </a:ln>
        </p:spPr>
      </p:sp>
      <p:sp>
        <p:nvSpPr>
          <p:cNvPr id="18" name="Shape 15"/>
          <p:cNvSpPr/>
          <p:nvPr/>
        </p:nvSpPr>
        <p:spPr>
          <a:xfrm>
            <a:off x="777240" y="4590288"/>
            <a:ext cx="457200" cy="457200"/>
          </a:xfrm>
          <a:prstGeom prst="ellipse">
            <a:avLst/>
          </a:prstGeom>
          <a:solidFill>
            <a:srgbClr val="0E6E7A"/>
          </a:solidFill>
          <a:ln w="12700">
            <a:solidFill>
              <a:srgbClr val="0E6E7A"/>
            </a:solidFill>
            <a:prstDash val="solid"/>
          </a:ln>
        </p:spPr>
      </p:sp>
      <p:sp>
        <p:nvSpPr>
          <p:cNvPr id="19" name="Text 16"/>
          <p:cNvSpPr txBox="1"/>
          <p:nvPr/>
        </p:nvSpPr>
        <p:spPr>
          <a:xfrm>
            <a:off x="777240" y="459028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Q4</a:t>
            </a:r>
            <a:endParaRPr lang="en-US" sz="1200" dirty="0"/>
          </a:p>
        </p:txBody>
      </p:sp>
      <p:sp>
        <p:nvSpPr>
          <p:cNvPr id="20" name="Text 17"/>
          <p:cNvSpPr txBox="1"/>
          <p:nvPr/>
        </p:nvSpPr>
        <p:spPr>
          <a:xfrm>
            <a:off x="1463040" y="4398264"/>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TCP/IP 4계층 중 OSI 의 5·6·7 계층을 합친 계층과 1·2 계층을 합친 계층의 이름은?</a:t>
            </a:r>
            <a:endParaRPr lang="en-US" sz="1600" dirty="0"/>
          </a:p>
        </p:txBody>
      </p:sp>
      <p:sp>
        <p:nvSpPr>
          <p:cNvPr id="21" name="Shape 18"/>
          <p:cNvSpPr/>
          <p:nvPr/>
        </p:nvSpPr>
        <p:spPr>
          <a:xfrm>
            <a:off x="548640" y="5422392"/>
            <a:ext cx="11091672" cy="841248"/>
          </a:xfrm>
          <a:prstGeom prst="roundRect">
            <a:avLst>
              <a:gd name="adj" fmla="val 8696"/>
            </a:avLst>
          </a:prstGeom>
          <a:solidFill>
            <a:srgbClr val="F4F6F7"/>
          </a:solidFill>
          <a:ln w="12700">
            <a:solidFill>
              <a:srgbClr val="9AA5AD"/>
            </a:solidFill>
            <a:prstDash val="solid"/>
          </a:ln>
        </p:spPr>
      </p:sp>
      <p:sp>
        <p:nvSpPr>
          <p:cNvPr id="22" name="Shape 19"/>
          <p:cNvSpPr/>
          <p:nvPr/>
        </p:nvSpPr>
        <p:spPr>
          <a:xfrm>
            <a:off x="777240" y="5614416"/>
            <a:ext cx="457200" cy="457200"/>
          </a:xfrm>
          <a:prstGeom prst="ellipse">
            <a:avLst/>
          </a:prstGeom>
          <a:solidFill>
            <a:srgbClr val="0E6E7A"/>
          </a:solidFill>
          <a:ln w="12700">
            <a:solidFill>
              <a:srgbClr val="0E6E7A"/>
            </a:solidFill>
            <a:prstDash val="solid"/>
          </a:ln>
        </p:spPr>
      </p:sp>
      <p:sp>
        <p:nvSpPr>
          <p:cNvPr id="23" name="Text 20"/>
          <p:cNvSpPr txBox="1"/>
          <p:nvPr/>
        </p:nvSpPr>
        <p:spPr>
          <a:xfrm>
            <a:off x="777240" y="5614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Q5</a:t>
            </a:r>
            <a:endParaRPr lang="en-US" sz="1200" dirty="0"/>
          </a:p>
        </p:txBody>
      </p:sp>
      <p:sp>
        <p:nvSpPr>
          <p:cNvPr id="24" name="Text 21"/>
          <p:cNvSpPr txBox="1"/>
          <p:nvPr/>
        </p:nvSpPr>
        <p:spPr>
          <a:xfrm>
            <a:off x="1463040" y="5422392"/>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인터넷 계층에서 상위 프로토콜을 구분하는 번호로, ICMP=1, TCP=6, UDP=17 인 것은?</a:t>
            </a:r>
            <a:endParaRPr lang="en-US" sz="1600" dirty="0"/>
          </a:p>
        </p:txBody>
      </p:sp>
      <p:sp>
        <p:nvSpPr>
          <p:cNvPr id="25" name="Text 22"/>
          <p:cNvSpPr txBox="1"/>
          <p:nvPr/>
        </p:nvSpPr>
        <p:spPr>
          <a:xfrm>
            <a:off x="5486400" y="6382512"/>
            <a:ext cx="5394960" cy="274320"/>
          </a:xfrm>
          <a:prstGeom prst="rect">
            <a:avLst/>
          </a:prstGeom>
          <a:noFill/>
          <a:ln/>
        </p:spPr>
        <p:txBody>
          <a:bodyPr wrap="square" lIns="0" tIns="0" rIns="0" bIns="0" rtlCol="0" anchor="t"/>
          <a:lstStyle/>
          <a:p>
            <a:pPr algn="r" indent="0" marL="0">
              <a:buNone/>
            </a:pPr>
            <a:r>
              <a:rPr lang="en-US" sz="1000" dirty="0">
                <a:solidFill>
                  <a:srgbClr val="66737C"/>
                </a:solidFill>
                <a:latin typeface="맑은 고딕" pitchFamily="34" charset="0"/>
                <a:ea typeface="맑은 고딕" pitchFamily="34" charset="-122"/>
                <a:cs typeface="맑은 고딕" pitchFamily="34" charset="-120"/>
              </a:rPr>
              <a:t>정답과 해설은 발표자 노트에 있습니다</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5486400" cy="1097280"/>
          </a:xfrm>
          <a:prstGeom prst="rect">
            <a:avLst/>
          </a:prstGeom>
          <a:noFill/>
          <a:ln/>
        </p:spPr>
        <p:txBody>
          <a:bodyPr wrap="square" lIns="0" tIns="0" rIns="0" bIns="0" rtlCol="0" anchor="b"/>
          <a:lstStyle/>
          <a:p>
            <a:pPr indent="0" marL="0">
              <a:buNone/>
            </a:pPr>
            <a:r>
              <a:rPr lang="en-US" sz="5400" b="1" dirty="0">
                <a:solidFill>
                  <a:srgbClr val="7FB2B8"/>
                </a:solidFill>
                <a:latin typeface="맑은 고딕" pitchFamily="34" charset="0"/>
                <a:ea typeface="맑은 고딕" pitchFamily="34" charset="-122"/>
                <a:cs typeface="맑은 고딕" pitchFamily="34" charset="-120"/>
              </a:rPr>
              <a:t>PART 4</a:t>
            </a:r>
            <a:endParaRPr lang="en-US" sz="5400" dirty="0"/>
          </a:p>
        </p:txBody>
      </p:sp>
      <p:sp>
        <p:nvSpPr>
          <p:cNvPr id="3" name="Text 0"/>
          <p:cNvSpPr/>
          <p:nvPr>
            <p:ph idx="101" type="title" hasCustomPrompt="1"/>
          </p:nvPr>
        </p:nvSpPr>
        <p:spPr>
          <a:xfrm>
            <a:off x="731520" y="2560320"/>
            <a:ext cx="10698480" cy="100584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IP 주소와 서브네팅</a:t>
            </a:r>
            <a:endParaRPr lang="en-US" sz="3800" dirty="0"/>
          </a:p>
        </p:txBody>
      </p:sp>
      <p:sp>
        <p:nvSpPr>
          <p:cNvPr id="4" name="Text 0"/>
          <p:cNvSpPr/>
          <p:nvPr>
            <p:ph idx="102" type="body" hasCustomPrompt="1"/>
          </p:nvPr>
        </p:nvSpPr>
        <p:spPr>
          <a:xfrm>
            <a:off x="731520" y="3749040"/>
            <a:ext cx="10698480"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IPv4 구조와 클래스 A ~ E</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공인 / 사설 / 특수 주소</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AND 연산 · 네트워크 주소 · 브로드캐스트 주소</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서브네팅 4단계 공식 · VLSM · 슈퍼네팅</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IPv4 주소의 구조 — 32비트 = 8비트 × 4</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Shape 2"/>
          <p:cNvSpPr/>
          <p:nvPr/>
        </p:nvSpPr>
        <p:spPr>
          <a:xfrm>
            <a:off x="548640" y="1417320"/>
            <a:ext cx="2606040" cy="731520"/>
          </a:xfrm>
          <a:prstGeom prst="roundRect">
            <a:avLst>
              <a:gd name="adj" fmla="val 10000"/>
            </a:avLst>
          </a:prstGeom>
          <a:solidFill>
            <a:srgbClr val="E6F1F2"/>
          </a:solidFill>
          <a:ln w="12700">
            <a:solidFill>
              <a:srgbClr val="0E6E7A"/>
            </a:solidFill>
            <a:prstDash val="solid"/>
          </a:ln>
        </p:spPr>
      </p:sp>
      <p:sp>
        <p:nvSpPr>
          <p:cNvPr id="6" name="Text 3"/>
          <p:cNvSpPr txBox="1"/>
          <p:nvPr/>
        </p:nvSpPr>
        <p:spPr>
          <a:xfrm>
            <a:off x="548640" y="1417320"/>
            <a:ext cx="2606040" cy="731520"/>
          </a:xfrm>
          <a:prstGeom prst="rect">
            <a:avLst/>
          </a:prstGeom>
          <a:noFill/>
          <a:ln/>
        </p:spPr>
        <p:txBody>
          <a:bodyPr wrap="square" lIns="0" tIns="0" rIns="0" bIns="0" rtlCol="0" anchor="ctr"/>
          <a:lstStyle/>
          <a:p>
            <a:pPr algn="ctr" indent="0" marL="0">
              <a:buNone/>
            </a:pPr>
            <a:r>
              <a:rPr lang="en-US" sz="2800" b="1" dirty="0">
                <a:solidFill>
                  <a:srgbClr val="1E2A30"/>
                </a:solidFill>
                <a:latin typeface="맑은 고딕" pitchFamily="34" charset="0"/>
                <a:ea typeface="맑은 고딕" pitchFamily="34" charset="-122"/>
                <a:cs typeface="맑은 고딕" pitchFamily="34" charset="-120"/>
              </a:rPr>
              <a:t>10</a:t>
            </a:r>
            <a:endParaRPr lang="en-US" sz="2800" dirty="0"/>
          </a:p>
        </p:txBody>
      </p:sp>
      <p:sp>
        <p:nvSpPr>
          <p:cNvPr id="7" name="Text 4"/>
          <p:cNvSpPr txBox="1"/>
          <p:nvPr/>
        </p:nvSpPr>
        <p:spPr>
          <a:xfrm>
            <a:off x="548640" y="2240280"/>
            <a:ext cx="2606040" cy="411480"/>
          </a:xfrm>
          <a:prstGeom prst="rect">
            <a:avLst/>
          </a:prstGeom>
          <a:noFill/>
          <a:ln/>
        </p:spPr>
        <p:txBody>
          <a:bodyPr wrap="square" lIns="0" tIns="0" rIns="0" bIns="0" rtlCol="0" anchor="t"/>
          <a:lstStyle/>
          <a:p>
            <a:pPr algn="ctr" indent="0" marL="0">
              <a:buNone/>
            </a:pPr>
            <a:r>
              <a:rPr lang="en-US" sz="1800" dirty="0">
                <a:solidFill>
                  <a:srgbClr val="1E2A30"/>
                </a:solidFill>
                <a:latin typeface="Consolas" pitchFamily="34" charset="0"/>
                <a:ea typeface="Consolas" pitchFamily="34" charset="-122"/>
                <a:cs typeface="Consolas" pitchFamily="34" charset="-120"/>
              </a:rPr>
              <a:t>00001010</a:t>
            </a:r>
            <a:endParaRPr lang="en-US" sz="1800" dirty="0"/>
          </a:p>
        </p:txBody>
      </p:sp>
      <p:sp>
        <p:nvSpPr>
          <p:cNvPr id="8" name="Text 5"/>
          <p:cNvSpPr txBox="1"/>
          <p:nvPr/>
        </p:nvSpPr>
        <p:spPr>
          <a:xfrm>
            <a:off x="548640" y="2651760"/>
            <a:ext cx="2606040" cy="320040"/>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1번째 옥텟 (8비트)</a:t>
            </a:r>
            <a:endParaRPr lang="en-US" sz="1200" dirty="0"/>
          </a:p>
        </p:txBody>
      </p:sp>
      <p:sp>
        <p:nvSpPr>
          <p:cNvPr id="9" name="Shape 6"/>
          <p:cNvSpPr/>
          <p:nvPr/>
        </p:nvSpPr>
        <p:spPr>
          <a:xfrm>
            <a:off x="3364992" y="1417320"/>
            <a:ext cx="2606040" cy="731520"/>
          </a:xfrm>
          <a:prstGeom prst="roundRect">
            <a:avLst>
              <a:gd name="adj" fmla="val 10000"/>
            </a:avLst>
          </a:prstGeom>
          <a:solidFill>
            <a:srgbClr val="E6F1F2"/>
          </a:solidFill>
          <a:ln w="12700">
            <a:solidFill>
              <a:srgbClr val="0E6E7A"/>
            </a:solidFill>
            <a:prstDash val="solid"/>
          </a:ln>
        </p:spPr>
      </p:sp>
      <p:sp>
        <p:nvSpPr>
          <p:cNvPr id="10" name="Text 7"/>
          <p:cNvSpPr txBox="1"/>
          <p:nvPr/>
        </p:nvSpPr>
        <p:spPr>
          <a:xfrm>
            <a:off x="3364992" y="1417320"/>
            <a:ext cx="2606040" cy="731520"/>
          </a:xfrm>
          <a:prstGeom prst="rect">
            <a:avLst/>
          </a:prstGeom>
          <a:noFill/>
          <a:ln/>
        </p:spPr>
        <p:txBody>
          <a:bodyPr wrap="square" lIns="0" tIns="0" rIns="0" bIns="0" rtlCol="0" anchor="ctr"/>
          <a:lstStyle/>
          <a:p>
            <a:pPr algn="ctr" indent="0" marL="0">
              <a:buNone/>
            </a:pPr>
            <a:r>
              <a:rPr lang="en-US" sz="2800" b="1" dirty="0">
                <a:solidFill>
                  <a:srgbClr val="1E2A30"/>
                </a:solidFill>
                <a:latin typeface="맑은 고딕" pitchFamily="34" charset="0"/>
                <a:ea typeface="맑은 고딕" pitchFamily="34" charset="-122"/>
                <a:cs typeface="맑은 고딕" pitchFamily="34" charset="-120"/>
              </a:rPr>
              <a:t>10</a:t>
            </a:r>
            <a:endParaRPr lang="en-US" sz="2800" dirty="0"/>
          </a:p>
        </p:txBody>
      </p:sp>
      <p:sp>
        <p:nvSpPr>
          <p:cNvPr id="11" name="Text 8"/>
          <p:cNvSpPr txBox="1"/>
          <p:nvPr/>
        </p:nvSpPr>
        <p:spPr>
          <a:xfrm>
            <a:off x="3364992" y="2240280"/>
            <a:ext cx="2606040" cy="411480"/>
          </a:xfrm>
          <a:prstGeom prst="rect">
            <a:avLst/>
          </a:prstGeom>
          <a:noFill/>
          <a:ln/>
        </p:spPr>
        <p:txBody>
          <a:bodyPr wrap="square" lIns="0" tIns="0" rIns="0" bIns="0" rtlCol="0" anchor="t"/>
          <a:lstStyle/>
          <a:p>
            <a:pPr algn="ctr" indent="0" marL="0">
              <a:buNone/>
            </a:pPr>
            <a:r>
              <a:rPr lang="en-US" sz="1800" dirty="0">
                <a:solidFill>
                  <a:srgbClr val="1E2A30"/>
                </a:solidFill>
                <a:latin typeface="Consolas" pitchFamily="34" charset="0"/>
                <a:ea typeface="Consolas" pitchFamily="34" charset="-122"/>
                <a:cs typeface="Consolas" pitchFamily="34" charset="-120"/>
              </a:rPr>
              <a:t>00001010</a:t>
            </a:r>
            <a:endParaRPr lang="en-US" sz="1800" dirty="0"/>
          </a:p>
        </p:txBody>
      </p:sp>
      <p:sp>
        <p:nvSpPr>
          <p:cNvPr id="12" name="Text 9"/>
          <p:cNvSpPr txBox="1"/>
          <p:nvPr/>
        </p:nvSpPr>
        <p:spPr>
          <a:xfrm>
            <a:off x="3364992" y="2651760"/>
            <a:ext cx="2606040" cy="320040"/>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2번째 옥텟 (8비트)</a:t>
            </a:r>
            <a:endParaRPr lang="en-US" sz="1200" dirty="0"/>
          </a:p>
        </p:txBody>
      </p:sp>
      <p:sp>
        <p:nvSpPr>
          <p:cNvPr id="13" name="Shape 10"/>
          <p:cNvSpPr/>
          <p:nvPr/>
        </p:nvSpPr>
        <p:spPr>
          <a:xfrm>
            <a:off x="6181344" y="1417320"/>
            <a:ext cx="2606040" cy="731520"/>
          </a:xfrm>
          <a:prstGeom prst="roundRect">
            <a:avLst>
              <a:gd name="adj" fmla="val 10000"/>
            </a:avLst>
          </a:prstGeom>
          <a:solidFill>
            <a:srgbClr val="E6F1F2"/>
          </a:solidFill>
          <a:ln w="12700">
            <a:solidFill>
              <a:srgbClr val="0E6E7A"/>
            </a:solidFill>
            <a:prstDash val="solid"/>
          </a:ln>
        </p:spPr>
      </p:sp>
      <p:sp>
        <p:nvSpPr>
          <p:cNvPr id="14" name="Text 11"/>
          <p:cNvSpPr txBox="1"/>
          <p:nvPr/>
        </p:nvSpPr>
        <p:spPr>
          <a:xfrm>
            <a:off x="6181344" y="1417320"/>
            <a:ext cx="2606040" cy="731520"/>
          </a:xfrm>
          <a:prstGeom prst="rect">
            <a:avLst/>
          </a:prstGeom>
          <a:noFill/>
          <a:ln/>
        </p:spPr>
        <p:txBody>
          <a:bodyPr wrap="square" lIns="0" tIns="0" rIns="0" bIns="0" rtlCol="0" anchor="ctr"/>
          <a:lstStyle/>
          <a:p>
            <a:pPr algn="ctr" indent="0" marL="0">
              <a:buNone/>
            </a:pPr>
            <a:r>
              <a:rPr lang="en-US" sz="2800" b="1" dirty="0">
                <a:solidFill>
                  <a:srgbClr val="1E2A30"/>
                </a:solidFill>
                <a:latin typeface="맑은 고딕" pitchFamily="34" charset="0"/>
                <a:ea typeface="맑은 고딕" pitchFamily="34" charset="-122"/>
                <a:cs typeface="맑은 고딕" pitchFamily="34" charset="-120"/>
              </a:rPr>
              <a:t>34</a:t>
            </a:r>
            <a:endParaRPr lang="en-US" sz="2800" dirty="0"/>
          </a:p>
        </p:txBody>
      </p:sp>
      <p:sp>
        <p:nvSpPr>
          <p:cNvPr id="15" name="Text 12"/>
          <p:cNvSpPr txBox="1"/>
          <p:nvPr/>
        </p:nvSpPr>
        <p:spPr>
          <a:xfrm>
            <a:off x="6181344" y="2240280"/>
            <a:ext cx="2606040" cy="411480"/>
          </a:xfrm>
          <a:prstGeom prst="rect">
            <a:avLst/>
          </a:prstGeom>
          <a:noFill/>
          <a:ln/>
        </p:spPr>
        <p:txBody>
          <a:bodyPr wrap="square" lIns="0" tIns="0" rIns="0" bIns="0" rtlCol="0" anchor="t"/>
          <a:lstStyle/>
          <a:p>
            <a:pPr algn="ctr" indent="0" marL="0">
              <a:buNone/>
            </a:pPr>
            <a:r>
              <a:rPr lang="en-US" sz="1800" dirty="0">
                <a:solidFill>
                  <a:srgbClr val="1E2A30"/>
                </a:solidFill>
                <a:latin typeface="Consolas" pitchFamily="34" charset="0"/>
                <a:ea typeface="Consolas" pitchFamily="34" charset="-122"/>
                <a:cs typeface="Consolas" pitchFamily="34" charset="-120"/>
              </a:rPr>
              <a:t>00100010</a:t>
            </a:r>
            <a:endParaRPr lang="en-US" sz="1800" dirty="0"/>
          </a:p>
        </p:txBody>
      </p:sp>
      <p:sp>
        <p:nvSpPr>
          <p:cNvPr id="16" name="Text 13"/>
          <p:cNvSpPr txBox="1"/>
          <p:nvPr/>
        </p:nvSpPr>
        <p:spPr>
          <a:xfrm>
            <a:off x="6181344" y="2651760"/>
            <a:ext cx="2606040" cy="320040"/>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3번째 옥텟 (8비트)</a:t>
            </a:r>
            <a:endParaRPr lang="en-US" sz="1200" dirty="0"/>
          </a:p>
        </p:txBody>
      </p:sp>
      <p:sp>
        <p:nvSpPr>
          <p:cNvPr id="17" name="Shape 14"/>
          <p:cNvSpPr/>
          <p:nvPr/>
        </p:nvSpPr>
        <p:spPr>
          <a:xfrm>
            <a:off x="8997696" y="1417320"/>
            <a:ext cx="2606040" cy="731520"/>
          </a:xfrm>
          <a:prstGeom prst="roundRect">
            <a:avLst>
              <a:gd name="adj" fmla="val 10000"/>
            </a:avLst>
          </a:prstGeom>
          <a:solidFill>
            <a:srgbClr val="FFFFFF"/>
          </a:solidFill>
          <a:ln w="12700">
            <a:solidFill>
              <a:srgbClr val="1E2A30"/>
            </a:solidFill>
            <a:prstDash val="solid"/>
          </a:ln>
        </p:spPr>
      </p:sp>
      <p:sp>
        <p:nvSpPr>
          <p:cNvPr id="18" name="Text 15"/>
          <p:cNvSpPr txBox="1"/>
          <p:nvPr/>
        </p:nvSpPr>
        <p:spPr>
          <a:xfrm>
            <a:off x="8997696" y="1417320"/>
            <a:ext cx="2606040" cy="731520"/>
          </a:xfrm>
          <a:prstGeom prst="rect">
            <a:avLst/>
          </a:prstGeom>
          <a:noFill/>
          <a:ln/>
        </p:spPr>
        <p:txBody>
          <a:bodyPr wrap="square" lIns="0" tIns="0" rIns="0" bIns="0" rtlCol="0" anchor="ctr"/>
          <a:lstStyle/>
          <a:p>
            <a:pPr algn="ctr" indent="0" marL="0">
              <a:buNone/>
            </a:pPr>
            <a:r>
              <a:rPr lang="en-US" sz="2800" b="1" dirty="0">
                <a:solidFill>
                  <a:srgbClr val="1E2A30"/>
                </a:solidFill>
                <a:latin typeface="맑은 고딕" pitchFamily="34" charset="0"/>
                <a:ea typeface="맑은 고딕" pitchFamily="34" charset="-122"/>
                <a:cs typeface="맑은 고딕" pitchFamily="34" charset="-120"/>
              </a:rPr>
              <a:t>121</a:t>
            </a:r>
            <a:endParaRPr lang="en-US" sz="2800" dirty="0"/>
          </a:p>
        </p:txBody>
      </p:sp>
      <p:sp>
        <p:nvSpPr>
          <p:cNvPr id="19" name="Text 16"/>
          <p:cNvSpPr txBox="1"/>
          <p:nvPr/>
        </p:nvSpPr>
        <p:spPr>
          <a:xfrm>
            <a:off x="8997696" y="2240280"/>
            <a:ext cx="2606040" cy="411480"/>
          </a:xfrm>
          <a:prstGeom prst="rect">
            <a:avLst/>
          </a:prstGeom>
          <a:noFill/>
          <a:ln/>
        </p:spPr>
        <p:txBody>
          <a:bodyPr wrap="square" lIns="0" tIns="0" rIns="0" bIns="0" rtlCol="0" anchor="t"/>
          <a:lstStyle/>
          <a:p>
            <a:pPr algn="ctr" indent="0" marL="0">
              <a:buNone/>
            </a:pPr>
            <a:r>
              <a:rPr lang="en-US" sz="1800" dirty="0">
                <a:solidFill>
                  <a:srgbClr val="1E2A30"/>
                </a:solidFill>
                <a:latin typeface="Consolas" pitchFamily="34" charset="0"/>
                <a:ea typeface="Consolas" pitchFamily="34" charset="-122"/>
                <a:cs typeface="Consolas" pitchFamily="34" charset="-120"/>
              </a:rPr>
              <a:t>01111001</a:t>
            </a:r>
            <a:endParaRPr lang="en-US" sz="1800" dirty="0"/>
          </a:p>
        </p:txBody>
      </p:sp>
      <p:sp>
        <p:nvSpPr>
          <p:cNvPr id="20" name="Text 17"/>
          <p:cNvSpPr txBox="1"/>
          <p:nvPr/>
        </p:nvSpPr>
        <p:spPr>
          <a:xfrm>
            <a:off x="8997696" y="2651760"/>
            <a:ext cx="2606040" cy="320040"/>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4번째 옥텟 (8비트)</a:t>
            </a:r>
            <a:endParaRPr lang="en-US" sz="1200" dirty="0"/>
          </a:p>
        </p:txBody>
      </p:sp>
      <p:sp>
        <p:nvSpPr>
          <p:cNvPr id="21" name="Text 18"/>
          <p:cNvSpPr txBox="1"/>
          <p:nvPr/>
        </p:nvSpPr>
        <p:spPr>
          <a:xfrm>
            <a:off x="548640" y="3246120"/>
            <a:ext cx="73152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서브넷 마스크 255.255.255.0  =  /24</a:t>
            </a:r>
            <a:endParaRPr lang="en-US" sz="1700" dirty="0"/>
          </a:p>
        </p:txBody>
      </p:sp>
      <p:sp>
        <p:nvSpPr>
          <p:cNvPr id="22" name="Shape 19"/>
          <p:cNvSpPr/>
          <p:nvPr/>
        </p:nvSpPr>
        <p:spPr>
          <a:xfrm>
            <a:off x="548640" y="3749040"/>
            <a:ext cx="2606040" cy="548640"/>
          </a:xfrm>
          <a:prstGeom prst="roundRect">
            <a:avLst>
              <a:gd name="adj" fmla="val 13333"/>
            </a:avLst>
          </a:prstGeom>
          <a:solidFill>
            <a:srgbClr val="E6F1F2"/>
          </a:solidFill>
          <a:ln w="12700">
            <a:solidFill>
              <a:srgbClr val="0E6E7A"/>
            </a:solidFill>
            <a:prstDash val="solid"/>
          </a:ln>
        </p:spPr>
      </p:sp>
      <p:sp>
        <p:nvSpPr>
          <p:cNvPr id="23" name="Text 20"/>
          <p:cNvSpPr txBox="1"/>
          <p:nvPr/>
        </p:nvSpPr>
        <p:spPr>
          <a:xfrm>
            <a:off x="548640" y="3749040"/>
            <a:ext cx="2606040" cy="548640"/>
          </a:xfrm>
          <a:prstGeom prst="rect">
            <a:avLst/>
          </a:prstGeom>
          <a:noFill/>
          <a:ln/>
        </p:spPr>
        <p:txBody>
          <a:bodyPr wrap="square" lIns="0" tIns="0" rIns="0" bIns="0" rtlCol="0" anchor="ctr"/>
          <a:lstStyle/>
          <a:p>
            <a:pPr algn="ctr" indent="0" marL="0">
              <a:buNone/>
            </a:pPr>
            <a:r>
              <a:rPr lang="en-US" sz="1800" b="1" dirty="0">
                <a:solidFill>
                  <a:srgbClr val="1E2A30"/>
                </a:solidFill>
                <a:latin typeface="Consolas" pitchFamily="34" charset="0"/>
                <a:ea typeface="Consolas" pitchFamily="34" charset="-122"/>
                <a:cs typeface="Consolas" pitchFamily="34" charset="-120"/>
              </a:rPr>
              <a:t>11111111</a:t>
            </a:r>
            <a:endParaRPr lang="en-US" sz="1800" dirty="0"/>
          </a:p>
        </p:txBody>
      </p:sp>
      <p:sp>
        <p:nvSpPr>
          <p:cNvPr id="24" name="Shape 21"/>
          <p:cNvSpPr/>
          <p:nvPr/>
        </p:nvSpPr>
        <p:spPr>
          <a:xfrm>
            <a:off x="3364992" y="3749040"/>
            <a:ext cx="2606040" cy="548640"/>
          </a:xfrm>
          <a:prstGeom prst="roundRect">
            <a:avLst>
              <a:gd name="adj" fmla="val 13333"/>
            </a:avLst>
          </a:prstGeom>
          <a:solidFill>
            <a:srgbClr val="E6F1F2"/>
          </a:solidFill>
          <a:ln w="12700">
            <a:solidFill>
              <a:srgbClr val="0E6E7A"/>
            </a:solidFill>
            <a:prstDash val="solid"/>
          </a:ln>
        </p:spPr>
      </p:sp>
      <p:sp>
        <p:nvSpPr>
          <p:cNvPr id="25" name="Text 22"/>
          <p:cNvSpPr txBox="1"/>
          <p:nvPr/>
        </p:nvSpPr>
        <p:spPr>
          <a:xfrm>
            <a:off x="3364992" y="3749040"/>
            <a:ext cx="2606040" cy="548640"/>
          </a:xfrm>
          <a:prstGeom prst="rect">
            <a:avLst/>
          </a:prstGeom>
          <a:noFill/>
          <a:ln/>
        </p:spPr>
        <p:txBody>
          <a:bodyPr wrap="square" lIns="0" tIns="0" rIns="0" bIns="0" rtlCol="0" anchor="ctr"/>
          <a:lstStyle/>
          <a:p>
            <a:pPr algn="ctr" indent="0" marL="0">
              <a:buNone/>
            </a:pPr>
            <a:r>
              <a:rPr lang="en-US" sz="1800" b="1" dirty="0">
                <a:solidFill>
                  <a:srgbClr val="1E2A30"/>
                </a:solidFill>
                <a:latin typeface="Consolas" pitchFamily="34" charset="0"/>
                <a:ea typeface="Consolas" pitchFamily="34" charset="-122"/>
                <a:cs typeface="Consolas" pitchFamily="34" charset="-120"/>
              </a:rPr>
              <a:t>11111111</a:t>
            </a:r>
            <a:endParaRPr lang="en-US" sz="1800" dirty="0"/>
          </a:p>
        </p:txBody>
      </p:sp>
      <p:sp>
        <p:nvSpPr>
          <p:cNvPr id="26" name="Shape 23"/>
          <p:cNvSpPr/>
          <p:nvPr/>
        </p:nvSpPr>
        <p:spPr>
          <a:xfrm>
            <a:off x="6181344" y="3749040"/>
            <a:ext cx="2606040" cy="548640"/>
          </a:xfrm>
          <a:prstGeom prst="roundRect">
            <a:avLst>
              <a:gd name="adj" fmla="val 13333"/>
            </a:avLst>
          </a:prstGeom>
          <a:solidFill>
            <a:srgbClr val="E6F1F2"/>
          </a:solidFill>
          <a:ln w="12700">
            <a:solidFill>
              <a:srgbClr val="0E6E7A"/>
            </a:solidFill>
            <a:prstDash val="solid"/>
          </a:ln>
        </p:spPr>
      </p:sp>
      <p:sp>
        <p:nvSpPr>
          <p:cNvPr id="27" name="Text 24"/>
          <p:cNvSpPr txBox="1"/>
          <p:nvPr/>
        </p:nvSpPr>
        <p:spPr>
          <a:xfrm>
            <a:off x="6181344" y="3749040"/>
            <a:ext cx="2606040" cy="548640"/>
          </a:xfrm>
          <a:prstGeom prst="rect">
            <a:avLst/>
          </a:prstGeom>
          <a:noFill/>
          <a:ln/>
        </p:spPr>
        <p:txBody>
          <a:bodyPr wrap="square" lIns="0" tIns="0" rIns="0" bIns="0" rtlCol="0" anchor="ctr"/>
          <a:lstStyle/>
          <a:p>
            <a:pPr algn="ctr" indent="0" marL="0">
              <a:buNone/>
            </a:pPr>
            <a:r>
              <a:rPr lang="en-US" sz="1800" b="1" dirty="0">
                <a:solidFill>
                  <a:srgbClr val="1E2A30"/>
                </a:solidFill>
                <a:latin typeface="Consolas" pitchFamily="34" charset="0"/>
                <a:ea typeface="Consolas" pitchFamily="34" charset="-122"/>
                <a:cs typeface="Consolas" pitchFamily="34" charset="-120"/>
              </a:rPr>
              <a:t>11111111</a:t>
            </a:r>
            <a:endParaRPr lang="en-US" sz="1800" dirty="0"/>
          </a:p>
        </p:txBody>
      </p:sp>
      <p:sp>
        <p:nvSpPr>
          <p:cNvPr id="28" name="Shape 25"/>
          <p:cNvSpPr/>
          <p:nvPr/>
        </p:nvSpPr>
        <p:spPr>
          <a:xfrm>
            <a:off x="8997696" y="3749040"/>
            <a:ext cx="2606040" cy="548640"/>
          </a:xfrm>
          <a:prstGeom prst="roundRect">
            <a:avLst>
              <a:gd name="adj" fmla="val 13333"/>
            </a:avLst>
          </a:prstGeom>
          <a:solidFill>
            <a:srgbClr val="FFFFFF"/>
          </a:solidFill>
          <a:ln w="12700">
            <a:solidFill>
              <a:srgbClr val="1E2A30"/>
            </a:solidFill>
            <a:prstDash val="solid"/>
          </a:ln>
        </p:spPr>
      </p:sp>
      <p:sp>
        <p:nvSpPr>
          <p:cNvPr id="29" name="Text 26"/>
          <p:cNvSpPr txBox="1"/>
          <p:nvPr/>
        </p:nvSpPr>
        <p:spPr>
          <a:xfrm>
            <a:off x="8997696" y="3749040"/>
            <a:ext cx="2606040" cy="548640"/>
          </a:xfrm>
          <a:prstGeom prst="rect">
            <a:avLst/>
          </a:prstGeom>
          <a:noFill/>
          <a:ln/>
        </p:spPr>
        <p:txBody>
          <a:bodyPr wrap="square" lIns="0" tIns="0" rIns="0" bIns="0" rtlCol="0" anchor="ctr"/>
          <a:lstStyle/>
          <a:p>
            <a:pPr algn="ctr" indent="0" marL="0">
              <a:buNone/>
            </a:pPr>
            <a:r>
              <a:rPr lang="en-US" sz="1800" b="1" dirty="0">
                <a:solidFill>
                  <a:srgbClr val="1E2A30"/>
                </a:solidFill>
                <a:latin typeface="Consolas" pitchFamily="34" charset="0"/>
                <a:ea typeface="Consolas" pitchFamily="34" charset="-122"/>
                <a:cs typeface="Consolas" pitchFamily="34" charset="-120"/>
              </a:rPr>
              <a:t>00000000</a:t>
            </a:r>
            <a:endParaRPr lang="en-US" sz="1800" dirty="0"/>
          </a:p>
        </p:txBody>
      </p:sp>
      <p:sp>
        <p:nvSpPr>
          <p:cNvPr id="30" name="Shape 27"/>
          <p:cNvSpPr/>
          <p:nvPr/>
        </p:nvSpPr>
        <p:spPr>
          <a:xfrm>
            <a:off x="548640" y="4526280"/>
            <a:ext cx="8321040" cy="914"/>
          </a:xfrm>
          <a:prstGeom prst="line">
            <a:avLst/>
          </a:prstGeom>
          <a:noFill/>
          <a:ln w="25400">
            <a:solidFill>
              <a:srgbClr val="0E6E7A"/>
            </a:solidFill>
            <a:prstDash val="solid"/>
          </a:ln>
        </p:spPr>
      </p:sp>
      <p:sp>
        <p:nvSpPr>
          <p:cNvPr id="31" name="Text 28"/>
          <p:cNvSpPr txBox="1"/>
          <p:nvPr/>
        </p:nvSpPr>
        <p:spPr>
          <a:xfrm>
            <a:off x="548640" y="4572000"/>
            <a:ext cx="8321040" cy="365760"/>
          </a:xfrm>
          <a:prstGeom prst="rect">
            <a:avLst/>
          </a:prstGeom>
          <a:noFill/>
          <a:ln/>
        </p:spPr>
        <p:txBody>
          <a:bodyPr wrap="square" lIns="0" tIns="0" rIns="0" bIns="0" rtlCol="0" anchor="t"/>
          <a:lstStyle/>
          <a:p>
            <a:pPr algn="ctr" indent="0" marL="0">
              <a:buNone/>
            </a:pPr>
            <a:r>
              <a:rPr lang="en-US" sz="1400" b="1" dirty="0">
                <a:solidFill>
                  <a:srgbClr val="0E6E7A"/>
                </a:solidFill>
                <a:latin typeface="맑은 고딕" pitchFamily="34" charset="0"/>
                <a:ea typeface="맑은 고딕" pitchFamily="34" charset="-122"/>
                <a:cs typeface="맑은 고딕" pitchFamily="34" charset="-120"/>
              </a:rPr>
              <a:t>네트워크 부분 (24비트) — KISA/KRNIC 할당</a:t>
            </a:r>
            <a:endParaRPr lang="en-US" sz="1400" dirty="0"/>
          </a:p>
        </p:txBody>
      </p:sp>
      <p:sp>
        <p:nvSpPr>
          <p:cNvPr id="32" name="Shape 29"/>
          <p:cNvSpPr/>
          <p:nvPr/>
        </p:nvSpPr>
        <p:spPr>
          <a:xfrm>
            <a:off x="9006840" y="4526280"/>
            <a:ext cx="2606040" cy="914"/>
          </a:xfrm>
          <a:prstGeom prst="line">
            <a:avLst/>
          </a:prstGeom>
          <a:noFill/>
          <a:ln w="25400">
            <a:solidFill>
              <a:srgbClr val="1E2A30"/>
            </a:solidFill>
            <a:prstDash val="solid"/>
          </a:ln>
        </p:spPr>
      </p:sp>
      <p:sp>
        <p:nvSpPr>
          <p:cNvPr id="33" name="Text 30"/>
          <p:cNvSpPr txBox="1"/>
          <p:nvPr/>
        </p:nvSpPr>
        <p:spPr>
          <a:xfrm>
            <a:off x="9006840" y="4572000"/>
            <a:ext cx="2606040" cy="594360"/>
          </a:xfrm>
          <a:prstGeom prst="rect">
            <a:avLst/>
          </a:prstGeom>
          <a:noFill/>
          <a:ln/>
        </p:spPr>
        <p:txBody>
          <a:bodyPr wrap="square" lIns="0" tIns="0" rIns="0" bIns="0" rtlCol="0" anchor="t"/>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호스트 (8비트)</a:t>
            </a:r>
            <a:endParaRPr lang="en-US" sz="1400" dirty="0"/>
          </a:p>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관리자 부여</a:t>
            </a:r>
            <a:endParaRPr lang="en-US" sz="1400" dirty="0"/>
          </a:p>
        </p:txBody>
      </p:sp>
      <p:sp>
        <p:nvSpPr>
          <p:cNvPr id="34" name="Shape 31"/>
          <p:cNvSpPr/>
          <p:nvPr/>
        </p:nvSpPr>
        <p:spPr>
          <a:xfrm>
            <a:off x="548640" y="5486400"/>
            <a:ext cx="11091672" cy="457200"/>
          </a:xfrm>
          <a:prstGeom prst="roundRect">
            <a:avLst>
              <a:gd name="adj" fmla="val 16000"/>
            </a:avLst>
          </a:prstGeom>
          <a:solidFill>
            <a:srgbClr val="E6F1F2"/>
          </a:solidFill>
          <a:ln w="12700">
            <a:solidFill>
              <a:srgbClr val="E6F1F2"/>
            </a:solidFill>
            <a:prstDash val="solid"/>
          </a:ln>
        </p:spPr>
      </p:sp>
      <p:sp>
        <p:nvSpPr>
          <p:cNvPr id="35" name="Text 32"/>
          <p:cNvSpPr txBox="1"/>
          <p:nvPr/>
        </p:nvSpPr>
        <p:spPr>
          <a:xfrm>
            <a:off x="777240" y="548640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옥텟 하나 = 8비트 = 0 ~ 255 / 마스크의 1 = 네트워크, 0 = 호스트</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IP 주소 클래스 A ~ E</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280160"/>
                <a:gridCol w="1463040"/>
                <a:gridCol w="2377440"/>
                <a:gridCol w="3044952"/>
                <a:gridCol w="2926080"/>
              </a:tblGrid>
              <a:tr h="548640">
                <a:tc>
                  <a:txBody>
                    <a:bodyP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클래스</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앞 비트</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첫 옥텟 범위</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기본 마스크</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용도</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548640">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A</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 ~ 127</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/8   255.0.0.0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대규모 네트워크</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B</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128 ~ 191</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/16  255.255.0.0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중규모 네트워크</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48640">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C</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110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192 ~ 223</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/24  255.255.255.0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소규모 네트워크</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D</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1110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224 ~ 239</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멀티캐스트 (IGMP)</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48640">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E</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1111</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240 ~ 255</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연구 · 예약용</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846320"/>
            <a:ext cx="5394960" cy="1280160"/>
          </a:xfrm>
          <a:prstGeom prst="roundRect">
            <a:avLst>
              <a:gd name="adj" fmla="val 5714"/>
            </a:avLst>
          </a:prstGeom>
          <a:solidFill>
            <a:srgbClr val="E6F1F2"/>
          </a:solidFill>
          <a:ln w="12700">
            <a:solidFill>
              <a:srgbClr val="0E6E7A"/>
            </a:solidFill>
            <a:prstDash val="solid"/>
          </a:ln>
        </p:spPr>
      </p:sp>
      <p:sp>
        <p:nvSpPr>
          <p:cNvPr id="7" name="Text 3"/>
          <p:cNvSpPr txBox="1"/>
          <p:nvPr/>
        </p:nvSpPr>
        <p:spPr>
          <a:xfrm>
            <a:off x="731520" y="498348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구분 방법</a:t>
            </a:r>
            <a:endParaRPr lang="en-US" sz="1600" dirty="0"/>
          </a:p>
        </p:txBody>
      </p:sp>
      <p:sp>
        <p:nvSpPr>
          <p:cNvPr id="8" name="Text 4"/>
          <p:cNvSpPr txBox="1"/>
          <p:nvPr/>
        </p:nvSpPr>
        <p:spPr>
          <a:xfrm>
            <a:off x="731520" y="5440680"/>
            <a:ext cx="5029200" cy="5760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첫 번째 옥텟 값만 보면 클래스를 알 수 있다</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172.16.1.1 → 172 → B 클래스</a:t>
            </a:r>
            <a:endParaRPr lang="en-US" sz="1400" dirty="0"/>
          </a:p>
        </p:txBody>
      </p:sp>
      <p:sp>
        <p:nvSpPr>
          <p:cNvPr id="9" name="Shape 5"/>
          <p:cNvSpPr/>
          <p:nvPr/>
        </p:nvSpPr>
        <p:spPr>
          <a:xfrm>
            <a:off x="6245352" y="4846320"/>
            <a:ext cx="5394960" cy="1280160"/>
          </a:xfrm>
          <a:prstGeom prst="roundRect">
            <a:avLst>
              <a:gd name="adj" fmla="val 5714"/>
            </a:avLst>
          </a:prstGeom>
          <a:solidFill>
            <a:srgbClr val="FFFFFF"/>
          </a:solidFill>
          <a:ln w="12700">
            <a:solidFill>
              <a:srgbClr val="9AA5AD"/>
            </a:solidFill>
            <a:prstDash val="solid"/>
          </a:ln>
        </p:spPr>
      </p:sp>
      <p:sp>
        <p:nvSpPr>
          <p:cNvPr id="10" name="Text 6"/>
          <p:cNvSpPr txBox="1"/>
          <p:nvPr/>
        </p:nvSpPr>
        <p:spPr>
          <a:xfrm>
            <a:off x="6428232" y="498348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A · B · C 클래스</a:t>
            </a:r>
            <a:endParaRPr lang="en-US" sz="1600" dirty="0"/>
          </a:p>
        </p:txBody>
      </p:sp>
      <p:sp>
        <p:nvSpPr>
          <p:cNvPr id="11" name="Text 7"/>
          <p:cNvSpPr txBox="1"/>
          <p:nvPr/>
        </p:nvSpPr>
        <p:spPr>
          <a:xfrm>
            <a:off x="6428232" y="5440680"/>
            <a:ext cx="5029200" cy="5760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유니캐스트 · 멀티캐스트 · 브로드캐스트에 사용</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127.x.x.x = 루프백(자기 자신)</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클래스별 네트워크 수와 호스트 수</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Shape 2"/>
          <p:cNvSpPr/>
          <p:nvPr/>
        </p:nvSpPr>
        <p:spPr>
          <a:xfrm>
            <a:off x="548640" y="1325880"/>
            <a:ext cx="3566160" cy="3383280"/>
          </a:xfrm>
          <a:prstGeom prst="roundRect">
            <a:avLst>
              <a:gd name="adj" fmla="val 2162"/>
            </a:avLst>
          </a:prstGeom>
          <a:solidFill>
            <a:srgbClr val="FFFFFF"/>
          </a:solidFill>
          <a:ln w="12700">
            <a:solidFill>
              <a:srgbClr val="9AA5AD"/>
            </a:solidFill>
            <a:prstDash val="solid"/>
          </a:ln>
        </p:spPr>
      </p:sp>
      <p:sp>
        <p:nvSpPr>
          <p:cNvPr id="6" name="Text 3"/>
          <p:cNvSpPr txBox="1"/>
          <p:nvPr/>
        </p:nvSpPr>
        <p:spPr>
          <a:xfrm>
            <a:off x="777240" y="1463040"/>
            <a:ext cx="3108960" cy="457200"/>
          </a:xfrm>
          <a:prstGeom prst="rect">
            <a:avLst/>
          </a:prstGeom>
          <a:noFill/>
          <a:ln/>
        </p:spPr>
        <p:txBody>
          <a:bodyPr wrap="square" lIns="0" tIns="0" rIns="0" bIns="0" rtlCol="0" anchor="t"/>
          <a:lstStyle/>
          <a:p>
            <a:pPr indent="0" marL="0">
              <a:buNone/>
            </a:pPr>
            <a:r>
              <a:rPr lang="en-US" sz="2200" b="1" dirty="0">
                <a:solidFill>
                  <a:srgbClr val="0E6E7A"/>
                </a:solidFill>
                <a:latin typeface="맑은 고딕" pitchFamily="34" charset="0"/>
                <a:ea typeface="맑은 고딕" pitchFamily="34" charset="-122"/>
                <a:cs typeface="맑은 고딕" pitchFamily="34" charset="-120"/>
              </a:rPr>
              <a:t>Class A</a:t>
            </a:r>
            <a:endParaRPr lang="en-US" sz="2200" dirty="0"/>
          </a:p>
        </p:txBody>
      </p:sp>
      <p:sp>
        <p:nvSpPr>
          <p:cNvPr id="7" name="Text 4"/>
          <p:cNvSpPr txBox="1"/>
          <p:nvPr/>
        </p:nvSpPr>
        <p:spPr>
          <a:xfrm>
            <a:off x="777240" y="2011680"/>
            <a:ext cx="310896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네트워크 수</a:t>
            </a:r>
            <a:endParaRPr lang="en-US" sz="1300" dirty="0"/>
          </a:p>
        </p:txBody>
      </p:sp>
      <p:sp>
        <p:nvSpPr>
          <p:cNvPr id="8" name="Text 5"/>
          <p:cNvSpPr txBox="1"/>
          <p:nvPr/>
        </p:nvSpPr>
        <p:spPr>
          <a:xfrm>
            <a:off x="777240" y="2331720"/>
            <a:ext cx="3108960" cy="365760"/>
          </a:xfrm>
          <a:prstGeom prst="rect">
            <a:avLst/>
          </a:prstGeom>
          <a:noFill/>
          <a:ln/>
        </p:spPr>
        <p:txBody>
          <a:bodyPr wrap="square" lIns="0" tIns="0" rIns="0" bIns="0" rtlCol="0" anchor="t"/>
          <a:lstStyle/>
          <a:p>
            <a:pPr indent="0" marL="0">
              <a:buNone/>
            </a:pPr>
            <a:r>
              <a:rPr lang="en-US" sz="1500" dirty="0">
                <a:solidFill>
                  <a:srgbClr val="1E2A30"/>
                </a:solidFill>
                <a:latin typeface="Consolas" pitchFamily="34" charset="0"/>
                <a:ea typeface="Consolas" pitchFamily="34" charset="-122"/>
                <a:cs typeface="Consolas" pitchFamily="34" charset="-120"/>
              </a:rPr>
              <a:t>2^(8−1) = 2^7</a:t>
            </a:r>
            <a:endParaRPr lang="en-US" sz="1500" dirty="0"/>
          </a:p>
        </p:txBody>
      </p:sp>
      <p:sp>
        <p:nvSpPr>
          <p:cNvPr id="9" name="Text 6"/>
          <p:cNvSpPr txBox="1"/>
          <p:nvPr/>
        </p:nvSpPr>
        <p:spPr>
          <a:xfrm>
            <a:off x="777240" y="2697480"/>
            <a:ext cx="3108960" cy="45720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128</a:t>
            </a:r>
            <a:endParaRPr lang="en-US" sz="2200" dirty="0"/>
          </a:p>
        </p:txBody>
      </p:sp>
      <p:sp>
        <p:nvSpPr>
          <p:cNvPr id="10" name="Text 7"/>
          <p:cNvSpPr txBox="1"/>
          <p:nvPr/>
        </p:nvSpPr>
        <p:spPr>
          <a:xfrm>
            <a:off x="777240" y="3291840"/>
            <a:ext cx="310896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네트워크당 호스트 수</a:t>
            </a:r>
            <a:endParaRPr lang="en-US" sz="1300" dirty="0"/>
          </a:p>
        </p:txBody>
      </p:sp>
      <p:sp>
        <p:nvSpPr>
          <p:cNvPr id="11" name="Text 8"/>
          <p:cNvSpPr txBox="1"/>
          <p:nvPr/>
        </p:nvSpPr>
        <p:spPr>
          <a:xfrm>
            <a:off x="777240" y="3611880"/>
            <a:ext cx="3108960" cy="365760"/>
          </a:xfrm>
          <a:prstGeom prst="rect">
            <a:avLst/>
          </a:prstGeom>
          <a:noFill/>
          <a:ln/>
        </p:spPr>
        <p:txBody>
          <a:bodyPr wrap="square" lIns="0" tIns="0" rIns="0" bIns="0" rtlCol="0" anchor="t"/>
          <a:lstStyle/>
          <a:p>
            <a:pPr indent="0" marL="0">
              <a:buNone/>
            </a:pPr>
            <a:r>
              <a:rPr lang="en-US" sz="1500" dirty="0">
                <a:solidFill>
                  <a:srgbClr val="1E2A30"/>
                </a:solidFill>
                <a:latin typeface="Consolas" pitchFamily="34" charset="0"/>
                <a:ea typeface="Consolas" pitchFamily="34" charset="-122"/>
                <a:cs typeface="Consolas" pitchFamily="34" charset="-120"/>
              </a:rPr>
              <a:t>2^24 − 2</a:t>
            </a:r>
            <a:endParaRPr lang="en-US" sz="1500" dirty="0"/>
          </a:p>
        </p:txBody>
      </p:sp>
      <p:sp>
        <p:nvSpPr>
          <p:cNvPr id="12" name="Text 9"/>
          <p:cNvSpPr txBox="1"/>
          <p:nvPr/>
        </p:nvSpPr>
        <p:spPr>
          <a:xfrm>
            <a:off x="777240" y="3977640"/>
            <a:ext cx="3108960" cy="45720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16,777,214</a:t>
            </a:r>
            <a:endParaRPr lang="en-US" sz="2200" dirty="0"/>
          </a:p>
        </p:txBody>
      </p:sp>
      <p:sp>
        <p:nvSpPr>
          <p:cNvPr id="13" name="Shape 10"/>
          <p:cNvSpPr/>
          <p:nvPr/>
        </p:nvSpPr>
        <p:spPr>
          <a:xfrm>
            <a:off x="4297680" y="1325880"/>
            <a:ext cx="3566160" cy="3383280"/>
          </a:xfrm>
          <a:prstGeom prst="roundRect">
            <a:avLst>
              <a:gd name="adj" fmla="val 2162"/>
            </a:avLst>
          </a:prstGeom>
          <a:solidFill>
            <a:srgbClr val="E6F1F2"/>
          </a:solidFill>
          <a:ln w="12700">
            <a:solidFill>
              <a:srgbClr val="0E6E7A"/>
            </a:solidFill>
            <a:prstDash val="solid"/>
          </a:ln>
        </p:spPr>
      </p:sp>
      <p:sp>
        <p:nvSpPr>
          <p:cNvPr id="14" name="Text 11"/>
          <p:cNvSpPr txBox="1"/>
          <p:nvPr/>
        </p:nvSpPr>
        <p:spPr>
          <a:xfrm>
            <a:off x="4526280" y="1463040"/>
            <a:ext cx="3108960" cy="457200"/>
          </a:xfrm>
          <a:prstGeom prst="rect">
            <a:avLst/>
          </a:prstGeom>
          <a:noFill/>
          <a:ln/>
        </p:spPr>
        <p:txBody>
          <a:bodyPr wrap="square" lIns="0" tIns="0" rIns="0" bIns="0" rtlCol="0" anchor="t"/>
          <a:lstStyle/>
          <a:p>
            <a:pPr indent="0" marL="0">
              <a:buNone/>
            </a:pPr>
            <a:r>
              <a:rPr lang="en-US" sz="2200" b="1" dirty="0">
                <a:solidFill>
                  <a:srgbClr val="0E6E7A"/>
                </a:solidFill>
                <a:latin typeface="맑은 고딕" pitchFamily="34" charset="0"/>
                <a:ea typeface="맑은 고딕" pitchFamily="34" charset="-122"/>
                <a:cs typeface="맑은 고딕" pitchFamily="34" charset="-120"/>
              </a:rPr>
              <a:t>Class B</a:t>
            </a:r>
            <a:endParaRPr lang="en-US" sz="2200" dirty="0"/>
          </a:p>
        </p:txBody>
      </p:sp>
      <p:sp>
        <p:nvSpPr>
          <p:cNvPr id="15" name="Text 12"/>
          <p:cNvSpPr txBox="1"/>
          <p:nvPr/>
        </p:nvSpPr>
        <p:spPr>
          <a:xfrm>
            <a:off x="4526280" y="2011680"/>
            <a:ext cx="310896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네트워크 수</a:t>
            </a:r>
            <a:endParaRPr lang="en-US" sz="1300" dirty="0"/>
          </a:p>
        </p:txBody>
      </p:sp>
      <p:sp>
        <p:nvSpPr>
          <p:cNvPr id="16" name="Text 13"/>
          <p:cNvSpPr txBox="1"/>
          <p:nvPr/>
        </p:nvSpPr>
        <p:spPr>
          <a:xfrm>
            <a:off x="4526280" y="2331720"/>
            <a:ext cx="3108960" cy="365760"/>
          </a:xfrm>
          <a:prstGeom prst="rect">
            <a:avLst/>
          </a:prstGeom>
          <a:noFill/>
          <a:ln/>
        </p:spPr>
        <p:txBody>
          <a:bodyPr wrap="square" lIns="0" tIns="0" rIns="0" bIns="0" rtlCol="0" anchor="t"/>
          <a:lstStyle/>
          <a:p>
            <a:pPr indent="0" marL="0">
              <a:buNone/>
            </a:pPr>
            <a:r>
              <a:rPr lang="en-US" sz="1500" dirty="0">
                <a:solidFill>
                  <a:srgbClr val="1E2A30"/>
                </a:solidFill>
                <a:latin typeface="Consolas" pitchFamily="34" charset="0"/>
                <a:ea typeface="Consolas" pitchFamily="34" charset="-122"/>
                <a:cs typeface="Consolas" pitchFamily="34" charset="-120"/>
              </a:rPr>
              <a:t>2^(16−2) = 2^14</a:t>
            </a:r>
            <a:endParaRPr lang="en-US" sz="1500" dirty="0"/>
          </a:p>
        </p:txBody>
      </p:sp>
      <p:sp>
        <p:nvSpPr>
          <p:cNvPr id="17" name="Text 14"/>
          <p:cNvSpPr txBox="1"/>
          <p:nvPr/>
        </p:nvSpPr>
        <p:spPr>
          <a:xfrm>
            <a:off x="4526280" y="2697480"/>
            <a:ext cx="3108960" cy="45720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16,384</a:t>
            </a:r>
            <a:endParaRPr lang="en-US" sz="2200" dirty="0"/>
          </a:p>
        </p:txBody>
      </p:sp>
      <p:sp>
        <p:nvSpPr>
          <p:cNvPr id="18" name="Text 15"/>
          <p:cNvSpPr txBox="1"/>
          <p:nvPr/>
        </p:nvSpPr>
        <p:spPr>
          <a:xfrm>
            <a:off x="4526280" y="3291840"/>
            <a:ext cx="310896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네트워크당 호스트 수</a:t>
            </a:r>
            <a:endParaRPr lang="en-US" sz="1300" dirty="0"/>
          </a:p>
        </p:txBody>
      </p:sp>
      <p:sp>
        <p:nvSpPr>
          <p:cNvPr id="19" name="Text 16"/>
          <p:cNvSpPr txBox="1"/>
          <p:nvPr/>
        </p:nvSpPr>
        <p:spPr>
          <a:xfrm>
            <a:off x="4526280" y="3611880"/>
            <a:ext cx="3108960" cy="365760"/>
          </a:xfrm>
          <a:prstGeom prst="rect">
            <a:avLst/>
          </a:prstGeom>
          <a:noFill/>
          <a:ln/>
        </p:spPr>
        <p:txBody>
          <a:bodyPr wrap="square" lIns="0" tIns="0" rIns="0" bIns="0" rtlCol="0" anchor="t"/>
          <a:lstStyle/>
          <a:p>
            <a:pPr indent="0" marL="0">
              <a:buNone/>
            </a:pPr>
            <a:r>
              <a:rPr lang="en-US" sz="1500" dirty="0">
                <a:solidFill>
                  <a:srgbClr val="1E2A30"/>
                </a:solidFill>
                <a:latin typeface="Consolas" pitchFamily="34" charset="0"/>
                <a:ea typeface="Consolas" pitchFamily="34" charset="-122"/>
                <a:cs typeface="Consolas" pitchFamily="34" charset="-120"/>
              </a:rPr>
              <a:t>2^16 − 2</a:t>
            </a:r>
            <a:endParaRPr lang="en-US" sz="1500" dirty="0"/>
          </a:p>
        </p:txBody>
      </p:sp>
      <p:sp>
        <p:nvSpPr>
          <p:cNvPr id="20" name="Text 17"/>
          <p:cNvSpPr txBox="1"/>
          <p:nvPr/>
        </p:nvSpPr>
        <p:spPr>
          <a:xfrm>
            <a:off x="4526280" y="3977640"/>
            <a:ext cx="3108960" cy="45720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65,534</a:t>
            </a:r>
            <a:endParaRPr lang="en-US" sz="2200" dirty="0"/>
          </a:p>
        </p:txBody>
      </p:sp>
      <p:sp>
        <p:nvSpPr>
          <p:cNvPr id="21" name="Shape 18"/>
          <p:cNvSpPr/>
          <p:nvPr/>
        </p:nvSpPr>
        <p:spPr>
          <a:xfrm>
            <a:off x="8046720" y="1325880"/>
            <a:ext cx="3566160" cy="3383280"/>
          </a:xfrm>
          <a:prstGeom prst="roundRect">
            <a:avLst>
              <a:gd name="adj" fmla="val 2162"/>
            </a:avLst>
          </a:prstGeom>
          <a:solidFill>
            <a:srgbClr val="FFFFFF"/>
          </a:solidFill>
          <a:ln w="12700">
            <a:solidFill>
              <a:srgbClr val="9AA5AD"/>
            </a:solidFill>
            <a:prstDash val="solid"/>
          </a:ln>
        </p:spPr>
      </p:sp>
      <p:sp>
        <p:nvSpPr>
          <p:cNvPr id="22" name="Text 19"/>
          <p:cNvSpPr txBox="1"/>
          <p:nvPr/>
        </p:nvSpPr>
        <p:spPr>
          <a:xfrm>
            <a:off x="8275320" y="1463040"/>
            <a:ext cx="3108960" cy="457200"/>
          </a:xfrm>
          <a:prstGeom prst="rect">
            <a:avLst/>
          </a:prstGeom>
          <a:noFill/>
          <a:ln/>
        </p:spPr>
        <p:txBody>
          <a:bodyPr wrap="square" lIns="0" tIns="0" rIns="0" bIns="0" rtlCol="0" anchor="t"/>
          <a:lstStyle/>
          <a:p>
            <a:pPr indent="0" marL="0">
              <a:buNone/>
            </a:pPr>
            <a:r>
              <a:rPr lang="en-US" sz="2200" b="1" dirty="0">
                <a:solidFill>
                  <a:srgbClr val="0E6E7A"/>
                </a:solidFill>
                <a:latin typeface="맑은 고딕" pitchFamily="34" charset="0"/>
                <a:ea typeface="맑은 고딕" pitchFamily="34" charset="-122"/>
                <a:cs typeface="맑은 고딕" pitchFamily="34" charset="-120"/>
              </a:rPr>
              <a:t>Class C</a:t>
            </a:r>
            <a:endParaRPr lang="en-US" sz="2200" dirty="0"/>
          </a:p>
        </p:txBody>
      </p:sp>
      <p:sp>
        <p:nvSpPr>
          <p:cNvPr id="23" name="Text 20"/>
          <p:cNvSpPr txBox="1"/>
          <p:nvPr/>
        </p:nvSpPr>
        <p:spPr>
          <a:xfrm>
            <a:off x="8275320" y="2011680"/>
            <a:ext cx="310896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네트워크 수</a:t>
            </a:r>
            <a:endParaRPr lang="en-US" sz="1300" dirty="0"/>
          </a:p>
        </p:txBody>
      </p:sp>
      <p:sp>
        <p:nvSpPr>
          <p:cNvPr id="24" name="Text 21"/>
          <p:cNvSpPr txBox="1"/>
          <p:nvPr/>
        </p:nvSpPr>
        <p:spPr>
          <a:xfrm>
            <a:off x="8275320" y="2331720"/>
            <a:ext cx="3108960" cy="365760"/>
          </a:xfrm>
          <a:prstGeom prst="rect">
            <a:avLst/>
          </a:prstGeom>
          <a:noFill/>
          <a:ln/>
        </p:spPr>
        <p:txBody>
          <a:bodyPr wrap="square" lIns="0" tIns="0" rIns="0" bIns="0" rtlCol="0" anchor="t"/>
          <a:lstStyle/>
          <a:p>
            <a:pPr indent="0" marL="0">
              <a:buNone/>
            </a:pPr>
            <a:r>
              <a:rPr lang="en-US" sz="1500" dirty="0">
                <a:solidFill>
                  <a:srgbClr val="1E2A30"/>
                </a:solidFill>
                <a:latin typeface="Consolas" pitchFamily="34" charset="0"/>
                <a:ea typeface="Consolas" pitchFamily="34" charset="-122"/>
                <a:cs typeface="Consolas" pitchFamily="34" charset="-120"/>
              </a:rPr>
              <a:t>2^(24−3) = 2^21</a:t>
            </a:r>
            <a:endParaRPr lang="en-US" sz="1500" dirty="0"/>
          </a:p>
        </p:txBody>
      </p:sp>
      <p:sp>
        <p:nvSpPr>
          <p:cNvPr id="25" name="Text 22"/>
          <p:cNvSpPr txBox="1"/>
          <p:nvPr/>
        </p:nvSpPr>
        <p:spPr>
          <a:xfrm>
            <a:off x="8275320" y="2697480"/>
            <a:ext cx="3108960" cy="45720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2,097,152</a:t>
            </a:r>
            <a:endParaRPr lang="en-US" sz="2200" dirty="0"/>
          </a:p>
        </p:txBody>
      </p:sp>
      <p:sp>
        <p:nvSpPr>
          <p:cNvPr id="26" name="Text 23"/>
          <p:cNvSpPr txBox="1"/>
          <p:nvPr/>
        </p:nvSpPr>
        <p:spPr>
          <a:xfrm>
            <a:off x="8275320" y="3291840"/>
            <a:ext cx="310896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네트워크당 호스트 수</a:t>
            </a:r>
            <a:endParaRPr lang="en-US" sz="1300" dirty="0"/>
          </a:p>
        </p:txBody>
      </p:sp>
      <p:sp>
        <p:nvSpPr>
          <p:cNvPr id="27" name="Text 24"/>
          <p:cNvSpPr txBox="1"/>
          <p:nvPr/>
        </p:nvSpPr>
        <p:spPr>
          <a:xfrm>
            <a:off x="8275320" y="3611880"/>
            <a:ext cx="3108960" cy="365760"/>
          </a:xfrm>
          <a:prstGeom prst="rect">
            <a:avLst/>
          </a:prstGeom>
          <a:noFill/>
          <a:ln/>
        </p:spPr>
        <p:txBody>
          <a:bodyPr wrap="square" lIns="0" tIns="0" rIns="0" bIns="0" rtlCol="0" anchor="t"/>
          <a:lstStyle/>
          <a:p>
            <a:pPr indent="0" marL="0">
              <a:buNone/>
            </a:pPr>
            <a:r>
              <a:rPr lang="en-US" sz="1500" dirty="0">
                <a:solidFill>
                  <a:srgbClr val="1E2A30"/>
                </a:solidFill>
                <a:latin typeface="Consolas" pitchFamily="34" charset="0"/>
                <a:ea typeface="Consolas" pitchFamily="34" charset="-122"/>
                <a:cs typeface="Consolas" pitchFamily="34" charset="-120"/>
              </a:rPr>
              <a:t>2^8 − 2</a:t>
            </a:r>
            <a:endParaRPr lang="en-US" sz="1500" dirty="0"/>
          </a:p>
        </p:txBody>
      </p:sp>
      <p:sp>
        <p:nvSpPr>
          <p:cNvPr id="28" name="Text 25"/>
          <p:cNvSpPr txBox="1"/>
          <p:nvPr/>
        </p:nvSpPr>
        <p:spPr>
          <a:xfrm>
            <a:off x="8275320" y="3977640"/>
            <a:ext cx="3108960" cy="457200"/>
          </a:xfrm>
          <a:prstGeom prst="rect">
            <a:avLst/>
          </a:prstGeom>
          <a:noFill/>
          <a:ln/>
        </p:spPr>
        <p:txBody>
          <a:bodyPr wrap="square" lIns="0" tIns="0" rIns="0" bIns="0" rtlCol="0" anchor="t"/>
          <a:lstStyle/>
          <a:p>
            <a:pPr indent="0" marL="0">
              <a:buNone/>
            </a:pPr>
            <a:r>
              <a:rPr lang="en-US" sz="2200" b="1" dirty="0">
                <a:solidFill>
                  <a:srgbClr val="1E2A30"/>
                </a:solidFill>
                <a:latin typeface="맑은 고딕" pitchFamily="34" charset="0"/>
                <a:ea typeface="맑은 고딕" pitchFamily="34" charset="-122"/>
                <a:cs typeface="맑은 고딕" pitchFamily="34" charset="-120"/>
              </a:rPr>
              <a:t>254</a:t>
            </a:r>
            <a:endParaRPr lang="en-US" sz="2200" dirty="0"/>
          </a:p>
        </p:txBody>
      </p:sp>
      <p:sp>
        <p:nvSpPr>
          <p:cNvPr id="29" name="Shape 26"/>
          <p:cNvSpPr/>
          <p:nvPr/>
        </p:nvSpPr>
        <p:spPr>
          <a:xfrm>
            <a:off x="548640" y="4937760"/>
            <a:ext cx="11091672" cy="868680"/>
          </a:xfrm>
          <a:prstGeom prst="roundRect">
            <a:avLst>
              <a:gd name="adj" fmla="val 8421"/>
            </a:avLst>
          </a:prstGeom>
          <a:solidFill>
            <a:srgbClr val="F4F6F7"/>
          </a:solidFill>
          <a:ln w="12700">
            <a:solidFill>
              <a:srgbClr val="9AA5AD"/>
            </a:solidFill>
            <a:prstDash val="solid"/>
          </a:ln>
        </p:spPr>
      </p:sp>
      <p:sp>
        <p:nvSpPr>
          <p:cNvPr id="30" name="Text 27"/>
          <p:cNvSpPr txBox="1"/>
          <p:nvPr/>
        </p:nvSpPr>
        <p:spPr>
          <a:xfrm>
            <a:off x="731520" y="5074920"/>
            <a:ext cx="10725912" cy="621792"/>
          </a:xfrm>
          <a:prstGeom prst="rect">
            <a:avLst/>
          </a:prstGeom>
          <a:noFill/>
          <a:ln/>
        </p:spPr>
        <p:txBody>
          <a:bodyPr wrap="square" lIns="0" tIns="0" rIns="0" bIns="0" rtlCol="0" anchor="t"/>
          <a:lstStyle/>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−2 를 하는 이유: 호스트 부분이 모두 0 = 네트워크 주소, 모두 1 = 브로드캐스트 주소 → 장비에 할당 불가</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고정 비트: A '0'(1비트), B '10'(2비트), C '110'(3비트)는 네트워크 수 계산에서 뺀다</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공인 IP · 사설 IP · 특수 주소</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Text 2"/>
          <p:cNvSpPr txBox="1"/>
          <p:nvPr/>
        </p:nvSpPr>
        <p:spPr>
          <a:xfrm>
            <a:off x="548640" y="1325880"/>
            <a:ext cx="73152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사설(Private) 주소 대역 — 반드시 암기</a:t>
            </a:r>
            <a:endParaRPr lang="en-US" sz="1700" dirty="0"/>
          </a:p>
        </p:txBody>
      </p:sp>
      <p:sp>
        <p:nvSpPr>
          <p:cNvPr id="6" name="Shape 3"/>
          <p:cNvSpPr/>
          <p:nvPr/>
        </p:nvSpPr>
        <p:spPr>
          <a:xfrm>
            <a:off x="548640" y="1828800"/>
            <a:ext cx="6766560" cy="658368"/>
          </a:xfrm>
          <a:prstGeom prst="roundRect">
            <a:avLst>
              <a:gd name="adj" fmla="val 11111"/>
            </a:avLst>
          </a:prstGeom>
          <a:solidFill>
            <a:srgbClr val="E6F1F2"/>
          </a:solidFill>
          <a:ln w="12700">
            <a:solidFill>
              <a:srgbClr val="0E6E7A"/>
            </a:solidFill>
            <a:prstDash val="solid"/>
          </a:ln>
        </p:spPr>
      </p:sp>
      <p:sp>
        <p:nvSpPr>
          <p:cNvPr id="7" name="Text 4"/>
          <p:cNvSpPr txBox="1"/>
          <p:nvPr/>
        </p:nvSpPr>
        <p:spPr>
          <a:xfrm>
            <a:off x="731520" y="1828800"/>
            <a:ext cx="548640" cy="658368"/>
          </a:xfrm>
          <a:prstGeom prst="rect">
            <a:avLst/>
          </a:prstGeom>
          <a:noFill/>
          <a:ln/>
        </p:spPr>
        <p:txBody>
          <a:bodyPr wrap="square" lIns="0" tIns="0" rIns="0" bIns="0" rtlCol="0" anchor="ctr"/>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A</a:t>
            </a:r>
            <a:endParaRPr lang="en-US" sz="1800" dirty="0"/>
          </a:p>
        </p:txBody>
      </p:sp>
      <p:sp>
        <p:nvSpPr>
          <p:cNvPr id="8" name="Text 5"/>
          <p:cNvSpPr txBox="1"/>
          <p:nvPr/>
        </p:nvSpPr>
        <p:spPr>
          <a:xfrm>
            <a:off x="1280160" y="1828800"/>
            <a:ext cx="2560320" cy="658368"/>
          </a:xfrm>
          <a:prstGeom prst="rect">
            <a:avLst/>
          </a:prstGeom>
          <a:noFill/>
          <a:ln/>
        </p:spPr>
        <p:txBody>
          <a:bodyPr wrap="square" lIns="0" tIns="0" rIns="0" bIns="0" rtlCol="0" anchor="ctr"/>
          <a:lstStyle/>
          <a:p>
            <a:pPr indent="0" marL="0">
              <a:buNone/>
            </a:pPr>
            <a:r>
              <a:rPr lang="en-US" sz="1800" b="1" dirty="0">
                <a:solidFill>
                  <a:srgbClr val="1E2A30"/>
                </a:solidFill>
                <a:latin typeface="Consolas" pitchFamily="34" charset="0"/>
                <a:ea typeface="Consolas" pitchFamily="34" charset="-122"/>
                <a:cs typeface="Consolas" pitchFamily="34" charset="-120"/>
              </a:rPr>
              <a:t>10.0.0.0 /8</a:t>
            </a:r>
            <a:endParaRPr lang="en-US" sz="1800" dirty="0"/>
          </a:p>
        </p:txBody>
      </p:sp>
      <p:sp>
        <p:nvSpPr>
          <p:cNvPr id="9" name="Text 6"/>
          <p:cNvSpPr txBox="1"/>
          <p:nvPr/>
        </p:nvSpPr>
        <p:spPr>
          <a:xfrm>
            <a:off x="3931920" y="1828800"/>
            <a:ext cx="3291840" cy="658368"/>
          </a:xfrm>
          <a:prstGeom prst="rect">
            <a:avLst/>
          </a:prstGeom>
          <a:noFill/>
          <a:ln/>
        </p:spPr>
        <p:txBody>
          <a:bodyPr wrap="square" lIns="0" tIns="0" rIns="0" bIns="0" rtlCol="0" anchor="ctr"/>
          <a:lstStyle/>
          <a:p>
            <a:pPr indent="0" marL="0">
              <a:buNone/>
            </a:pPr>
            <a:r>
              <a:rPr lang="en-US" sz="1400" dirty="0">
                <a:solidFill>
                  <a:srgbClr val="66737C"/>
                </a:solidFill>
                <a:latin typeface="Consolas" pitchFamily="34" charset="0"/>
                <a:ea typeface="Consolas" pitchFamily="34" charset="-122"/>
                <a:cs typeface="Consolas" pitchFamily="34" charset="-120"/>
              </a:rPr>
              <a:t>10.0.0.0 ~ 10.255.255.255</a:t>
            </a:r>
            <a:endParaRPr lang="en-US" sz="1400" dirty="0"/>
          </a:p>
        </p:txBody>
      </p:sp>
      <p:sp>
        <p:nvSpPr>
          <p:cNvPr id="10" name="Shape 7"/>
          <p:cNvSpPr/>
          <p:nvPr/>
        </p:nvSpPr>
        <p:spPr>
          <a:xfrm>
            <a:off x="548640" y="2606040"/>
            <a:ext cx="6766560" cy="658368"/>
          </a:xfrm>
          <a:prstGeom prst="roundRect">
            <a:avLst>
              <a:gd name="adj" fmla="val 11111"/>
            </a:avLst>
          </a:prstGeom>
          <a:solidFill>
            <a:srgbClr val="E6F1F2"/>
          </a:solidFill>
          <a:ln w="12700">
            <a:solidFill>
              <a:srgbClr val="0E6E7A"/>
            </a:solidFill>
            <a:prstDash val="solid"/>
          </a:ln>
        </p:spPr>
      </p:sp>
      <p:sp>
        <p:nvSpPr>
          <p:cNvPr id="11" name="Text 8"/>
          <p:cNvSpPr txBox="1"/>
          <p:nvPr/>
        </p:nvSpPr>
        <p:spPr>
          <a:xfrm>
            <a:off x="731520" y="2606040"/>
            <a:ext cx="548640" cy="658368"/>
          </a:xfrm>
          <a:prstGeom prst="rect">
            <a:avLst/>
          </a:prstGeom>
          <a:noFill/>
          <a:ln/>
        </p:spPr>
        <p:txBody>
          <a:bodyPr wrap="square" lIns="0" tIns="0" rIns="0" bIns="0" rtlCol="0" anchor="ctr"/>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B</a:t>
            </a:r>
            <a:endParaRPr lang="en-US" sz="1800" dirty="0"/>
          </a:p>
        </p:txBody>
      </p:sp>
      <p:sp>
        <p:nvSpPr>
          <p:cNvPr id="12" name="Text 9"/>
          <p:cNvSpPr txBox="1"/>
          <p:nvPr/>
        </p:nvSpPr>
        <p:spPr>
          <a:xfrm>
            <a:off x="1280160" y="2606040"/>
            <a:ext cx="2560320" cy="658368"/>
          </a:xfrm>
          <a:prstGeom prst="rect">
            <a:avLst/>
          </a:prstGeom>
          <a:noFill/>
          <a:ln/>
        </p:spPr>
        <p:txBody>
          <a:bodyPr wrap="square" lIns="0" tIns="0" rIns="0" bIns="0" rtlCol="0" anchor="ctr"/>
          <a:lstStyle/>
          <a:p>
            <a:pPr indent="0" marL="0">
              <a:buNone/>
            </a:pPr>
            <a:r>
              <a:rPr lang="en-US" sz="1800" b="1" dirty="0">
                <a:solidFill>
                  <a:srgbClr val="1E2A30"/>
                </a:solidFill>
                <a:latin typeface="Consolas" pitchFamily="34" charset="0"/>
                <a:ea typeface="Consolas" pitchFamily="34" charset="-122"/>
                <a:cs typeface="Consolas" pitchFamily="34" charset="-120"/>
              </a:rPr>
              <a:t>172.16.0.0 /12</a:t>
            </a:r>
            <a:endParaRPr lang="en-US" sz="1800" dirty="0"/>
          </a:p>
        </p:txBody>
      </p:sp>
      <p:sp>
        <p:nvSpPr>
          <p:cNvPr id="13" name="Text 10"/>
          <p:cNvSpPr txBox="1"/>
          <p:nvPr/>
        </p:nvSpPr>
        <p:spPr>
          <a:xfrm>
            <a:off x="3931920" y="2606040"/>
            <a:ext cx="3291840" cy="658368"/>
          </a:xfrm>
          <a:prstGeom prst="rect">
            <a:avLst/>
          </a:prstGeom>
          <a:noFill/>
          <a:ln/>
        </p:spPr>
        <p:txBody>
          <a:bodyPr wrap="square" lIns="0" tIns="0" rIns="0" bIns="0" rtlCol="0" anchor="ctr"/>
          <a:lstStyle/>
          <a:p>
            <a:pPr indent="0" marL="0">
              <a:buNone/>
            </a:pPr>
            <a:r>
              <a:rPr lang="en-US" sz="1400" dirty="0">
                <a:solidFill>
                  <a:srgbClr val="66737C"/>
                </a:solidFill>
                <a:latin typeface="Consolas" pitchFamily="34" charset="0"/>
                <a:ea typeface="Consolas" pitchFamily="34" charset="-122"/>
                <a:cs typeface="Consolas" pitchFamily="34" charset="-120"/>
              </a:rPr>
              <a:t>172.16.0.0 ~ 172.31.255.255</a:t>
            </a:r>
            <a:endParaRPr lang="en-US" sz="1400" dirty="0"/>
          </a:p>
        </p:txBody>
      </p:sp>
      <p:sp>
        <p:nvSpPr>
          <p:cNvPr id="14" name="Shape 11"/>
          <p:cNvSpPr/>
          <p:nvPr/>
        </p:nvSpPr>
        <p:spPr>
          <a:xfrm>
            <a:off x="548640" y="3383280"/>
            <a:ext cx="6766560" cy="658368"/>
          </a:xfrm>
          <a:prstGeom prst="roundRect">
            <a:avLst>
              <a:gd name="adj" fmla="val 11111"/>
            </a:avLst>
          </a:prstGeom>
          <a:solidFill>
            <a:srgbClr val="E6F1F2"/>
          </a:solidFill>
          <a:ln w="12700">
            <a:solidFill>
              <a:srgbClr val="0E6E7A"/>
            </a:solidFill>
            <a:prstDash val="solid"/>
          </a:ln>
        </p:spPr>
      </p:sp>
      <p:sp>
        <p:nvSpPr>
          <p:cNvPr id="15" name="Text 12"/>
          <p:cNvSpPr txBox="1"/>
          <p:nvPr/>
        </p:nvSpPr>
        <p:spPr>
          <a:xfrm>
            <a:off x="731520" y="3383280"/>
            <a:ext cx="548640" cy="658368"/>
          </a:xfrm>
          <a:prstGeom prst="rect">
            <a:avLst/>
          </a:prstGeom>
          <a:noFill/>
          <a:ln/>
        </p:spPr>
        <p:txBody>
          <a:bodyPr wrap="square" lIns="0" tIns="0" rIns="0" bIns="0" rtlCol="0" anchor="ctr"/>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C</a:t>
            </a:r>
            <a:endParaRPr lang="en-US" sz="1800" dirty="0"/>
          </a:p>
        </p:txBody>
      </p:sp>
      <p:sp>
        <p:nvSpPr>
          <p:cNvPr id="16" name="Text 13"/>
          <p:cNvSpPr txBox="1"/>
          <p:nvPr/>
        </p:nvSpPr>
        <p:spPr>
          <a:xfrm>
            <a:off x="1280160" y="3383280"/>
            <a:ext cx="2560320" cy="658368"/>
          </a:xfrm>
          <a:prstGeom prst="rect">
            <a:avLst/>
          </a:prstGeom>
          <a:noFill/>
          <a:ln/>
        </p:spPr>
        <p:txBody>
          <a:bodyPr wrap="square" lIns="0" tIns="0" rIns="0" bIns="0" rtlCol="0" anchor="ctr"/>
          <a:lstStyle/>
          <a:p>
            <a:pPr indent="0" marL="0">
              <a:buNone/>
            </a:pPr>
            <a:r>
              <a:rPr lang="en-US" sz="1800" b="1" dirty="0">
                <a:solidFill>
                  <a:srgbClr val="1E2A30"/>
                </a:solidFill>
                <a:latin typeface="Consolas" pitchFamily="34" charset="0"/>
                <a:ea typeface="Consolas" pitchFamily="34" charset="-122"/>
                <a:cs typeface="Consolas" pitchFamily="34" charset="-120"/>
              </a:rPr>
              <a:t>192.168.0.0 /16</a:t>
            </a:r>
            <a:endParaRPr lang="en-US" sz="1800" dirty="0"/>
          </a:p>
        </p:txBody>
      </p:sp>
      <p:sp>
        <p:nvSpPr>
          <p:cNvPr id="17" name="Text 14"/>
          <p:cNvSpPr txBox="1"/>
          <p:nvPr/>
        </p:nvSpPr>
        <p:spPr>
          <a:xfrm>
            <a:off x="3931920" y="3383280"/>
            <a:ext cx="3291840" cy="658368"/>
          </a:xfrm>
          <a:prstGeom prst="rect">
            <a:avLst/>
          </a:prstGeom>
          <a:noFill/>
          <a:ln/>
        </p:spPr>
        <p:txBody>
          <a:bodyPr wrap="square" lIns="0" tIns="0" rIns="0" bIns="0" rtlCol="0" anchor="ctr"/>
          <a:lstStyle/>
          <a:p>
            <a:pPr indent="0" marL="0">
              <a:buNone/>
            </a:pPr>
            <a:r>
              <a:rPr lang="en-US" sz="1400" dirty="0">
                <a:solidFill>
                  <a:srgbClr val="66737C"/>
                </a:solidFill>
                <a:latin typeface="Consolas" pitchFamily="34" charset="0"/>
                <a:ea typeface="Consolas" pitchFamily="34" charset="-122"/>
                <a:cs typeface="Consolas" pitchFamily="34" charset="-120"/>
              </a:rPr>
              <a:t>192.168.0.0 ~ 192.168.255.255</a:t>
            </a:r>
            <a:endParaRPr lang="en-US" sz="1400" dirty="0"/>
          </a:p>
        </p:txBody>
      </p:sp>
      <p:sp>
        <p:nvSpPr>
          <p:cNvPr id="18" name="Shape 15"/>
          <p:cNvSpPr/>
          <p:nvPr/>
        </p:nvSpPr>
        <p:spPr>
          <a:xfrm>
            <a:off x="7680960" y="1325880"/>
            <a:ext cx="3959352" cy="2834640"/>
          </a:xfrm>
          <a:prstGeom prst="roundRect">
            <a:avLst>
              <a:gd name="adj" fmla="val 2581"/>
            </a:avLst>
          </a:prstGeom>
          <a:solidFill>
            <a:srgbClr val="FFFFFF"/>
          </a:solidFill>
          <a:ln w="12700">
            <a:solidFill>
              <a:srgbClr val="9AA5AD"/>
            </a:solidFill>
            <a:prstDash val="solid"/>
          </a:ln>
        </p:spPr>
      </p:sp>
      <p:sp>
        <p:nvSpPr>
          <p:cNvPr id="19" name="Text 16"/>
          <p:cNvSpPr txBox="1"/>
          <p:nvPr/>
        </p:nvSpPr>
        <p:spPr>
          <a:xfrm>
            <a:off x="7863840" y="1463040"/>
            <a:ext cx="359359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사설 주소의 특징</a:t>
            </a:r>
            <a:endParaRPr lang="en-US" sz="1600" dirty="0"/>
          </a:p>
        </p:txBody>
      </p:sp>
      <p:sp>
        <p:nvSpPr>
          <p:cNvPr id="20" name="Text 17"/>
          <p:cNvSpPr txBox="1"/>
          <p:nvPr/>
        </p:nvSpPr>
        <p:spPr>
          <a:xfrm>
            <a:off x="7863840" y="1920240"/>
            <a:ext cx="3593592" cy="213055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인터넷에 직접 접속 불가</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 NAT 로 공인 주소로 변환</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외부에서 직접 접근 불가 → 보안에 유리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기관마다 중복 사용 가능</a:t>
            </a:r>
            <a:endParaRPr lang="en-US" sz="1400" dirty="0"/>
          </a:p>
        </p:txBody>
      </p:sp>
      <p:sp>
        <p:nvSpPr>
          <p:cNvPr id="21" name="Text 18"/>
          <p:cNvSpPr txBox="1"/>
          <p:nvPr/>
        </p:nvSpPr>
        <p:spPr>
          <a:xfrm>
            <a:off x="548640" y="4343400"/>
            <a:ext cx="3657600" cy="36576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특수 주소</a:t>
            </a:r>
            <a:endParaRPr lang="en-US" sz="1700" dirty="0"/>
          </a:p>
        </p:txBody>
      </p:sp>
      <p:sp>
        <p:nvSpPr>
          <p:cNvPr id="22" name="Text 19"/>
          <p:cNvSpPr txBox="1"/>
          <p:nvPr/>
        </p:nvSpPr>
        <p:spPr>
          <a:xfrm>
            <a:off x="548640" y="4754880"/>
            <a:ext cx="2651760" cy="411480"/>
          </a:xfrm>
          <a:prstGeom prst="rect">
            <a:avLst/>
          </a:prstGeom>
          <a:noFill/>
          <a:ln/>
        </p:spPr>
        <p:txBody>
          <a:bodyPr wrap="square" lIns="0" tIns="0" rIns="0" bIns="0" rtlCol="0" anchor="ctr"/>
          <a:lstStyle/>
          <a:p>
            <a:pPr indent="0" marL="0">
              <a:buNone/>
            </a:pPr>
            <a:r>
              <a:rPr lang="en-US" sz="1500" b="1" dirty="0">
                <a:solidFill>
                  <a:srgbClr val="1E2A30"/>
                </a:solidFill>
                <a:latin typeface="Consolas" pitchFamily="34" charset="0"/>
                <a:ea typeface="Consolas" pitchFamily="34" charset="-122"/>
                <a:cs typeface="Consolas" pitchFamily="34" charset="-120"/>
              </a:rPr>
              <a:t>169.254.0.0 /16</a:t>
            </a:r>
            <a:endParaRPr lang="en-US" sz="1500" dirty="0"/>
          </a:p>
        </p:txBody>
      </p:sp>
      <p:sp>
        <p:nvSpPr>
          <p:cNvPr id="23" name="Text 20"/>
          <p:cNvSpPr txBox="1"/>
          <p:nvPr/>
        </p:nvSpPr>
        <p:spPr>
          <a:xfrm>
            <a:off x="3200400" y="4754880"/>
            <a:ext cx="2377440" cy="411480"/>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링크 로컬 (APIPA)</a:t>
            </a:r>
            <a:endParaRPr lang="en-US" sz="1400" dirty="0"/>
          </a:p>
        </p:txBody>
      </p:sp>
      <p:sp>
        <p:nvSpPr>
          <p:cNvPr id="24" name="Text 21"/>
          <p:cNvSpPr txBox="1"/>
          <p:nvPr/>
        </p:nvSpPr>
        <p:spPr>
          <a:xfrm>
            <a:off x="5577840" y="4754880"/>
            <a:ext cx="6035040" cy="411480"/>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DHCP 실패 시 자동 부여 → IP 설정 비정상 신호</a:t>
            </a:r>
            <a:endParaRPr lang="en-US" sz="1400" dirty="0"/>
          </a:p>
        </p:txBody>
      </p:sp>
      <p:sp>
        <p:nvSpPr>
          <p:cNvPr id="25" name="Text 22"/>
          <p:cNvSpPr txBox="1"/>
          <p:nvPr/>
        </p:nvSpPr>
        <p:spPr>
          <a:xfrm>
            <a:off x="548640" y="5212080"/>
            <a:ext cx="2651760" cy="411480"/>
          </a:xfrm>
          <a:prstGeom prst="rect">
            <a:avLst/>
          </a:prstGeom>
          <a:noFill/>
          <a:ln/>
        </p:spPr>
        <p:txBody>
          <a:bodyPr wrap="square" lIns="0" tIns="0" rIns="0" bIns="0" rtlCol="0" anchor="ctr"/>
          <a:lstStyle/>
          <a:p>
            <a:pPr indent="0" marL="0">
              <a:buNone/>
            </a:pPr>
            <a:r>
              <a:rPr lang="en-US" sz="1500" b="1" dirty="0">
                <a:solidFill>
                  <a:srgbClr val="1E2A30"/>
                </a:solidFill>
                <a:latin typeface="Consolas" pitchFamily="34" charset="0"/>
                <a:ea typeface="Consolas" pitchFamily="34" charset="-122"/>
                <a:cs typeface="Consolas" pitchFamily="34" charset="-120"/>
              </a:rPr>
              <a:t>127.0.0.1</a:t>
            </a:r>
            <a:endParaRPr lang="en-US" sz="1500" dirty="0"/>
          </a:p>
        </p:txBody>
      </p:sp>
      <p:sp>
        <p:nvSpPr>
          <p:cNvPr id="26" name="Text 23"/>
          <p:cNvSpPr txBox="1"/>
          <p:nvPr/>
        </p:nvSpPr>
        <p:spPr>
          <a:xfrm>
            <a:off x="3200400" y="5212080"/>
            <a:ext cx="2377440" cy="411480"/>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루프백</a:t>
            </a:r>
            <a:endParaRPr lang="en-US" sz="1400" dirty="0"/>
          </a:p>
        </p:txBody>
      </p:sp>
      <p:sp>
        <p:nvSpPr>
          <p:cNvPr id="27" name="Text 24"/>
          <p:cNvSpPr txBox="1"/>
          <p:nvPr/>
        </p:nvSpPr>
        <p:spPr>
          <a:xfrm>
            <a:off x="5577840" y="5212080"/>
            <a:ext cx="6035040" cy="411480"/>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자기 자신 (ping 127.0.0.1 로 TCP/IP 점검)</a:t>
            </a:r>
            <a:endParaRPr lang="en-US" sz="1400" dirty="0"/>
          </a:p>
        </p:txBody>
      </p:sp>
      <p:sp>
        <p:nvSpPr>
          <p:cNvPr id="28" name="Text 25"/>
          <p:cNvSpPr txBox="1"/>
          <p:nvPr/>
        </p:nvSpPr>
        <p:spPr>
          <a:xfrm>
            <a:off x="548640" y="5669280"/>
            <a:ext cx="2651760" cy="411480"/>
          </a:xfrm>
          <a:prstGeom prst="rect">
            <a:avLst/>
          </a:prstGeom>
          <a:noFill/>
          <a:ln/>
        </p:spPr>
        <p:txBody>
          <a:bodyPr wrap="square" lIns="0" tIns="0" rIns="0" bIns="0" rtlCol="0" anchor="ctr"/>
          <a:lstStyle/>
          <a:p>
            <a:pPr indent="0" marL="0">
              <a:buNone/>
            </a:pPr>
            <a:r>
              <a:rPr lang="en-US" sz="1500" b="1" dirty="0">
                <a:solidFill>
                  <a:srgbClr val="1E2A30"/>
                </a:solidFill>
                <a:latin typeface="Consolas" pitchFamily="34" charset="0"/>
                <a:ea typeface="Consolas" pitchFamily="34" charset="-122"/>
                <a:cs typeface="Consolas" pitchFamily="34" charset="-120"/>
              </a:rPr>
              <a:t>0.0.0.0</a:t>
            </a:r>
            <a:endParaRPr lang="en-US" sz="1500" dirty="0"/>
          </a:p>
        </p:txBody>
      </p:sp>
      <p:sp>
        <p:nvSpPr>
          <p:cNvPr id="29" name="Text 26"/>
          <p:cNvSpPr txBox="1"/>
          <p:nvPr/>
        </p:nvSpPr>
        <p:spPr>
          <a:xfrm>
            <a:off x="3200400" y="5669280"/>
            <a:ext cx="2377440" cy="411480"/>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기본 경로 / 미지정</a:t>
            </a:r>
            <a:endParaRPr lang="en-US" sz="1400" dirty="0"/>
          </a:p>
        </p:txBody>
      </p:sp>
      <p:sp>
        <p:nvSpPr>
          <p:cNvPr id="30" name="Text 27"/>
          <p:cNvSpPr txBox="1"/>
          <p:nvPr/>
        </p:nvSpPr>
        <p:spPr>
          <a:xfrm>
            <a:off x="5577840" y="5669280"/>
            <a:ext cx="6035040" cy="411480"/>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모든 주소 · 아직 주소 없음</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네트워크 주소와 브로드캐스트 주소</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Shape 2"/>
          <p:cNvSpPr/>
          <p:nvPr/>
        </p:nvSpPr>
        <p:spPr>
          <a:xfrm>
            <a:off x="548640" y="1371600"/>
            <a:ext cx="11091672" cy="1005840"/>
          </a:xfrm>
          <a:prstGeom prst="roundRect">
            <a:avLst>
              <a:gd name="adj" fmla="val 7273"/>
            </a:avLst>
          </a:prstGeom>
          <a:solidFill>
            <a:srgbClr val="E6F1F2"/>
          </a:solidFill>
          <a:ln w="12700">
            <a:solidFill>
              <a:srgbClr val="0E6E7A"/>
            </a:solidFill>
            <a:prstDash val="solid"/>
          </a:ln>
        </p:spPr>
      </p:sp>
      <p:sp>
        <p:nvSpPr>
          <p:cNvPr id="6" name="Text 3"/>
          <p:cNvSpPr txBox="1"/>
          <p:nvPr/>
        </p:nvSpPr>
        <p:spPr>
          <a:xfrm>
            <a:off x="777240" y="1371600"/>
            <a:ext cx="2560320" cy="1005840"/>
          </a:xfrm>
          <a:prstGeom prst="rect">
            <a:avLst/>
          </a:prstGeom>
          <a:noFill/>
          <a:ln/>
        </p:spPr>
        <p:txBody>
          <a:bodyPr wrap="square" lIns="0" tIns="0" rIns="0" bIns="0" rtlCol="0" anchor="ctr"/>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네트워크 주소</a:t>
            </a:r>
            <a:endParaRPr lang="en-US" sz="1700" dirty="0"/>
          </a:p>
        </p:txBody>
      </p:sp>
      <p:sp>
        <p:nvSpPr>
          <p:cNvPr id="7" name="Text 4"/>
          <p:cNvSpPr txBox="1"/>
          <p:nvPr/>
        </p:nvSpPr>
        <p:spPr>
          <a:xfrm>
            <a:off x="3383280" y="1371600"/>
            <a:ext cx="4023360" cy="1005840"/>
          </a:xfrm>
          <a:prstGeom prst="rect">
            <a:avLst/>
          </a:prstGeom>
          <a:noFill/>
          <a:ln/>
        </p:spPr>
        <p:txBody>
          <a:bodyPr wrap="square" lIns="0" tIns="0" rIns="0" bIns="0" rtlCol="0" anchor="ctr"/>
          <a:lstStyle/>
          <a:p>
            <a:pPr indent="0" marL="0">
              <a:buNone/>
            </a:pPr>
            <a:r>
              <a:rPr lang="en-US" sz="1700" b="1" dirty="0">
                <a:solidFill>
                  <a:srgbClr val="0E6E7A"/>
                </a:solidFill>
                <a:latin typeface="Consolas" pitchFamily="34" charset="0"/>
                <a:ea typeface="Consolas" pitchFamily="34" charset="-122"/>
                <a:cs typeface="Consolas" pitchFamily="34" charset="-120"/>
              </a:rPr>
              <a:t>192.168.1.0</a:t>
            </a:r>
            <a:endParaRPr lang="en-US" sz="1700" dirty="0"/>
          </a:p>
        </p:txBody>
      </p:sp>
      <p:sp>
        <p:nvSpPr>
          <p:cNvPr id="8" name="Text 5"/>
          <p:cNvSpPr txBox="1"/>
          <p:nvPr/>
        </p:nvSpPr>
        <p:spPr>
          <a:xfrm>
            <a:off x="7406640" y="1481328"/>
            <a:ext cx="4114800" cy="41148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호스트 비트 모두 0</a:t>
            </a:r>
            <a:endParaRPr lang="en-US" sz="1400" dirty="0"/>
          </a:p>
        </p:txBody>
      </p:sp>
      <p:sp>
        <p:nvSpPr>
          <p:cNvPr id="9" name="Text 6"/>
          <p:cNvSpPr txBox="1"/>
          <p:nvPr/>
        </p:nvSpPr>
        <p:spPr>
          <a:xfrm>
            <a:off x="7406640" y="1874520"/>
            <a:ext cx="4114800" cy="411480"/>
          </a:xfrm>
          <a:prstGeom prst="rect">
            <a:avLst/>
          </a:prstGeom>
          <a:noFill/>
          <a:ln/>
        </p:spPr>
        <p:txBody>
          <a:bodyPr wrap="square" lIns="0" tIns="0" rIns="0" bIns="0" rtlCol="0" anchor="t"/>
          <a:lstStyle/>
          <a:p>
            <a:pPr indent="0" marL="0">
              <a:buNone/>
            </a:pPr>
            <a:r>
              <a:rPr lang="en-US" sz="1300" dirty="0">
                <a:solidFill>
                  <a:srgbClr val="66737C"/>
                </a:solidFill>
                <a:latin typeface="Consolas" pitchFamily="34" charset="0"/>
                <a:ea typeface="Consolas" pitchFamily="34" charset="-122"/>
                <a:cs typeface="Consolas" pitchFamily="34" charset="-120"/>
              </a:rPr>
              <a:t>마지막 옥텟: 00000000</a:t>
            </a:r>
            <a:endParaRPr lang="en-US" sz="1300" dirty="0"/>
          </a:p>
        </p:txBody>
      </p:sp>
      <p:sp>
        <p:nvSpPr>
          <p:cNvPr id="10" name="Shape 7"/>
          <p:cNvSpPr/>
          <p:nvPr/>
        </p:nvSpPr>
        <p:spPr>
          <a:xfrm>
            <a:off x="548640" y="2560320"/>
            <a:ext cx="11091672" cy="1005840"/>
          </a:xfrm>
          <a:prstGeom prst="roundRect">
            <a:avLst>
              <a:gd name="adj" fmla="val 7273"/>
            </a:avLst>
          </a:prstGeom>
          <a:solidFill>
            <a:srgbClr val="FFFFFF"/>
          </a:solidFill>
          <a:ln w="12700">
            <a:solidFill>
              <a:srgbClr val="9AA5AD"/>
            </a:solidFill>
            <a:prstDash val="solid"/>
          </a:ln>
        </p:spPr>
      </p:sp>
      <p:sp>
        <p:nvSpPr>
          <p:cNvPr id="11" name="Text 8"/>
          <p:cNvSpPr txBox="1"/>
          <p:nvPr/>
        </p:nvSpPr>
        <p:spPr>
          <a:xfrm>
            <a:off x="777240" y="2560320"/>
            <a:ext cx="2560320" cy="1005840"/>
          </a:xfrm>
          <a:prstGeom prst="rect">
            <a:avLst/>
          </a:prstGeom>
          <a:noFill/>
          <a:ln/>
        </p:spPr>
        <p:txBody>
          <a:bodyPr wrap="square" lIns="0" tIns="0" rIns="0" bIns="0" rtlCol="0" anchor="ctr"/>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사용 가능 호스트</a:t>
            </a:r>
            <a:endParaRPr lang="en-US" sz="1700" dirty="0"/>
          </a:p>
        </p:txBody>
      </p:sp>
      <p:sp>
        <p:nvSpPr>
          <p:cNvPr id="12" name="Text 9"/>
          <p:cNvSpPr txBox="1"/>
          <p:nvPr/>
        </p:nvSpPr>
        <p:spPr>
          <a:xfrm>
            <a:off x="3383280" y="2560320"/>
            <a:ext cx="4023360" cy="1005840"/>
          </a:xfrm>
          <a:prstGeom prst="rect">
            <a:avLst/>
          </a:prstGeom>
          <a:noFill/>
          <a:ln/>
        </p:spPr>
        <p:txBody>
          <a:bodyPr wrap="square" lIns="0" tIns="0" rIns="0" bIns="0" rtlCol="0" anchor="ctr"/>
          <a:lstStyle/>
          <a:p>
            <a:pPr indent="0" marL="0">
              <a:buNone/>
            </a:pPr>
            <a:r>
              <a:rPr lang="en-US" sz="1700" b="1" dirty="0">
                <a:solidFill>
                  <a:srgbClr val="0E6E7A"/>
                </a:solidFill>
                <a:latin typeface="Consolas" pitchFamily="34" charset="0"/>
                <a:ea typeface="Consolas" pitchFamily="34" charset="-122"/>
                <a:cs typeface="Consolas" pitchFamily="34" charset="-120"/>
              </a:rPr>
              <a:t>192.168.1.1 ~ 192.168.1.254</a:t>
            </a:r>
            <a:endParaRPr lang="en-US" sz="1700" dirty="0"/>
          </a:p>
        </p:txBody>
      </p:sp>
      <p:sp>
        <p:nvSpPr>
          <p:cNvPr id="13" name="Text 10"/>
          <p:cNvSpPr txBox="1"/>
          <p:nvPr/>
        </p:nvSpPr>
        <p:spPr>
          <a:xfrm>
            <a:off x="7406640" y="2670048"/>
            <a:ext cx="4114800" cy="41148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장비에 할당 (254개)</a:t>
            </a:r>
            <a:endParaRPr lang="en-US" sz="1400" dirty="0"/>
          </a:p>
        </p:txBody>
      </p:sp>
      <p:sp>
        <p:nvSpPr>
          <p:cNvPr id="14" name="Text 11"/>
          <p:cNvSpPr txBox="1"/>
          <p:nvPr/>
        </p:nvSpPr>
        <p:spPr>
          <a:xfrm>
            <a:off x="7406640" y="3063240"/>
            <a:ext cx="4114800" cy="411480"/>
          </a:xfrm>
          <a:prstGeom prst="rect">
            <a:avLst/>
          </a:prstGeom>
          <a:noFill/>
          <a:ln/>
        </p:spPr>
        <p:txBody>
          <a:bodyPr wrap="square" lIns="0" tIns="0" rIns="0" bIns="0" rtlCol="0" anchor="t"/>
          <a:lstStyle/>
          <a:p>
            <a:pPr indent="0" marL="0">
              <a:buNone/>
            </a:pPr>
            <a:r>
              <a:rPr lang="en-US" sz="1300" dirty="0">
                <a:solidFill>
                  <a:srgbClr val="66737C"/>
                </a:solidFill>
                <a:latin typeface="Consolas" pitchFamily="34" charset="0"/>
                <a:ea typeface="Consolas" pitchFamily="34" charset="-122"/>
                <a:cs typeface="Consolas" pitchFamily="34" charset="-120"/>
              </a:rPr>
              <a:t>마지막 옥텟: 00000001 ~ 11111110</a:t>
            </a:r>
            <a:endParaRPr lang="en-US" sz="1300" dirty="0"/>
          </a:p>
        </p:txBody>
      </p:sp>
      <p:sp>
        <p:nvSpPr>
          <p:cNvPr id="15" name="Shape 12"/>
          <p:cNvSpPr/>
          <p:nvPr/>
        </p:nvSpPr>
        <p:spPr>
          <a:xfrm>
            <a:off x="548640" y="3749040"/>
            <a:ext cx="11091672" cy="1005840"/>
          </a:xfrm>
          <a:prstGeom prst="roundRect">
            <a:avLst>
              <a:gd name="adj" fmla="val 7273"/>
            </a:avLst>
          </a:prstGeom>
          <a:solidFill>
            <a:srgbClr val="E6F1F2"/>
          </a:solidFill>
          <a:ln w="12700">
            <a:solidFill>
              <a:srgbClr val="0E6E7A"/>
            </a:solidFill>
            <a:prstDash val="solid"/>
          </a:ln>
        </p:spPr>
      </p:sp>
      <p:sp>
        <p:nvSpPr>
          <p:cNvPr id="16" name="Text 13"/>
          <p:cNvSpPr txBox="1"/>
          <p:nvPr/>
        </p:nvSpPr>
        <p:spPr>
          <a:xfrm>
            <a:off x="777240" y="3749040"/>
            <a:ext cx="2560320" cy="1005840"/>
          </a:xfrm>
          <a:prstGeom prst="rect">
            <a:avLst/>
          </a:prstGeom>
          <a:noFill/>
          <a:ln/>
        </p:spPr>
        <p:txBody>
          <a:bodyPr wrap="square" lIns="0" tIns="0" rIns="0" bIns="0" rtlCol="0" anchor="ctr"/>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브로드캐스트 주소</a:t>
            </a:r>
            <a:endParaRPr lang="en-US" sz="1700" dirty="0"/>
          </a:p>
        </p:txBody>
      </p:sp>
      <p:sp>
        <p:nvSpPr>
          <p:cNvPr id="17" name="Text 14"/>
          <p:cNvSpPr txBox="1"/>
          <p:nvPr/>
        </p:nvSpPr>
        <p:spPr>
          <a:xfrm>
            <a:off x="3383280" y="3749040"/>
            <a:ext cx="4023360" cy="1005840"/>
          </a:xfrm>
          <a:prstGeom prst="rect">
            <a:avLst/>
          </a:prstGeom>
          <a:noFill/>
          <a:ln/>
        </p:spPr>
        <p:txBody>
          <a:bodyPr wrap="square" lIns="0" tIns="0" rIns="0" bIns="0" rtlCol="0" anchor="ctr"/>
          <a:lstStyle/>
          <a:p>
            <a:pPr indent="0" marL="0">
              <a:buNone/>
            </a:pPr>
            <a:r>
              <a:rPr lang="en-US" sz="1700" b="1" dirty="0">
                <a:solidFill>
                  <a:srgbClr val="0E6E7A"/>
                </a:solidFill>
                <a:latin typeface="Consolas" pitchFamily="34" charset="0"/>
                <a:ea typeface="Consolas" pitchFamily="34" charset="-122"/>
                <a:cs typeface="Consolas" pitchFamily="34" charset="-120"/>
              </a:rPr>
              <a:t>192.168.1.255</a:t>
            </a:r>
            <a:endParaRPr lang="en-US" sz="1700" dirty="0"/>
          </a:p>
        </p:txBody>
      </p:sp>
      <p:sp>
        <p:nvSpPr>
          <p:cNvPr id="18" name="Text 15"/>
          <p:cNvSpPr txBox="1"/>
          <p:nvPr/>
        </p:nvSpPr>
        <p:spPr>
          <a:xfrm>
            <a:off x="7406640" y="3858768"/>
            <a:ext cx="4114800" cy="41148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호스트 비트 모두 1</a:t>
            </a:r>
            <a:endParaRPr lang="en-US" sz="1400" dirty="0"/>
          </a:p>
        </p:txBody>
      </p:sp>
      <p:sp>
        <p:nvSpPr>
          <p:cNvPr id="19" name="Text 16"/>
          <p:cNvSpPr txBox="1"/>
          <p:nvPr/>
        </p:nvSpPr>
        <p:spPr>
          <a:xfrm>
            <a:off x="7406640" y="4251960"/>
            <a:ext cx="4114800" cy="411480"/>
          </a:xfrm>
          <a:prstGeom prst="rect">
            <a:avLst/>
          </a:prstGeom>
          <a:noFill/>
          <a:ln/>
        </p:spPr>
        <p:txBody>
          <a:bodyPr wrap="square" lIns="0" tIns="0" rIns="0" bIns="0" rtlCol="0" anchor="t"/>
          <a:lstStyle/>
          <a:p>
            <a:pPr indent="0" marL="0">
              <a:buNone/>
            </a:pPr>
            <a:r>
              <a:rPr lang="en-US" sz="1300" dirty="0">
                <a:solidFill>
                  <a:srgbClr val="66737C"/>
                </a:solidFill>
                <a:latin typeface="Consolas" pitchFamily="34" charset="0"/>
                <a:ea typeface="Consolas" pitchFamily="34" charset="-122"/>
                <a:cs typeface="Consolas" pitchFamily="34" charset="-120"/>
              </a:rPr>
              <a:t>마지막 옥텟: 11111111</a:t>
            </a:r>
            <a:endParaRPr lang="en-US" sz="1300" dirty="0"/>
          </a:p>
        </p:txBody>
      </p:sp>
      <p:sp>
        <p:nvSpPr>
          <p:cNvPr id="20" name="Shape 17"/>
          <p:cNvSpPr/>
          <p:nvPr/>
        </p:nvSpPr>
        <p:spPr>
          <a:xfrm>
            <a:off x="548640" y="5120640"/>
            <a:ext cx="11091672" cy="457200"/>
          </a:xfrm>
          <a:prstGeom prst="roundRect">
            <a:avLst>
              <a:gd name="adj" fmla="val 16000"/>
            </a:avLst>
          </a:prstGeom>
          <a:solidFill>
            <a:srgbClr val="E6F1F2"/>
          </a:solidFill>
          <a:ln w="12700">
            <a:solidFill>
              <a:srgbClr val="E6F1F2"/>
            </a:solidFill>
            <a:prstDash val="solid"/>
          </a:ln>
        </p:spPr>
      </p:sp>
      <p:sp>
        <p:nvSpPr>
          <p:cNvPr id="21" name="Text 18"/>
          <p:cNvSpPr txBox="1"/>
          <p:nvPr/>
        </p:nvSpPr>
        <p:spPr>
          <a:xfrm>
            <a:off x="777240" y="512064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호스트 부분 모두 0 = 네트워크 주소 / 모두 1 = 브로드캐스트 주소 → 둘 다 장비에 못 씀(−2)</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AND 연산으로 네트워크 주소 구하기</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3291840" cy="914400"/>
        </p:xfrm>
        <a:graphic>
          <a:graphicData uri="http://schemas.openxmlformats.org/drawingml/2006/table">
            <a:tbl>
              <a:tblPr/>
              <a:tblGrid>
                <a:gridCol w="1097280"/>
                <a:gridCol w="1097280"/>
                <a:gridCol w="1097280"/>
              </a:tblGrid>
              <a:tr h="438912">
                <a:tc>
                  <a:txBody>
                    <a:bodyP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A</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B</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A AND B</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438912">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38912">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38912">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0</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38912">
                <a:tc>
                  <a:txBody>
                    <a:bodyP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1</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1</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1</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bl>
          </a:graphicData>
        </a:graphic>
      </p:graphicFrame>
      <p:sp>
        <p:nvSpPr>
          <p:cNvPr id="6" name="Shape 2"/>
          <p:cNvSpPr/>
          <p:nvPr/>
        </p:nvSpPr>
        <p:spPr>
          <a:xfrm>
            <a:off x="548640" y="3794760"/>
            <a:ext cx="3291840" cy="1920240"/>
          </a:xfrm>
          <a:prstGeom prst="roundRect">
            <a:avLst>
              <a:gd name="adj" fmla="val 3810"/>
            </a:avLst>
          </a:prstGeom>
          <a:solidFill>
            <a:srgbClr val="F4F6F7"/>
          </a:solidFill>
          <a:ln w="12700">
            <a:solidFill>
              <a:srgbClr val="9AA5AD"/>
            </a:solidFill>
            <a:prstDash val="solid"/>
          </a:ln>
        </p:spPr>
      </p:sp>
      <p:sp>
        <p:nvSpPr>
          <p:cNvPr id="7" name="Text 3"/>
          <p:cNvSpPr txBox="1"/>
          <p:nvPr/>
        </p:nvSpPr>
        <p:spPr>
          <a:xfrm>
            <a:off x="731520" y="3931920"/>
            <a:ext cx="292608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규칙</a:t>
            </a:r>
            <a:endParaRPr lang="en-US" sz="1600" dirty="0"/>
          </a:p>
        </p:txBody>
      </p:sp>
      <p:sp>
        <p:nvSpPr>
          <p:cNvPr id="8" name="Text 4"/>
          <p:cNvSpPr txBox="1"/>
          <p:nvPr/>
        </p:nvSpPr>
        <p:spPr>
          <a:xfrm>
            <a:off x="731520" y="4389120"/>
            <a:ext cx="2926080" cy="121615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A AND 1 = A (그대로)</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A AND 0 = 0 (지움)</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AND=논리곱 · OR=논리합</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NOT=부정</a:t>
            </a:r>
            <a:endParaRPr lang="en-US" sz="1400" dirty="0"/>
          </a:p>
        </p:txBody>
      </p:sp>
      <p:sp>
        <p:nvSpPr>
          <p:cNvPr id="9" name="Text 5"/>
          <p:cNvSpPr txBox="1"/>
          <p:nvPr/>
        </p:nvSpPr>
        <p:spPr>
          <a:xfrm>
            <a:off x="4206240" y="1463040"/>
            <a:ext cx="822960" cy="548640"/>
          </a:xfrm>
          <a:prstGeom prst="rect">
            <a:avLst/>
          </a:prstGeom>
          <a:noFill/>
          <a:ln/>
        </p:spPr>
        <p:txBody>
          <a:bodyPr wrap="square" lIns="0" tIns="0" rIns="0" bIns="0" rtlCol="0" anchor="ctr"/>
          <a:lstStyle/>
          <a:p>
            <a:pPr indent="0" marL="0">
              <a:buNone/>
            </a:pPr>
            <a:r>
              <a:rPr lang="en-US" sz="1600" b="1" dirty="0">
                <a:solidFill>
                  <a:srgbClr val="0E6E7A"/>
                </a:solidFill>
                <a:latin typeface="맑은 고딕" pitchFamily="34" charset="0"/>
                <a:ea typeface="맑은 고딕" pitchFamily="34" charset="-122"/>
                <a:cs typeface="맑은 고딕" pitchFamily="34" charset="-120"/>
              </a:rPr>
              <a:t>IP</a:t>
            </a:r>
            <a:endParaRPr lang="en-US" sz="1600" dirty="0"/>
          </a:p>
        </p:txBody>
      </p:sp>
      <p:sp>
        <p:nvSpPr>
          <p:cNvPr id="10" name="Text 6"/>
          <p:cNvSpPr txBox="1"/>
          <p:nvPr/>
        </p:nvSpPr>
        <p:spPr>
          <a:xfrm>
            <a:off x="5029200" y="1463040"/>
            <a:ext cx="6583680" cy="548640"/>
          </a:xfrm>
          <a:prstGeom prst="rect">
            <a:avLst/>
          </a:prstGeom>
          <a:noFill/>
          <a:ln/>
        </p:spPr>
        <p:txBody>
          <a:bodyPr wrap="square" lIns="0" tIns="0" rIns="0" bIns="0" rtlCol="0" anchor="ctr"/>
          <a:lstStyle/>
          <a:p>
            <a:pPr indent="0" marL="0">
              <a:buNone/>
            </a:pPr>
            <a:r>
              <a:rPr lang="en-US" sz="1600" dirty="0">
                <a:solidFill>
                  <a:srgbClr val="1E2A30"/>
                </a:solidFill>
                <a:latin typeface="Consolas" pitchFamily="34" charset="0"/>
                <a:ea typeface="Consolas" pitchFamily="34" charset="-122"/>
                <a:cs typeface="Consolas" pitchFamily="34" charset="-120"/>
              </a:rPr>
              <a:t>00001010.00001010.00100010.10000001</a:t>
            </a:r>
            <a:endParaRPr lang="en-US" sz="1600" dirty="0"/>
          </a:p>
        </p:txBody>
      </p:sp>
      <p:sp>
        <p:nvSpPr>
          <p:cNvPr id="11" name="Text 7"/>
          <p:cNvSpPr txBox="1"/>
          <p:nvPr/>
        </p:nvSpPr>
        <p:spPr>
          <a:xfrm>
            <a:off x="5029200" y="1965960"/>
            <a:ext cx="658368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10.10.34.129</a:t>
            </a:r>
            <a:endParaRPr lang="en-US" sz="1300" dirty="0"/>
          </a:p>
        </p:txBody>
      </p:sp>
      <p:sp>
        <p:nvSpPr>
          <p:cNvPr id="12" name="Text 8"/>
          <p:cNvSpPr txBox="1"/>
          <p:nvPr/>
        </p:nvSpPr>
        <p:spPr>
          <a:xfrm>
            <a:off x="4206240" y="2423160"/>
            <a:ext cx="822960" cy="548640"/>
          </a:xfrm>
          <a:prstGeom prst="rect">
            <a:avLst/>
          </a:prstGeom>
          <a:noFill/>
          <a:ln/>
        </p:spPr>
        <p:txBody>
          <a:bodyPr wrap="square" lIns="0" tIns="0" rIns="0" bIns="0" rtlCol="0" anchor="ctr"/>
          <a:lstStyle/>
          <a:p>
            <a:pPr indent="0" marL="0">
              <a:buNone/>
            </a:pPr>
            <a:r>
              <a:rPr lang="en-US" sz="1600" b="1" dirty="0">
                <a:solidFill>
                  <a:srgbClr val="0E6E7A"/>
                </a:solidFill>
                <a:latin typeface="맑은 고딕" pitchFamily="34" charset="0"/>
                <a:ea typeface="맑은 고딕" pitchFamily="34" charset="-122"/>
                <a:cs typeface="맑은 고딕" pitchFamily="34" charset="-120"/>
              </a:rPr>
              <a:t>SM</a:t>
            </a:r>
            <a:endParaRPr lang="en-US" sz="1600" dirty="0"/>
          </a:p>
        </p:txBody>
      </p:sp>
      <p:sp>
        <p:nvSpPr>
          <p:cNvPr id="13" name="Text 9"/>
          <p:cNvSpPr txBox="1"/>
          <p:nvPr/>
        </p:nvSpPr>
        <p:spPr>
          <a:xfrm>
            <a:off x="5029200" y="2423160"/>
            <a:ext cx="6583680" cy="548640"/>
          </a:xfrm>
          <a:prstGeom prst="rect">
            <a:avLst/>
          </a:prstGeom>
          <a:noFill/>
          <a:ln/>
        </p:spPr>
        <p:txBody>
          <a:bodyPr wrap="square" lIns="0" tIns="0" rIns="0" bIns="0" rtlCol="0" anchor="ctr"/>
          <a:lstStyle/>
          <a:p>
            <a:pPr indent="0" marL="0">
              <a:buNone/>
            </a:pPr>
            <a:r>
              <a:rPr lang="en-US" sz="1600" dirty="0">
                <a:solidFill>
                  <a:srgbClr val="1E2A30"/>
                </a:solidFill>
                <a:latin typeface="Consolas" pitchFamily="34" charset="0"/>
                <a:ea typeface="Consolas" pitchFamily="34" charset="-122"/>
                <a:cs typeface="Consolas" pitchFamily="34" charset="-120"/>
              </a:rPr>
              <a:t>11111111.11111111.11111111.00000000</a:t>
            </a:r>
            <a:endParaRPr lang="en-US" sz="1600" dirty="0"/>
          </a:p>
        </p:txBody>
      </p:sp>
      <p:sp>
        <p:nvSpPr>
          <p:cNvPr id="14" name="Text 10"/>
          <p:cNvSpPr txBox="1"/>
          <p:nvPr/>
        </p:nvSpPr>
        <p:spPr>
          <a:xfrm>
            <a:off x="5029200" y="2926080"/>
            <a:ext cx="658368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255.255.255.0</a:t>
            </a:r>
            <a:endParaRPr lang="en-US" sz="1300" dirty="0"/>
          </a:p>
        </p:txBody>
      </p:sp>
      <p:sp>
        <p:nvSpPr>
          <p:cNvPr id="15" name="Text 11"/>
          <p:cNvSpPr txBox="1"/>
          <p:nvPr/>
        </p:nvSpPr>
        <p:spPr>
          <a:xfrm>
            <a:off x="4206240" y="3611880"/>
            <a:ext cx="822960" cy="548640"/>
          </a:xfrm>
          <a:prstGeom prst="rect">
            <a:avLst/>
          </a:prstGeom>
          <a:noFill/>
          <a:ln/>
        </p:spPr>
        <p:txBody>
          <a:bodyPr wrap="square" lIns="0" tIns="0" rIns="0" bIns="0" rtlCol="0" anchor="ctr"/>
          <a:lstStyle/>
          <a:p>
            <a:pPr indent="0" marL="0">
              <a:buNone/>
            </a:pPr>
            <a:r>
              <a:rPr lang="en-US" sz="1600" b="1" dirty="0">
                <a:solidFill>
                  <a:srgbClr val="0E6E7A"/>
                </a:solidFill>
                <a:latin typeface="맑은 고딕" pitchFamily="34" charset="0"/>
                <a:ea typeface="맑은 고딕" pitchFamily="34" charset="-122"/>
                <a:cs typeface="맑은 고딕" pitchFamily="34" charset="-120"/>
              </a:rPr>
              <a:t>AND</a:t>
            </a:r>
            <a:endParaRPr lang="en-US" sz="1600" dirty="0"/>
          </a:p>
        </p:txBody>
      </p:sp>
      <p:sp>
        <p:nvSpPr>
          <p:cNvPr id="16" name="Text 12"/>
          <p:cNvSpPr txBox="1"/>
          <p:nvPr/>
        </p:nvSpPr>
        <p:spPr>
          <a:xfrm>
            <a:off x="5029200" y="3611880"/>
            <a:ext cx="6583680" cy="548640"/>
          </a:xfrm>
          <a:prstGeom prst="rect">
            <a:avLst/>
          </a:prstGeom>
          <a:noFill/>
          <a:ln/>
        </p:spPr>
        <p:txBody>
          <a:bodyPr wrap="square" lIns="0" tIns="0" rIns="0" bIns="0" rtlCol="0" anchor="ctr"/>
          <a:lstStyle/>
          <a:p>
            <a:pPr indent="0" marL="0">
              <a:buNone/>
            </a:pPr>
            <a:r>
              <a:rPr lang="en-US" sz="1600" b="1" dirty="0">
                <a:solidFill>
                  <a:srgbClr val="1E2A30"/>
                </a:solidFill>
                <a:latin typeface="Consolas" pitchFamily="34" charset="0"/>
                <a:ea typeface="Consolas" pitchFamily="34" charset="-122"/>
                <a:cs typeface="Consolas" pitchFamily="34" charset="-120"/>
              </a:rPr>
              <a:t>00001010.00001010.00100010.00000000</a:t>
            </a:r>
            <a:endParaRPr lang="en-US" sz="1600" dirty="0"/>
          </a:p>
        </p:txBody>
      </p:sp>
      <p:sp>
        <p:nvSpPr>
          <p:cNvPr id="17" name="Text 13"/>
          <p:cNvSpPr txBox="1"/>
          <p:nvPr/>
        </p:nvSpPr>
        <p:spPr>
          <a:xfrm>
            <a:off x="5029200" y="4114800"/>
            <a:ext cx="6583680" cy="32004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10.10.34.0</a:t>
            </a:r>
            <a:endParaRPr lang="en-US" sz="1300" dirty="0"/>
          </a:p>
        </p:txBody>
      </p:sp>
      <p:sp>
        <p:nvSpPr>
          <p:cNvPr id="18" name="Shape 14"/>
          <p:cNvSpPr/>
          <p:nvPr/>
        </p:nvSpPr>
        <p:spPr>
          <a:xfrm>
            <a:off x="4206240" y="3429000"/>
            <a:ext cx="7434072" cy="914"/>
          </a:xfrm>
          <a:prstGeom prst="line">
            <a:avLst/>
          </a:prstGeom>
          <a:noFill/>
          <a:ln w="19050">
            <a:solidFill>
              <a:srgbClr val="1E2A30"/>
            </a:solidFill>
            <a:prstDash val="solid"/>
          </a:ln>
        </p:spPr>
      </p:sp>
      <p:sp>
        <p:nvSpPr>
          <p:cNvPr id="19" name="Shape 15"/>
          <p:cNvSpPr/>
          <p:nvPr/>
        </p:nvSpPr>
        <p:spPr>
          <a:xfrm>
            <a:off x="4206240" y="4526280"/>
            <a:ext cx="7434072" cy="1188720"/>
          </a:xfrm>
          <a:prstGeom prst="roundRect">
            <a:avLst>
              <a:gd name="adj" fmla="val 6154"/>
            </a:avLst>
          </a:prstGeom>
          <a:solidFill>
            <a:srgbClr val="E6F1F2"/>
          </a:solidFill>
          <a:ln w="12700">
            <a:solidFill>
              <a:srgbClr val="0E6E7A"/>
            </a:solidFill>
            <a:prstDash val="solid"/>
          </a:ln>
        </p:spPr>
      </p:sp>
      <p:sp>
        <p:nvSpPr>
          <p:cNvPr id="20" name="Text 16"/>
          <p:cNvSpPr txBox="1"/>
          <p:nvPr/>
        </p:nvSpPr>
        <p:spPr>
          <a:xfrm>
            <a:off x="4434840" y="4526280"/>
            <a:ext cx="7040880" cy="118872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결과: 네트워크 주소 = 10.10.34.0</a:t>
            </a:r>
            <a:endParaRPr lang="en-US" sz="1600" dirty="0"/>
          </a:p>
          <a:p>
            <a:pPr indent="0" marL="0">
              <a:buNone/>
            </a:pPr>
            <a:r>
              <a:rPr lang="en-US" sz="1600" dirty="0">
                <a:solidFill>
                  <a:srgbClr val="1E2A30"/>
                </a:solidFill>
                <a:latin typeface="맑은 고딕" pitchFamily="34" charset="0"/>
                <a:ea typeface="맑은 고딕" pitchFamily="34" charset="-122"/>
                <a:cs typeface="맑은 고딕" pitchFamily="34" charset="-120"/>
              </a:rPr>
              <a:t>마스크 255 자리 → IP 그대로, 마스크 0 자리 → 0</a:t>
            </a:r>
            <a:endParaRPr lang="en-US" sz="1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서브넷 마스크 빠른 표 (/24 ~ /30)</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188720"/>
                <a:gridCol w="3017520"/>
                <a:gridCol w="1645920"/>
                <a:gridCol w="1645920"/>
                <a:gridCol w="1645920"/>
                <a:gridCol w="1947672"/>
              </a:tblGrid>
              <a:tr h="457200">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표기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마스크 (마지막 옥텟)</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서브넷 비트</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서브넷 수</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블록 크기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사용 가능 호스트</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45720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255.255.255.0</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0</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255.255.255.128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128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126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5720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255.255.255.192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64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62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/27</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255.255.255.224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3</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32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30</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r h="45720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255.255.255.240</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/29</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255.255.255.248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5</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32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5720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/30</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255.255.255.252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64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1672" cy="457200"/>
          </a:xfrm>
          <a:prstGeom prst="roundRect">
            <a:avLst>
              <a:gd name="adj" fmla="val 16000"/>
            </a:avLst>
          </a:prstGeom>
          <a:solidFill>
            <a:srgbClr val="E6F1F2"/>
          </a:solidFill>
          <a:ln w="12700">
            <a:solidFill>
              <a:srgbClr val="E6F1F2"/>
            </a:solidFill>
            <a:prstDash val="solid"/>
          </a:ln>
        </p:spPr>
      </p:sp>
      <p:sp>
        <p:nvSpPr>
          <p:cNvPr id="7" name="Text 3"/>
          <p:cNvSpPr txBox="1"/>
          <p:nvPr/>
        </p:nvSpPr>
        <p:spPr>
          <a:xfrm>
            <a:off x="777240" y="525780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블록 크기 = 256 ÷ 서브넷 수 / 호스트 = 블록 − 2 / C 클래스 최대 서브넷 비트 = 6</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서브네팅이란 — 하나를 여러 개로 나누기</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Text 2"/>
          <p:cNvSpPr txBox="1"/>
          <p:nvPr/>
        </p:nvSpPr>
        <p:spPr>
          <a:xfrm>
            <a:off x="548640" y="1325880"/>
            <a:ext cx="548640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주소 구조의 변화</a:t>
            </a:r>
            <a:endParaRPr lang="en-US" sz="1700" dirty="0"/>
          </a:p>
        </p:txBody>
      </p:sp>
      <p:sp>
        <p:nvSpPr>
          <p:cNvPr id="6" name="Shape 3"/>
          <p:cNvSpPr/>
          <p:nvPr/>
        </p:nvSpPr>
        <p:spPr>
          <a:xfrm>
            <a:off x="548640" y="1828800"/>
            <a:ext cx="6583680" cy="640080"/>
          </a:xfrm>
          <a:prstGeom prst="roundRect">
            <a:avLst>
              <a:gd name="adj" fmla="val 11429"/>
            </a:avLst>
          </a:prstGeom>
          <a:solidFill>
            <a:srgbClr val="FFFFFF"/>
          </a:solidFill>
          <a:ln w="12700">
            <a:solidFill>
              <a:srgbClr val="1E2A30"/>
            </a:solidFill>
            <a:prstDash val="solid"/>
          </a:ln>
        </p:spPr>
      </p:sp>
      <p:sp>
        <p:nvSpPr>
          <p:cNvPr id="7" name="Shape 4"/>
          <p:cNvSpPr/>
          <p:nvPr/>
        </p:nvSpPr>
        <p:spPr>
          <a:xfrm>
            <a:off x="548640" y="1828800"/>
            <a:ext cx="4937760" cy="640080"/>
          </a:xfrm>
          <a:prstGeom prst="roundRect">
            <a:avLst>
              <a:gd name="adj" fmla="val 11429"/>
            </a:avLst>
          </a:prstGeom>
          <a:solidFill>
            <a:srgbClr val="E6F1F2"/>
          </a:solidFill>
          <a:ln w="12700">
            <a:solidFill>
              <a:srgbClr val="0E6E7A"/>
            </a:solidFill>
            <a:prstDash val="solid"/>
          </a:ln>
        </p:spPr>
      </p:sp>
      <p:sp>
        <p:nvSpPr>
          <p:cNvPr id="8" name="Text 5"/>
          <p:cNvSpPr txBox="1"/>
          <p:nvPr/>
        </p:nvSpPr>
        <p:spPr>
          <a:xfrm>
            <a:off x="548640" y="1828800"/>
            <a:ext cx="4937760" cy="64008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네트워크 (24비트)</a:t>
            </a:r>
            <a:endParaRPr lang="en-US" sz="1500" dirty="0"/>
          </a:p>
        </p:txBody>
      </p:sp>
      <p:sp>
        <p:nvSpPr>
          <p:cNvPr id="9" name="Text 6"/>
          <p:cNvSpPr txBox="1"/>
          <p:nvPr/>
        </p:nvSpPr>
        <p:spPr>
          <a:xfrm>
            <a:off x="5486400" y="1828800"/>
            <a:ext cx="1645920" cy="64008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호스트 (8)</a:t>
            </a:r>
            <a:endParaRPr lang="en-US" sz="1500" dirty="0"/>
          </a:p>
        </p:txBody>
      </p:sp>
      <p:sp>
        <p:nvSpPr>
          <p:cNvPr id="10" name="Shape 7"/>
          <p:cNvSpPr/>
          <p:nvPr/>
        </p:nvSpPr>
        <p:spPr>
          <a:xfrm>
            <a:off x="3840480" y="2560320"/>
            <a:ext cx="914" cy="365760"/>
          </a:xfrm>
          <a:prstGeom prst="line">
            <a:avLst/>
          </a:prstGeom>
          <a:noFill/>
          <a:ln w="19050">
            <a:solidFill>
              <a:srgbClr val="0E6E7A"/>
            </a:solidFill>
            <a:prstDash val="solid"/>
            <a:tailEnd type="triangle"/>
          </a:ln>
        </p:spPr>
      </p:sp>
      <p:sp>
        <p:nvSpPr>
          <p:cNvPr id="11" name="Shape 8"/>
          <p:cNvSpPr/>
          <p:nvPr/>
        </p:nvSpPr>
        <p:spPr>
          <a:xfrm>
            <a:off x="548640" y="3017520"/>
            <a:ext cx="4937760" cy="640080"/>
          </a:xfrm>
          <a:prstGeom prst="roundRect">
            <a:avLst>
              <a:gd name="adj" fmla="val 11429"/>
            </a:avLst>
          </a:prstGeom>
          <a:solidFill>
            <a:srgbClr val="E6F1F2"/>
          </a:solidFill>
          <a:ln w="12700">
            <a:solidFill>
              <a:srgbClr val="0E6E7A"/>
            </a:solidFill>
            <a:prstDash val="solid"/>
          </a:ln>
        </p:spPr>
      </p:sp>
      <p:sp>
        <p:nvSpPr>
          <p:cNvPr id="12" name="Text 9"/>
          <p:cNvSpPr txBox="1"/>
          <p:nvPr/>
        </p:nvSpPr>
        <p:spPr>
          <a:xfrm>
            <a:off x="548640" y="3017520"/>
            <a:ext cx="4937760" cy="640080"/>
          </a:xfrm>
          <a:prstGeom prst="rect">
            <a:avLst/>
          </a:prstGeom>
          <a:noFill/>
          <a:ln/>
        </p:spPr>
        <p:txBody>
          <a:bodyPr wrap="square" lIns="0" tIns="0" rIns="0" bIns="0" rtlCol="0" anchor="ctr"/>
          <a:lstStyle/>
          <a:p>
            <a:pPr algn="ctr" indent="0" marL="0">
              <a:buNone/>
            </a:pPr>
            <a:r>
              <a:rPr lang="en-US" sz="1500" b="1" dirty="0">
                <a:solidFill>
                  <a:srgbClr val="1E2A30"/>
                </a:solidFill>
                <a:latin typeface="맑은 고딕" pitchFamily="34" charset="0"/>
                <a:ea typeface="맑은 고딕" pitchFamily="34" charset="-122"/>
                <a:cs typeface="맑은 고딕" pitchFamily="34" charset="-120"/>
              </a:rPr>
              <a:t>네트워크 (24비트)</a:t>
            </a:r>
            <a:endParaRPr lang="en-US" sz="1500" dirty="0"/>
          </a:p>
        </p:txBody>
      </p:sp>
      <p:sp>
        <p:nvSpPr>
          <p:cNvPr id="13" name="Shape 10"/>
          <p:cNvSpPr/>
          <p:nvPr/>
        </p:nvSpPr>
        <p:spPr>
          <a:xfrm>
            <a:off x="5486400" y="3017520"/>
            <a:ext cx="685800" cy="640080"/>
          </a:xfrm>
          <a:prstGeom prst="roundRect">
            <a:avLst>
              <a:gd name="adj" fmla="val 11429"/>
            </a:avLst>
          </a:prstGeom>
          <a:solidFill>
            <a:srgbClr val="F4F6F7"/>
          </a:solidFill>
          <a:ln w="12700">
            <a:solidFill>
              <a:srgbClr val="0E6E7A"/>
            </a:solidFill>
            <a:prstDash val="dash"/>
          </a:ln>
        </p:spPr>
      </p:sp>
      <p:sp>
        <p:nvSpPr>
          <p:cNvPr id="14" name="Text 11"/>
          <p:cNvSpPr txBox="1"/>
          <p:nvPr/>
        </p:nvSpPr>
        <p:spPr>
          <a:xfrm>
            <a:off x="5486400" y="3017520"/>
            <a:ext cx="685800" cy="640080"/>
          </a:xfrm>
          <a:prstGeom prst="rect">
            <a:avLst/>
          </a:prstGeom>
          <a:noFill/>
          <a:ln/>
        </p:spPr>
        <p:txBody>
          <a:bodyPr wrap="square" lIns="0" tIns="0" rIns="0" bIns="0" rtlCol="0" anchor="ctr"/>
          <a:lstStyle/>
          <a:p>
            <a:pPr algn="ctr" indent="0" marL="0">
              <a:buNone/>
            </a:pPr>
            <a:r>
              <a:rPr lang="en-US" sz="1100" b="1" dirty="0">
                <a:solidFill>
                  <a:srgbClr val="1E2A30"/>
                </a:solidFill>
                <a:latin typeface="맑은 고딕" pitchFamily="34" charset="0"/>
                <a:ea typeface="맑은 고딕" pitchFamily="34" charset="-122"/>
                <a:cs typeface="맑은 고딕" pitchFamily="34" charset="-120"/>
              </a:rPr>
              <a:t>서브넷</a:t>
            </a:r>
            <a:endParaRPr lang="en-US" sz="1100" dirty="0"/>
          </a:p>
        </p:txBody>
      </p:sp>
      <p:sp>
        <p:nvSpPr>
          <p:cNvPr id="15" name="Shape 12"/>
          <p:cNvSpPr/>
          <p:nvPr/>
        </p:nvSpPr>
        <p:spPr>
          <a:xfrm>
            <a:off x="6172200" y="3017520"/>
            <a:ext cx="960120" cy="640080"/>
          </a:xfrm>
          <a:prstGeom prst="roundRect">
            <a:avLst>
              <a:gd name="adj" fmla="val 11429"/>
            </a:avLst>
          </a:prstGeom>
          <a:solidFill>
            <a:srgbClr val="FFFFFF"/>
          </a:solidFill>
          <a:ln w="12700">
            <a:solidFill>
              <a:srgbClr val="1E2A30"/>
            </a:solidFill>
            <a:prstDash val="solid"/>
          </a:ln>
        </p:spPr>
      </p:sp>
      <p:sp>
        <p:nvSpPr>
          <p:cNvPr id="16" name="Text 13"/>
          <p:cNvSpPr txBox="1"/>
          <p:nvPr/>
        </p:nvSpPr>
        <p:spPr>
          <a:xfrm>
            <a:off x="6172200" y="3017520"/>
            <a:ext cx="960120" cy="640080"/>
          </a:xfrm>
          <a:prstGeom prst="rect">
            <a:avLst/>
          </a:prstGeom>
          <a:noFill/>
          <a:ln/>
        </p:spPr>
        <p:txBody>
          <a:bodyPr wrap="square" lIns="0" tIns="0" rIns="0" bIns="0" rtlCol="0" anchor="ctr"/>
          <a:lstStyle/>
          <a:p>
            <a:pPr algn="ctr" indent="0" marL="0">
              <a:buNone/>
            </a:pPr>
            <a:r>
              <a:rPr lang="en-US" sz="1200" b="1" dirty="0">
                <a:solidFill>
                  <a:srgbClr val="1E2A30"/>
                </a:solidFill>
                <a:latin typeface="맑은 고딕" pitchFamily="34" charset="0"/>
                <a:ea typeface="맑은 고딕" pitchFamily="34" charset="-122"/>
                <a:cs typeface="맑은 고딕" pitchFamily="34" charset="-120"/>
              </a:rPr>
              <a:t>호스트</a:t>
            </a:r>
            <a:endParaRPr lang="en-US" sz="1200" dirty="0"/>
          </a:p>
        </p:txBody>
      </p:sp>
      <p:sp>
        <p:nvSpPr>
          <p:cNvPr id="17" name="Text 14"/>
          <p:cNvSpPr txBox="1"/>
          <p:nvPr/>
        </p:nvSpPr>
        <p:spPr>
          <a:xfrm>
            <a:off x="548640" y="3749040"/>
            <a:ext cx="6583680" cy="36576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호스트 앞쪽 비트를 빌려 서브넷 비트로 사용</a:t>
            </a:r>
            <a:endParaRPr lang="en-US" sz="1300" dirty="0"/>
          </a:p>
        </p:txBody>
      </p:sp>
      <p:sp>
        <p:nvSpPr>
          <p:cNvPr id="18" name="Shape 15"/>
          <p:cNvSpPr/>
          <p:nvPr/>
        </p:nvSpPr>
        <p:spPr>
          <a:xfrm>
            <a:off x="7589520" y="1325880"/>
            <a:ext cx="4050792" cy="2788920"/>
          </a:xfrm>
          <a:prstGeom prst="roundRect">
            <a:avLst>
              <a:gd name="adj" fmla="val 2623"/>
            </a:avLst>
          </a:prstGeom>
          <a:solidFill>
            <a:srgbClr val="FFFFFF"/>
          </a:solidFill>
          <a:ln w="12700">
            <a:solidFill>
              <a:srgbClr val="9AA5AD"/>
            </a:solidFill>
            <a:prstDash val="solid"/>
          </a:ln>
        </p:spPr>
      </p:sp>
      <p:sp>
        <p:nvSpPr>
          <p:cNvPr id="19" name="Text 16"/>
          <p:cNvSpPr txBox="1"/>
          <p:nvPr/>
        </p:nvSpPr>
        <p:spPr>
          <a:xfrm>
            <a:off x="7772400" y="1463040"/>
            <a:ext cx="368503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왜 나누나?</a:t>
            </a:r>
            <a:endParaRPr lang="en-US" sz="1600" dirty="0"/>
          </a:p>
        </p:txBody>
      </p:sp>
      <p:sp>
        <p:nvSpPr>
          <p:cNvPr id="20" name="Text 17"/>
          <p:cNvSpPr txBox="1"/>
          <p:nvPr/>
        </p:nvSpPr>
        <p:spPr>
          <a:xfrm>
            <a:off x="7772400" y="1920240"/>
            <a:ext cx="3685032" cy="208483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브로드캐스트 영역 축소 → 성능 향상</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부서 간 방화벽 · ACL → 보안 강화</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주소 낭비 감소</a:t>
            </a:r>
            <a:endParaRPr lang="en-US" sz="1500" dirty="0"/>
          </a:p>
        </p:txBody>
      </p:sp>
      <p:sp>
        <p:nvSpPr>
          <p:cNvPr id="21" name="Shape 18"/>
          <p:cNvSpPr/>
          <p:nvPr/>
        </p:nvSpPr>
        <p:spPr>
          <a:xfrm>
            <a:off x="548640" y="4343400"/>
            <a:ext cx="5394960" cy="1371600"/>
          </a:xfrm>
          <a:prstGeom prst="roundRect">
            <a:avLst>
              <a:gd name="adj" fmla="val 5333"/>
            </a:avLst>
          </a:prstGeom>
          <a:solidFill>
            <a:srgbClr val="F4F6F7"/>
          </a:solidFill>
          <a:ln w="12700">
            <a:solidFill>
              <a:srgbClr val="9AA5AD"/>
            </a:solidFill>
            <a:prstDash val="solid"/>
          </a:ln>
        </p:spPr>
      </p:sp>
      <p:sp>
        <p:nvSpPr>
          <p:cNvPr id="22" name="Text 19"/>
          <p:cNvSpPr txBox="1"/>
          <p:nvPr/>
        </p:nvSpPr>
        <p:spPr>
          <a:xfrm>
            <a:off x="731520" y="448056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규칙 1</a:t>
            </a:r>
            <a:endParaRPr lang="en-US" sz="1600" dirty="0"/>
          </a:p>
        </p:txBody>
      </p:sp>
      <p:sp>
        <p:nvSpPr>
          <p:cNvPr id="23" name="Text 20"/>
          <p:cNvSpPr txBox="1"/>
          <p:nvPr/>
        </p:nvSpPr>
        <p:spPr>
          <a:xfrm>
            <a:off x="731520" y="4937760"/>
            <a:ext cx="5029200" cy="667512"/>
          </a:xfrm>
          <a:prstGeom prst="rect">
            <a:avLst/>
          </a:prstGeom>
          <a:noFill/>
          <a:ln/>
        </p:spPr>
        <p:txBody>
          <a:bodyPr wrap="square" lIns="0" tIns="0" rIns="0" bIns="0" rtlCol="0" anchor="t"/>
          <a:lstStyle/>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호스트 비트는 최소 2개 남긴다</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(/30: 호스트 2대가 최소)</a:t>
            </a:r>
            <a:endParaRPr lang="en-US" sz="1500" dirty="0"/>
          </a:p>
        </p:txBody>
      </p:sp>
      <p:sp>
        <p:nvSpPr>
          <p:cNvPr id="24" name="Shape 21"/>
          <p:cNvSpPr/>
          <p:nvPr/>
        </p:nvSpPr>
        <p:spPr>
          <a:xfrm>
            <a:off x="6245352" y="4343400"/>
            <a:ext cx="5394960" cy="1371600"/>
          </a:xfrm>
          <a:prstGeom prst="roundRect">
            <a:avLst>
              <a:gd name="adj" fmla="val 5333"/>
            </a:avLst>
          </a:prstGeom>
          <a:solidFill>
            <a:srgbClr val="F4F6F7"/>
          </a:solidFill>
          <a:ln w="12700">
            <a:solidFill>
              <a:srgbClr val="9AA5AD"/>
            </a:solidFill>
            <a:prstDash val="solid"/>
          </a:ln>
        </p:spPr>
      </p:sp>
      <p:sp>
        <p:nvSpPr>
          <p:cNvPr id="25" name="Text 22"/>
          <p:cNvSpPr txBox="1"/>
          <p:nvPr/>
        </p:nvSpPr>
        <p:spPr>
          <a:xfrm>
            <a:off x="6428232" y="448056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규칙 2</a:t>
            </a:r>
            <a:endParaRPr lang="en-US" sz="1600" dirty="0"/>
          </a:p>
        </p:txBody>
      </p:sp>
      <p:sp>
        <p:nvSpPr>
          <p:cNvPr id="26" name="Text 23"/>
          <p:cNvSpPr txBox="1"/>
          <p:nvPr/>
        </p:nvSpPr>
        <p:spPr>
          <a:xfrm>
            <a:off x="6428232" y="4937760"/>
            <a:ext cx="5029200" cy="667512"/>
          </a:xfrm>
          <a:prstGeom prst="rect">
            <a:avLst/>
          </a:prstGeom>
          <a:noFill/>
          <a:ln/>
        </p:spPr>
        <p:txBody>
          <a:bodyPr wrap="square" lIns="0" tIns="0" rIns="0" bIns="0" rtlCol="0" anchor="t"/>
          <a:lstStyle/>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서브넷 마스크 값을 정확하게 바꿔 쓴다</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/24 에서 3비트 빌리면 → /27</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서브네팅 4단계 공식</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Shape 2"/>
          <p:cNvSpPr/>
          <p:nvPr/>
        </p:nvSpPr>
        <p:spPr>
          <a:xfrm>
            <a:off x="548640" y="1371600"/>
            <a:ext cx="2651760" cy="4023360"/>
          </a:xfrm>
          <a:prstGeom prst="roundRect">
            <a:avLst>
              <a:gd name="adj" fmla="val 2759"/>
            </a:avLst>
          </a:prstGeom>
          <a:solidFill>
            <a:srgbClr val="F4F6F7"/>
          </a:solidFill>
          <a:ln w="12700">
            <a:solidFill>
              <a:srgbClr val="9AA5AD"/>
            </a:solidFill>
            <a:prstDash val="solid"/>
          </a:ln>
        </p:spPr>
      </p:sp>
      <p:sp>
        <p:nvSpPr>
          <p:cNvPr id="6" name="Shape 3"/>
          <p:cNvSpPr/>
          <p:nvPr/>
        </p:nvSpPr>
        <p:spPr>
          <a:xfrm>
            <a:off x="731520" y="1508760"/>
            <a:ext cx="548640" cy="548640"/>
          </a:xfrm>
          <a:prstGeom prst="ellipse">
            <a:avLst/>
          </a:prstGeom>
          <a:solidFill>
            <a:srgbClr val="0E6E7A"/>
          </a:solidFill>
          <a:ln w="12700">
            <a:solidFill>
              <a:srgbClr val="0E6E7A"/>
            </a:solidFill>
            <a:prstDash val="solid"/>
          </a:ln>
        </p:spPr>
      </p:sp>
      <p:sp>
        <p:nvSpPr>
          <p:cNvPr id="7" name="Text 4"/>
          <p:cNvSpPr txBox="1"/>
          <p:nvPr/>
        </p:nvSpPr>
        <p:spPr>
          <a:xfrm>
            <a:off x="731520" y="1508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1</a:t>
            </a:r>
            <a:endParaRPr lang="en-US" sz="2000" dirty="0"/>
          </a:p>
        </p:txBody>
      </p:sp>
      <p:sp>
        <p:nvSpPr>
          <p:cNvPr id="8" name="Text 5"/>
          <p:cNvSpPr txBox="1"/>
          <p:nvPr/>
        </p:nvSpPr>
        <p:spPr>
          <a:xfrm>
            <a:off x="731520" y="2194560"/>
            <a:ext cx="2286000" cy="6400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서브넷 비트 n 구하기</a:t>
            </a:r>
            <a:endParaRPr lang="en-US" sz="1700" dirty="0"/>
          </a:p>
        </p:txBody>
      </p:sp>
      <p:sp>
        <p:nvSpPr>
          <p:cNvPr id="9" name="Text 6"/>
          <p:cNvSpPr txBox="1"/>
          <p:nvPr/>
        </p:nvSpPr>
        <p:spPr>
          <a:xfrm>
            <a:off x="731520" y="2880360"/>
            <a:ext cx="2286000" cy="109728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2ⁿ ≥ 필요한 서브넷 수</a:t>
            </a:r>
            <a:endParaRPr lang="en-US" sz="1400" dirty="0"/>
          </a:p>
        </p:txBody>
      </p:sp>
      <p:sp>
        <p:nvSpPr>
          <p:cNvPr id="10" name="Shape 7"/>
          <p:cNvSpPr/>
          <p:nvPr/>
        </p:nvSpPr>
        <p:spPr>
          <a:xfrm>
            <a:off x="685800" y="4206240"/>
            <a:ext cx="2377440" cy="1005840"/>
          </a:xfrm>
          <a:prstGeom prst="roundRect">
            <a:avLst>
              <a:gd name="adj" fmla="val 7273"/>
            </a:avLst>
          </a:prstGeom>
          <a:solidFill>
            <a:srgbClr val="E6F1F2"/>
          </a:solidFill>
          <a:ln w="12700">
            <a:solidFill>
              <a:srgbClr val="E6F1F2"/>
            </a:solidFill>
            <a:prstDash val="solid"/>
          </a:ln>
        </p:spPr>
      </p:sp>
      <p:sp>
        <p:nvSpPr>
          <p:cNvPr id="11" name="Text 8"/>
          <p:cNvSpPr txBox="1"/>
          <p:nvPr/>
        </p:nvSpPr>
        <p:spPr>
          <a:xfrm>
            <a:off x="777240" y="4206240"/>
            <a:ext cx="2194560" cy="1005840"/>
          </a:xfrm>
          <a:prstGeom prst="rect">
            <a:avLst/>
          </a:prstGeom>
          <a:noFill/>
          <a:ln/>
        </p:spPr>
        <p:txBody>
          <a:bodyPr wrap="square" lIns="0" tIns="0" rIns="0" bIns="0" rtlCol="0" anchor="ctr"/>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8개 → 2³ = 8 → n = 3</a:t>
            </a:r>
            <a:endParaRPr lang="en-US" sz="1300" dirty="0"/>
          </a:p>
        </p:txBody>
      </p:sp>
      <p:sp>
        <p:nvSpPr>
          <p:cNvPr id="12" name="Shape 9"/>
          <p:cNvSpPr/>
          <p:nvPr/>
        </p:nvSpPr>
        <p:spPr>
          <a:xfrm>
            <a:off x="3200400" y="3383280"/>
            <a:ext cx="164592" cy="914"/>
          </a:xfrm>
          <a:prstGeom prst="line">
            <a:avLst/>
          </a:prstGeom>
          <a:noFill/>
          <a:ln w="19050">
            <a:solidFill>
              <a:srgbClr val="0E6E7A"/>
            </a:solidFill>
            <a:prstDash val="solid"/>
            <a:tailEnd type="triangle"/>
          </a:ln>
        </p:spPr>
      </p:sp>
      <p:sp>
        <p:nvSpPr>
          <p:cNvPr id="13" name="Shape 10"/>
          <p:cNvSpPr/>
          <p:nvPr/>
        </p:nvSpPr>
        <p:spPr>
          <a:xfrm>
            <a:off x="3364992" y="1371600"/>
            <a:ext cx="2651760" cy="4023360"/>
          </a:xfrm>
          <a:prstGeom prst="roundRect">
            <a:avLst>
              <a:gd name="adj" fmla="val 2759"/>
            </a:avLst>
          </a:prstGeom>
          <a:solidFill>
            <a:srgbClr val="FFFFFF"/>
          </a:solidFill>
          <a:ln w="12700">
            <a:solidFill>
              <a:srgbClr val="9AA5AD"/>
            </a:solidFill>
            <a:prstDash val="solid"/>
          </a:ln>
        </p:spPr>
      </p:sp>
      <p:sp>
        <p:nvSpPr>
          <p:cNvPr id="14" name="Shape 11"/>
          <p:cNvSpPr/>
          <p:nvPr/>
        </p:nvSpPr>
        <p:spPr>
          <a:xfrm>
            <a:off x="3547872" y="1508760"/>
            <a:ext cx="548640" cy="548640"/>
          </a:xfrm>
          <a:prstGeom prst="ellipse">
            <a:avLst/>
          </a:prstGeom>
          <a:solidFill>
            <a:srgbClr val="0E6E7A"/>
          </a:solidFill>
          <a:ln w="12700">
            <a:solidFill>
              <a:srgbClr val="0E6E7A"/>
            </a:solidFill>
            <a:prstDash val="solid"/>
          </a:ln>
        </p:spPr>
      </p:sp>
      <p:sp>
        <p:nvSpPr>
          <p:cNvPr id="15" name="Text 12"/>
          <p:cNvSpPr txBox="1"/>
          <p:nvPr/>
        </p:nvSpPr>
        <p:spPr>
          <a:xfrm>
            <a:off x="3547872" y="1508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2</a:t>
            </a:r>
            <a:endParaRPr lang="en-US" sz="2000" dirty="0"/>
          </a:p>
        </p:txBody>
      </p:sp>
      <p:sp>
        <p:nvSpPr>
          <p:cNvPr id="16" name="Text 13"/>
          <p:cNvSpPr txBox="1"/>
          <p:nvPr/>
        </p:nvSpPr>
        <p:spPr>
          <a:xfrm>
            <a:off x="3547872" y="2194560"/>
            <a:ext cx="2286000" cy="6400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마스크 · 블록 크기</a:t>
            </a:r>
            <a:endParaRPr lang="en-US" sz="1700" dirty="0"/>
          </a:p>
        </p:txBody>
      </p:sp>
      <p:sp>
        <p:nvSpPr>
          <p:cNvPr id="17" name="Text 14"/>
          <p:cNvSpPr txBox="1"/>
          <p:nvPr/>
        </p:nvSpPr>
        <p:spPr>
          <a:xfrm>
            <a:off x="3547872" y="2880360"/>
            <a:ext cx="2286000" cy="109728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새 마스크 = /기존 + n</a:t>
            </a:r>
            <a:endParaRPr lang="en-US" sz="1400" dirty="0"/>
          </a:p>
          <a:p>
            <a:pPr indent="0" marL="0">
              <a:buNone/>
            </a:pPr>
            <a:r>
              <a:rPr lang="en-US" sz="1400" dirty="0">
                <a:solidFill>
                  <a:srgbClr val="1E2A30"/>
                </a:solidFill>
                <a:latin typeface="맑은 고딕" pitchFamily="34" charset="0"/>
                <a:ea typeface="맑은 고딕" pitchFamily="34" charset="-122"/>
                <a:cs typeface="맑은 고딕" pitchFamily="34" charset="-120"/>
              </a:rPr>
              <a:t>블록 = 256 ÷ 2ⁿ</a:t>
            </a:r>
            <a:endParaRPr lang="en-US" sz="1400" dirty="0"/>
          </a:p>
        </p:txBody>
      </p:sp>
      <p:sp>
        <p:nvSpPr>
          <p:cNvPr id="18" name="Shape 15"/>
          <p:cNvSpPr/>
          <p:nvPr/>
        </p:nvSpPr>
        <p:spPr>
          <a:xfrm>
            <a:off x="3502152" y="4206240"/>
            <a:ext cx="2377440" cy="1005840"/>
          </a:xfrm>
          <a:prstGeom prst="roundRect">
            <a:avLst>
              <a:gd name="adj" fmla="val 7273"/>
            </a:avLst>
          </a:prstGeom>
          <a:solidFill>
            <a:srgbClr val="E6F1F2"/>
          </a:solidFill>
          <a:ln w="12700">
            <a:solidFill>
              <a:srgbClr val="E6F1F2"/>
            </a:solidFill>
            <a:prstDash val="solid"/>
          </a:ln>
        </p:spPr>
      </p:sp>
      <p:sp>
        <p:nvSpPr>
          <p:cNvPr id="19" name="Text 16"/>
          <p:cNvSpPr txBox="1"/>
          <p:nvPr/>
        </p:nvSpPr>
        <p:spPr>
          <a:xfrm>
            <a:off x="3593592" y="4206240"/>
            <a:ext cx="2194560" cy="1005840"/>
          </a:xfrm>
          <a:prstGeom prst="rect">
            <a:avLst/>
          </a:prstGeom>
          <a:noFill/>
          <a:ln/>
        </p:spPr>
        <p:txBody>
          <a:bodyPr wrap="square" lIns="0" tIns="0" rIns="0" bIns="0" rtlCol="0" anchor="ctr"/>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/24 + 3 = /27,  256 ÷ 8 = 32</a:t>
            </a:r>
            <a:endParaRPr lang="en-US" sz="1300" dirty="0"/>
          </a:p>
        </p:txBody>
      </p:sp>
      <p:sp>
        <p:nvSpPr>
          <p:cNvPr id="20" name="Shape 17"/>
          <p:cNvSpPr/>
          <p:nvPr/>
        </p:nvSpPr>
        <p:spPr>
          <a:xfrm>
            <a:off x="6016752" y="3383280"/>
            <a:ext cx="164592" cy="914"/>
          </a:xfrm>
          <a:prstGeom prst="line">
            <a:avLst/>
          </a:prstGeom>
          <a:noFill/>
          <a:ln w="19050">
            <a:solidFill>
              <a:srgbClr val="0E6E7A"/>
            </a:solidFill>
            <a:prstDash val="solid"/>
            <a:tailEnd type="triangle"/>
          </a:ln>
        </p:spPr>
      </p:sp>
      <p:sp>
        <p:nvSpPr>
          <p:cNvPr id="21" name="Shape 18"/>
          <p:cNvSpPr/>
          <p:nvPr/>
        </p:nvSpPr>
        <p:spPr>
          <a:xfrm>
            <a:off x="6181344" y="1371600"/>
            <a:ext cx="2651760" cy="4023360"/>
          </a:xfrm>
          <a:prstGeom prst="roundRect">
            <a:avLst>
              <a:gd name="adj" fmla="val 2759"/>
            </a:avLst>
          </a:prstGeom>
          <a:solidFill>
            <a:srgbClr val="F4F6F7"/>
          </a:solidFill>
          <a:ln w="12700">
            <a:solidFill>
              <a:srgbClr val="9AA5AD"/>
            </a:solidFill>
            <a:prstDash val="solid"/>
          </a:ln>
        </p:spPr>
      </p:sp>
      <p:sp>
        <p:nvSpPr>
          <p:cNvPr id="22" name="Shape 19"/>
          <p:cNvSpPr/>
          <p:nvPr/>
        </p:nvSpPr>
        <p:spPr>
          <a:xfrm>
            <a:off x="6364224" y="1508760"/>
            <a:ext cx="548640" cy="548640"/>
          </a:xfrm>
          <a:prstGeom prst="ellipse">
            <a:avLst/>
          </a:prstGeom>
          <a:solidFill>
            <a:srgbClr val="0E6E7A"/>
          </a:solidFill>
          <a:ln w="12700">
            <a:solidFill>
              <a:srgbClr val="0E6E7A"/>
            </a:solidFill>
            <a:prstDash val="solid"/>
          </a:ln>
        </p:spPr>
      </p:sp>
      <p:sp>
        <p:nvSpPr>
          <p:cNvPr id="23" name="Text 20"/>
          <p:cNvSpPr txBox="1"/>
          <p:nvPr/>
        </p:nvSpPr>
        <p:spPr>
          <a:xfrm>
            <a:off x="6364224" y="1508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3</a:t>
            </a:r>
            <a:endParaRPr lang="en-US" sz="2000" dirty="0"/>
          </a:p>
        </p:txBody>
      </p:sp>
      <p:sp>
        <p:nvSpPr>
          <p:cNvPr id="24" name="Text 21"/>
          <p:cNvSpPr txBox="1"/>
          <p:nvPr/>
        </p:nvSpPr>
        <p:spPr>
          <a:xfrm>
            <a:off x="6364224" y="2194560"/>
            <a:ext cx="2286000" cy="6400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네트워크 · 브로드캐스트</a:t>
            </a:r>
            <a:endParaRPr lang="en-US" sz="1700" dirty="0"/>
          </a:p>
        </p:txBody>
      </p:sp>
      <p:sp>
        <p:nvSpPr>
          <p:cNvPr id="25" name="Text 22"/>
          <p:cNvSpPr txBox="1"/>
          <p:nvPr/>
        </p:nvSpPr>
        <p:spPr>
          <a:xfrm>
            <a:off x="6364224" y="2880360"/>
            <a:ext cx="2286000" cy="109728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네트워크 = 블록 × k</a:t>
            </a:r>
            <a:endParaRPr lang="en-US" sz="1400" dirty="0"/>
          </a:p>
          <a:p>
            <a:pPr indent="0" marL="0">
              <a:buNone/>
            </a:pPr>
            <a:r>
              <a:rPr lang="en-US" sz="1400" dirty="0">
                <a:solidFill>
                  <a:srgbClr val="1E2A30"/>
                </a:solidFill>
                <a:latin typeface="맑은 고딕" pitchFamily="34" charset="0"/>
                <a:ea typeface="맑은 고딕" pitchFamily="34" charset="-122"/>
                <a:cs typeface="맑은 고딕" pitchFamily="34" charset="-120"/>
              </a:rPr>
              <a:t>브로드캐스트 = 다음 네트워크 − 1</a:t>
            </a:r>
            <a:endParaRPr lang="en-US" sz="1400" dirty="0"/>
          </a:p>
        </p:txBody>
      </p:sp>
      <p:sp>
        <p:nvSpPr>
          <p:cNvPr id="26" name="Shape 23"/>
          <p:cNvSpPr/>
          <p:nvPr/>
        </p:nvSpPr>
        <p:spPr>
          <a:xfrm>
            <a:off x="6318504" y="4206240"/>
            <a:ext cx="2377440" cy="1005840"/>
          </a:xfrm>
          <a:prstGeom prst="roundRect">
            <a:avLst>
              <a:gd name="adj" fmla="val 7273"/>
            </a:avLst>
          </a:prstGeom>
          <a:solidFill>
            <a:srgbClr val="E6F1F2"/>
          </a:solidFill>
          <a:ln w="12700">
            <a:solidFill>
              <a:srgbClr val="E6F1F2"/>
            </a:solidFill>
            <a:prstDash val="solid"/>
          </a:ln>
        </p:spPr>
      </p:sp>
      <p:sp>
        <p:nvSpPr>
          <p:cNvPr id="27" name="Text 24"/>
          <p:cNvSpPr txBox="1"/>
          <p:nvPr/>
        </p:nvSpPr>
        <p:spPr>
          <a:xfrm>
            <a:off x="6409944" y="4206240"/>
            <a:ext cx="2194560" cy="1005840"/>
          </a:xfrm>
          <a:prstGeom prst="rect">
            <a:avLst/>
          </a:prstGeom>
          <a:noFill/>
          <a:ln/>
        </p:spPr>
        <p:txBody>
          <a:bodyPr wrap="square" lIns="0" tIns="0" rIns="0" bIns="0" rtlCol="0" anchor="ctr"/>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0, 32, 64 … / 31, 63, 95 …</a:t>
            </a:r>
            <a:endParaRPr lang="en-US" sz="1300" dirty="0"/>
          </a:p>
        </p:txBody>
      </p:sp>
      <p:sp>
        <p:nvSpPr>
          <p:cNvPr id="28" name="Shape 25"/>
          <p:cNvSpPr/>
          <p:nvPr/>
        </p:nvSpPr>
        <p:spPr>
          <a:xfrm>
            <a:off x="8833104" y="3383280"/>
            <a:ext cx="164592" cy="914"/>
          </a:xfrm>
          <a:prstGeom prst="line">
            <a:avLst/>
          </a:prstGeom>
          <a:noFill/>
          <a:ln w="19050">
            <a:solidFill>
              <a:srgbClr val="0E6E7A"/>
            </a:solidFill>
            <a:prstDash val="solid"/>
            <a:tailEnd type="triangle"/>
          </a:ln>
        </p:spPr>
      </p:sp>
      <p:sp>
        <p:nvSpPr>
          <p:cNvPr id="29" name="Shape 26"/>
          <p:cNvSpPr/>
          <p:nvPr/>
        </p:nvSpPr>
        <p:spPr>
          <a:xfrm>
            <a:off x="8997696" y="1371600"/>
            <a:ext cx="2651760" cy="4023360"/>
          </a:xfrm>
          <a:prstGeom prst="roundRect">
            <a:avLst>
              <a:gd name="adj" fmla="val 2759"/>
            </a:avLst>
          </a:prstGeom>
          <a:solidFill>
            <a:srgbClr val="FFFFFF"/>
          </a:solidFill>
          <a:ln w="12700">
            <a:solidFill>
              <a:srgbClr val="9AA5AD"/>
            </a:solidFill>
            <a:prstDash val="solid"/>
          </a:ln>
        </p:spPr>
      </p:sp>
      <p:sp>
        <p:nvSpPr>
          <p:cNvPr id="30" name="Shape 27"/>
          <p:cNvSpPr/>
          <p:nvPr/>
        </p:nvSpPr>
        <p:spPr>
          <a:xfrm>
            <a:off x="9180576" y="1508760"/>
            <a:ext cx="548640" cy="548640"/>
          </a:xfrm>
          <a:prstGeom prst="ellipse">
            <a:avLst/>
          </a:prstGeom>
          <a:solidFill>
            <a:srgbClr val="0E6E7A"/>
          </a:solidFill>
          <a:ln w="12700">
            <a:solidFill>
              <a:srgbClr val="0E6E7A"/>
            </a:solidFill>
            <a:prstDash val="solid"/>
          </a:ln>
        </p:spPr>
      </p:sp>
      <p:sp>
        <p:nvSpPr>
          <p:cNvPr id="31" name="Text 28"/>
          <p:cNvSpPr txBox="1"/>
          <p:nvPr/>
        </p:nvSpPr>
        <p:spPr>
          <a:xfrm>
            <a:off x="9180576" y="1508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맑은 고딕" pitchFamily="34" charset="0"/>
                <a:ea typeface="맑은 고딕" pitchFamily="34" charset="-122"/>
                <a:cs typeface="맑은 고딕" pitchFamily="34" charset="-120"/>
              </a:rPr>
              <a:t>4</a:t>
            </a:r>
            <a:endParaRPr lang="en-US" sz="2000" dirty="0"/>
          </a:p>
        </p:txBody>
      </p:sp>
      <p:sp>
        <p:nvSpPr>
          <p:cNvPr id="32" name="Text 29"/>
          <p:cNvSpPr txBox="1"/>
          <p:nvPr/>
        </p:nvSpPr>
        <p:spPr>
          <a:xfrm>
            <a:off x="9180576" y="2194560"/>
            <a:ext cx="2286000" cy="6400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사용 가능 범위</a:t>
            </a:r>
            <a:endParaRPr lang="en-US" sz="1700" dirty="0"/>
          </a:p>
        </p:txBody>
      </p:sp>
      <p:sp>
        <p:nvSpPr>
          <p:cNvPr id="33" name="Text 30"/>
          <p:cNvSpPr txBox="1"/>
          <p:nvPr/>
        </p:nvSpPr>
        <p:spPr>
          <a:xfrm>
            <a:off x="9180576" y="2880360"/>
            <a:ext cx="2286000" cy="109728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네트워크 + 1 ~ 브로드캐스트 − 1</a:t>
            </a:r>
            <a:endParaRPr lang="en-US" sz="1400" dirty="0"/>
          </a:p>
        </p:txBody>
      </p:sp>
      <p:sp>
        <p:nvSpPr>
          <p:cNvPr id="34" name="Shape 31"/>
          <p:cNvSpPr/>
          <p:nvPr/>
        </p:nvSpPr>
        <p:spPr>
          <a:xfrm>
            <a:off x="9134856" y="4206240"/>
            <a:ext cx="2377440" cy="1005840"/>
          </a:xfrm>
          <a:prstGeom prst="roundRect">
            <a:avLst>
              <a:gd name="adj" fmla="val 7273"/>
            </a:avLst>
          </a:prstGeom>
          <a:solidFill>
            <a:srgbClr val="E6F1F2"/>
          </a:solidFill>
          <a:ln w="12700">
            <a:solidFill>
              <a:srgbClr val="E6F1F2"/>
            </a:solidFill>
            <a:prstDash val="solid"/>
          </a:ln>
        </p:spPr>
      </p:sp>
      <p:sp>
        <p:nvSpPr>
          <p:cNvPr id="35" name="Text 32"/>
          <p:cNvSpPr txBox="1"/>
          <p:nvPr/>
        </p:nvSpPr>
        <p:spPr>
          <a:xfrm>
            <a:off x="9226296" y="4206240"/>
            <a:ext cx="2194560" cy="1005840"/>
          </a:xfrm>
          <a:prstGeom prst="rect">
            <a:avLst/>
          </a:prstGeom>
          <a:noFill/>
          <a:ln/>
        </p:spPr>
        <p:txBody>
          <a:bodyPr wrap="square" lIns="0" tIns="0" rIns="0" bIns="0" rtlCol="0" anchor="ctr"/>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.1 ~ .30 (30대)</a:t>
            </a:r>
            <a:endParaRPr lang="en-US" sz="1300" dirty="0"/>
          </a:p>
        </p:txBody>
      </p:sp>
      <p:sp>
        <p:nvSpPr>
          <p:cNvPr id="36" name="Shape 33"/>
          <p:cNvSpPr/>
          <p:nvPr/>
        </p:nvSpPr>
        <p:spPr>
          <a:xfrm>
            <a:off x="548640" y="5669280"/>
            <a:ext cx="11091672" cy="457200"/>
          </a:xfrm>
          <a:prstGeom prst="roundRect">
            <a:avLst>
              <a:gd name="adj" fmla="val 16000"/>
            </a:avLst>
          </a:prstGeom>
          <a:solidFill>
            <a:srgbClr val="E6F1F2"/>
          </a:solidFill>
          <a:ln w="12700">
            <a:solidFill>
              <a:srgbClr val="E6F1F2"/>
            </a:solidFill>
            <a:prstDash val="solid"/>
          </a:ln>
        </p:spPr>
      </p:sp>
      <p:sp>
        <p:nvSpPr>
          <p:cNvPr id="37" name="Text 34"/>
          <p:cNvSpPr txBox="1"/>
          <p:nvPr/>
        </p:nvSpPr>
        <p:spPr>
          <a:xfrm>
            <a:off x="777240" y="566928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예시 칸은 '195.5.5.0/24 를 8개로' 문제의 값 — 다음 장에서 전체 풀이</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예제 1 — 195.5.5.0/24 를 같은 크기 8개로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548640"/>
                <a:gridCol w="914400"/>
                <a:gridCol w="2103120"/>
                <a:gridCol w="1828800"/>
                <a:gridCol w="1828800"/>
              </a:tblGrid>
              <a:tr h="429768">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sss</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네트워크 주소</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사용 가능 범위</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브로드캐스트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429768">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000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195.5.5.0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.1 ~ .30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195.5.5.31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r h="42976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001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195.5.5.32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.33 ~ .62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195.5.5.63</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2976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3</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010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195.5.5.64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.65 ~ .94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195.5.5.95</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011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195.5.5.96</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.97 ~ .126</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195.5.5.127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2976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100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195.5.5.128</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.129 ~ .158</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195.5.5.159</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6</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101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195.5.5.160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.161 ~ .190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195.5.5.191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29768">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110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195.5.5.192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.193 ~ .222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195.5.5.223</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8</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111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195.5.5.224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.225 ~ .254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195.5.5.255</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bl>
          </a:graphicData>
        </a:graphic>
      </p:graphicFrame>
      <p:sp>
        <p:nvSpPr>
          <p:cNvPr id="6" name="Shape 2"/>
          <p:cNvSpPr/>
          <p:nvPr/>
        </p:nvSpPr>
        <p:spPr>
          <a:xfrm>
            <a:off x="8092440" y="1325880"/>
            <a:ext cx="3547872" cy="3886200"/>
          </a:xfrm>
          <a:prstGeom prst="roundRect">
            <a:avLst>
              <a:gd name="adj" fmla="val 2062"/>
            </a:avLst>
          </a:prstGeom>
          <a:solidFill>
            <a:srgbClr val="F4F6F7"/>
          </a:solidFill>
          <a:ln w="12700">
            <a:solidFill>
              <a:srgbClr val="9AA5AD"/>
            </a:solidFill>
            <a:prstDash val="solid"/>
          </a:ln>
        </p:spPr>
      </p:sp>
      <p:sp>
        <p:nvSpPr>
          <p:cNvPr id="7" name="Text 3"/>
          <p:cNvSpPr txBox="1"/>
          <p:nvPr/>
        </p:nvSpPr>
        <p:spPr>
          <a:xfrm>
            <a:off x="8275320" y="1463040"/>
            <a:ext cx="318211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풀이 요약</a:t>
            </a:r>
            <a:endParaRPr lang="en-US" sz="1600" dirty="0"/>
          </a:p>
        </p:txBody>
      </p:sp>
      <p:sp>
        <p:nvSpPr>
          <p:cNvPr id="8" name="Text 4"/>
          <p:cNvSpPr txBox="1"/>
          <p:nvPr/>
        </p:nvSpPr>
        <p:spPr>
          <a:xfrm>
            <a:off x="8275320" y="1920240"/>
            <a:ext cx="3182112" cy="31821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8개 = 2³ → 서브넷 3비트</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호스트 5비트 → 2⁵ = 32</a:t>
            </a:r>
            <a:endParaRPr lang="en-US" sz="1400" dirty="0"/>
          </a:p>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마스크 /27 = 255.255.255.224</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블록 크기 32</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서브넷당 사용 가능 30대</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195.5.5.sss hhhhh</a:t>
            </a:r>
            <a:endParaRPr lang="en-US" sz="1400" dirty="0"/>
          </a:p>
        </p:txBody>
      </p:sp>
      <p:sp>
        <p:nvSpPr>
          <p:cNvPr id="9" name="Shape 5"/>
          <p:cNvSpPr/>
          <p:nvPr/>
        </p:nvSpPr>
        <p:spPr>
          <a:xfrm>
            <a:off x="548640" y="5486400"/>
            <a:ext cx="11091672" cy="457200"/>
          </a:xfrm>
          <a:prstGeom prst="roundRect">
            <a:avLst>
              <a:gd name="adj" fmla="val 16000"/>
            </a:avLst>
          </a:prstGeom>
          <a:solidFill>
            <a:srgbClr val="E6F1F2"/>
          </a:solidFill>
          <a:ln w="12700">
            <a:solidFill>
              <a:srgbClr val="E6F1F2"/>
            </a:solidFill>
            <a:prstDash val="solid"/>
          </a:ln>
        </p:spPr>
      </p:sp>
      <p:sp>
        <p:nvSpPr>
          <p:cNvPr id="10" name="Text 6"/>
          <p:cNvSpPr txBox="1"/>
          <p:nvPr/>
        </p:nvSpPr>
        <p:spPr>
          <a:xfrm>
            <a:off x="777240" y="548640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k 번째 서브넷 범위 = 32×(k−1) ~ 32×k − 1  (8번째: 224 ~ 255)</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VLSM — 크기가 다른 서브넷으로 나누기</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737360"/>
                <a:gridCol w="1737360"/>
                <a:gridCol w="1920240"/>
                <a:gridCol w="1371600"/>
              </a:tblGrid>
              <a:tr h="502920">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부서 필요 대수</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 (네트워크·BC)</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필요 블록 (2의 제곱)</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프리픽스</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50292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100대</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102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128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50대</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52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64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0292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21대</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23</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32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/27</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13대</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15</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bl>
          </a:graphicData>
        </a:graphic>
      </p:graphicFrame>
      <p:sp>
        <p:nvSpPr>
          <p:cNvPr id="6" name="Shape 2"/>
          <p:cNvSpPr/>
          <p:nvPr/>
        </p:nvSpPr>
        <p:spPr>
          <a:xfrm>
            <a:off x="7680960" y="1325880"/>
            <a:ext cx="3959352" cy="2514600"/>
          </a:xfrm>
          <a:prstGeom prst="roundRect">
            <a:avLst>
              <a:gd name="adj" fmla="val 2909"/>
            </a:avLst>
          </a:prstGeom>
          <a:solidFill>
            <a:srgbClr val="E6F1F2"/>
          </a:solidFill>
          <a:ln w="12700">
            <a:solidFill>
              <a:srgbClr val="0E6E7A"/>
            </a:solidFill>
            <a:prstDash val="solid"/>
          </a:ln>
        </p:spPr>
      </p:sp>
      <p:sp>
        <p:nvSpPr>
          <p:cNvPr id="7" name="Text 3"/>
          <p:cNvSpPr txBox="1"/>
          <p:nvPr/>
        </p:nvSpPr>
        <p:spPr>
          <a:xfrm>
            <a:off x="7863840" y="1463040"/>
            <a:ext cx="359359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VLSM 요령</a:t>
            </a:r>
            <a:endParaRPr lang="en-US" sz="1600" dirty="0"/>
          </a:p>
        </p:txBody>
      </p:sp>
      <p:sp>
        <p:nvSpPr>
          <p:cNvPr id="8" name="Text 4"/>
          <p:cNvSpPr txBox="1"/>
          <p:nvPr/>
        </p:nvSpPr>
        <p:spPr>
          <a:xfrm>
            <a:off x="7863840" y="1920240"/>
            <a:ext cx="3593592" cy="1810512"/>
          </a:xfrm>
          <a:prstGeom prst="rect">
            <a:avLst/>
          </a:prstGeom>
          <a:noFill/>
          <a:ln/>
        </p:spPr>
        <p:txBody>
          <a:bodyPr wrap="square" lIns="0" tIns="0" rIns="0" bIns="0" rtlCol="0" anchor="t"/>
          <a:lstStyle/>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큰 부서부터 먼저 배정</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남은 공간을 반씩 쪼개며 배정</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블록 ≥ 호스트 수 + 2</a:t>
            </a:r>
            <a:endParaRPr lang="en-US" sz="1500" dirty="0"/>
          </a:p>
        </p:txBody>
      </p:sp>
      <p:sp>
        <p:nvSpPr>
          <p:cNvPr id="9" name="Shape 5"/>
          <p:cNvSpPr/>
          <p:nvPr/>
        </p:nvSpPr>
        <p:spPr>
          <a:xfrm>
            <a:off x="548640" y="4160520"/>
            <a:ext cx="11091672" cy="1463040"/>
          </a:xfrm>
          <a:prstGeom prst="roundRect">
            <a:avLst>
              <a:gd name="adj" fmla="val 5000"/>
            </a:avLst>
          </a:prstGeom>
          <a:solidFill>
            <a:srgbClr val="FFFFFF"/>
          </a:solidFill>
          <a:ln w="12700">
            <a:solidFill>
              <a:srgbClr val="9AA5AD"/>
            </a:solidFill>
            <a:prstDash val="solid"/>
          </a:ln>
        </p:spPr>
      </p:sp>
      <p:sp>
        <p:nvSpPr>
          <p:cNvPr id="10" name="Text 6"/>
          <p:cNvSpPr txBox="1"/>
          <p:nvPr/>
        </p:nvSpPr>
        <p:spPr>
          <a:xfrm>
            <a:off x="731520" y="4297680"/>
            <a:ext cx="1072591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FLSM vs VLSM</a:t>
            </a:r>
            <a:endParaRPr lang="en-US" sz="1600" dirty="0"/>
          </a:p>
        </p:txBody>
      </p:sp>
      <p:sp>
        <p:nvSpPr>
          <p:cNvPr id="11" name="Text 7"/>
          <p:cNvSpPr txBox="1"/>
          <p:nvPr/>
        </p:nvSpPr>
        <p:spPr>
          <a:xfrm>
            <a:off x="731520" y="4754880"/>
            <a:ext cx="10725912" cy="75895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FLSM: 모든 서브넷이 같은 크기 (예제 1)</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VLSM: 서브넷마다 마스크 길이가 다름 → 주소 낭비 최소 (예제 2)</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예제 2 — 173.16.10.0/24 를 부서별로 (VLSM)</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Shape 2"/>
          <p:cNvSpPr/>
          <p:nvPr/>
        </p:nvSpPr>
        <p:spPr>
          <a:xfrm>
            <a:off x="548640" y="1417320"/>
            <a:ext cx="5518404" cy="822960"/>
          </a:xfrm>
          <a:prstGeom prst="roundRect">
            <a:avLst>
              <a:gd name="adj" fmla="val 8889"/>
            </a:avLst>
          </a:prstGeom>
          <a:solidFill>
            <a:srgbClr val="E6F1F2"/>
          </a:solidFill>
          <a:ln w="12700">
            <a:solidFill>
              <a:srgbClr val="0E6E7A"/>
            </a:solidFill>
            <a:prstDash val="solid"/>
          </a:ln>
        </p:spPr>
      </p:sp>
      <p:sp>
        <p:nvSpPr>
          <p:cNvPr id="6" name="Text 3"/>
          <p:cNvSpPr txBox="1"/>
          <p:nvPr/>
        </p:nvSpPr>
        <p:spPr>
          <a:xfrm>
            <a:off x="548640" y="1417320"/>
            <a:ext cx="5518404" cy="82296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교육부 /25</a:t>
            </a:r>
            <a:endParaRPr lang="en-US" sz="1400" dirty="0"/>
          </a:p>
        </p:txBody>
      </p:sp>
      <p:sp>
        <p:nvSpPr>
          <p:cNvPr id="7" name="Text 4"/>
          <p:cNvSpPr txBox="1"/>
          <p:nvPr/>
        </p:nvSpPr>
        <p:spPr>
          <a:xfrm>
            <a:off x="365760" y="2286000"/>
            <a:ext cx="548640" cy="274320"/>
          </a:xfrm>
          <a:prstGeom prst="rect">
            <a:avLst/>
          </a:prstGeom>
          <a:noFill/>
          <a:ln/>
        </p:spPr>
        <p:txBody>
          <a:bodyPr wrap="square" lIns="0" tIns="0" rIns="0" bIns="0" rtlCol="0" anchor="t"/>
          <a:lstStyle/>
          <a:p>
            <a:pPr indent="0" marL="0">
              <a:buNone/>
            </a:pPr>
            <a:r>
              <a:rPr lang="en-US" sz="1100" dirty="0">
                <a:solidFill>
                  <a:srgbClr val="66737C"/>
                </a:solidFill>
                <a:latin typeface="맑은 고딕" pitchFamily="34" charset="0"/>
                <a:ea typeface="맑은 고딕" pitchFamily="34" charset="-122"/>
                <a:cs typeface="맑은 고딕" pitchFamily="34" charset="-120"/>
              </a:rPr>
              <a:t>0</a:t>
            </a:r>
            <a:endParaRPr lang="en-US" sz="1100" dirty="0"/>
          </a:p>
        </p:txBody>
      </p:sp>
      <p:sp>
        <p:nvSpPr>
          <p:cNvPr id="8" name="Shape 5"/>
          <p:cNvSpPr/>
          <p:nvPr/>
        </p:nvSpPr>
        <p:spPr>
          <a:xfrm>
            <a:off x="6094476" y="1417320"/>
            <a:ext cx="2745486" cy="822960"/>
          </a:xfrm>
          <a:prstGeom prst="roundRect">
            <a:avLst>
              <a:gd name="adj" fmla="val 8889"/>
            </a:avLst>
          </a:prstGeom>
          <a:solidFill>
            <a:srgbClr val="FFFFFF"/>
          </a:solidFill>
          <a:ln w="12700">
            <a:solidFill>
              <a:srgbClr val="0E6E7A"/>
            </a:solidFill>
            <a:prstDash val="solid"/>
          </a:ln>
        </p:spPr>
      </p:sp>
      <p:sp>
        <p:nvSpPr>
          <p:cNvPr id="9" name="Text 6"/>
          <p:cNvSpPr txBox="1"/>
          <p:nvPr/>
        </p:nvSpPr>
        <p:spPr>
          <a:xfrm>
            <a:off x="6094476" y="1417320"/>
            <a:ext cx="2745486" cy="82296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영업부 /26</a:t>
            </a:r>
            <a:endParaRPr lang="en-US" sz="1400" dirty="0"/>
          </a:p>
        </p:txBody>
      </p:sp>
      <p:sp>
        <p:nvSpPr>
          <p:cNvPr id="10" name="Text 7"/>
          <p:cNvSpPr txBox="1"/>
          <p:nvPr/>
        </p:nvSpPr>
        <p:spPr>
          <a:xfrm>
            <a:off x="5911596" y="2286000"/>
            <a:ext cx="548640" cy="274320"/>
          </a:xfrm>
          <a:prstGeom prst="rect">
            <a:avLst/>
          </a:prstGeom>
          <a:noFill/>
          <a:ln/>
        </p:spPr>
        <p:txBody>
          <a:bodyPr wrap="square" lIns="0" tIns="0" rIns="0" bIns="0" rtlCol="0" anchor="t"/>
          <a:lstStyle/>
          <a:p>
            <a:pPr indent="0" marL="0">
              <a:buNone/>
            </a:pPr>
            <a:r>
              <a:rPr lang="en-US" sz="1100" dirty="0">
                <a:solidFill>
                  <a:srgbClr val="66737C"/>
                </a:solidFill>
                <a:latin typeface="맑은 고딕" pitchFamily="34" charset="0"/>
                <a:ea typeface="맑은 고딕" pitchFamily="34" charset="-122"/>
                <a:cs typeface="맑은 고딕" pitchFamily="34" charset="-120"/>
              </a:rPr>
              <a:t>128</a:t>
            </a:r>
            <a:endParaRPr lang="en-US" sz="1100" dirty="0"/>
          </a:p>
        </p:txBody>
      </p:sp>
      <p:sp>
        <p:nvSpPr>
          <p:cNvPr id="11" name="Shape 8"/>
          <p:cNvSpPr/>
          <p:nvPr/>
        </p:nvSpPr>
        <p:spPr>
          <a:xfrm>
            <a:off x="8867394" y="1417320"/>
            <a:ext cx="1359027" cy="822960"/>
          </a:xfrm>
          <a:prstGeom prst="roundRect">
            <a:avLst>
              <a:gd name="adj" fmla="val 8889"/>
            </a:avLst>
          </a:prstGeom>
          <a:solidFill>
            <a:srgbClr val="FFFFFF"/>
          </a:solidFill>
          <a:ln w="12700">
            <a:solidFill>
              <a:srgbClr val="0E6E7A"/>
            </a:solidFill>
            <a:prstDash val="solid"/>
          </a:ln>
        </p:spPr>
      </p:sp>
      <p:sp>
        <p:nvSpPr>
          <p:cNvPr id="12" name="Text 9"/>
          <p:cNvSpPr txBox="1"/>
          <p:nvPr/>
        </p:nvSpPr>
        <p:spPr>
          <a:xfrm>
            <a:off x="8867394" y="1417320"/>
            <a:ext cx="1359027" cy="82296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기술부 /27</a:t>
            </a:r>
            <a:endParaRPr lang="en-US" sz="1400" dirty="0"/>
          </a:p>
        </p:txBody>
      </p:sp>
      <p:sp>
        <p:nvSpPr>
          <p:cNvPr id="13" name="Text 10"/>
          <p:cNvSpPr txBox="1"/>
          <p:nvPr/>
        </p:nvSpPr>
        <p:spPr>
          <a:xfrm>
            <a:off x="8684514" y="2286000"/>
            <a:ext cx="548640" cy="274320"/>
          </a:xfrm>
          <a:prstGeom prst="rect">
            <a:avLst/>
          </a:prstGeom>
          <a:noFill/>
          <a:ln/>
        </p:spPr>
        <p:txBody>
          <a:bodyPr wrap="square" lIns="0" tIns="0" rIns="0" bIns="0" rtlCol="0" anchor="t"/>
          <a:lstStyle/>
          <a:p>
            <a:pPr indent="0" marL="0">
              <a:buNone/>
            </a:pPr>
            <a:r>
              <a:rPr lang="en-US" sz="1100" dirty="0">
                <a:solidFill>
                  <a:srgbClr val="66737C"/>
                </a:solidFill>
                <a:latin typeface="맑은 고딕" pitchFamily="34" charset="0"/>
                <a:ea typeface="맑은 고딕" pitchFamily="34" charset="-122"/>
                <a:cs typeface="맑은 고딕" pitchFamily="34" charset="-120"/>
              </a:rPr>
              <a:t>192</a:t>
            </a:r>
            <a:endParaRPr lang="en-US" sz="1100" dirty="0"/>
          </a:p>
        </p:txBody>
      </p:sp>
      <p:sp>
        <p:nvSpPr>
          <p:cNvPr id="14" name="Shape 11"/>
          <p:cNvSpPr/>
          <p:nvPr/>
        </p:nvSpPr>
        <p:spPr>
          <a:xfrm>
            <a:off x="10253853" y="1417320"/>
            <a:ext cx="665798" cy="822960"/>
          </a:xfrm>
          <a:prstGeom prst="roundRect">
            <a:avLst>
              <a:gd name="adj" fmla="val 10987"/>
            </a:avLst>
          </a:prstGeom>
          <a:solidFill>
            <a:srgbClr val="FFFFFF"/>
          </a:solidFill>
          <a:ln w="12700">
            <a:solidFill>
              <a:srgbClr val="0E6E7A"/>
            </a:solidFill>
            <a:prstDash val="solid"/>
          </a:ln>
        </p:spPr>
      </p:sp>
      <p:sp>
        <p:nvSpPr>
          <p:cNvPr id="15" name="Text 12"/>
          <p:cNvSpPr txBox="1"/>
          <p:nvPr/>
        </p:nvSpPr>
        <p:spPr>
          <a:xfrm>
            <a:off x="10253853" y="1417320"/>
            <a:ext cx="665798" cy="822960"/>
          </a:xfrm>
          <a:prstGeom prst="rect">
            <a:avLst/>
          </a:prstGeom>
          <a:noFill/>
          <a:ln/>
        </p:spPr>
        <p:txBody>
          <a:bodyPr wrap="square" lIns="0" tIns="0" rIns="0" bIns="0" rtlCol="0" anchor="ctr"/>
          <a:lstStyle/>
          <a:p>
            <a:pPr algn="ctr" indent="0" marL="0">
              <a:buNone/>
            </a:pPr>
            <a:r>
              <a:rPr lang="en-US" sz="1000" b="1" dirty="0">
                <a:solidFill>
                  <a:srgbClr val="1E2A30"/>
                </a:solidFill>
                <a:latin typeface="맑은 고딕" pitchFamily="34" charset="0"/>
                <a:ea typeface="맑은 고딕" pitchFamily="34" charset="-122"/>
                <a:cs typeface="맑은 고딕" pitchFamily="34" charset="-120"/>
              </a:rPr>
              <a:t>총무부 /28</a:t>
            </a:r>
            <a:endParaRPr lang="en-US" sz="1000" dirty="0"/>
          </a:p>
        </p:txBody>
      </p:sp>
      <p:sp>
        <p:nvSpPr>
          <p:cNvPr id="16" name="Text 13"/>
          <p:cNvSpPr txBox="1"/>
          <p:nvPr/>
        </p:nvSpPr>
        <p:spPr>
          <a:xfrm>
            <a:off x="10070973" y="2286000"/>
            <a:ext cx="548640" cy="274320"/>
          </a:xfrm>
          <a:prstGeom prst="rect">
            <a:avLst/>
          </a:prstGeom>
          <a:noFill/>
          <a:ln/>
        </p:spPr>
        <p:txBody>
          <a:bodyPr wrap="square" lIns="0" tIns="0" rIns="0" bIns="0" rtlCol="0" anchor="t"/>
          <a:lstStyle/>
          <a:p>
            <a:pPr indent="0" marL="0">
              <a:buNone/>
            </a:pPr>
            <a:r>
              <a:rPr lang="en-US" sz="1100" dirty="0">
                <a:solidFill>
                  <a:srgbClr val="66737C"/>
                </a:solidFill>
                <a:latin typeface="맑은 고딕" pitchFamily="34" charset="0"/>
                <a:ea typeface="맑은 고딕" pitchFamily="34" charset="-122"/>
                <a:cs typeface="맑은 고딕" pitchFamily="34" charset="-120"/>
              </a:rPr>
              <a:t>224</a:t>
            </a:r>
            <a:endParaRPr lang="en-US" sz="1100" dirty="0"/>
          </a:p>
        </p:txBody>
      </p:sp>
      <p:sp>
        <p:nvSpPr>
          <p:cNvPr id="17" name="Shape 14"/>
          <p:cNvSpPr/>
          <p:nvPr/>
        </p:nvSpPr>
        <p:spPr>
          <a:xfrm>
            <a:off x="10947083" y="1417320"/>
            <a:ext cx="665798" cy="822960"/>
          </a:xfrm>
          <a:prstGeom prst="roundRect">
            <a:avLst>
              <a:gd name="adj" fmla="val 10987"/>
            </a:avLst>
          </a:prstGeom>
          <a:solidFill>
            <a:srgbClr val="F4F6F7"/>
          </a:solidFill>
          <a:ln w="12700">
            <a:solidFill>
              <a:srgbClr val="9AA5AD"/>
            </a:solidFill>
            <a:prstDash val="dash"/>
          </a:ln>
        </p:spPr>
      </p:sp>
      <p:sp>
        <p:nvSpPr>
          <p:cNvPr id="18" name="Text 15"/>
          <p:cNvSpPr txBox="1"/>
          <p:nvPr/>
        </p:nvSpPr>
        <p:spPr>
          <a:xfrm>
            <a:off x="10947083" y="1417320"/>
            <a:ext cx="665798" cy="822960"/>
          </a:xfrm>
          <a:prstGeom prst="rect">
            <a:avLst/>
          </a:prstGeom>
          <a:noFill/>
          <a:ln/>
        </p:spPr>
        <p:txBody>
          <a:bodyPr wrap="square" lIns="0" tIns="0" rIns="0" bIns="0" rtlCol="0" anchor="ctr"/>
          <a:lstStyle/>
          <a:p>
            <a:pPr algn="ctr" indent="0" marL="0">
              <a:buNone/>
            </a:pPr>
            <a:r>
              <a:rPr lang="en-US" sz="1000" b="1" dirty="0">
                <a:solidFill>
                  <a:srgbClr val="1E2A30"/>
                </a:solidFill>
                <a:latin typeface="맑은 고딕" pitchFamily="34" charset="0"/>
                <a:ea typeface="맑은 고딕" pitchFamily="34" charset="-122"/>
                <a:cs typeface="맑은 고딕" pitchFamily="34" charset="-120"/>
              </a:rPr>
              <a:t>예비 /28</a:t>
            </a:r>
            <a:endParaRPr lang="en-US" sz="1000" dirty="0"/>
          </a:p>
        </p:txBody>
      </p:sp>
      <p:sp>
        <p:nvSpPr>
          <p:cNvPr id="19" name="Text 16"/>
          <p:cNvSpPr txBox="1"/>
          <p:nvPr/>
        </p:nvSpPr>
        <p:spPr>
          <a:xfrm>
            <a:off x="10764203" y="2286000"/>
            <a:ext cx="548640" cy="274320"/>
          </a:xfrm>
          <a:prstGeom prst="rect">
            <a:avLst/>
          </a:prstGeom>
          <a:noFill/>
          <a:ln/>
        </p:spPr>
        <p:txBody>
          <a:bodyPr wrap="square" lIns="0" tIns="0" rIns="0" bIns="0" rtlCol="0" anchor="t"/>
          <a:lstStyle/>
          <a:p>
            <a:pPr indent="0" marL="0">
              <a:buNone/>
            </a:pPr>
            <a:r>
              <a:rPr lang="en-US" sz="1100" dirty="0">
                <a:solidFill>
                  <a:srgbClr val="66737C"/>
                </a:solidFill>
                <a:latin typeface="맑은 고딕" pitchFamily="34" charset="0"/>
                <a:ea typeface="맑은 고딕" pitchFamily="34" charset="-122"/>
                <a:cs typeface="맑은 고딕" pitchFamily="34" charset="-120"/>
              </a:rPr>
              <a:t>240</a:t>
            </a:r>
            <a:endParaRPr lang="en-US" sz="1100" dirty="0"/>
          </a:p>
        </p:txBody>
      </p:sp>
      <p:sp>
        <p:nvSpPr>
          <p:cNvPr id="20" name="Text 17"/>
          <p:cNvSpPr txBox="1"/>
          <p:nvPr/>
        </p:nvSpPr>
        <p:spPr>
          <a:xfrm>
            <a:off x="11274552" y="2286000"/>
            <a:ext cx="457200" cy="274320"/>
          </a:xfrm>
          <a:prstGeom prst="rect">
            <a:avLst/>
          </a:prstGeom>
          <a:noFill/>
          <a:ln/>
        </p:spPr>
        <p:txBody>
          <a:bodyPr wrap="square" lIns="0" tIns="0" rIns="0" bIns="0" rtlCol="0" anchor="t"/>
          <a:lstStyle/>
          <a:p>
            <a:pPr algn="r" indent="0" marL="0">
              <a:buNone/>
            </a:pPr>
            <a:r>
              <a:rPr lang="en-US" sz="1100" dirty="0">
                <a:solidFill>
                  <a:srgbClr val="66737C"/>
                </a:solidFill>
                <a:latin typeface="맑은 고딕" pitchFamily="34" charset="0"/>
                <a:ea typeface="맑은 고딕" pitchFamily="34" charset="-122"/>
                <a:cs typeface="맑은 고딕" pitchFamily="34" charset="-120"/>
              </a:rPr>
              <a:t>255</a:t>
            </a:r>
            <a:endParaRPr lang="en-US" sz="11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914400"/>
        </p:xfrm>
        <a:graphic>
          <a:graphicData uri="http://schemas.openxmlformats.org/drawingml/2006/table">
            <a:tbl>
              <a:tblPr/>
              <a:tblGrid>
                <a:gridCol w="822960"/>
                <a:gridCol w="1828800"/>
                <a:gridCol w="2377440"/>
                <a:gridCol w="2377440"/>
                <a:gridCol w="1947672"/>
                <a:gridCol w="1737360"/>
              </a:tblGrid>
              <a:tr h="457200">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순서</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부서 (대수)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서브넷</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마스크</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사용 가능 범위</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브로드캐스트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457200">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교육부 (100)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173.16.10.0/25</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255.255.255.128</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 ~ .126</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.127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영업부 (50)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173.16.10.128/26</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255.255.255.192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.129 ~ .190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57200">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3</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기술부 (21)</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173.16.10.192/27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255.255.255.224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.193 ~ .222</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.223</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총무부 (13)</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173.16.10.224/28</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255.255.255.240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.225 ~ .238</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.239</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57200">
                <a:tc>
                  <a:txBody>
                    <a:bodyPr/>
                    <a:lstStyle/>
                    <a:p>
                      <a:pPr indent="0" marL="0">
                        <a:buNone/>
                      </a:pPr>
                      <a:r>
                        <a:rPr lang="en-US" sz="1400" dirty="0">
                          <a:solidFill>
                            <a:srgbClr val="66737C"/>
                          </a:solidFill>
                          <a:latin typeface="맑은 고딕" pitchFamily="34" charset="0"/>
                          <a:ea typeface="맑은 고딕" pitchFamily="34" charset="-122"/>
                          <a:cs typeface="맑은 고딕" pitchFamily="34" charset="-120"/>
                        </a:rPr>
                        <a:t>—</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66737C"/>
                          </a:solidFill>
                          <a:latin typeface="맑은 고딕" pitchFamily="34" charset="0"/>
                          <a:ea typeface="맑은 고딕" pitchFamily="34" charset="-122"/>
                          <a:cs typeface="맑은 고딕" pitchFamily="34" charset="-120"/>
                        </a:rPr>
                        <a:t>예비용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66737C"/>
                          </a:solidFill>
                          <a:latin typeface="맑은 고딕" pitchFamily="34" charset="0"/>
                          <a:ea typeface="맑은 고딕" pitchFamily="34" charset="-122"/>
                          <a:cs typeface="맑은 고딕" pitchFamily="34" charset="-120"/>
                        </a:rPr>
                        <a:t>173.16.10.240/28</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66737C"/>
                          </a:solidFill>
                          <a:latin typeface="맑은 고딕" pitchFamily="34" charset="0"/>
                          <a:ea typeface="맑은 고딕" pitchFamily="34" charset="-122"/>
                          <a:cs typeface="맑은 고딕" pitchFamily="34" charset="-120"/>
                        </a:rPr>
                        <a:t>255.255.255.240</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66737C"/>
                          </a:solidFill>
                          <a:latin typeface="맑은 고딕" pitchFamily="34" charset="0"/>
                          <a:ea typeface="맑은 고딕" pitchFamily="34" charset="-122"/>
                          <a:cs typeface="맑은 고딕" pitchFamily="34" charset="-120"/>
                        </a:rPr>
                        <a:t>.241 ~ .254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66737C"/>
                          </a:solidFill>
                          <a:latin typeface="맑은 고딕" pitchFamily="34" charset="0"/>
                          <a:ea typeface="맑은 고딕" pitchFamily="34" charset="-122"/>
                          <a:cs typeface="맑은 고딕" pitchFamily="34" charset="-120"/>
                        </a:rPr>
                        <a:t>.255</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r>
            </a:tbl>
          </a:graphicData>
        </a:graphic>
      </p:graphicFrame>
      <p:sp>
        <p:nvSpPr>
          <p:cNvPr id="22" name="Shape 18"/>
          <p:cNvSpPr/>
          <p:nvPr/>
        </p:nvSpPr>
        <p:spPr>
          <a:xfrm>
            <a:off x="548640" y="5669280"/>
            <a:ext cx="11091672" cy="457200"/>
          </a:xfrm>
          <a:prstGeom prst="roundRect">
            <a:avLst>
              <a:gd name="adj" fmla="val 16000"/>
            </a:avLst>
          </a:prstGeom>
          <a:solidFill>
            <a:srgbClr val="E6F1F2"/>
          </a:solidFill>
          <a:ln w="12700">
            <a:solidFill>
              <a:srgbClr val="E6F1F2"/>
            </a:solidFill>
            <a:prstDash val="solid"/>
          </a:ln>
        </p:spPr>
      </p:sp>
      <p:sp>
        <p:nvSpPr>
          <p:cNvPr id="23" name="Text 19"/>
          <p:cNvSpPr txBox="1"/>
          <p:nvPr/>
        </p:nvSpPr>
        <p:spPr>
          <a:xfrm>
            <a:off x="777240" y="566928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다음 네트워크 시작 = 앞 네트워크 시작 + 블록 크기 (128 → 128+64=192 → 192+32=224 → 224+16=240)</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슈퍼네팅 — 작은 네트워크를 하나로 묶기</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Shape 2"/>
          <p:cNvSpPr/>
          <p:nvPr/>
        </p:nvSpPr>
        <p:spPr>
          <a:xfrm>
            <a:off x="548640" y="1417320"/>
            <a:ext cx="3657600" cy="566928"/>
          </a:xfrm>
          <a:prstGeom prst="roundRect">
            <a:avLst>
              <a:gd name="adj" fmla="val 12903"/>
            </a:avLst>
          </a:prstGeom>
          <a:solidFill>
            <a:srgbClr val="FFFFFF"/>
          </a:solidFill>
          <a:ln w="12700">
            <a:solidFill>
              <a:srgbClr val="1E2A30"/>
            </a:solidFill>
            <a:prstDash val="solid"/>
          </a:ln>
        </p:spPr>
      </p:sp>
      <p:sp>
        <p:nvSpPr>
          <p:cNvPr id="6" name="Text 3"/>
          <p:cNvSpPr txBox="1"/>
          <p:nvPr/>
        </p:nvSpPr>
        <p:spPr>
          <a:xfrm>
            <a:off x="548640" y="1417320"/>
            <a:ext cx="3657600" cy="566928"/>
          </a:xfrm>
          <a:prstGeom prst="rect">
            <a:avLst/>
          </a:prstGeom>
          <a:noFill/>
          <a:ln/>
        </p:spPr>
        <p:txBody>
          <a:bodyPr wrap="square" lIns="0" tIns="0" rIns="0" bIns="0" rtlCol="0" anchor="ctr"/>
          <a:lstStyle/>
          <a:p>
            <a:pPr algn="ctr" indent="0" marL="0">
              <a:buNone/>
            </a:pPr>
            <a:r>
              <a:rPr lang="en-US" sz="1700" dirty="0">
                <a:solidFill>
                  <a:srgbClr val="1E2A30"/>
                </a:solidFill>
                <a:latin typeface="Consolas" pitchFamily="34" charset="0"/>
                <a:ea typeface="Consolas" pitchFamily="34" charset="-122"/>
                <a:cs typeface="Consolas" pitchFamily="34" charset="-120"/>
              </a:rPr>
              <a:t>192.168.0.0/24</a:t>
            </a:r>
            <a:endParaRPr lang="en-US" sz="1700" dirty="0"/>
          </a:p>
        </p:txBody>
      </p:sp>
      <p:sp>
        <p:nvSpPr>
          <p:cNvPr id="7" name="Shape 4"/>
          <p:cNvSpPr/>
          <p:nvPr/>
        </p:nvSpPr>
        <p:spPr>
          <a:xfrm>
            <a:off x="4206240" y="1700784"/>
            <a:ext cx="640080" cy="996696"/>
          </a:xfrm>
          <a:prstGeom prst="line">
            <a:avLst/>
          </a:prstGeom>
          <a:noFill/>
          <a:ln w="12700">
            <a:solidFill>
              <a:srgbClr val="9AA5AD"/>
            </a:solidFill>
            <a:prstDash val="solid"/>
          </a:ln>
        </p:spPr>
      </p:sp>
      <p:sp>
        <p:nvSpPr>
          <p:cNvPr id="8" name="Shape 5"/>
          <p:cNvSpPr/>
          <p:nvPr/>
        </p:nvSpPr>
        <p:spPr>
          <a:xfrm>
            <a:off x="548640" y="2130552"/>
            <a:ext cx="3657600" cy="566928"/>
          </a:xfrm>
          <a:prstGeom prst="roundRect">
            <a:avLst>
              <a:gd name="adj" fmla="val 12903"/>
            </a:avLst>
          </a:prstGeom>
          <a:solidFill>
            <a:srgbClr val="FFFFFF"/>
          </a:solidFill>
          <a:ln w="12700">
            <a:solidFill>
              <a:srgbClr val="1E2A30"/>
            </a:solidFill>
            <a:prstDash val="solid"/>
          </a:ln>
        </p:spPr>
      </p:sp>
      <p:sp>
        <p:nvSpPr>
          <p:cNvPr id="9" name="Text 6"/>
          <p:cNvSpPr txBox="1"/>
          <p:nvPr/>
        </p:nvSpPr>
        <p:spPr>
          <a:xfrm>
            <a:off x="548640" y="2130552"/>
            <a:ext cx="3657600" cy="566928"/>
          </a:xfrm>
          <a:prstGeom prst="rect">
            <a:avLst/>
          </a:prstGeom>
          <a:noFill/>
          <a:ln/>
        </p:spPr>
        <p:txBody>
          <a:bodyPr wrap="square" lIns="0" tIns="0" rIns="0" bIns="0" rtlCol="0" anchor="ctr"/>
          <a:lstStyle/>
          <a:p>
            <a:pPr algn="ctr" indent="0" marL="0">
              <a:buNone/>
            </a:pPr>
            <a:r>
              <a:rPr lang="en-US" sz="1700" dirty="0">
                <a:solidFill>
                  <a:srgbClr val="1E2A30"/>
                </a:solidFill>
                <a:latin typeface="Consolas" pitchFamily="34" charset="0"/>
                <a:ea typeface="Consolas" pitchFamily="34" charset="-122"/>
                <a:cs typeface="Consolas" pitchFamily="34" charset="-120"/>
              </a:rPr>
              <a:t>192.168.1.0/24</a:t>
            </a:r>
            <a:endParaRPr lang="en-US" sz="1700" dirty="0"/>
          </a:p>
        </p:txBody>
      </p:sp>
      <p:sp>
        <p:nvSpPr>
          <p:cNvPr id="10" name="Shape 7"/>
          <p:cNvSpPr/>
          <p:nvPr/>
        </p:nvSpPr>
        <p:spPr>
          <a:xfrm>
            <a:off x="4206240" y="2414016"/>
            <a:ext cx="640080" cy="283464"/>
          </a:xfrm>
          <a:prstGeom prst="line">
            <a:avLst/>
          </a:prstGeom>
          <a:noFill/>
          <a:ln w="12700">
            <a:solidFill>
              <a:srgbClr val="9AA5AD"/>
            </a:solidFill>
            <a:prstDash val="solid"/>
          </a:ln>
        </p:spPr>
      </p:sp>
      <p:sp>
        <p:nvSpPr>
          <p:cNvPr id="11" name="Shape 8"/>
          <p:cNvSpPr/>
          <p:nvPr/>
        </p:nvSpPr>
        <p:spPr>
          <a:xfrm>
            <a:off x="548640" y="2843784"/>
            <a:ext cx="3657600" cy="566928"/>
          </a:xfrm>
          <a:prstGeom prst="roundRect">
            <a:avLst>
              <a:gd name="adj" fmla="val 12903"/>
            </a:avLst>
          </a:prstGeom>
          <a:solidFill>
            <a:srgbClr val="FFFFFF"/>
          </a:solidFill>
          <a:ln w="12700">
            <a:solidFill>
              <a:srgbClr val="1E2A30"/>
            </a:solidFill>
            <a:prstDash val="solid"/>
          </a:ln>
        </p:spPr>
      </p:sp>
      <p:sp>
        <p:nvSpPr>
          <p:cNvPr id="12" name="Text 9"/>
          <p:cNvSpPr txBox="1"/>
          <p:nvPr/>
        </p:nvSpPr>
        <p:spPr>
          <a:xfrm>
            <a:off x="548640" y="2843784"/>
            <a:ext cx="3657600" cy="566928"/>
          </a:xfrm>
          <a:prstGeom prst="rect">
            <a:avLst/>
          </a:prstGeom>
          <a:noFill/>
          <a:ln/>
        </p:spPr>
        <p:txBody>
          <a:bodyPr wrap="square" lIns="0" tIns="0" rIns="0" bIns="0" rtlCol="0" anchor="ctr"/>
          <a:lstStyle/>
          <a:p>
            <a:pPr algn="ctr" indent="0" marL="0">
              <a:buNone/>
            </a:pPr>
            <a:r>
              <a:rPr lang="en-US" sz="1700" dirty="0">
                <a:solidFill>
                  <a:srgbClr val="1E2A30"/>
                </a:solidFill>
                <a:latin typeface="Consolas" pitchFamily="34" charset="0"/>
                <a:ea typeface="Consolas" pitchFamily="34" charset="-122"/>
                <a:cs typeface="Consolas" pitchFamily="34" charset="-120"/>
              </a:rPr>
              <a:t>192.168.2.0/24</a:t>
            </a:r>
            <a:endParaRPr lang="en-US" sz="1700" dirty="0"/>
          </a:p>
        </p:txBody>
      </p:sp>
      <p:sp>
        <p:nvSpPr>
          <p:cNvPr id="13" name="Shape 10"/>
          <p:cNvSpPr/>
          <p:nvPr/>
        </p:nvSpPr>
        <p:spPr>
          <a:xfrm flipV="1">
            <a:off x="4206240" y="2697480"/>
            <a:ext cx="640080" cy="429768"/>
          </a:xfrm>
          <a:prstGeom prst="line">
            <a:avLst/>
          </a:prstGeom>
          <a:noFill/>
          <a:ln w="12700">
            <a:solidFill>
              <a:srgbClr val="9AA5AD"/>
            </a:solidFill>
            <a:prstDash val="solid"/>
          </a:ln>
        </p:spPr>
      </p:sp>
      <p:sp>
        <p:nvSpPr>
          <p:cNvPr id="14" name="Shape 11"/>
          <p:cNvSpPr/>
          <p:nvPr/>
        </p:nvSpPr>
        <p:spPr>
          <a:xfrm>
            <a:off x="548640" y="3557016"/>
            <a:ext cx="3657600" cy="566928"/>
          </a:xfrm>
          <a:prstGeom prst="roundRect">
            <a:avLst>
              <a:gd name="adj" fmla="val 12903"/>
            </a:avLst>
          </a:prstGeom>
          <a:solidFill>
            <a:srgbClr val="FFFFFF"/>
          </a:solidFill>
          <a:ln w="12700">
            <a:solidFill>
              <a:srgbClr val="1E2A30"/>
            </a:solidFill>
            <a:prstDash val="solid"/>
          </a:ln>
        </p:spPr>
      </p:sp>
      <p:sp>
        <p:nvSpPr>
          <p:cNvPr id="15" name="Text 12"/>
          <p:cNvSpPr txBox="1"/>
          <p:nvPr/>
        </p:nvSpPr>
        <p:spPr>
          <a:xfrm>
            <a:off x="548640" y="3557016"/>
            <a:ext cx="3657600" cy="566928"/>
          </a:xfrm>
          <a:prstGeom prst="rect">
            <a:avLst/>
          </a:prstGeom>
          <a:noFill/>
          <a:ln/>
        </p:spPr>
        <p:txBody>
          <a:bodyPr wrap="square" lIns="0" tIns="0" rIns="0" bIns="0" rtlCol="0" anchor="ctr"/>
          <a:lstStyle/>
          <a:p>
            <a:pPr algn="ctr" indent="0" marL="0">
              <a:buNone/>
            </a:pPr>
            <a:r>
              <a:rPr lang="en-US" sz="1700" dirty="0">
                <a:solidFill>
                  <a:srgbClr val="1E2A30"/>
                </a:solidFill>
                <a:latin typeface="Consolas" pitchFamily="34" charset="0"/>
                <a:ea typeface="Consolas" pitchFamily="34" charset="-122"/>
                <a:cs typeface="Consolas" pitchFamily="34" charset="-120"/>
              </a:rPr>
              <a:t>192.168.3.0/24</a:t>
            </a:r>
            <a:endParaRPr lang="en-US" sz="1700" dirty="0"/>
          </a:p>
        </p:txBody>
      </p:sp>
      <p:sp>
        <p:nvSpPr>
          <p:cNvPr id="16" name="Shape 13"/>
          <p:cNvSpPr/>
          <p:nvPr/>
        </p:nvSpPr>
        <p:spPr>
          <a:xfrm flipV="1">
            <a:off x="4206240" y="2697480"/>
            <a:ext cx="640080" cy="1143000"/>
          </a:xfrm>
          <a:prstGeom prst="line">
            <a:avLst/>
          </a:prstGeom>
          <a:noFill/>
          <a:ln w="12700">
            <a:solidFill>
              <a:srgbClr val="9AA5AD"/>
            </a:solidFill>
            <a:prstDash val="solid"/>
          </a:ln>
        </p:spPr>
      </p:sp>
      <p:sp>
        <p:nvSpPr>
          <p:cNvPr id="17" name="Shape 14"/>
          <p:cNvSpPr/>
          <p:nvPr/>
        </p:nvSpPr>
        <p:spPr>
          <a:xfrm>
            <a:off x="4846320" y="2697480"/>
            <a:ext cx="822960" cy="914"/>
          </a:xfrm>
          <a:prstGeom prst="line">
            <a:avLst/>
          </a:prstGeom>
          <a:noFill/>
          <a:ln w="25400">
            <a:solidFill>
              <a:srgbClr val="0E6E7A"/>
            </a:solidFill>
            <a:prstDash val="solid"/>
            <a:tailEnd type="triangle"/>
          </a:ln>
        </p:spPr>
      </p:sp>
      <p:sp>
        <p:nvSpPr>
          <p:cNvPr id="18" name="Shape 15"/>
          <p:cNvSpPr/>
          <p:nvPr/>
        </p:nvSpPr>
        <p:spPr>
          <a:xfrm>
            <a:off x="5760720" y="2240280"/>
            <a:ext cx="3657600" cy="914400"/>
          </a:xfrm>
          <a:prstGeom prst="roundRect">
            <a:avLst>
              <a:gd name="adj" fmla="val 8000"/>
            </a:avLst>
          </a:prstGeom>
          <a:solidFill>
            <a:srgbClr val="E6F1F2"/>
          </a:solidFill>
          <a:ln w="19050">
            <a:solidFill>
              <a:srgbClr val="0E6E7A"/>
            </a:solidFill>
            <a:prstDash val="solid"/>
          </a:ln>
        </p:spPr>
      </p:sp>
      <p:sp>
        <p:nvSpPr>
          <p:cNvPr id="19" name="Text 16"/>
          <p:cNvSpPr txBox="1"/>
          <p:nvPr/>
        </p:nvSpPr>
        <p:spPr>
          <a:xfrm>
            <a:off x="5760720" y="2240280"/>
            <a:ext cx="3657600" cy="914400"/>
          </a:xfrm>
          <a:prstGeom prst="rect">
            <a:avLst/>
          </a:prstGeom>
          <a:noFill/>
          <a:ln/>
        </p:spPr>
        <p:txBody>
          <a:bodyPr wrap="square" lIns="0" tIns="0" rIns="0" bIns="0" rtlCol="0" anchor="ctr"/>
          <a:lstStyle/>
          <a:p>
            <a:pPr algn="ctr" indent="0" marL="0">
              <a:buNone/>
            </a:pPr>
            <a:r>
              <a:rPr lang="en-US" sz="2200" b="1" dirty="0">
                <a:solidFill>
                  <a:srgbClr val="1E2A30"/>
                </a:solidFill>
                <a:latin typeface="Consolas" pitchFamily="34" charset="0"/>
                <a:ea typeface="Consolas" pitchFamily="34" charset="-122"/>
                <a:cs typeface="Consolas" pitchFamily="34" charset="-120"/>
              </a:rPr>
              <a:t>192.168.0.0/22</a:t>
            </a:r>
            <a:endParaRPr lang="en-US" sz="2200" dirty="0"/>
          </a:p>
        </p:txBody>
      </p:sp>
      <p:sp>
        <p:nvSpPr>
          <p:cNvPr id="20" name="Text 17"/>
          <p:cNvSpPr txBox="1"/>
          <p:nvPr/>
        </p:nvSpPr>
        <p:spPr>
          <a:xfrm>
            <a:off x="5760720" y="3200400"/>
            <a:ext cx="3657600" cy="365760"/>
          </a:xfrm>
          <a:prstGeom prst="rect">
            <a:avLst/>
          </a:prstGeom>
          <a:noFill/>
          <a:ln/>
        </p:spPr>
        <p:txBody>
          <a:bodyPr wrap="square" lIns="0" tIns="0" rIns="0" bIns="0" rtlCol="0" anchor="t"/>
          <a:lstStyle/>
          <a:p>
            <a:pPr algn="ctr" indent="0" marL="0">
              <a:buNone/>
            </a:pPr>
            <a:r>
              <a:rPr lang="en-US" sz="1400" b="1" dirty="0">
                <a:solidFill>
                  <a:srgbClr val="0E6E7A"/>
                </a:solidFill>
                <a:latin typeface="맑은 고딕" pitchFamily="34" charset="0"/>
                <a:ea typeface="맑은 고딕" pitchFamily="34" charset="-122"/>
                <a:cs typeface="맑은 고딕" pitchFamily="34" charset="-120"/>
              </a:rPr>
              <a:t>경로 4줄 → 1줄</a:t>
            </a:r>
            <a:endParaRPr lang="en-US" sz="1400" dirty="0"/>
          </a:p>
        </p:txBody>
      </p:sp>
      <p:sp>
        <p:nvSpPr>
          <p:cNvPr id="21" name="Shape 18"/>
          <p:cNvSpPr/>
          <p:nvPr/>
        </p:nvSpPr>
        <p:spPr>
          <a:xfrm>
            <a:off x="548640" y="4343400"/>
            <a:ext cx="5394960" cy="1371600"/>
          </a:xfrm>
          <a:prstGeom prst="roundRect">
            <a:avLst>
              <a:gd name="adj" fmla="val 5333"/>
            </a:avLst>
          </a:prstGeom>
          <a:solidFill>
            <a:srgbClr val="FFFFFF"/>
          </a:solidFill>
          <a:ln w="12700">
            <a:solidFill>
              <a:srgbClr val="9AA5AD"/>
            </a:solidFill>
            <a:prstDash val="solid"/>
          </a:ln>
        </p:spPr>
      </p:sp>
      <p:sp>
        <p:nvSpPr>
          <p:cNvPr id="22" name="Text 19"/>
          <p:cNvSpPr txBox="1"/>
          <p:nvPr/>
        </p:nvSpPr>
        <p:spPr>
          <a:xfrm>
            <a:off x="731520" y="448056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서브네팅</a:t>
            </a:r>
            <a:endParaRPr lang="en-US" sz="1600" dirty="0"/>
          </a:p>
        </p:txBody>
      </p:sp>
      <p:sp>
        <p:nvSpPr>
          <p:cNvPr id="23" name="Text 20"/>
          <p:cNvSpPr txBox="1"/>
          <p:nvPr/>
        </p:nvSpPr>
        <p:spPr>
          <a:xfrm>
            <a:off x="731520" y="4937760"/>
            <a:ext cx="5029200" cy="6675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하나의 네트워크 → 여러 개의 작은 네트워크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마스크 길이 ↑ (예: /24 → /27)</a:t>
            </a:r>
            <a:endParaRPr lang="en-US" sz="1400" dirty="0"/>
          </a:p>
        </p:txBody>
      </p:sp>
      <p:sp>
        <p:nvSpPr>
          <p:cNvPr id="24" name="Shape 21"/>
          <p:cNvSpPr/>
          <p:nvPr/>
        </p:nvSpPr>
        <p:spPr>
          <a:xfrm>
            <a:off x="6245352" y="4343400"/>
            <a:ext cx="5394960" cy="1371600"/>
          </a:xfrm>
          <a:prstGeom prst="roundRect">
            <a:avLst>
              <a:gd name="adj" fmla="val 5333"/>
            </a:avLst>
          </a:prstGeom>
          <a:solidFill>
            <a:srgbClr val="E6F1F2"/>
          </a:solidFill>
          <a:ln w="12700">
            <a:solidFill>
              <a:srgbClr val="0E6E7A"/>
            </a:solidFill>
            <a:prstDash val="solid"/>
          </a:ln>
        </p:spPr>
      </p:sp>
      <p:sp>
        <p:nvSpPr>
          <p:cNvPr id="25" name="Text 22"/>
          <p:cNvSpPr txBox="1"/>
          <p:nvPr/>
        </p:nvSpPr>
        <p:spPr>
          <a:xfrm>
            <a:off x="6428232" y="448056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슈퍼네팅 (경로 요약)</a:t>
            </a:r>
            <a:endParaRPr lang="en-US" sz="1600" dirty="0"/>
          </a:p>
        </p:txBody>
      </p:sp>
      <p:sp>
        <p:nvSpPr>
          <p:cNvPr id="26" name="Text 23"/>
          <p:cNvSpPr txBox="1"/>
          <p:nvPr/>
        </p:nvSpPr>
        <p:spPr>
          <a:xfrm>
            <a:off x="6428232" y="4937760"/>
            <a:ext cx="5029200" cy="6675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작은 네트워크 여러 개 → 큰 네트워크 하나</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마스크 길이 ↓ (예: /24 ×4 → /22)</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PART 4 확인 문제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4 · IP 서브네팅</a:t>
            </a:r>
            <a:endParaRPr lang="en-US" sz="1100" dirty="0"/>
          </a:p>
        </p:txBody>
      </p:sp>
      <p:sp>
        <p:nvSpPr>
          <p:cNvPr id="5" name="Shape 2"/>
          <p:cNvSpPr/>
          <p:nvPr/>
        </p:nvSpPr>
        <p:spPr>
          <a:xfrm>
            <a:off x="548640" y="1325880"/>
            <a:ext cx="11091672" cy="841248"/>
          </a:xfrm>
          <a:prstGeom prst="roundRect">
            <a:avLst>
              <a:gd name="adj" fmla="val 8696"/>
            </a:avLst>
          </a:prstGeom>
          <a:solidFill>
            <a:srgbClr val="F4F6F7"/>
          </a:solidFill>
          <a:ln w="12700">
            <a:solidFill>
              <a:srgbClr val="9AA5AD"/>
            </a:solidFill>
            <a:prstDash val="solid"/>
          </a:ln>
        </p:spPr>
      </p:sp>
      <p:sp>
        <p:nvSpPr>
          <p:cNvPr id="6" name="Shape 3"/>
          <p:cNvSpPr/>
          <p:nvPr/>
        </p:nvSpPr>
        <p:spPr>
          <a:xfrm>
            <a:off x="777240" y="1517904"/>
            <a:ext cx="457200" cy="457200"/>
          </a:xfrm>
          <a:prstGeom prst="ellipse">
            <a:avLst/>
          </a:prstGeom>
          <a:solidFill>
            <a:srgbClr val="0E6E7A"/>
          </a:solidFill>
          <a:ln w="12700">
            <a:solidFill>
              <a:srgbClr val="0E6E7A"/>
            </a:solidFill>
            <a:prstDash val="solid"/>
          </a:ln>
        </p:spPr>
      </p:sp>
      <p:sp>
        <p:nvSpPr>
          <p:cNvPr id="7" name="Text 4"/>
          <p:cNvSpPr txBox="1"/>
          <p:nvPr/>
        </p:nvSpPr>
        <p:spPr>
          <a:xfrm>
            <a:off x="777240" y="1517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Q1</a:t>
            </a:r>
            <a:endParaRPr lang="en-US" sz="1200" dirty="0"/>
          </a:p>
        </p:txBody>
      </p:sp>
      <p:sp>
        <p:nvSpPr>
          <p:cNvPr id="8" name="Text 5"/>
          <p:cNvSpPr txBox="1"/>
          <p:nvPr/>
        </p:nvSpPr>
        <p:spPr>
          <a:xfrm>
            <a:off x="1463040" y="1325880"/>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IP 주소 191.10.5.1 의 클래스는? 첫 옥텟 범위로 근거를 쓰시오.</a:t>
            </a:r>
            <a:endParaRPr lang="en-US" sz="1600" dirty="0"/>
          </a:p>
        </p:txBody>
      </p:sp>
      <p:sp>
        <p:nvSpPr>
          <p:cNvPr id="9" name="Shape 6"/>
          <p:cNvSpPr/>
          <p:nvPr/>
        </p:nvSpPr>
        <p:spPr>
          <a:xfrm>
            <a:off x="548640" y="2350008"/>
            <a:ext cx="11091672" cy="841248"/>
          </a:xfrm>
          <a:prstGeom prst="roundRect">
            <a:avLst>
              <a:gd name="adj" fmla="val 8696"/>
            </a:avLst>
          </a:prstGeom>
          <a:solidFill>
            <a:srgbClr val="FFFFFF"/>
          </a:solidFill>
          <a:ln w="12700">
            <a:solidFill>
              <a:srgbClr val="9AA5AD"/>
            </a:solidFill>
            <a:prstDash val="solid"/>
          </a:ln>
        </p:spPr>
      </p:sp>
      <p:sp>
        <p:nvSpPr>
          <p:cNvPr id="10" name="Shape 7"/>
          <p:cNvSpPr/>
          <p:nvPr/>
        </p:nvSpPr>
        <p:spPr>
          <a:xfrm>
            <a:off x="777240" y="2542032"/>
            <a:ext cx="457200" cy="457200"/>
          </a:xfrm>
          <a:prstGeom prst="ellipse">
            <a:avLst/>
          </a:prstGeom>
          <a:solidFill>
            <a:srgbClr val="0E6E7A"/>
          </a:solidFill>
          <a:ln w="12700">
            <a:solidFill>
              <a:srgbClr val="0E6E7A"/>
            </a:solidFill>
            <a:prstDash val="solid"/>
          </a:ln>
        </p:spPr>
      </p:sp>
      <p:sp>
        <p:nvSpPr>
          <p:cNvPr id="11" name="Text 8"/>
          <p:cNvSpPr txBox="1"/>
          <p:nvPr/>
        </p:nvSpPr>
        <p:spPr>
          <a:xfrm>
            <a:off x="777240" y="25420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Q2</a:t>
            </a:r>
            <a:endParaRPr lang="en-US" sz="1200" dirty="0"/>
          </a:p>
        </p:txBody>
      </p:sp>
      <p:sp>
        <p:nvSpPr>
          <p:cNvPr id="12" name="Text 9"/>
          <p:cNvSpPr txBox="1"/>
          <p:nvPr/>
        </p:nvSpPr>
        <p:spPr>
          <a:xfrm>
            <a:off x="1463040" y="2350008"/>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사설 IP 대역 3가지를 CIDR 표기로 쓰시오. 그리고 169.254.x.x 가 보이면 무슨 뜻인가?</a:t>
            </a:r>
            <a:endParaRPr lang="en-US" sz="1600" dirty="0"/>
          </a:p>
        </p:txBody>
      </p:sp>
      <p:sp>
        <p:nvSpPr>
          <p:cNvPr id="13" name="Shape 10"/>
          <p:cNvSpPr/>
          <p:nvPr/>
        </p:nvSpPr>
        <p:spPr>
          <a:xfrm>
            <a:off x="548640" y="3374136"/>
            <a:ext cx="11091672" cy="841248"/>
          </a:xfrm>
          <a:prstGeom prst="roundRect">
            <a:avLst>
              <a:gd name="adj" fmla="val 8696"/>
            </a:avLst>
          </a:prstGeom>
          <a:solidFill>
            <a:srgbClr val="F4F6F7"/>
          </a:solidFill>
          <a:ln w="12700">
            <a:solidFill>
              <a:srgbClr val="9AA5AD"/>
            </a:solidFill>
            <a:prstDash val="solid"/>
          </a:ln>
        </p:spPr>
      </p:sp>
      <p:sp>
        <p:nvSpPr>
          <p:cNvPr id="14" name="Shape 11"/>
          <p:cNvSpPr/>
          <p:nvPr/>
        </p:nvSpPr>
        <p:spPr>
          <a:xfrm>
            <a:off x="777240" y="3566160"/>
            <a:ext cx="457200" cy="457200"/>
          </a:xfrm>
          <a:prstGeom prst="ellipse">
            <a:avLst/>
          </a:prstGeom>
          <a:solidFill>
            <a:srgbClr val="0E6E7A"/>
          </a:solidFill>
          <a:ln w="12700">
            <a:solidFill>
              <a:srgbClr val="0E6E7A"/>
            </a:solidFill>
            <a:prstDash val="solid"/>
          </a:ln>
        </p:spPr>
      </p:sp>
      <p:sp>
        <p:nvSpPr>
          <p:cNvPr id="15" name="Text 12"/>
          <p:cNvSpPr txBox="1"/>
          <p:nvPr/>
        </p:nvSpPr>
        <p:spPr>
          <a:xfrm>
            <a:off x="777240" y="3566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Q3</a:t>
            </a:r>
            <a:endParaRPr lang="en-US" sz="1200" dirty="0"/>
          </a:p>
        </p:txBody>
      </p:sp>
      <p:sp>
        <p:nvSpPr>
          <p:cNvPr id="16" name="Text 13"/>
          <p:cNvSpPr txBox="1"/>
          <p:nvPr/>
        </p:nvSpPr>
        <p:spPr>
          <a:xfrm>
            <a:off x="1463040" y="3374136"/>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200.1.1.0/24 를 같은 크기 4개로 나눌 때 마스크와 두 번째 서브넷의 네트워크·브로드캐스트 주소는?</a:t>
            </a:r>
            <a:endParaRPr lang="en-US" sz="1600" dirty="0"/>
          </a:p>
        </p:txBody>
      </p:sp>
      <p:sp>
        <p:nvSpPr>
          <p:cNvPr id="17" name="Shape 14"/>
          <p:cNvSpPr/>
          <p:nvPr/>
        </p:nvSpPr>
        <p:spPr>
          <a:xfrm>
            <a:off x="548640" y="4398264"/>
            <a:ext cx="11091672" cy="841248"/>
          </a:xfrm>
          <a:prstGeom prst="roundRect">
            <a:avLst>
              <a:gd name="adj" fmla="val 8696"/>
            </a:avLst>
          </a:prstGeom>
          <a:solidFill>
            <a:srgbClr val="FFFFFF"/>
          </a:solidFill>
          <a:ln w="12700">
            <a:solidFill>
              <a:srgbClr val="9AA5AD"/>
            </a:solidFill>
            <a:prstDash val="solid"/>
          </a:ln>
        </p:spPr>
      </p:sp>
      <p:sp>
        <p:nvSpPr>
          <p:cNvPr id="18" name="Shape 15"/>
          <p:cNvSpPr/>
          <p:nvPr/>
        </p:nvSpPr>
        <p:spPr>
          <a:xfrm>
            <a:off x="777240" y="4590288"/>
            <a:ext cx="457200" cy="457200"/>
          </a:xfrm>
          <a:prstGeom prst="ellipse">
            <a:avLst/>
          </a:prstGeom>
          <a:solidFill>
            <a:srgbClr val="0E6E7A"/>
          </a:solidFill>
          <a:ln w="12700">
            <a:solidFill>
              <a:srgbClr val="0E6E7A"/>
            </a:solidFill>
            <a:prstDash val="solid"/>
          </a:ln>
        </p:spPr>
      </p:sp>
      <p:sp>
        <p:nvSpPr>
          <p:cNvPr id="19" name="Text 16"/>
          <p:cNvSpPr txBox="1"/>
          <p:nvPr/>
        </p:nvSpPr>
        <p:spPr>
          <a:xfrm>
            <a:off x="777240" y="459028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Q4</a:t>
            </a:r>
            <a:endParaRPr lang="en-US" sz="1200" dirty="0"/>
          </a:p>
        </p:txBody>
      </p:sp>
      <p:sp>
        <p:nvSpPr>
          <p:cNvPr id="20" name="Text 17"/>
          <p:cNvSpPr txBox="1"/>
          <p:nvPr/>
        </p:nvSpPr>
        <p:spPr>
          <a:xfrm>
            <a:off x="1463040" y="4398264"/>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B 클래스의 네트워크 수와 네트워크당 호스트 수를 식으로 쓰시오.</a:t>
            </a:r>
            <a:endParaRPr lang="en-US" sz="1600" dirty="0"/>
          </a:p>
        </p:txBody>
      </p:sp>
      <p:sp>
        <p:nvSpPr>
          <p:cNvPr id="21" name="Shape 18"/>
          <p:cNvSpPr/>
          <p:nvPr/>
        </p:nvSpPr>
        <p:spPr>
          <a:xfrm>
            <a:off x="548640" y="5422392"/>
            <a:ext cx="11091672" cy="841248"/>
          </a:xfrm>
          <a:prstGeom prst="roundRect">
            <a:avLst>
              <a:gd name="adj" fmla="val 8696"/>
            </a:avLst>
          </a:prstGeom>
          <a:solidFill>
            <a:srgbClr val="F4F6F7"/>
          </a:solidFill>
          <a:ln w="12700">
            <a:solidFill>
              <a:srgbClr val="9AA5AD"/>
            </a:solidFill>
            <a:prstDash val="solid"/>
          </a:ln>
        </p:spPr>
      </p:sp>
      <p:sp>
        <p:nvSpPr>
          <p:cNvPr id="22" name="Shape 19"/>
          <p:cNvSpPr/>
          <p:nvPr/>
        </p:nvSpPr>
        <p:spPr>
          <a:xfrm>
            <a:off x="777240" y="5614416"/>
            <a:ext cx="457200" cy="457200"/>
          </a:xfrm>
          <a:prstGeom prst="ellipse">
            <a:avLst/>
          </a:prstGeom>
          <a:solidFill>
            <a:srgbClr val="0E6E7A"/>
          </a:solidFill>
          <a:ln w="12700">
            <a:solidFill>
              <a:srgbClr val="0E6E7A"/>
            </a:solidFill>
            <a:prstDash val="solid"/>
          </a:ln>
        </p:spPr>
      </p:sp>
      <p:sp>
        <p:nvSpPr>
          <p:cNvPr id="23" name="Text 20"/>
          <p:cNvSpPr txBox="1"/>
          <p:nvPr/>
        </p:nvSpPr>
        <p:spPr>
          <a:xfrm>
            <a:off x="777240" y="5614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Q5</a:t>
            </a:r>
            <a:endParaRPr lang="en-US" sz="1200" dirty="0"/>
          </a:p>
        </p:txBody>
      </p:sp>
      <p:sp>
        <p:nvSpPr>
          <p:cNvPr id="24" name="Text 21"/>
          <p:cNvSpPr txBox="1"/>
          <p:nvPr/>
        </p:nvSpPr>
        <p:spPr>
          <a:xfrm>
            <a:off x="1463040" y="5422392"/>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C 클래스에서 빌릴 수 있는 최대 서브넷 비트 수는? 이유는?</a:t>
            </a:r>
            <a:endParaRPr lang="en-US" sz="1600" dirty="0"/>
          </a:p>
        </p:txBody>
      </p:sp>
      <p:sp>
        <p:nvSpPr>
          <p:cNvPr id="25" name="Text 22"/>
          <p:cNvSpPr txBox="1"/>
          <p:nvPr/>
        </p:nvSpPr>
        <p:spPr>
          <a:xfrm>
            <a:off x="5486400" y="6382512"/>
            <a:ext cx="5394960" cy="274320"/>
          </a:xfrm>
          <a:prstGeom prst="rect">
            <a:avLst/>
          </a:prstGeom>
          <a:noFill/>
          <a:ln/>
        </p:spPr>
        <p:txBody>
          <a:bodyPr wrap="square" lIns="0" tIns="0" rIns="0" bIns="0" rtlCol="0" anchor="t"/>
          <a:lstStyle/>
          <a:p>
            <a:pPr algn="r" indent="0" marL="0">
              <a:buNone/>
            </a:pPr>
            <a:r>
              <a:rPr lang="en-US" sz="1000" dirty="0">
                <a:solidFill>
                  <a:srgbClr val="66737C"/>
                </a:solidFill>
                <a:latin typeface="맑은 고딕" pitchFamily="34" charset="0"/>
                <a:ea typeface="맑은 고딕" pitchFamily="34" charset="-122"/>
                <a:cs typeface="맑은 고딕" pitchFamily="34" charset="-120"/>
              </a:rPr>
              <a:t>정답과 해설은 발표자 노트에 있습니다</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5486400" cy="1097280"/>
          </a:xfrm>
          <a:prstGeom prst="rect">
            <a:avLst/>
          </a:prstGeom>
          <a:noFill/>
          <a:ln/>
        </p:spPr>
        <p:txBody>
          <a:bodyPr wrap="square" lIns="0" tIns="0" rIns="0" bIns="0" rtlCol="0" anchor="b"/>
          <a:lstStyle/>
          <a:p>
            <a:pPr indent="0" marL="0">
              <a:buNone/>
            </a:pPr>
            <a:r>
              <a:rPr lang="en-US" sz="5400" b="1" dirty="0">
                <a:solidFill>
                  <a:srgbClr val="7FB2B8"/>
                </a:solidFill>
                <a:latin typeface="맑은 고딕" pitchFamily="34" charset="0"/>
                <a:ea typeface="맑은 고딕" pitchFamily="34" charset="-122"/>
                <a:cs typeface="맑은 고딕" pitchFamily="34" charset="-120"/>
              </a:rPr>
              <a:t>PART 5</a:t>
            </a:r>
            <a:endParaRPr lang="en-US" sz="5400" dirty="0"/>
          </a:p>
        </p:txBody>
      </p:sp>
      <p:sp>
        <p:nvSpPr>
          <p:cNvPr id="3" name="Text 0"/>
          <p:cNvSpPr/>
          <p:nvPr>
            <p:ph idx="101" type="title" hasCustomPrompt="1"/>
          </p:nvPr>
        </p:nvSpPr>
        <p:spPr>
          <a:xfrm>
            <a:off x="731520" y="2560320"/>
            <a:ext cx="10698480" cy="100584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네트워크 장비와 전송매체</a:t>
            </a:r>
            <a:endParaRPr lang="en-US" sz="3800" dirty="0"/>
          </a:p>
        </p:txBody>
      </p:sp>
      <p:sp>
        <p:nvSpPr>
          <p:cNvPr id="4" name="Text 0"/>
          <p:cNvSpPr/>
          <p:nvPr>
            <p:ph idx="102" type="body" hasCustomPrompt="1"/>
          </p:nvPr>
        </p:nvSpPr>
        <p:spPr>
          <a:xfrm>
            <a:off x="731520" y="3749040"/>
            <a:ext cx="10698480"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OSI 계층별 네트워크 장비</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허브와 스위치, 충돌 영역과 브로드캐스트 영역</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꼬임선 · 광섬유 · 100BASE-TX · 케이블 종류와 핀 배열</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OSI 계층별 장비 지도</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Shape 2"/>
          <p:cNvSpPr/>
          <p:nvPr/>
        </p:nvSpPr>
        <p:spPr>
          <a:xfrm>
            <a:off x="548640" y="1325880"/>
            <a:ext cx="11091672" cy="777240"/>
          </a:xfrm>
          <a:prstGeom prst="roundRect">
            <a:avLst>
              <a:gd name="adj" fmla="val 9412"/>
            </a:avLst>
          </a:prstGeom>
          <a:solidFill>
            <a:srgbClr val="F4F6F7"/>
          </a:solidFill>
          <a:ln w="12700">
            <a:solidFill>
              <a:srgbClr val="9AA5AD"/>
            </a:solidFill>
            <a:prstDash val="solid"/>
          </a:ln>
        </p:spPr>
      </p:sp>
      <p:sp>
        <p:nvSpPr>
          <p:cNvPr id="6" name="Shape 3"/>
          <p:cNvSpPr/>
          <p:nvPr/>
        </p:nvSpPr>
        <p:spPr>
          <a:xfrm>
            <a:off x="685800" y="1463040"/>
            <a:ext cx="502920" cy="502920"/>
          </a:xfrm>
          <a:prstGeom prst="ellipse">
            <a:avLst/>
          </a:prstGeom>
          <a:solidFill>
            <a:srgbClr val="0E6E7A"/>
          </a:solidFill>
          <a:ln w="12700">
            <a:solidFill>
              <a:srgbClr val="0E6E7A"/>
            </a:solidFill>
            <a:prstDash val="solid"/>
          </a:ln>
        </p:spPr>
      </p:sp>
      <p:sp>
        <p:nvSpPr>
          <p:cNvPr id="7" name="Text 4"/>
          <p:cNvSpPr txBox="1"/>
          <p:nvPr/>
        </p:nvSpPr>
        <p:spPr>
          <a:xfrm>
            <a:off x="685800" y="14630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L7</a:t>
            </a:r>
            <a:endParaRPr lang="en-US" sz="1300" dirty="0"/>
          </a:p>
        </p:txBody>
      </p:sp>
      <p:sp>
        <p:nvSpPr>
          <p:cNvPr id="8" name="Text 5"/>
          <p:cNvSpPr txBox="1"/>
          <p:nvPr/>
        </p:nvSpPr>
        <p:spPr>
          <a:xfrm>
            <a:off x="1325880" y="1325880"/>
            <a:ext cx="1371600" cy="7772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응용</a:t>
            </a:r>
            <a:endParaRPr lang="en-US" sz="1600" dirty="0"/>
          </a:p>
        </p:txBody>
      </p:sp>
      <p:sp>
        <p:nvSpPr>
          <p:cNvPr id="9" name="Text 6"/>
          <p:cNvSpPr txBox="1"/>
          <p:nvPr/>
        </p:nvSpPr>
        <p:spPr>
          <a:xfrm>
            <a:off x="2743200" y="1325880"/>
            <a:ext cx="6400800" cy="7772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게이트웨이 · L7 스위치 · 방화벽 · IDS/IPS · 서버/클라이언트</a:t>
            </a:r>
            <a:endParaRPr lang="en-US" sz="1500" dirty="0"/>
          </a:p>
        </p:txBody>
      </p:sp>
      <p:sp>
        <p:nvSpPr>
          <p:cNvPr id="10" name="Text 7"/>
          <p:cNvSpPr txBox="1"/>
          <p:nvPr/>
        </p:nvSpPr>
        <p:spPr>
          <a:xfrm>
            <a:off x="9144000" y="1325880"/>
            <a:ext cx="2377440" cy="777240"/>
          </a:xfrm>
          <a:prstGeom prst="rect">
            <a:avLst/>
          </a:prstGeom>
          <a:noFill/>
          <a:ln/>
        </p:spPr>
        <p:txBody>
          <a:bodyPr wrap="square" lIns="0" tIns="0" rIns="0" bIns="0" rtlCol="0" anchor="ctr"/>
          <a:lstStyle/>
          <a:p>
            <a:pPr algn="r" indent="0" marL="0">
              <a:buNone/>
            </a:pPr>
            <a:r>
              <a:rPr lang="en-US" sz="1300" b="1" dirty="0">
                <a:solidFill>
                  <a:srgbClr val="0E6E7A"/>
                </a:solidFill>
                <a:latin typeface="맑은 고딕" pitchFamily="34" charset="0"/>
                <a:ea typeface="맑은 고딕" pitchFamily="34" charset="-122"/>
                <a:cs typeface="맑은 고딕" pitchFamily="34" charset="-120"/>
              </a:rPr>
              <a:t>판단 기준: 데이터 내용</a:t>
            </a:r>
            <a:endParaRPr lang="en-US" sz="1300" dirty="0"/>
          </a:p>
        </p:txBody>
      </p:sp>
      <p:sp>
        <p:nvSpPr>
          <p:cNvPr id="11" name="Shape 8"/>
          <p:cNvSpPr/>
          <p:nvPr/>
        </p:nvSpPr>
        <p:spPr>
          <a:xfrm>
            <a:off x="548640" y="2221992"/>
            <a:ext cx="11091672" cy="777240"/>
          </a:xfrm>
          <a:prstGeom prst="roundRect">
            <a:avLst>
              <a:gd name="adj" fmla="val 9412"/>
            </a:avLst>
          </a:prstGeom>
          <a:solidFill>
            <a:srgbClr val="FFFFFF"/>
          </a:solidFill>
          <a:ln w="12700">
            <a:solidFill>
              <a:srgbClr val="9AA5AD"/>
            </a:solidFill>
            <a:prstDash val="solid"/>
          </a:ln>
        </p:spPr>
      </p:sp>
      <p:sp>
        <p:nvSpPr>
          <p:cNvPr id="12" name="Shape 9"/>
          <p:cNvSpPr/>
          <p:nvPr/>
        </p:nvSpPr>
        <p:spPr>
          <a:xfrm>
            <a:off x="685800" y="2359152"/>
            <a:ext cx="502920" cy="502920"/>
          </a:xfrm>
          <a:prstGeom prst="ellipse">
            <a:avLst/>
          </a:prstGeom>
          <a:solidFill>
            <a:srgbClr val="0E6E7A"/>
          </a:solidFill>
          <a:ln w="12700">
            <a:solidFill>
              <a:srgbClr val="0E6E7A"/>
            </a:solidFill>
            <a:prstDash val="solid"/>
          </a:ln>
        </p:spPr>
      </p:sp>
      <p:sp>
        <p:nvSpPr>
          <p:cNvPr id="13" name="Text 10"/>
          <p:cNvSpPr txBox="1"/>
          <p:nvPr/>
        </p:nvSpPr>
        <p:spPr>
          <a:xfrm>
            <a:off x="685800" y="235915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L4</a:t>
            </a:r>
            <a:endParaRPr lang="en-US" sz="1300" dirty="0"/>
          </a:p>
        </p:txBody>
      </p:sp>
      <p:sp>
        <p:nvSpPr>
          <p:cNvPr id="14" name="Text 11"/>
          <p:cNvSpPr txBox="1"/>
          <p:nvPr/>
        </p:nvSpPr>
        <p:spPr>
          <a:xfrm>
            <a:off x="1325880" y="2221992"/>
            <a:ext cx="1371600" cy="7772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전송</a:t>
            </a:r>
            <a:endParaRPr lang="en-US" sz="1600" dirty="0"/>
          </a:p>
        </p:txBody>
      </p:sp>
      <p:sp>
        <p:nvSpPr>
          <p:cNvPr id="15" name="Text 12"/>
          <p:cNvSpPr txBox="1"/>
          <p:nvPr/>
        </p:nvSpPr>
        <p:spPr>
          <a:xfrm>
            <a:off x="2743200" y="2221992"/>
            <a:ext cx="6400800" cy="7772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L4 스위치 (로드밸런싱)</a:t>
            </a:r>
            <a:endParaRPr lang="en-US" sz="1500" dirty="0"/>
          </a:p>
        </p:txBody>
      </p:sp>
      <p:sp>
        <p:nvSpPr>
          <p:cNvPr id="16" name="Text 13"/>
          <p:cNvSpPr txBox="1"/>
          <p:nvPr/>
        </p:nvSpPr>
        <p:spPr>
          <a:xfrm>
            <a:off x="9144000" y="2221992"/>
            <a:ext cx="2377440" cy="777240"/>
          </a:xfrm>
          <a:prstGeom prst="rect">
            <a:avLst/>
          </a:prstGeom>
          <a:noFill/>
          <a:ln/>
        </p:spPr>
        <p:txBody>
          <a:bodyPr wrap="square" lIns="0" tIns="0" rIns="0" bIns="0" rtlCol="0" anchor="ctr"/>
          <a:lstStyle/>
          <a:p>
            <a:pPr algn="r" indent="0" marL="0">
              <a:buNone/>
            </a:pPr>
            <a:r>
              <a:rPr lang="en-US" sz="1300" b="1" dirty="0">
                <a:solidFill>
                  <a:srgbClr val="0E6E7A"/>
                </a:solidFill>
                <a:latin typeface="맑은 고딕" pitchFamily="34" charset="0"/>
                <a:ea typeface="맑은 고딕" pitchFamily="34" charset="-122"/>
                <a:cs typeface="맑은 고딕" pitchFamily="34" charset="-120"/>
              </a:rPr>
              <a:t>판단 기준: 포트 번호</a:t>
            </a:r>
            <a:endParaRPr lang="en-US" sz="1300" dirty="0"/>
          </a:p>
        </p:txBody>
      </p:sp>
      <p:sp>
        <p:nvSpPr>
          <p:cNvPr id="17" name="Shape 14"/>
          <p:cNvSpPr/>
          <p:nvPr/>
        </p:nvSpPr>
        <p:spPr>
          <a:xfrm>
            <a:off x="548640" y="3118104"/>
            <a:ext cx="11091672" cy="777240"/>
          </a:xfrm>
          <a:prstGeom prst="roundRect">
            <a:avLst>
              <a:gd name="adj" fmla="val 9412"/>
            </a:avLst>
          </a:prstGeom>
          <a:solidFill>
            <a:srgbClr val="F4F6F7"/>
          </a:solidFill>
          <a:ln w="12700">
            <a:solidFill>
              <a:srgbClr val="9AA5AD"/>
            </a:solidFill>
            <a:prstDash val="solid"/>
          </a:ln>
        </p:spPr>
      </p:sp>
      <p:sp>
        <p:nvSpPr>
          <p:cNvPr id="18" name="Shape 15"/>
          <p:cNvSpPr/>
          <p:nvPr/>
        </p:nvSpPr>
        <p:spPr>
          <a:xfrm>
            <a:off x="685800" y="3255264"/>
            <a:ext cx="502920" cy="502920"/>
          </a:xfrm>
          <a:prstGeom prst="ellipse">
            <a:avLst/>
          </a:prstGeom>
          <a:solidFill>
            <a:srgbClr val="0E6E7A"/>
          </a:solidFill>
          <a:ln w="12700">
            <a:solidFill>
              <a:srgbClr val="0E6E7A"/>
            </a:solidFill>
            <a:prstDash val="solid"/>
          </a:ln>
        </p:spPr>
      </p:sp>
      <p:sp>
        <p:nvSpPr>
          <p:cNvPr id="19" name="Text 16"/>
          <p:cNvSpPr txBox="1"/>
          <p:nvPr/>
        </p:nvSpPr>
        <p:spPr>
          <a:xfrm>
            <a:off x="685800" y="3255264"/>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L3</a:t>
            </a:r>
            <a:endParaRPr lang="en-US" sz="1300" dirty="0"/>
          </a:p>
        </p:txBody>
      </p:sp>
      <p:sp>
        <p:nvSpPr>
          <p:cNvPr id="20" name="Text 17"/>
          <p:cNvSpPr txBox="1"/>
          <p:nvPr/>
        </p:nvSpPr>
        <p:spPr>
          <a:xfrm>
            <a:off x="1325880" y="3118104"/>
            <a:ext cx="1371600" cy="7772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네트워크</a:t>
            </a:r>
            <a:endParaRPr lang="en-US" sz="1600" dirty="0"/>
          </a:p>
        </p:txBody>
      </p:sp>
      <p:sp>
        <p:nvSpPr>
          <p:cNvPr id="21" name="Text 18"/>
          <p:cNvSpPr txBox="1"/>
          <p:nvPr/>
        </p:nvSpPr>
        <p:spPr>
          <a:xfrm>
            <a:off x="2743200" y="3118104"/>
            <a:ext cx="6400800" cy="7772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라우터 · L3 스위치</a:t>
            </a:r>
            <a:endParaRPr lang="en-US" sz="1500" dirty="0"/>
          </a:p>
        </p:txBody>
      </p:sp>
      <p:sp>
        <p:nvSpPr>
          <p:cNvPr id="22" name="Text 19"/>
          <p:cNvSpPr txBox="1"/>
          <p:nvPr/>
        </p:nvSpPr>
        <p:spPr>
          <a:xfrm>
            <a:off x="9144000" y="3118104"/>
            <a:ext cx="2377440" cy="777240"/>
          </a:xfrm>
          <a:prstGeom prst="rect">
            <a:avLst/>
          </a:prstGeom>
          <a:noFill/>
          <a:ln/>
        </p:spPr>
        <p:txBody>
          <a:bodyPr wrap="square" lIns="0" tIns="0" rIns="0" bIns="0" rtlCol="0" anchor="ctr"/>
          <a:lstStyle/>
          <a:p>
            <a:pPr algn="r" indent="0" marL="0">
              <a:buNone/>
            </a:pPr>
            <a:r>
              <a:rPr lang="en-US" sz="1300" b="1" dirty="0">
                <a:solidFill>
                  <a:srgbClr val="0E6E7A"/>
                </a:solidFill>
                <a:latin typeface="맑은 고딕" pitchFamily="34" charset="0"/>
                <a:ea typeface="맑은 고딕" pitchFamily="34" charset="-122"/>
                <a:cs typeface="맑은 고딕" pitchFamily="34" charset="-120"/>
              </a:rPr>
              <a:t>판단 기준: IP 주소</a:t>
            </a:r>
            <a:endParaRPr lang="en-US" sz="1300" dirty="0"/>
          </a:p>
        </p:txBody>
      </p:sp>
      <p:sp>
        <p:nvSpPr>
          <p:cNvPr id="23" name="Shape 20"/>
          <p:cNvSpPr/>
          <p:nvPr/>
        </p:nvSpPr>
        <p:spPr>
          <a:xfrm>
            <a:off x="548640" y="4014216"/>
            <a:ext cx="11091672" cy="777240"/>
          </a:xfrm>
          <a:prstGeom prst="roundRect">
            <a:avLst>
              <a:gd name="adj" fmla="val 9412"/>
            </a:avLst>
          </a:prstGeom>
          <a:solidFill>
            <a:srgbClr val="FFFFFF"/>
          </a:solidFill>
          <a:ln w="12700">
            <a:solidFill>
              <a:srgbClr val="9AA5AD"/>
            </a:solidFill>
            <a:prstDash val="solid"/>
          </a:ln>
        </p:spPr>
      </p:sp>
      <p:sp>
        <p:nvSpPr>
          <p:cNvPr id="24" name="Shape 21"/>
          <p:cNvSpPr/>
          <p:nvPr/>
        </p:nvSpPr>
        <p:spPr>
          <a:xfrm>
            <a:off x="685800" y="4151376"/>
            <a:ext cx="502920" cy="502920"/>
          </a:xfrm>
          <a:prstGeom prst="ellipse">
            <a:avLst/>
          </a:prstGeom>
          <a:solidFill>
            <a:srgbClr val="0E6E7A"/>
          </a:solidFill>
          <a:ln w="12700">
            <a:solidFill>
              <a:srgbClr val="0E6E7A"/>
            </a:solidFill>
            <a:prstDash val="solid"/>
          </a:ln>
        </p:spPr>
      </p:sp>
      <p:sp>
        <p:nvSpPr>
          <p:cNvPr id="25" name="Text 22"/>
          <p:cNvSpPr txBox="1"/>
          <p:nvPr/>
        </p:nvSpPr>
        <p:spPr>
          <a:xfrm>
            <a:off x="685800" y="4151376"/>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L2</a:t>
            </a:r>
            <a:endParaRPr lang="en-US" sz="1300" dirty="0"/>
          </a:p>
        </p:txBody>
      </p:sp>
      <p:sp>
        <p:nvSpPr>
          <p:cNvPr id="26" name="Text 23"/>
          <p:cNvSpPr txBox="1"/>
          <p:nvPr/>
        </p:nvSpPr>
        <p:spPr>
          <a:xfrm>
            <a:off x="1325880" y="4014216"/>
            <a:ext cx="1371600" cy="7772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데이터링크</a:t>
            </a:r>
            <a:endParaRPr lang="en-US" sz="1600" dirty="0"/>
          </a:p>
        </p:txBody>
      </p:sp>
      <p:sp>
        <p:nvSpPr>
          <p:cNvPr id="27" name="Text 24"/>
          <p:cNvSpPr txBox="1"/>
          <p:nvPr/>
        </p:nvSpPr>
        <p:spPr>
          <a:xfrm>
            <a:off x="2743200" y="4014216"/>
            <a:ext cx="6400800" cy="7772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NIC · 브리지 · 스위치</a:t>
            </a:r>
            <a:endParaRPr lang="en-US" sz="1500" dirty="0"/>
          </a:p>
        </p:txBody>
      </p:sp>
      <p:sp>
        <p:nvSpPr>
          <p:cNvPr id="28" name="Text 25"/>
          <p:cNvSpPr txBox="1"/>
          <p:nvPr/>
        </p:nvSpPr>
        <p:spPr>
          <a:xfrm>
            <a:off x="9144000" y="4014216"/>
            <a:ext cx="2377440" cy="777240"/>
          </a:xfrm>
          <a:prstGeom prst="rect">
            <a:avLst/>
          </a:prstGeom>
          <a:noFill/>
          <a:ln/>
        </p:spPr>
        <p:txBody>
          <a:bodyPr wrap="square" lIns="0" tIns="0" rIns="0" bIns="0" rtlCol="0" anchor="ctr"/>
          <a:lstStyle/>
          <a:p>
            <a:pPr algn="r" indent="0" marL="0">
              <a:buNone/>
            </a:pPr>
            <a:r>
              <a:rPr lang="en-US" sz="1300" b="1" dirty="0">
                <a:solidFill>
                  <a:srgbClr val="0E6E7A"/>
                </a:solidFill>
                <a:latin typeface="맑은 고딕" pitchFamily="34" charset="0"/>
                <a:ea typeface="맑은 고딕" pitchFamily="34" charset="-122"/>
                <a:cs typeface="맑은 고딕" pitchFamily="34" charset="-120"/>
              </a:rPr>
              <a:t>판단 기준: MAC 주소</a:t>
            </a:r>
            <a:endParaRPr lang="en-US" sz="1300" dirty="0"/>
          </a:p>
        </p:txBody>
      </p:sp>
      <p:sp>
        <p:nvSpPr>
          <p:cNvPr id="29" name="Shape 26"/>
          <p:cNvSpPr/>
          <p:nvPr/>
        </p:nvSpPr>
        <p:spPr>
          <a:xfrm>
            <a:off x="548640" y="4910328"/>
            <a:ext cx="11091672" cy="777240"/>
          </a:xfrm>
          <a:prstGeom prst="roundRect">
            <a:avLst>
              <a:gd name="adj" fmla="val 9412"/>
            </a:avLst>
          </a:prstGeom>
          <a:solidFill>
            <a:srgbClr val="F4F6F7"/>
          </a:solidFill>
          <a:ln w="12700">
            <a:solidFill>
              <a:srgbClr val="9AA5AD"/>
            </a:solidFill>
            <a:prstDash val="solid"/>
          </a:ln>
        </p:spPr>
      </p:sp>
      <p:sp>
        <p:nvSpPr>
          <p:cNvPr id="30" name="Shape 27"/>
          <p:cNvSpPr/>
          <p:nvPr/>
        </p:nvSpPr>
        <p:spPr>
          <a:xfrm>
            <a:off x="685800" y="5047488"/>
            <a:ext cx="502920" cy="502920"/>
          </a:xfrm>
          <a:prstGeom prst="ellipse">
            <a:avLst/>
          </a:prstGeom>
          <a:solidFill>
            <a:srgbClr val="0E6E7A"/>
          </a:solidFill>
          <a:ln w="12700">
            <a:solidFill>
              <a:srgbClr val="0E6E7A"/>
            </a:solidFill>
            <a:prstDash val="solid"/>
          </a:ln>
        </p:spPr>
      </p:sp>
      <p:sp>
        <p:nvSpPr>
          <p:cNvPr id="31" name="Text 28"/>
          <p:cNvSpPr txBox="1"/>
          <p:nvPr/>
        </p:nvSpPr>
        <p:spPr>
          <a:xfrm>
            <a:off x="685800" y="5047488"/>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L1</a:t>
            </a:r>
            <a:endParaRPr lang="en-US" sz="1300" dirty="0"/>
          </a:p>
        </p:txBody>
      </p:sp>
      <p:sp>
        <p:nvSpPr>
          <p:cNvPr id="32" name="Text 29"/>
          <p:cNvSpPr txBox="1"/>
          <p:nvPr/>
        </p:nvSpPr>
        <p:spPr>
          <a:xfrm>
            <a:off x="1325880" y="4910328"/>
            <a:ext cx="1371600" cy="77724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물리</a:t>
            </a:r>
            <a:endParaRPr lang="en-US" sz="1600" dirty="0"/>
          </a:p>
        </p:txBody>
      </p:sp>
      <p:sp>
        <p:nvSpPr>
          <p:cNvPr id="33" name="Text 30"/>
          <p:cNvSpPr txBox="1"/>
          <p:nvPr/>
        </p:nvSpPr>
        <p:spPr>
          <a:xfrm>
            <a:off x="2743200" y="4910328"/>
            <a:ext cx="6400800" cy="777240"/>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리피터 · 허브 · 트랜시버 · 모뎀 · DSU · 무선 AP · 광플랫폼</a:t>
            </a:r>
            <a:endParaRPr lang="en-US" sz="1500" dirty="0"/>
          </a:p>
        </p:txBody>
      </p:sp>
      <p:sp>
        <p:nvSpPr>
          <p:cNvPr id="34" name="Text 31"/>
          <p:cNvSpPr txBox="1"/>
          <p:nvPr/>
        </p:nvSpPr>
        <p:spPr>
          <a:xfrm>
            <a:off x="9144000" y="4910328"/>
            <a:ext cx="2377440" cy="777240"/>
          </a:xfrm>
          <a:prstGeom prst="rect">
            <a:avLst/>
          </a:prstGeom>
          <a:noFill/>
          <a:ln/>
        </p:spPr>
        <p:txBody>
          <a:bodyPr wrap="square" lIns="0" tIns="0" rIns="0" bIns="0" rtlCol="0" anchor="ctr"/>
          <a:lstStyle/>
          <a:p>
            <a:pPr algn="r" indent="0" marL="0">
              <a:buNone/>
            </a:pPr>
            <a:r>
              <a:rPr lang="en-US" sz="1300" b="1" dirty="0">
                <a:solidFill>
                  <a:srgbClr val="0E6E7A"/>
                </a:solidFill>
                <a:latin typeface="맑은 고딕" pitchFamily="34" charset="0"/>
                <a:ea typeface="맑은 고딕" pitchFamily="34" charset="-122"/>
                <a:cs typeface="맑은 고딕" pitchFamily="34" charset="-120"/>
              </a:rPr>
              <a:t>판단 기준: 전기·빛 신호</a:t>
            </a:r>
            <a:endParaRPr lang="en-US" sz="1300" dirty="0"/>
          </a:p>
        </p:txBody>
      </p:sp>
      <p:sp>
        <p:nvSpPr>
          <p:cNvPr id="35" name="Shape 32"/>
          <p:cNvSpPr/>
          <p:nvPr/>
        </p:nvSpPr>
        <p:spPr>
          <a:xfrm>
            <a:off x="548640" y="5852160"/>
            <a:ext cx="11091672" cy="457200"/>
          </a:xfrm>
          <a:prstGeom prst="roundRect">
            <a:avLst>
              <a:gd name="adj" fmla="val 16000"/>
            </a:avLst>
          </a:prstGeom>
          <a:solidFill>
            <a:srgbClr val="E6F1F2"/>
          </a:solidFill>
          <a:ln w="12700">
            <a:solidFill>
              <a:srgbClr val="E6F1F2"/>
            </a:solidFill>
            <a:prstDash val="solid"/>
          </a:ln>
        </p:spPr>
      </p:sp>
      <p:sp>
        <p:nvSpPr>
          <p:cNvPr id="36" name="Text 33"/>
          <p:cNvSpPr txBox="1"/>
          <p:nvPr/>
        </p:nvSpPr>
        <p:spPr>
          <a:xfrm>
            <a:off x="777240" y="585216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높은 계층 장비일수록 더 많은 정보를 보고 판단한다 (신호 → MAC → IP → 포트 → 내용)</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L1 장비 — 신호를 다루는 장비</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Shape 2"/>
          <p:cNvSpPr/>
          <p:nvPr/>
        </p:nvSpPr>
        <p:spPr>
          <a:xfrm>
            <a:off x="548640" y="1325880"/>
            <a:ext cx="3566160" cy="1828800"/>
          </a:xfrm>
          <a:prstGeom prst="roundRect">
            <a:avLst>
              <a:gd name="adj" fmla="val 4000"/>
            </a:avLst>
          </a:prstGeom>
          <a:solidFill>
            <a:srgbClr val="FFFFFF"/>
          </a:solidFill>
          <a:ln w="12700">
            <a:solidFill>
              <a:srgbClr val="9AA5AD"/>
            </a:solidFill>
            <a:prstDash val="solid"/>
          </a:ln>
        </p:spPr>
      </p:sp>
      <p:sp>
        <p:nvSpPr>
          <p:cNvPr id="6" name="Text 3"/>
          <p:cNvSpPr txBox="1"/>
          <p:nvPr/>
        </p:nvSpPr>
        <p:spPr>
          <a:xfrm>
            <a:off x="777240" y="1463040"/>
            <a:ext cx="3108960" cy="457200"/>
          </a:xfrm>
          <a:prstGeom prst="rect">
            <a:avLst/>
          </a:prstGeom>
          <a:noFill/>
          <a:ln/>
        </p:spPr>
        <p:txBody>
          <a:bodyPr wrap="square" lIns="0" tIns="0" rIns="0" bIns="0" rtlCol="0" anchor="t"/>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리피터</a:t>
            </a:r>
            <a:endParaRPr lang="en-US" sz="1900" dirty="0"/>
          </a:p>
        </p:txBody>
      </p:sp>
      <p:sp>
        <p:nvSpPr>
          <p:cNvPr id="7" name="Text 4"/>
          <p:cNvSpPr txBox="1"/>
          <p:nvPr/>
        </p:nvSpPr>
        <p:spPr>
          <a:xfrm>
            <a:off x="777240" y="1920240"/>
            <a:ext cx="3108960" cy="320040"/>
          </a:xfrm>
          <a:prstGeom prst="rect">
            <a:avLst/>
          </a:prstGeom>
          <a:noFill/>
          <a:ln/>
        </p:spPr>
        <p:txBody>
          <a:bodyPr wrap="square" lIns="0" tIns="0" rIns="0" bIns="0" rtlCol="0" anchor="t"/>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Repeater</a:t>
            </a:r>
            <a:endParaRPr lang="en-US" sz="1300" dirty="0"/>
          </a:p>
        </p:txBody>
      </p:sp>
      <p:sp>
        <p:nvSpPr>
          <p:cNvPr id="8" name="Text 5"/>
          <p:cNvSpPr txBox="1"/>
          <p:nvPr/>
        </p:nvSpPr>
        <p:spPr>
          <a:xfrm>
            <a:off x="777240" y="2286000"/>
            <a:ext cx="310896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2포트 · 신호 증폭 · 거리 연장</a:t>
            </a:r>
            <a:endParaRPr lang="en-US" sz="1400" dirty="0"/>
          </a:p>
        </p:txBody>
      </p:sp>
      <p:sp>
        <p:nvSpPr>
          <p:cNvPr id="9" name="Shape 6"/>
          <p:cNvSpPr/>
          <p:nvPr/>
        </p:nvSpPr>
        <p:spPr>
          <a:xfrm>
            <a:off x="4297680" y="1325880"/>
            <a:ext cx="3566160" cy="1828800"/>
          </a:xfrm>
          <a:prstGeom prst="roundRect">
            <a:avLst>
              <a:gd name="adj" fmla="val 4000"/>
            </a:avLst>
          </a:prstGeom>
          <a:solidFill>
            <a:srgbClr val="FFFFFF"/>
          </a:solidFill>
          <a:ln w="12700">
            <a:solidFill>
              <a:srgbClr val="9AA5AD"/>
            </a:solidFill>
            <a:prstDash val="solid"/>
          </a:ln>
        </p:spPr>
      </p:sp>
      <p:sp>
        <p:nvSpPr>
          <p:cNvPr id="10" name="Text 7"/>
          <p:cNvSpPr txBox="1"/>
          <p:nvPr/>
        </p:nvSpPr>
        <p:spPr>
          <a:xfrm>
            <a:off x="4526280" y="1463040"/>
            <a:ext cx="3108960" cy="457200"/>
          </a:xfrm>
          <a:prstGeom prst="rect">
            <a:avLst/>
          </a:prstGeom>
          <a:noFill/>
          <a:ln/>
        </p:spPr>
        <p:txBody>
          <a:bodyPr wrap="square" lIns="0" tIns="0" rIns="0" bIns="0" rtlCol="0" anchor="t"/>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허브</a:t>
            </a:r>
            <a:endParaRPr lang="en-US" sz="1900" dirty="0"/>
          </a:p>
        </p:txBody>
      </p:sp>
      <p:sp>
        <p:nvSpPr>
          <p:cNvPr id="11" name="Text 8"/>
          <p:cNvSpPr txBox="1"/>
          <p:nvPr/>
        </p:nvSpPr>
        <p:spPr>
          <a:xfrm>
            <a:off x="4526280" y="1920240"/>
            <a:ext cx="3108960" cy="320040"/>
          </a:xfrm>
          <a:prstGeom prst="rect">
            <a:avLst/>
          </a:prstGeom>
          <a:noFill/>
          <a:ln/>
        </p:spPr>
        <p:txBody>
          <a:bodyPr wrap="square" lIns="0" tIns="0" rIns="0" bIns="0" rtlCol="0" anchor="t"/>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Hub</a:t>
            </a:r>
            <a:endParaRPr lang="en-US" sz="1300" dirty="0"/>
          </a:p>
        </p:txBody>
      </p:sp>
      <p:sp>
        <p:nvSpPr>
          <p:cNvPr id="12" name="Text 9"/>
          <p:cNvSpPr txBox="1"/>
          <p:nvPr/>
        </p:nvSpPr>
        <p:spPr>
          <a:xfrm>
            <a:off x="4526280" y="2286000"/>
            <a:ext cx="310896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멀티포트 리피터 · 모든 포트로 플러딩</a:t>
            </a:r>
            <a:endParaRPr lang="en-US" sz="1400" dirty="0"/>
          </a:p>
        </p:txBody>
      </p:sp>
      <p:sp>
        <p:nvSpPr>
          <p:cNvPr id="13" name="Shape 10"/>
          <p:cNvSpPr/>
          <p:nvPr/>
        </p:nvSpPr>
        <p:spPr>
          <a:xfrm>
            <a:off x="8046720" y="1325880"/>
            <a:ext cx="3566160" cy="1828800"/>
          </a:xfrm>
          <a:prstGeom prst="roundRect">
            <a:avLst>
              <a:gd name="adj" fmla="val 4000"/>
            </a:avLst>
          </a:prstGeom>
          <a:solidFill>
            <a:srgbClr val="FFFFFF"/>
          </a:solidFill>
          <a:ln w="12700">
            <a:solidFill>
              <a:srgbClr val="9AA5AD"/>
            </a:solidFill>
            <a:prstDash val="solid"/>
          </a:ln>
        </p:spPr>
      </p:sp>
      <p:sp>
        <p:nvSpPr>
          <p:cNvPr id="14" name="Text 11"/>
          <p:cNvSpPr txBox="1"/>
          <p:nvPr/>
        </p:nvSpPr>
        <p:spPr>
          <a:xfrm>
            <a:off x="8275320" y="1463040"/>
            <a:ext cx="3108960" cy="457200"/>
          </a:xfrm>
          <a:prstGeom prst="rect">
            <a:avLst/>
          </a:prstGeom>
          <a:noFill/>
          <a:ln/>
        </p:spPr>
        <p:txBody>
          <a:bodyPr wrap="square" lIns="0" tIns="0" rIns="0" bIns="0" rtlCol="0" anchor="t"/>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트랜시버</a:t>
            </a:r>
            <a:endParaRPr lang="en-US" sz="1900" dirty="0"/>
          </a:p>
        </p:txBody>
      </p:sp>
      <p:sp>
        <p:nvSpPr>
          <p:cNvPr id="15" name="Text 12"/>
          <p:cNvSpPr txBox="1"/>
          <p:nvPr/>
        </p:nvSpPr>
        <p:spPr>
          <a:xfrm>
            <a:off x="8275320" y="1920240"/>
            <a:ext cx="3108960" cy="320040"/>
          </a:xfrm>
          <a:prstGeom prst="rect">
            <a:avLst/>
          </a:prstGeom>
          <a:noFill/>
          <a:ln/>
        </p:spPr>
        <p:txBody>
          <a:bodyPr wrap="square" lIns="0" tIns="0" rIns="0" bIns="0" rtlCol="0" anchor="t"/>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Transceiver</a:t>
            </a:r>
            <a:endParaRPr lang="en-US" sz="1300" dirty="0"/>
          </a:p>
        </p:txBody>
      </p:sp>
      <p:sp>
        <p:nvSpPr>
          <p:cNvPr id="16" name="Text 13"/>
          <p:cNvSpPr txBox="1"/>
          <p:nvPr/>
        </p:nvSpPr>
        <p:spPr>
          <a:xfrm>
            <a:off x="8275320" y="2286000"/>
            <a:ext cx="310896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Transmitter + Receiver</a:t>
            </a:r>
            <a:endParaRPr lang="en-US" sz="1400" dirty="0"/>
          </a:p>
        </p:txBody>
      </p:sp>
      <p:sp>
        <p:nvSpPr>
          <p:cNvPr id="17" name="Shape 14"/>
          <p:cNvSpPr/>
          <p:nvPr/>
        </p:nvSpPr>
        <p:spPr>
          <a:xfrm>
            <a:off x="548640" y="3337560"/>
            <a:ext cx="3566160" cy="1828800"/>
          </a:xfrm>
          <a:prstGeom prst="roundRect">
            <a:avLst>
              <a:gd name="adj" fmla="val 4000"/>
            </a:avLst>
          </a:prstGeom>
          <a:solidFill>
            <a:srgbClr val="E6F1F2"/>
          </a:solidFill>
          <a:ln w="12700">
            <a:solidFill>
              <a:srgbClr val="0E6E7A"/>
            </a:solidFill>
            <a:prstDash val="solid"/>
          </a:ln>
        </p:spPr>
      </p:sp>
      <p:sp>
        <p:nvSpPr>
          <p:cNvPr id="18" name="Text 15"/>
          <p:cNvSpPr txBox="1"/>
          <p:nvPr/>
        </p:nvSpPr>
        <p:spPr>
          <a:xfrm>
            <a:off x="777240" y="3474720"/>
            <a:ext cx="3108960" cy="457200"/>
          </a:xfrm>
          <a:prstGeom prst="rect">
            <a:avLst/>
          </a:prstGeom>
          <a:noFill/>
          <a:ln/>
        </p:spPr>
        <p:txBody>
          <a:bodyPr wrap="square" lIns="0" tIns="0" rIns="0" bIns="0" rtlCol="0" anchor="t"/>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모뎀</a:t>
            </a:r>
            <a:endParaRPr lang="en-US" sz="1900" dirty="0"/>
          </a:p>
        </p:txBody>
      </p:sp>
      <p:sp>
        <p:nvSpPr>
          <p:cNvPr id="19" name="Text 16"/>
          <p:cNvSpPr txBox="1"/>
          <p:nvPr/>
        </p:nvSpPr>
        <p:spPr>
          <a:xfrm>
            <a:off x="777240" y="3931920"/>
            <a:ext cx="3108960" cy="320040"/>
          </a:xfrm>
          <a:prstGeom prst="rect">
            <a:avLst/>
          </a:prstGeom>
          <a:noFill/>
          <a:ln/>
        </p:spPr>
        <p:txBody>
          <a:bodyPr wrap="square" lIns="0" tIns="0" rIns="0" bIns="0" rtlCol="0" anchor="t"/>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MODEM</a:t>
            </a:r>
            <a:endParaRPr lang="en-US" sz="1300" dirty="0"/>
          </a:p>
        </p:txBody>
      </p:sp>
      <p:sp>
        <p:nvSpPr>
          <p:cNvPr id="20" name="Text 17"/>
          <p:cNvSpPr txBox="1"/>
          <p:nvPr/>
        </p:nvSpPr>
        <p:spPr>
          <a:xfrm>
            <a:off x="777240" y="4297680"/>
            <a:ext cx="310896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변·복조기 · 디지털 신호 → 아날로그 전송로</a:t>
            </a:r>
            <a:endParaRPr lang="en-US" sz="1400" dirty="0"/>
          </a:p>
        </p:txBody>
      </p:sp>
      <p:sp>
        <p:nvSpPr>
          <p:cNvPr id="21" name="Shape 18"/>
          <p:cNvSpPr/>
          <p:nvPr/>
        </p:nvSpPr>
        <p:spPr>
          <a:xfrm>
            <a:off x="4297680" y="3337560"/>
            <a:ext cx="3566160" cy="1828800"/>
          </a:xfrm>
          <a:prstGeom prst="roundRect">
            <a:avLst>
              <a:gd name="adj" fmla="val 4000"/>
            </a:avLst>
          </a:prstGeom>
          <a:solidFill>
            <a:srgbClr val="E6F1F2"/>
          </a:solidFill>
          <a:ln w="12700">
            <a:solidFill>
              <a:srgbClr val="0E6E7A"/>
            </a:solidFill>
            <a:prstDash val="solid"/>
          </a:ln>
        </p:spPr>
      </p:sp>
      <p:sp>
        <p:nvSpPr>
          <p:cNvPr id="22" name="Text 19"/>
          <p:cNvSpPr txBox="1"/>
          <p:nvPr/>
        </p:nvSpPr>
        <p:spPr>
          <a:xfrm>
            <a:off x="4526280" y="3474720"/>
            <a:ext cx="3108960" cy="457200"/>
          </a:xfrm>
          <a:prstGeom prst="rect">
            <a:avLst/>
          </a:prstGeom>
          <a:noFill/>
          <a:ln/>
        </p:spPr>
        <p:txBody>
          <a:bodyPr wrap="square" lIns="0" tIns="0" rIns="0" bIns="0" rtlCol="0" anchor="t"/>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DSU</a:t>
            </a:r>
            <a:endParaRPr lang="en-US" sz="1900" dirty="0"/>
          </a:p>
        </p:txBody>
      </p:sp>
      <p:sp>
        <p:nvSpPr>
          <p:cNvPr id="23" name="Text 20"/>
          <p:cNvSpPr txBox="1"/>
          <p:nvPr/>
        </p:nvSpPr>
        <p:spPr>
          <a:xfrm>
            <a:off x="4526280" y="3931920"/>
            <a:ext cx="3108960" cy="320040"/>
          </a:xfrm>
          <a:prstGeom prst="rect">
            <a:avLst/>
          </a:prstGeom>
          <a:noFill/>
          <a:ln/>
        </p:spPr>
        <p:txBody>
          <a:bodyPr wrap="square" lIns="0" tIns="0" rIns="0" bIns="0" rtlCol="0" anchor="t"/>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Digital Service Unit</a:t>
            </a:r>
            <a:endParaRPr lang="en-US" sz="1300" dirty="0"/>
          </a:p>
        </p:txBody>
      </p:sp>
      <p:sp>
        <p:nvSpPr>
          <p:cNvPr id="24" name="Text 21"/>
          <p:cNvSpPr txBox="1"/>
          <p:nvPr/>
        </p:nvSpPr>
        <p:spPr>
          <a:xfrm>
            <a:off x="4526280" y="4297680"/>
            <a:ext cx="310896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디지털 신호 → 디지털 전송로</a:t>
            </a:r>
            <a:endParaRPr lang="en-US" sz="1400" dirty="0"/>
          </a:p>
        </p:txBody>
      </p:sp>
      <p:sp>
        <p:nvSpPr>
          <p:cNvPr id="25" name="Shape 22"/>
          <p:cNvSpPr/>
          <p:nvPr/>
        </p:nvSpPr>
        <p:spPr>
          <a:xfrm>
            <a:off x="8046720" y="3337560"/>
            <a:ext cx="3566160" cy="1828800"/>
          </a:xfrm>
          <a:prstGeom prst="roundRect">
            <a:avLst>
              <a:gd name="adj" fmla="val 4000"/>
            </a:avLst>
          </a:prstGeom>
          <a:solidFill>
            <a:srgbClr val="FFFFFF"/>
          </a:solidFill>
          <a:ln w="12700">
            <a:solidFill>
              <a:srgbClr val="9AA5AD"/>
            </a:solidFill>
            <a:prstDash val="solid"/>
          </a:ln>
        </p:spPr>
      </p:sp>
      <p:sp>
        <p:nvSpPr>
          <p:cNvPr id="26" name="Text 23"/>
          <p:cNvSpPr txBox="1"/>
          <p:nvPr/>
        </p:nvSpPr>
        <p:spPr>
          <a:xfrm>
            <a:off x="8275320" y="3474720"/>
            <a:ext cx="3108960" cy="457200"/>
          </a:xfrm>
          <a:prstGeom prst="rect">
            <a:avLst/>
          </a:prstGeom>
          <a:noFill/>
          <a:ln/>
        </p:spPr>
        <p:txBody>
          <a:bodyPr wrap="square" lIns="0" tIns="0" rIns="0" bIns="0" rtlCol="0" anchor="t"/>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무선 AP · 광플랫폼</a:t>
            </a:r>
            <a:endParaRPr lang="en-US" sz="1900" dirty="0"/>
          </a:p>
        </p:txBody>
      </p:sp>
      <p:sp>
        <p:nvSpPr>
          <p:cNvPr id="27" name="Text 24"/>
          <p:cNvSpPr txBox="1"/>
          <p:nvPr/>
        </p:nvSpPr>
        <p:spPr>
          <a:xfrm>
            <a:off x="8275320" y="3931920"/>
            <a:ext cx="3108960" cy="320040"/>
          </a:xfrm>
          <a:prstGeom prst="rect">
            <a:avLst/>
          </a:prstGeom>
          <a:noFill/>
          <a:ln/>
        </p:spPr>
        <p:txBody>
          <a:bodyPr wrap="square" lIns="0" tIns="0" rIns="0" bIns="0" rtlCol="0" anchor="t"/>
          <a:lstStyle/>
          <a:p>
            <a:pPr indent="0" marL="0">
              <a:buNone/>
            </a:pPr>
            <a:r>
              <a:rPr lang="en-US" sz="1300" b="1" dirty="0">
                <a:solidFill>
                  <a:srgbClr val="0E6E7A"/>
                </a:solidFill>
                <a:latin typeface="맑은 고딕" pitchFamily="34" charset="0"/>
                <a:ea typeface="맑은 고딕" pitchFamily="34" charset="-122"/>
                <a:cs typeface="맑은 고딕" pitchFamily="34" charset="-120"/>
              </a:rPr>
              <a:t>Access Point</a:t>
            </a:r>
            <a:endParaRPr lang="en-US" sz="1300" dirty="0"/>
          </a:p>
        </p:txBody>
      </p:sp>
      <p:sp>
        <p:nvSpPr>
          <p:cNvPr id="28" name="Text 25"/>
          <p:cNvSpPr txBox="1"/>
          <p:nvPr/>
        </p:nvSpPr>
        <p:spPr>
          <a:xfrm>
            <a:off x="8275320" y="4297680"/>
            <a:ext cx="3108960" cy="777240"/>
          </a:xfrm>
          <a:prstGeom prst="rect">
            <a:avLst/>
          </a:prstGeom>
          <a:noFill/>
          <a:ln/>
        </p:spPr>
        <p:txBody>
          <a:bodyPr wrap="square" lIns="0" tIns="0" rIns="0" bIns="0" rtlCol="0" anchor="t"/>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무선랜 구성 · 광케이블 신호 전송</a:t>
            </a:r>
            <a:endParaRPr lang="en-US" sz="1400" dirty="0"/>
          </a:p>
        </p:txBody>
      </p:sp>
      <p:sp>
        <p:nvSpPr>
          <p:cNvPr id="29" name="Shape 26"/>
          <p:cNvSpPr/>
          <p:nvPr/>
        </p:nvSpPr>
        <p:spPr>
          <a:xfrm>
            <a:off x="548640" y="5440680"/>
            <a:ext cx="11091672" cy="457200"/>
          </a:xfrm>
          <a:prstGeom prst="roundRect">
            <a:avLst>
              <a:gd name="adj" fmla="val 16000"/>
            </a:avLst>
          </a:prstGeom>
          <a:solidFill>
            <a:srgbClr val="E6F1F2"/>
          </a:solidFill>
          <a:ln w="12700">
            <a:solidFill>
              <a:srgbClr val="E6F1F2"/>
            </a:solidFill>
            <a:prstDash val="solid"/>
          </a:ln>
        </p:spPr>
      </p:sp>
      <p:sp>
        <p:nvSpPr>
          <p:cNvPr id="30" name="Text 27"/>
          <p:cNvSpPr txBox="1"/>
          <p:nvPr/>
        </p:nvSpPr>
        <p:spPr>
          <a:xfrm>
            <a:off x="777240" y="544068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모뎀 = 아날로그 전송로용 / DSU = 디지털 전송로용</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L2 · L3 장비 — 주소를 보고 판단하는 장비</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Text 2"/>
          <p:cNvSpPr txBox="1"/>
          <p:nvPr/>
        </p:nvSpPr>
        <p:spPr>
          <a:xfrm>
            <a:off x="548640" y="1325880"/>
            <a:ext cx="5486400" cy="411480"/>
          </a:xfrm>
          <a:prstGeom prst="rect">
            <a:avLst/>
          </a:prstGeom>
          <a:noFill/>
          <a:ln/>
        </p:spPr>
        <p:txBody>
          <a:bodyPr wrap="square" lIns="0" tIns="0" rIns="0" bIns="0" rtlCol="0" anchor="t"/>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L2  데이터링크 — MAC 주소</a:t>
            </a:r>
            <a:endParaRPr lang="en-US" sz="1800" dirty="0"/>
          </a:p>
        </p:txBody>
      </p:sp>
      <p:sp>
        <p:nvSpPr>
          <p:cNvPr id="6" name="Shape 3"/>
          <p:cNvSpPr/>
          <p:nvPr/>
        </p:nvSpPr>
        <p:spPr>
          <a:xfrm>
            <a:off x="548640" y="1828800"/>
            <a:ext cx="3566160" cy="1463040"/>
          </a:xfrm>
          <a:prstGeom prst="roundRect">
            <a:avLst>
              <a:gd name="adj" fmla="val 5000"/>
            </a:avLst>
          </a:prstGeom>
          <a:solidFill>
            <a:srgbClr val="FFFFFF"/>
          </a:solidFill>
          <a:ln w="12700">
            <a:solidFill>
              <a:srgbClr val="9AA5AD"/>
            </a:solidFill>
            <a:prstDash val="solid"/>
          </a:ln>
        </p:spPr>
      </p:sp>
      <p:sp>
        <p:nvSpPr>
          <p:cNvPr id="7" name="Text 4"/>
          <p:cNvSpPr txBox="1"/>
          <p:nvPr/>
        </p:nvSpPr>
        <p:spPr>
          <a:xfrm>
            <a:off x="731520" y="1965960"/>
            <a:ext cx="32004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NIC</a:t>
            </a:r>
            <a:endParaRPr lang="en-US" sz="1600" dirty="0"/>
          </a:p>
        </p:txBody>
      </p:sp>
      <p:sp>
        <p:nvSpPr>
          <p:cNvPr id="8" name="Text 5"/>
          <p:cNvSpPr txBox="1"/>
          <p:nvPr/>
        </p:nvSpPr>
        <p:spPr>
          <a:xfrm>
            <a:off x="731520" y="2423160"/>
            <a:ext cx="3200400" cy="758952"/>
          </a:xfrm>
          <a:prstGeom prst="rect">
            <a:avLst/>
          </a:prstGeom>
          <a:noFill/>
          <a:ln/>
        </p:spPr>
        <p:txBody>
          <a:bodyPr wrap="square" lIns="0" tIns="0" rIns="0" bIns="0" rtlCol="0" anchor="t"/>
          <a:lstStyle/>
          <a:p>
            <a:pPr indent="0" marL="0">
              <a:spcAft>
                <a:spcPts val="400"/>
              </a:spcAft>
              <a:buNone/>
            </a:pPr>
            <a:r>
              <a:rPr lang="en-US" sz="1400" dirty="0">
                <a:solidFill>
                  <a:srgbClr val="1E2A30"/>
                </a:solidFill>
                <a:latin typeface="맑은 고딕" pitchFamily="34" charset="0"/>
                <a:ea typeface="맑은 고딕" pitchFamily="34" charset="-122"/>
                <a:cs typeface="맑은 고딕" pitchFamily="34" charset="-120"/>
              </a:rPr>
              <a:t>호스트를 네트워크에 연동</a:t>
            </a:r>
            <a:endParaRPr lang="en-US" sz="1400" dirty="0"/>
          </a:p>
        </p:txBody>
      </p:sp>
      <p:sp>
        <p:nvSpPr>
          <p:cNvPr id="9" name="Shape 6"/>
          <p:cNvSpPr/>
          <p:nvPr/>
        </p:nvSpPr>
        <p:spPr>
          <a:xfrm>
            <a:off x="4297680" y="1828800"/>
            <a:ext cx="3566160" cy="1463040"/>
          </a:xfrm>
          <a:prstGeom prst="roundRect">
            <a:avLst>
              <a:gd name="adj" fmla="val 5000"/>
            </a:avLst>
          </a:prstGeom>
          <a:solidFill>
            <a:srgbClr val="FFFFFF"/>
          </a:solidFill>
          <a:ln w="12700">
            <a:solidFill>
              <a:srgbClr val="9AA5AD"/>
            </a:solidFill>
            <a:prstDash val="solid"/>
          </a:ln>
        </p:spPr>
      </p:sp>
      <p:sp>
        <p:nvSpPr>
          <p:cNvPr id="10" name="Text 7"/>
          <p:cNvSpPr txBox="1"/>
          <p:nvPr/>
        </p:nvSpPr>
        <p:spPr>
          <a:xfrm>
            <a:off x="4480560" y="1965960"/>
            <a:ext cx="32004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브리지 (Bridge)</a:t>
            </a:r>
            <a:endParaRPr lang="en-US" sz="1600" dirty="0"/>
          </a:p>
        </p:txBody>
      </p:sp>
      <p:sp>
        <p:nvSpPr>
          <p:cNvPr id="11" name="Text 8"/>
          <p:cNvSpPr txBox="1"/>
          <p:nvPr/>
        </p:nvSpPr>
        <p:spPr>
          <a:xfrm>
            <a:off x="4480560" y="2423160"/>
            <a:ext cx="3200400" cy="758952"/>
          </a:xfrm>
          <a:prstGeom prst="rect">
            <a:avLst/>
          </a:prstGeom>
          <a:noFill/>
          <a:ln/>
        </p:spPr>
        <p:txBody>
          <a:bodyPr wrap="square" lIns="0" tIns="0" rIns="0" bIns="0" rtlCol="0" anchor="t"/>
          <a:lstStyle/>
          <a:p>
            <a:pPr indent="0" marL="0">
              <a:spcAft>
                <a:spcPts val="400"/>
              </a:spcAft>
              <a:buNone/>
            </a:pPr>
            <a:r>
              <a:rPr lang="en-US" sz="1400" dirty="0">
                <a:solidFill>
                  <a:srgbClr val="1E2A30"/>
                </a:solidFill>
                <a:latin typeface="맑은 고딕" pitchFamily="34" charset="0"/>
                <a:ea typeface="맑은 고딕" pitchFamily="34" charset="-122"/>
                <a:cs typeface="맑은 고딕" pitchFamily="34" charset="-120"/>
              </a:rPr>
              <a:t>충돌 영역 분리</a:t>
            </a:r>
            <a:endParaRPr lang="en-US" sz="1400" dirty="0"/>
          </a:p>
        </p:txBody>
      </p:sp>
      <p:sp>
        <p:nvSpPr>
          <p:cNvPr id="12" name="Shape 9"/>
          <p:cNvSpPr/>
          <p:nvPr/>
        </p:nvSpPr>
        <p:spPr>
          <a:xfrm>
            <a:off x="8046720" y="1828800"/>
            <a:ext cx="3566160" cy="1463040"/>
          </a:xfrm>
          <a:prstGeom prst="roundRect">
            <a:avLst>
              <a:gd name="adj" fmla="val 5000"/>
            </a:avLst>
          </a:prstGeom>
          <a:solidFill>
            <a:srgbClr val="FFFFFF"/>
          </a:solidFill>
          <a:ln w="12700">
            <a:solidFill>
              <a:srgbClr val="9AA5AD"/>
            </a:solidFill>
            <a:prstDash val="solid"/>
          </a:ln>
        </p:spPr>
      </p:sp>
      <p:sp>
        <p:nvSpPr>
          <p:cNvPr id="13" name="Text 10"/>
          <p:cNvSpPr txBox="1"/>
          <p:nvPr/>
        </p:nvSpPr>
        <p:spPr>
          <a:xfrm>
            <a:off x="8229600" y="1965960"/>
            <a:ext cx="32004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스위치 (Switch)</a:t>
            </a:r>
            <a:endParaRPr lang="en-US" sz="1600" dirty="0"/>
          </a:p>
        </p:txBody>
      </p:sp>
      <p:sp>
        <p:nvSpPr>
          <p:cNvPr id="14" name="Text 11"/>
          <p:cNvSpPr txBox="1"/>
          <p:nvPr/>
        </p:nvSpPr>
        <p:spPr>
          <a:xfrm>
            <a:off x="8229600" y="2423160"/>
            <a:ext cx="3200400" cy="758952"/>
          </a:xfrm>
          <a:prstGeom prst="rect">
            <a:avLst/>
          </a:prstGeom>
          <a:noFill/>
          <a:ln/>
        </p:spPr>
        <p:txBody>
          <a:bodyPr wrap="square" lIns="0" tIns="0" rIns="0" bIns="0" rtlCol="0" anchor="t"/>
          <a:lstStyle/>
          <a:p>
            <a:pPr indent="0" marL="0">
              <a:spcAft>
                <a:spcPts val="400"/>
              </a:spcAft>
              <a:buNone/>
            </a:pPr>
            <a:r>
              <a:rPr lang="en-US" sz="1400" dirty="0">
                <a:solidFill>
                  <a:srgbClr val="1E2A30"/>
                </a:solidFill>
                <a:latin typeface="맑은 고딕" pitchFamily="34" charset="0"/>
                <a:ea typeface="맑은 고딕" pitchFamily="34" charset="-122"/>
                <a:cs typeface="맑은 고딕" pitchFamily="34" charset="-120"/>
              </a:rPr>
              <a:t>멀티포트 브리지 · 포트별 충돌 영역 분리</a:t>
            </a:r>
            <a:endParaRPr lang="en-US" sz="1400" dirty="0"/>
          </a:p>
        </p:txBody>
      </p:sp>
      <p:sp>
        <p:nvSpPr>
          <p:cNvPr id="15" name="Text 12"/>
          <p:cNvSpPr txBox="1"/>
          <p:nvPr/>
        </p:nvSpPr>
        <p:spPr>
          <a:xfrm>
            <a:off x="548640" y="3566160"/>
            <a:ext cx="5486400" cy="411480"/>
          </a:xfrm>
          <a:prstGeom prst="rect">
            <a:avLst/>
          </a:prstGeom>
          <a:noFill/>
          <a:ln/>
        </p:spPr>
        <p:txBody>
          <a:bodyPr wrap="square" lIns="0" tIns="0" rIns="0" bIns="0" rtlCol="0" anchor="t"/>
          <a:lstStyle/>
          <a:p>
            <a:pPr indent="0" marL="0">
              <a:buNone/>
            </a:pPr>
            <a:r>
              <a:rPr lang="en-US" sz="1800" b="1" dirty="0">
                <a:solidFill>
                  <a:srgbClr val="0E6E7A"/>
                </a:solidFill>
                <a:latin typeface="맑은 고딕" pitchFamily="34" charset="0"/>
                <a:ea typeface="맑은 고딕" pitchFamily="34" charset="-122"/>
                <a:cs typeface="맑은 고딕" pitchFamily="34" charset="-120"/>
              </a:rPr>
              <a:t>L3  네트워크 — IP 주소</a:t>
            </a:r>
            <a:endParaRPr lang="en-US" sz="1800" dirty="0"/>
          </a:p>
        </p:txBody>
      </p:sp>
      <p:sp>
        <p:nvSpPr>
          <p:cNvPr id="16" name="Shape 13"/>
          <p:cNvSpPr/>
          <p:nvPr/>
        </p:nvSpPr>
        <p:spPr>
          <a:xfrm>
            <a:off x="548640" y="4069080"/>
            <a:ext cx="5486400" cy="1691640"/>
          </a:xfrm>
          <a:prstGeom prst="roundRect">
            <a:avLst>
              <a:gd name="adj" fmla="val 4324"/>
            </a:avLst>
          </a:prstGeom>
          <a:solidFill>
            <a:srgbClr val="E6F1F2"/>
          </a:solidFill>
          <a:ln w="12700">
            <a:solidFill>
              <a:srgbClr val="0E6E7A"/>
            </a:solidFill>
            <a:prstDash val="solid"/>
          </a:ln>
        </p:spPr>
      </p:sp>
      <p:sp>
        <p:nvSpPr>
          <p:cNvPr id="17" name="Text 14"/>
          <p:cNvSpPr txBox="1"/>
          <p:nvPr/>
        </p:nvSpPr>
        <p:spPr>
          <a:xfrm>
            <a:off x="731520" y="4206240"/>
            <a:ext cx="512064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라우터 (Router)</a:t>
            </a:r>
            <a:endParaRPr lang="en-US" sz="1600" dirty="0"/>
          </a:p>
        </p:txBody>
      </p:sp>
      <p:sp>
        <p:nvSpPr>
          <p:cNvPr id="18" name="Text 15"/>
          <p:cNvSpPr txBox="1"/>
          <p:nvPr/>
        </p:nvSpPr>
        <p:spPr>
          <a:xfrm>
            <a:off x="731520" y="4663440"/>
            <a:ext cx="5120640" cy="98755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서로 다른 네트워크 연결 · WAN 연동</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충돌 + 브로드캐스트 영역 모두 분리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라우팅 테이블(경로) 관리</a:t>
            </a:r>
            <a:endParaRPr lang="en-US" sz="1400" dirty="0"/>
          </a:p>
        </p:txBody>
      </p:sp>
      <p:sp>
        <p:nvSpPr>
          <p:cNvPr id="19" name="Shape 16"/>
          <p:cNvSpPr/>
          <p:nvPr/>
        </p:nvSpPr>
        <p:spPr>
          <a:xfrm>
            <a:off x="6153912" y="4069080"/>
            <a:ext cx="5486400" cy="1691640"/>
          </a:xfrm>
          <a:prstGeom prst="roundRect">
            <a:avLst>
              <a:gd name="adj" fmla="val 4324"/>
            </a:avLst>
          </a:prstGeom>
          <a:solidFill>
            <a:srgbClr val="FFFFFF"/>
          </a:solidFill>
          <a:ln w="12700">
            <a:solidFill>
              <a:srgbClr val="9AA5AD"/>
            </a:solidFill>
            <a:prstDash val="solid"/>
          </a:ln>
        </p:spPr>
      </p:sp>
      <p:sp>
        <p:nvSpPr>
          <p:cNvPr id="20" name="Text 17"/>
          <p:cNvSpPr txBox="1"/>
          <p:nvPr/>
        </p:nvSpPr>
        <p:spPr>
          <a:xfrm>
            <a:off x="6336792" y="4206240"/>
            <a:ext cx="512064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L3 스위치</a:t>
            </a:r>
            <a:endParaRPr lang="en-US" sz="1600" dirty="0"/>
          </a:p>
        </p:txBody>
      </p:sp>
      <p:sp>
        <p:nvSpPr>
          <p:cNvPr id="21" name="Text 18"/>
          <p:cNvSpPr txBox="1"/>
          <p:nvPr/>
        </p:nvSpPr>
        <p:spPr>
          <a:xfrm>
            <a:off x="6336792" y="4663440"/>
            <a:ext cx="5120640" cy="98755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스위치 + 라우팅 기능 (백본 스위치)</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LAN 안의 서로 다른 네트워크(VLAN) 연동</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하드웨어 처리로 빠름</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허브 vs 스위치 — 충돌 영역의 차이</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Shape 2"/>
          <p:cNvSpPr/>
          <p:nvPr/>
        </p:nvSpPr>
        <p:spPr>
          <a:xfrm>
            <a:off x="1965960" y="1463040"/>
            <a:ext cx="2194560" cy="640080"/>
          </a:xfrm>
          <a:prstGeom prst="roundRect">
            <a:avLst>
              <a:gd name="adj" fmla="val 11429"/>
            </a:avLst>
          </a:prstGeom>
          <a:solidFill>
            <a:srgbClr val="F4F6F7"/>
          </a:solidFill>
          <a:ln w="19050">
            <a:solidFill>
              <a:srgbClr val="1E2A30"/>
            </a:solidFill>
            <a:prstDash val="solid"/>
          </a:ln>
        </p:spPr>
      </p:sp>
      <p:sp>
        <p:nvSpPr>
          <p:cNvPr id="6" name="Text 3"/>
          <p:cNvSpPr txBox="1"/>
          <p:nvPr/>
        </p:nvSpPr>
        <p:spPr>
          <a:xfrm>
            <a:off x="1965960" y="1463040"/>
            <a:ext cx="2194560" cy="64008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허브 (L1)</a:t>
            </a:r>
            <a:endParaRPr lang="en-US" sz="1600" dirty="0"/>
          </a:p>
        </p:txBody>
      </p:sp>
      <p:sp>
        <p:nvSpPr>
          <p:cNvPr id="7" name="Shape 4"/>
          <p:cNvSpPr/>
          <p:nvPr/>
        </p:nvSpPr>
        <p:spPr>
          <a:xfrm flipH="1">
            <a:off x="1234440" y="2103120"/>
            <a:ext cx="1828800" cy="640080"/>
          </a:xfrm>
          <a:prstGeom prst="line">
            <a:avLst/>
          </a:prstGeom>
          <a:noFill/>
          <a:ln w="15875">
            <a:solidFill>
              <a:srgbClr val="1E2A30"/>
            </a:solidFill>
            <a:prstDash val="solid"/>
          </a:ln>
        </p:spPr>
      </p:sp>
      <p:sp>
        <p:nvSpPr>
          <p:cNvPr id="8" name="Shape 5"/>
          <p:cNvSpPr/>
          <p:nvPr/>
        </p:nvSpPr>
        <p:spPr>
          <a:xfrm>
            <a:off x="822960" y="2743200"/>
            <a:ext cx="822960" cy="548640"/>
          </a:xfrm>
          <a:prstGeom prst="roundRect">
            <a:avLst>
              <a:gd name="adj" fmla="val 13333"/>
            </a:avLst>
          </a:prstGeom>
          <a:solidFill>
            <a:srgbClr val="FFFFFF"/>
          </a:solidFill>
          <a:ln w="12700">
            <a:solidFill>
              <a:srgbClr val="1E2A30"/>
            </a:solidFill>
            <a:prstDash val="solid"/>
          </a:ln>
        </p:spPr>
      </p:sp>
      <p:sp>
        <p:nvSpPr>
          <p:cNvPr id="9" name="Text 6"/>
          <p:cNvSpPr txBox="1"/>
          <p:nvPr/>
        </p:nvSpPr>
        <p:spPr>
          <a:xfrm>
            <a:off x="822960" y="2743200"/>
            <a:ext cx="82296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PC1</a:t>
            </a:r>
            <a:endParaRPr lang="en-US" sz="1200" dirty="0"/>
          </a:p>
        </p:txBody>
      </p:sp>
      <p:sp>
        <p:nvSpPr>
          <p:cNvPr id="10" name="Shape 7"/>
          <p:cNvSpPr/>
          <p:nvPr/>
        </p:nvSpPr>
        <p:spPr>
          <a:xfrm flipH="1">
            <a:off x="2423160" y="2103120"/>
            <a:ext cx="640080" cy="640080"/>
          </a:xfrm>
          <a:prstGeom prst="line">
            <a:avLst/>
          </a:prstGeom>
          <a:noFill/>
          <a:ln w="15875">
            <a:solidFill>
              <a:srgbClr val="1E2A30"/>
            </a:solidFill>
            <a:prstDash val="solid"/>
          </a:ln>
        </p:spPr>
      </p:sp>
      <p:sp>
        <p:nvSpPr>
          <p:cNvPr id="11" name="Shape 8"/>
          <p:cNvSpPr/>
          <p:nvPr/>
        </p:nvSpPr>
        <p:spPr>
          <a:xfrm>
            <a:off x="2011680" y="2743200"/>
            <a:ext cx="822960" cy="548640"/>
          </a:xfrm>
          <a:prstGeom prst="roundRect">
            <a:avLst>
              <a:gd name="adj" fmla="val 13333"/>
            </a:avLst>
          </a:prstGeom>
          <a:solidFill>
            <a:srgbClr val="FFFFFF"/>
          </a:solidFill>
          <a:ln w="12700">
            <a:solidFill>
              <a:srgbClr val="1E2A30"/>
            </a:solidFill>
            <a:prstDash val="solid"/>
          </a:ln>
        </p:spPr>
      </p:sp>
      <p:sp>
        <p:nvSpPr>
          <p:cNvPr id="12" name="Text 9"/>
          <p:cNvSpPr txBox="1"/>
          <p:nvPr/>
        </p:nvSpPr>
        <p:spPr>
          <a:xfrm>
            <a:off x="2011680" y="2743200"/>
            <a:ext cx="82296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PC2</a:t>
            </a:r>
            <a:endParaRPr lang="en-US" sz="1200" dirty="0"/>
          </a:p>
        </p:txBody>
      </p:sp>
      <p:sp>
        <p:nvSpPr>
          <p:cNvPr id="13" name="Shape 10"/>
          <p:cNvSpPr/>
          <p:nvPr/>
        </p:nvSpPr>
        <p:spPr>
          <a:xfrm>
            <a:off x="3063240" y="2103120"/>
            <a:ext cx="548640" cy="640080"/>
          </a:xfrm>
          <a:prstGeom prst="line">
            <a:avLst/>
          </a:prstGeom>
          <a:noFill/>
          <a:ln w="15875">
            <a:solidFill>
              <a:srgbClr val="1E2A30"/>
            </a:solidFill>
            <a:prstDash val="solid"/>
          </a:ln>
        </p:spPr>
      </p:sp>
      <p:sp>
        <p:nvSpPr>
          <p:cNvPr id="14" name="Shape 11"/>
          <p:cNvSpPr/>
          <p:nvPr/>
        </p:nvSpPr>
        <p:spPr>
          <a:xfrm>
            <a:off x="3200400" y="2743200"/>
            <a:ext cx="822960" cy="548640"/>
          </a:xfrm>
          <a:prstGeom prst="roundRect">
            <a:avLst>
              <a:gd name="adj" fmla="val 13333"/>
            </a:avLst>
          </a:prstGeom>
          <a:solidFill>
            <a:srgbClr val="FFFFFF"/>
          </a:solidFill>
          <a:ln w="12700">
            <a:solidFill>
              <a:srgbClr val="1E2A30"/>
            </a:solidFill>
            <a:prstDash val="solid"/>
          </a:ln>
        </p:spPr>
      </p:sp>
      <p:sp>
        <p:nvSpPr>
          <p:cNvPr id="15" name="Text 12"/>
          <p:cNvSpPr txBox="1"/>
          <p:nvPr/>
        </p:nvSpPr>
        <p:spPr>
          <a:xfrm>
            <a:off x="3200400" y="2743200"/>
            <a:ext cx="82296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PC3</a:t>
            </a:r>
            <a:endParaRPr lang="en-US" sz="1200" dirty="0"/>
          </a:p>
        </p:txBody>
      </p:sp>
      <p:sp>
        <p:nvSpPr>
          <p:cNvPr id="16" name="Shape 13"/>
          <p:cNvSpPr/>
          <p:nvPr/>
        </p:nvSpPr>
        <p:spPr>
          <a:xfrm>
            <a:off x="3063240" y="2103120"/>
            <a:ext cx="1737360" cy="640080"/>
          </a:xfrm>
          <a:prstGeom prst="line">
            <a:avLst/>
          </a:prstGeom>
          <a:noFill/>
          <a:ln w="15875">
            <a:solidFill>
              <a:srgbClr val="1E2A30"/>
            </a:solidFill>
            <a:prstDash val="solid"/>
          </a:ln>
        </p:spPr>
      </p:sp>
      <p:sp>
        <p:nvSpPr>
          <p:cNvPr id="17" name="Shape 14"/>
          <p:cNvSpPr/>
          <p:nvPr/>
        </p:nvSpPr>
        <p:spPr>
          <a:xfrm>
            <a:off x="4389120" y="2743200"/>
            <a:ext cx="822960" cy="548640"/>
          </a:xfrm>
          <a:prstGeom prst="roundRect">
            <a:avLst>
              <a:gd name="adj" fmla="val 13333"/>
            </a:avLst>
          </a:prstGeom>
          <a:solidFill>
            <a:srgbClr val="FFFFFF"/>
          </a:solidFill>
          <a:ln w="12700">
            <a:solidFill>
              <a:srgbClr val="1E2A30"/>
            </a:solidFill>
            <a:prstDash val="solid"/>
          </a:ln>
        </p:spPr>
      </p:sp>
      <p:sp>
        <p:nvSpPr>
          <p:cNvPr id="18" name="Text 15"/>
          <p:cNvSpPr txBox="1"/>
          <p:nvPr/>
        </p:nvSpPr>
        <p:spPr>
          <a:xfrm>
            <a:off x="4389120" y="2743200"/>
            <a:ext cx="82296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PC4</a:t>
            </a:r>
            <a:endParaRPr lang="en-US" sz="1200" dirty="0"/>
          </a:p>
        </p:txBody>
      </p:sp>
      <p:sp>
        <p:nvSpPr>
          <p:cNvPr id="19" name="Shape 16"/>
          <p:cNvSpPr/>
          <p:nvPr/>
        </p:nvSpPr>
        <p:spPr>
          <a:xfrm>
            <a:off x="685800" y="1325880"/>
            <a:ext cx="4846320" cy="2148840"/>
          </a:xfrm>
          <a:prstGeom prst="roundRect">
            <a:avLst>
              <a:gd name="adj" fmla="val 3404"/>
            </a:avLst>
          </a:prstGeom>
          <a:solidFill>
            <a:srgbClr val="FFFFFF">
              <a:alpha val="0"/>
            </a:srgbClr>
          </a:solidFill>
          <a:ln w="12700">
            <a:solidFill>
              <a:srgbClr val="0E6E7A"/>
            </a:solidFill>
            <a:prstDash val="dash"/>
          </a:ln>
        </p:spPr>
      </p:sp>
      <p:sp>
        <p:nvSpPr>
          <p:cNvPr id="20" name="Shape 17"/>
          <p:cNvSpPr/>
          <p:nvPr/>
        </p:nvSpPr>
        <p:spPr>
          <a:xfrm>
            <a:off x="7818120" y="1463040"/>
            <a:ext cx="2194560" cy="640080"/>
          </a:xfrm>
          <a:prstGeom prst="roundRect">
            <a:avLst>
              <a:gd name="adj" fmla="val 11429"/>
            </a:avLst>
          </a:prstGeom>
          <a:solidFill>
            <a:srgbClr val="F4F6F7"/>
          </a:solidFill>
          <a:ln w="19050">
            <a:solidFill>
              <a:srgbClr val="1E2A30"/>
            </a:solidFill>
            <a:prstDash val="solid"/>
          </a:ln>
        </p:spPr>
      </p:sp>
      <p:sp>
        <p:nvSpPr>
          <p:cNvPr id="21" name="Text 18"/>
          <p:cNvSpPr txBox="1"/>
          <p:nvPr/>
        </p:nvSpPr>
        <p:spPr>
          <a:xfrm>
            <a:off x="7818120" y="1463040"/>
            <a:ext cx="2194560" cy="64008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스위치 (L2)</a:t>
            </a:r>
            <a:endParaRPr lang="en-US" sz="1600" dirty="0"/>
          </a:p>
        </p:txBody>
      </p:sp>
      <p:sp>
        <p:nvSpPr>
          <p:cNvPr id="22" name="Shape 19"/>
          <p:cNvSpPr/>
          <p:nvPr/>
        </p:nvSpPr>
        <p:spPr>
          <a:xfrm flipH="1">
            <a:off x="7086600" y="2103120"/>
            <a:ext cx="1828800" cy="640080"/>
          </a:xfrm>
          <a:prstGeom prst="line">
            <a:avLst/>
          </a:prstGeom>
          <a:noFill/>
          <a:ln w="15875">
            <a:solidFill>
              <a:srgbClr val="1E2A30"/>
            </a:solidFill>
            <a:prstDash val="solid"/>
          </a:ln>
        </p:spPr>
      </p:sp>
      <p:sp>
        <p:nvSpPr>
          <p:cNvPr id="23" name="Shape 20"/>
          <p:cNvSpPr/>
          <p:nvPr/>
        </p:nvSpPr>
        <p:spPr>
          <a:xfrm>
            <a:off x="6675120" y="2743200"/>
            <a:ext cx="822960" cy="548640"/>
          </a:xfrm>
          <a:prstGeom prst="roundRect">
            <a:avLst>
              <a:gd name="adj" fmla="val 13333"/>
            </a:avLst>
          </a:prstGeom>
          <a:solidFill>
            <a:srgbClr val="FFFFFF"/>
          </a:solidFill>
          <a:ln w="12700">
            <a:solidFill>
              <a:srgbClr val="1E2A30"/>
            </a:solidFill>
            <a:prstDash val="solid"/>
          </a:ln>
        </p:spPr>
      </p:sp>
      <p:sp>
        <p:nvSpPr>
          <p:cNvPr id="24" name="Text 21"/>
          <p:cNvSpPr txBox="1"/>
          <p:nvPr/>
        </p:nvSpPr>
        <p:spPr>
          <a:xfrm>
            <a:off x="6675120" y="2743200"/>
            <a:ext cx="82296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PC1</a:t>
            </a:r>
            <a:endParaRPr lang="en-US" sz="1200" dirty="0"/>
          </a:p>
        </p:txBody>
      </p:sp>
      <p:sp>
        <p:nvSpPr>
          <p:cNvPr id="25" name="Shape 22"/>
          <p:cNvSpPr/>
          <p:nvPr/>
        </p:nvSpPr>
        <p:spPr>
          <a:xfrm>
            <a:off x="6583680" y="2377440"/>
            <a:ext cx="1005840" cy="1051560"/>
          </a:xfrm>
          <a:prstGeom prst="roundRect">
            <a:avLst>
              <a:gd name="adj" fmla="val 7273"/>
            </a:avLst>
          </a:prstGeom>
          <a:solidFill>
            <a:srgbClr val="FFFFFF">
              <a:alpha val="0"/>
            </a:srgbClr>
          </a:solidFill>
          <a:ln w="12700">
            <a:solidFill>
              <a:srgbClr val="0E6E7A"/>
            </a:solidFill>
            <a:prstDash val="dash"/>
          </a:ln>
        </p:spPr>
      </p:sp>
      <p:sp>
        <p:nvSpPr>
          <p:cNvPr id="26" name="Shape 23"/>
          <p:cNvSpPr/>
          <p:nvPr/>
        </p:nvSpPr>
        <p:spPr>
          <a:xfrm flipH="1">
            <a:off x="8275320" y="2103120"/>
            <a:ext cx="640080" cy="640080"/>
          </a:xfrm>
          <a:prstGeom prst="line">
            <a:avLst/>
          </a:prstGeom>
          <a:noFill/>
          <a:ln w="15875">
            <a:solidFill>
              <a:srgbClr val="1E2A30"/>
            </a:solidFill>
            <a:prstDash val="solid"/>
          </a:ln>
        </p:spPr>
      </p:sp>
      <p:sp>
        <p:nvSpPr>
          <p:cNvPr id="27" name="Shape 24"/>
          <p:cNvSpPr/>
          <p:nvPr/>
        </p:nvSpPr>
        <p:spPr>
          <a:xfrm>
            <a:off x="7863840" y="2743200"/>
            <a:ext cx="822960" cy="548640"/>
          </a:xfrm>
          <a:prstGeom prst="roundRect">
            <a:avLst>
              <a:gd name="adj" fmla="val 13333"/>
            </a:avLst>
          </a:prstGeom>
          <a:solidFill>
            <a:srgbClr val="FFFFFF"/>
          </a:solidFill>
          <a:ln w="12700">
            <a:solidFill>
              <a:srgbClr val="1E2A30"/>
            </a:solidFill>
            <a:prstDash val="solid"/>
          </a:ln>
        </p:spPr>
      </p:sp>
      <p:sp>
        <p:nvSpPr>
          <p:cNvPr id="28" name="Text 25"/>
          <p:cNvSpPr txBox="1"/>
          <p:nvPr/>
        </p:nvSpPr>
        <p:spPr>
          <a:xfrm>
            <a:off x="7863840" y="2743200"/>
            <a:ext cx="82296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PC2</a:t>
            </a:r>
            <a:endParaRPr lang="en-US" sz="1200" dirty="0"/>
          </a:p>
        </p:txBody>
      </p:sp>
      <p:sp>
        <p:nvSpPr>
          <p:cNvPr id="29" name="Shape 26"/>
          <p:cNvSpPr/>
          <p:nvPr/>
        </p:nvSpPr>
        <p:spPr>
          <a:xfrm>
            <a:off x="7772400" y="2377440"/>
            <a:ext cx="1005840" cy="1051560"/>
          </a:xfrm>
          <a:prstGeom prst="roundRect">
            <a:avLst>
              <a:gd name="adj" fmla="val 7273"/>
            </a:avLst>
          </a:prstGeom>
          <a:solidFill>
            <a:srgbClr val="FFFFFF">
              <a:alpha val="0"/>
            </a:srgbClr>
          </a:solidFill>
          <a:ln w="12700">
            <a:solidFill>
              <a:srgbClr val="0E6E7A"/>
            </a:solidFill>
            <a:prstDash val="dash"/>
          </a:ln>
        </p:spPr>
      </p:sp>
      <p:sp>
        <p:nvSpPr>
          <p:cNvPr id="30" name="Shape 27"/>
          <p:cNvSpPr/>
          <p:nvPr/>
        </p:nvSpPr>
        <p:spPr>
          <a:xfrm>
            <a:off x="8915400" y="2103120"/>
            <a:ext cx="548640" cy="640080"/>
          </a:xfrm>
          <a:prstGeom prst="line">
            <a:avLst/>
          </a:prstGeom>
          <a:noFill/>
          <a:ln w="15875">
            <a:solidFill>
              <a:srgbClr val="1E2A30"/>
            </a:solidFill>
            <a:prstDash val="solid"/>
          </a:ln>
        </p:spPr>
      </p:sp>
      <p:sp>
        <p:nvSpPr>
          <p:cNvPr id="31" name="Shape 28"/>
          <p:cNvSpPr/>
          <p:nvPr/>
        </p:nvSpPr>
        <p:spPr>
          <a:xfrm>
            <a:off x="9052560" y="2743200"/>
            <a:ext cx="822960" cy="548640"/>
          </a:xfrm>
          <a:prstGeom prst="roundRect">
            <a:avLst>
              <a:gd name="adj" fmla="val 13333"/>
            </a:avLst>
          </a:prstGeom>
          <a:solidFill>
            <a:srgbClr val="FFFFFF"/>
          </a:solidFill>
          <a:ln w="12700">
            <a:solidFill>
              <a:srgbClr val="1E2A30"/>
            </a:solidFill>
            <a:prstDash val="solid"/>
          </a:ln>
        </p:spPr>
      </p:sp>
      <p:sp>
        <p:nvSpPr>
          <p:cNvPr id="32" name="Text 29"/>
          <p:cNvSpPr txBox="1"/>
          <p:nvPr/>
        </p:nvSpPr>
        <p:spPr>
          <a:xfrm>
            <a:off x="9052560" y="2743200"/>
            <a:ext cx="82296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PC3</a:t>
            </a:r>
            <a:endParaRPr lang="en-US" sz="1200" dirty="0"/>
          </a:p>
        </p:txBody>
      </p:sp>
      <p:sp>
        <p:nvSpPr>
          <p:cNvPr id="33" name="Shape 30"/>
          <p:cNvSpPr/>
          <p:nvPr/>
        </p:nvSpPr>
        <p:spPr>
          <a:xfrm>
            <a:off x="8961120" y="2377440"/>
            <a:ext cx="1005840" cy="1051560"/>
          </a:xfrm>
          <a:prstGeom prst="roundRect">
            <a:avLst>
              <a:gd name="adj" fmla="val 7273"/>
            </a:avLst>
          </a:prstGeom>
          <a:solidFill>
            <a:srgbClr val="FFFFFF">
              <a:alpha val="0"/>
            </a:srgbClr>
          </a:solidFill>
          <a:ln w="12700">
            <a:solidFill>
              <a:srgbClr val="0E6E7A"/>
            </a:solidFill>
            <a:prstDash val="dash"/>
          </a:ln>
        </p:spPr>
      </p:sp>
      <p:sp>
        <p:nvSpPr>
          <p:cNvPr id="34" name="Shape 31"/>
          <p:cNvSpPr/>
          <p:nvPr/>
        </p:nvSpPr>
        <p:spPr>
          <a:xfrm>
            <a:off x="8915400" y="2103120"/>
            <a:ext cx="1737360" cy="640080"/>
          </a:xfrm>
          <a:prstGeom prst="line">
            <a:avLst/>
          </a:prstGeom>
          <a:noFill/>
          <a:ln w="15875">
            <a:solidFill>
              <a:srgbClr val="1E2A30"/>
            </a:solidFill>
            <a:prstDash val="solid"/>
          </a:ln>
        </p:spPr>
      </p:sp>
      <p:sp>
        <p:nvSpPr>
          <p:cNvPr id="35" name="Shape 32"/>
          <p:cNvSpPr/>
          <p:nvPr/>
        </p:nvSpPr>
        <p:spPr>
          <a:xfrm>
            <a:off x="10241280" y="2743200"/>
            <a:ext cx="822960" cy="548640"/>
          </a:xfrm>
          <a:prstGeom prst="roundRect">
            <a:avLst>
              <a:gd name="adj" fmla="val 13333"/>
            </a:avLst>
          </a:prstGeom>
          <a:solidFill>
            <a:srgbClr val="FFFFFF"/>
          </a:solidFill>
          <a:ln w="12700">
            <a:solidFill>
              <a:srgbClr val="1E2A30"/>
            </a:solidFill>
            <a:prstDash val="solid"/>
          </a:ln>
        </p:spPr>
      </p:sp>
      <p:sp>
        <p:nvSpPr>
          <p:cNvPr id="36" name="Text 33"/>
          <p:cNvSpPr txBox="1"/>
          <p:nvPr/>
        </p:nvSpPr>
        <p:spPr>
          <a:xfrm>
            <a:off x="10241280" y="2743200"/>
            <a:ext cx="82296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PC4</a:t>
            </a:r>
            <a:endParaRPr lang="en-US" sz="1200" dirty="0"/>
          </a:p>
        </p:txBody>
      </p:sp>
      <p:sp>
        <p:nvSpPr>
          <p:cNvPr id="37" name="Shape 34"/>
          <p:cNvSpPr/>
          <p:nvPr/>
        </p:nvSpPr>
        <p:spPr>
          <a:xfrm>
            <a:off x="10149840" y="2377440"/>
            <a:ext cx="1005840" cy="1051560"/>
          </a:xfrm>
          <a:prstGeom prst="roundRect">
            <a:avLst>
              <a:gd name="adj" fmla="val 7273"/>
            </a:avLst>
          </a:prstGeom>
          <a:solidFill>
            <a:srgbClr val="FFFFFF">
              <a:alpha val="0"/>
            </a:srgbClr>
          </a:solidFill>
          <a:ln w="12700">
            <a:solidFill>
              <a:srgbClr val="0E6E7A"/>
            </a:solidFill>
            <a:prstDash val="dash"/>
          </a:ln>
        </p:spPr>
      </p:sp>
      <p:sp>
        <p:nvSpPr>
          <p:cNvPr id="38" name="Text 35"/>
          <p:cNvSpPr txBox="1"/>
          <p:nvPr/>
        </p:nvSpPr>
        <p:spPr>
          <a:xfrm>
            <a:off x="548640" y="3566160"/>
            <a:ext cx="5120640" cy="365760"/>
          </a:xfrm>
          <a:prstGeom prst="rect">
            <a:avLst/>
          </a:prstGeom>
          <a:noFill/>
          <a:ln/>
        </p:spPr>
        <p:txBody>
          <a:bodyPr wrap="square" lIns="0" tIns="0" rIns="0" bIns="0" rtlCol="0" anchor="t"/>
          <a:lstStyle/>
          <a:p>
            <a:pPr algn="ctr" indent="0" marL="0">
              <a:buNone/>
            </a:pPr>
            <a:r>
              <a:rPr lang="en-US" sz="1400" b="1" dirty="0">
                <a:solidFill>
                  <a:srgbClr val="0E6E7A"/>
                </a:solidFill>
                <a:latin typeface="맑은 고딕" pitchFamily="34" charset="0"/>
                <a:ea typeface="맑은 고딕" pitchFamily="34" charset="-122"/>
                <a:cs typeface="맑은 고딕" pitchFamily="34" charset="-120"/>
              </a:rPr>
              <a:t>충돌 영역 1개 (전체)</a:t>
            </a:r>
            <a:endParaRPr lang="en-US" sz="1400" dirty="0"/>
          </a:p>
        </p:txBody>
      </p:sp>
      <p:sp>
        <p:nvSpPr>
          <p:cNvPr id="39" name="Text 36"/>
          <p:cNvSpPr txBox="1"/>
          <p:nvPr/>
        </p:nvSpPr>
        <p:spPr>
          <a:xfrm>
            <a:off x="6400800" y="3566160"/>
            <a:ext cx="5120640" cy="365760"/>
          </a:xfrm>
          <a:prstGeom prst="rect">
            <a:avLst/>
          </a:prstGeom>
          <a:noFill/>
          <a:ln/>
        </p:spPr>
        <p:txBody>
          <a:bodyPr wrap="square" lIns="0" tIns="0" rIns="0" bIns="0" rtlCol="0" anchor="t"/>
          <a:lstStyle/>
          <a:p>
            <a:pPr algn="ctr" indent="0" marL="0">
              <a:buNone/>
            </a:pPr>
            <a:r>
              <a:rPr lang="en-US" sz="1400" b="1" dirty="0">
                <a:solidFill>
                  <a:srgbClr val="0E6E7A"/>
                </a:solidFill>
                <a:latin typeface="맑은 고딕" pitchFamily="34" charset="0"/>
                <a:ea typeface="맑은 고딕" pitchFamily="34" charset="-122"/>
                <a:cs typeface="맑은 고딕" pitchFamily="34" charset="-120"/>
              </a:rPr>
              <a:t>충돌 영역 = 포트 수 (4개)</a:t>
            </a:r>
            <a:endParaRPr lang="en-US" sz="14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91672" cy="914400"/>
        </p:xfrm>
        <a:graphic>
          <a:graphicData uri="http://schemas.openxmlformats.org/drawingml/2006/table">
            <a:tbl>
              <a:tblPr/>
              <a:tblGrid>
                <a:gridCol w="2194560"/>
                <a:gridCol w="2651760"/>
                <a:gridCol w="3502152"/>
                <a:gridCol w="2743200"/>
              </a:tblGrid>
              <a:tr h="384048">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구분</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허브</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스위치</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라우터</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384048">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계층</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L1</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L2</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L3</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전달 방식</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모든 포트로 플러딩</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MAC 테이블 보고 해당 포트로</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IP 라우팅 테이블</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384048">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충돌 영역</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1개</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포트 수만큼</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포트(인터페이스)마다</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브로드캐스트 영역</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1개</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1개 (VLAN 으로 분리 가능)</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인터페이스마다 분리</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bl>
          </a:graphicData>
        </a:graphic>
      </p:graphicFrame>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L4 · L7 장비와 게이트웨이</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Shape 2"/>
          <p:cNvSpPr/>
          <p:nvPr/>
        </p:nvSpPr>
        <p:spPr>
          <a:xfrm>
            <a:off x="548640" y="1325880"/>
            <a:ext cx="3566160" cy="2743200"/>
          </a:xfrm>
          <a:prstGeom prst="roundRect">
            <a:avLst>
              <a:gd name="adj" fmla="val 2667"/>
            </a:avLst>
          </a:prstGeom>
          <a:solidFill>
            <a:srgbClr val="FFFFFF"/>
          </a:solidFill>
          <a:ln w="12700">
            <a:solidFill>
              <a:srgbClr val="9AA5AD"/>
            </a:solidFill>
            <a:prstDash val="solid"/>
          </a:ln>
        </p:spPr>
      </p:sp>
      <p:sp>
        <p:nvSpPr>
          <p:cNvPr id="6" name="Text 3"/>
          <p:cNvSpPr txBox="1"/>
          <p:nvPr/>
        </p:nvSpPr>
        <p:spPr>
          <a:xfrm>
            <a:off x="731520" y="1463040"/>
            <a:ext cx="3200400" cy="384048"/>
          </a:xfrm>
          <a:prstGeom prst="rect">
            <a:avLst/>
          </a:prstGeom>
          <a:noFill/>
          <a:ln/>
        </p:spPr>
        <p:txBody>
          <a:bodyPr wrap="square" lIns="0" tIns="0" rIns="0" bIns="0" rtlCol="0" anchor="ctr"/>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L4 스위치</a:t>
            </a:r>
            <a:endParaRPr lang="en-US" sz="1900" dirty="0"/>
          </a:p>
        </p:txBody>
      </p:sp>
      <p:sp>
        <p:nvSpPr>
          <p:cNvPr id="7" name="Text 4"/>
          <p:cNvSpPr txBox="1"/>
          <p:nvPr/>
        </p:nvSpPr>
        <p:spPr>
          <a:xfrm>
            <a:off x="731520" y="1920240"/>
            <a:ext cx="3200400" cy="203911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포트 번호까지 확인</a:t>
            </a:r>
            <a:endParaRPr lang="en-US" sz="1500" dirty="0"/>
          </a:p>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로드밸런싱 (부하 분산)</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웹 서버 여러 대 앞에 배치</a:t>
            </a:r>
            <a:endParaRPr lang="en-US" sz="1500" dirty="0"/>
          </a:p>
        </p:txBody>
      </p:sp>
      <p:sp>
        <p:nvSpPr>
          <p:cNvPr id="8" name="Shape 5"/>
          <p:cNvSpPr/>
          <p:nvPr/>
        </p:nvSpPr>
        <p:spPr>
          <a:xfrm>
            <a:off x="4315968" y="1325880"/>
            <a:ext cx="3566160" cy="2743200"/>
          </a:xfrm>
          <a:prstGeom prst="roundRect">
            <a:avLst>
              <a:gd name="adj" fmla="val 2667"/>
            </a:avLst>
          </a:prstGeom>
          <a:solidFill>
            <a:srgbClr val="FFFFFF"/>
          </a:solidFill>
          <a:ln w="12700">
            <a:solidFill>
              <a:srgbClr val="9AA5AD"/>
            </a:solidFill>
            <a:prstDash val="solid"/>
          </a:ln>
        </p:spPr>
      </p:sp>
      <p:sp>
        <p:nvSpPr>
          <p:cNvPr id="9" name="Text 6"/>
          <p:cNvSpPr txBox="1"/>
          <p:nvPr/>
        </p:nvSpPr>
        <p:spPr>
          <a:xfrm>
            <a:off x="4498848" y="1463040"/>
            <a:ext cx="3200400" cy="384048"/>
          </a:xfrm>
          <a:prstGeom prst="rect">
            <a:avLst/>
          </a:prstGeom>
          <a:noFill/>
          <a:ln/>
        </p:spPr>
        <p:txBody>
          <a:bodyPr wrap="square" lIns="0" tIns="0" rIns="0" bIns="0" rtlCol="0" anchor="ctr"/>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게이트웨이 (L7)</a:t>
            </a:r>
            <a:endParaRPr lang="en-US" sz="1900" dirty="0"/>
          </a:p>
        </p:txBody>
      </p:sp>
      <p:sp>
        <p:nvSpPr>
          <p:cNvPr id="10" name="Text 7"/>
          <p:cNvSpPr txBox="1"/>
          <p:nvPr/>
        </p:nvSpPr>
        <p:spPr>
          <a:xfrm>
            <a:off x="4498848" y="1920240"/>
            <a:ext cx="3200400" cy="203911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서로 다른 네트워크 연결</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예: 전화망 ↔ 홈네트워크</a:t>
            </a:r>
            <a:endParaRPr lang="en-US" sz="1500" dirty="0"/>
          </a:p>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프로토콜 변환</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홈게이트웨이</a:t>
            </a:r>
            <a:endParaRPr lang="en-US" sz="1500" dirty="0"/>
          </a:p>
        </p:txBody>
      </p:sp>
      <p:sp>
        <p:nvSpPr>
          <p:cNvPr id="11" name="Shape 8"/>
          <p:cNvSpPr/>
          <p:nvPr/>
        </p:nvSpPr>
        <p:spPr>
          <a:xfrm>
            <a:off x="8083296" y="1325880"/>
            <a:ext cx="3557016" cy="2743200"/>
          </a:xfrm>
          <a:prstGeom prst="roundRect">
            <a:avLst>
              <a:gd name="adj" fmla="val 2667"/>
            </a:avLst>
          </a:prstGeom>
          <a:solidFill>
            <a:srgbClr val="E6F1F2"/>
          </a:solidFill>
          <a:ln w="12700">
            <a:solidFill>
              <a:srgbClr val="0E6E7A"/>
            </a:solidFill>
            <a:prstDash val="solid"/>
          </a:ln>
        </p:spPr>
      </p:sp>
      <p:sp>
        <p:nvSpPr>
          <p:cNvPr id="12" name="Text 9"/>
          <p:cNvSpPr txBox="1"/>
          <p:nvPr/>
        </p:nvSpPr>
        <p:spPr>
          <a:xfrm>
            <a:off x="8266176" y="1463040"/>
            <a:ext cx="3191256" cy="384048"/>
          </a:xfrm>
          <a:prstGeom prst="rect">
            <a:avLst/>
          </a:prstGeom>
          <a:noFill/>
          <a:ln/>
        </p:spPr>
        <p:txBody>
          <a:bodyPr wrap="square" lIns="0" tIns="0" rIns="0" bIns="0" rtlCol="0" anchor="ctr"/>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L7 스위치 · 보안 장비</a:t>
            </a:r>
            <a:endParaRPr lang="en-US" sz="1900" dirty="0"/>
          </a:p>
        </p:txBody>
      </p:sp>
      <p:sp>
        <p:nvSpPr>
          <p:cNvPr id="13" name="Text 10"/>
          <p:cNvSpPr txBox="1"/>
          <p:nvPr/>
        </p:nvSpPr>
        <p:spPr>
          <a:xfrm>
            <a:off x="8266176" y="1920240"/>
            <a:ext cx="3191256" cy="203911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L7 스위치: 패킷 분석 → 공격 방어</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방화벽 · IDS · IPS</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서버 · 클라이언트(호스트)</a:t>
            </a:r>
            <a:endParaRPr lang="en-US" sz="15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91672" cy="914400"/>
        </p:xfrm>
        <a:graphic>
          <a:graphicData uri="http://schemas.openxmlformats.org/drawingml/2006/table">
            <a:tbl>
              <a:tblPr/>
              <a:tblGrid>
                <a:gridCol w="1828800"/>
                <a:gridCol w="4631436"/>
                <a:gridCol w="4631436"/>
              </a:tblGrid>
              <a:tr h="438912">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구분</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IDS (침입 탐지 시스템)</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IPS (침입 방지 시스템)</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438912">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역할</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공격을 탐지하고 알림</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공격을 탐지하고 즉시 차단</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38912">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비유</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CCTV</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CCTV + 경비원</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bl>
          </a:graphicData>
        </a:graphic>
      </p:graphicFrame>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전송매체 — 꼬임선(TP)과 광섬유</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Shape 2"/>
          <p:cNvSpPr/>
          <p:nvPr/>
        </p:nvSpPr>
        <p:spPr>
          <a:xfrm>
            <a:off x="548640" y="1325880"/>
            <a:ext cx="5394960" cy="3291840"/>
          </a:xfrm>
          <a:prstGeom prst="roundRect">
            <a:avLst>
              <a:gd name="adj" fmla="val 2222"/>
            </a:avLst>
          </a:prstGeom>
          <a:solidFill>
            <a:srgbClr val="FFFFFF"/>
          </a:solidFill>
          <a:ln w="12700">
            <a:solidFill>
              <a:srgbClr val="9AA5AD"/>
            </a:solidFill>
            <a:prstDash val="solid"/>
          </a:ln>
        </p:spPr>
      </p:sp>
      <p:sp>
        <p:nvSpPr>
          <p:cNvPr id="6" name="Text 3"/>
          <p:cNvSpPr txBox="1"/>
          <p:nvPr/>
        </p:nvSpPr>
        <p:spPr>
          <a:xfrm>
            <a:off x="731520" y="1463040"/>
            <a:ext cx="5029200" cy="384048"/>
          </a:xfrm>
          <a:prstGeom prst="rect">
            <a:avLst/>
          </a:prstGeom>
          <a:noFill/>
          <a:ln/>
        </p:spPr>
        <p:txBody>
          <a:bodyPr wrap="square" lIns="0" tIns="0" rIns="0" bIns="0" rtlCol="0" anchor="ctr"/>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꼬임선 (TP, Twisted Pair)</a:t>
            </a:r>
            <a:endParaRPr lang="en-US" sz="1900" dirty="0"/>
          </a:p>
        </p:txBody>
      </p:sp>
      <p:sp>
        <p:nvSpPr>
          <p:cNvPr id="7" name="Text 4"/>
          <p:cNvSpPr txBox="1"/>
          <p:nvPr/>
        </p:nvSpPr>
        <p:spPr>
          <a:xfrm>
            <a:off x="731520" y="1920240"/>
            <a:ext cx="5029200" cy="2587752"/>
          </a:xfrm>
          <a:prstGeom prst="rect">
            <a:avLst/>
          </a:prstGeom>
          <a:noFill/>
          <a:ln/>
        </p:spPr>
        <p:txBody>
          <a:bodyPr wrap="square" lIns="0" tIns="0" rIns="0" bIns="0" rtlCol="0" anchor="t"/>
          <a:lstStyle/>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LAN 에서 가장 많이 사용</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구리선 2가닥씩 꼬아서 사용</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꼬임 → 선 사이 전자기 유도(EMI) 감소</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저렴 · 설치 쉬움</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최대 100m (UTP 기준)</a:t>
            </a:r>
            <a:endParaRPr lang="en-US" sz="1500" dirty="0"/>
          </a:p>
        </p:txBody>
      </p:sp>
      <p:sp>
        <p:nvSpPr>
          <p:cNvPr id="8" name="Shape 5"/>
          <p:cNvSpPr/>
          <p:nvPr/>
        </p:nvSpPr>
        <p:spPr>
          <a:xfrm>
            <a:off x="6245352" y="1325880"/>
            <a:ext cx="5394960" cy="3291840"/>
          </a:xfrm>
          <a:prstGeom prst="roundRect">
            <a:avLst>
              <a:gd name="adj" fmla="val 2222"/>
            </a:avLst>
          </a:prstGeom>
          <a:solidFill>
            <a:srgbClr val="E6F1F2"/>
          </a:solidFill>
          <a:ln w="12700">
            <a:solidFill>
              <a:srgbClr val="0E6E7A"/>
            </a:solidFill>
            <a:prstDash val="solid"/>
          </a:ln>
        </p:spPr>
      </p:sp>
      <p:sp>
        <p:nvSpPr>
          <p:cNvPr id="9" name="Text 6"/>
          <p:cNvSpPr txBox="1"/>
          <p:nvPr/>
        </p:nvSpPr>
        <p:spPr>
          <a:xfrm>
            <a:off x="6428232" y="1463040"/>
            <a:ext cx="5029200" cy="384048"/>
          </a:xfrm>
          <a:prstGeom prst="rect">
            <a:avLst/>
          </a:prstGeom>
          <a:noFill/>
          <a:ln/>
        </p:spPr>
        <p:txBody>
          <a:bodyPr wrap="square" lIns="0" tIns="0" rIns="0" bIns="0" rtlCol="0" anchor="ctr"/>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광섬유 (Optical Fiber)</a:t>
            </a:r>
            <a:endParaRPr lang="en-US" sz="1900" dirty="0"/>
          </a:p>
        </p:txBody>
      </p:sp>
      <p:sp>
        <p:nvSpPr>
          <p:cNvPr id="10" name="Text 7"/>
          <p:cNvSpPr txBox="1"/>
          <p:nvPr/>
        </p:nvSpPr>
        <p:spPr>
          <a:xfrm>
            <a:off x="6428232" y="1920240"/>
            <a:ext cx="5029200" cy="258775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빛으로 신호 전송</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가늘고(세경) 가볍다</a:t>
            </a:r>
            <a:endParaRPr lang="en-US" sz="1500" dirty="0"/>
          </a:p>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전자기파 영향 없음</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대역폭 넓음 → 대용량 · 장거리</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단점: 접속 작업 어려움 · 비쌈</a:t>
            </a:r>
            <a:endParaRPr lang="en-US" sz="1500" dirty="0"/>
          </a:p>
        </p:txBody>
      </p:sp>
      <p:sp>
        <p:nvSpPr>
          <p:cNvPr id="11" name="Shape 8"/>
          <p:cNvSpPr/>
          <p:nvPr/>
        </p:nvSpPr>
        <p:spPr>
          <a:xfrm>
            <a:off x="822960" y="4937760"/>
            <a:ext cx="548640" cy="457200"/>
          </a:xfrm>
          <a:prstGeom prst="line">
            <a:avLst/>
          </a:prstGeom>
          <a:noFill/>
          <a:ln w="19050">
            <a:solidFill>
              <a:srgbClr val="1E2A30"/>
            </a:solidFill>
            <a:prstDash val="solid"/>
          </a:ln>
        </p:spPr>
      </p:sp>
      <p:sp>
        <p:nvSpPr>
          <p:cNvPr id="12" name="Shape 9"/>
          <p:cNvSpPr/>
          <p:nvPr/>
        </p:nvSpPr>
        <p:spPr>
          <a:xfrm flipV="1">
            <a:off x="822960" y="4937760"/>
            <a:ext cx="548640" cy="457200"/>
          </a:xfrm>
          <a:prstGeom prst="line">
            <a:avLst/>
          </a:prstGeom>
          <a:noFill/>
          <a:ln w="19050">
            <a:solidFill>
              <a:srgbClr val="0E6E7A"/>
            </a:solidFill>
            <a:prstDash val="solid"/>
          </a:ln>
        </p:spPr>
      </p:sp>
      <p:sp>
        <p:nvSpPr>
          <p:cNvPr id="13" name="Shape 10"/>
          <p:cNvSpPr/>
          <p:nvPr/>
        </p:nvSpPr>
        <p:spPr>
          <a:xfrm>
            <a:off x="1371600" y="4937760"/>
            <a:ext cx="548640" cy="457200"/>
          </a:xfrm>
          <a:prstGeom prst="line">
            <a:avLst/>
          </a:prstGeom>
          <a:noFill/>
          <a:ln w="19050">
            <a:solidFill>
              <a:srgbClr val="1E2A30"/>
            </a:solidFill>
            <a:prstDash val="solid"/>
          </a:ln>
        </p:spPr>
      </p:sp>
      <p:sp>
        <p:nvSpPr>
          <p:cNvPr id="14" name="Shape 11"/>
          <p:cNvSpPr/>
          <p:nvPr/>
        </p:nvSpPr>
        <p:spPr>
          <a:xfrm flipV="1">
            <a:off x="1371600" y="4937760"/>
            <a:ext cx="548640" cy="457200"/>
          </a:xfrm>
          <a:prstGeom prst="line">
            <a:avLst/>
          </a:prstGeom>
          <a:noFill/>
          <a:ln w="19050">
            <a:solidFill>
              <a:srgbClr val="0E6E7A"/>
            </a:solidFill>
            <a:prstDash val="solid"/>
          </a:ln>
        </p:spPr>
      </p:sp>
      <p:sp>
        <p:nvSpPr>
          <p:cNvPr id="15" name="Shape 12"/>
          <p:cNvSpPr/>
          <p:nvPr/>
        </p:nvSpPr>
        <p:spPr>
          <a:xfrm>
            <a:off x="1920240" y="4937760"/>
            <a:ext cx="548640" cy="457200"/>
          </a:xfrm>
          <a:prstGeom prst="line">
            <a:avLst/>
          </a:prstGeom>
          <a:noFill/>
          <a:ln w="19050">
            <a:solidFill>
              <a:srgbClr val="1E2A30"/>
            </a:solidFill>
            <a:prstDash val="solid"/>
          </a:ln>
        </p:spPr>
      </p:sp>
      <p:sp>
        <p:nvSpPr>
          <p:cNvPr id="16" name="Shape 13"/>
          <p:cNvSpPr/>
          <p:nvPr/>
        </p:nvSpPr>
        <p:spPr>
          <a:xfrm flipV="1">
            <a:off x="1920240" y="4937760"/>
            <a:ext cx="548640" cy="457200"/>
          </a:xfrm>
          <a:prstGeom prst="line">
            <a:avLst/>
          </a:prstGeom>
          <a:noFill/>
          <a:ln w="19050">
            <a:solidFill>
              <a:srgbClr val="0E6E7A"/>
            </a:solidFill>
            <a:prstDash val="solid"/>
          </a:ln>
        </p:spPr>
      </p:sp>
      <p:sp>
        <p:nvSpPr>
          <p:cNvPr id="17" name="Shape 14"/>
          <p:cNvSpPr/>
          <p:nvPr/>
        </p:nvSpPr>
        <p:spPr>
          <a:xfrm>
            <a:off x="2468880" y="4937760"/>
            <a:ext cx="548640" cy="457200"/>
          </a:xfrm>
          <a:prstGeom prst="line">
            <a:avLst/>
          </a:prstGeom>
          <a:noFill/>
          <a:ln w="19050">
            <a:solidFill>
              <a:srgbClr val="1E2A30"/>
            </a:solidFill>
            <a:prstDash val="solid"/>
          </a:ln>
        </p:spPr>
      </p:sp>
      <p:sp>
        <p:nvSpPr>
          <p:cNvPr id="18" name="Shape 15"/>
          <p:cNvSpPr/>
          <p:nvPr/>
        </p:nvSpPr>
        <p:spPr>
          <a:xfrm flipV="1">
            <a:off x="2468880" y="4937760"/>
            <a:ext cx="548640" cy="457200"/>
          </a:xfrm>
          <a:prstGeom prst="line">
            <a:avLst/>
          </a:prstGeom>
          <a:noFill/>
          <a:ln w="19050">
            <a:solidFill>
              <a:srgbClr val="0E6E7A"/>
            </a:solidFill>
            <a:prstDash val="solid"/>
          </a:ln>
        </p:spPr>
      </p:sp>
      <p:sp>
        <p:nvSpPr>
          <p:cNvPr id="19" name="Shape 16"/>
          <p:cNvSpPr/>
          <p:nvPr/>
        </p:nvSpPr>
        <p:spPr>
          <a:xfrm>
            <a:off x="3017520" y="4937760"/>
            <a:ext cx="548640" cy="457200"/>
          </a:xfrm>
          <a:prstGeom prst="line">
            <a:avLst/>
          </a:prstGeom>
          <a:noFill/>
          <a:ln w="19050">
            <a:solidFill>
              <a:srgbClr val="1E2A30"/>
            </a:solidFill>
            <a:prstDash val="solid"/>
          </a:ln>
        </p:spPr>
      </p:sp>
      <p:sp>
        <p:nvSpPr>
          <p:cNvPr id="20" name="Shape 17"/>
          <p:cNvSpPr/>
          <p:nvPr/>
        </p:nvSpPr>
        <p:spPr>
          <a:xfrm flipV="1">
            <a:off x="3017520" y="4937760"/>
            <a:ext cx="548640" cy="457200"/>
          </a:xfrm>
          <a:prstGeom prst="line">
            <a:avLst/>
          </a:prstGeom>
          <a:noFill/>
          <a:ln w="19050">
            <a:solidFill>
              <a:srgbClr val="0E6E7A"/>
            </a:solidFill>
            <a:prstDash val="solid"/>
          </a:ln>
        </p:spPr>
      </p:sp>
      <p:sp>
        <p:nvSpPr>
          <p:cNvPr id="21" name="Shape 18"/>
          <p:cNvSpPr/>
          <p:nvPr/>
        </p:nvSpPr>
        <p:spPr>
          <a:xfrm>
            <a:off x="3566160" y="4937760"/>
            <a:ext cx="548640" cy="457200"/>
          </a:xfrm>
          <a:prstGeom prst="line">
            <a:avLst/>
          </a:prstGeom>
          <a:noFill/>
          <a:ln w="19050">
            <a:solidFill>
              <a:srgbClr val="1E2A30"/>
            </a:solidFill>
            <a:prstDash val="solid"/>
          </a:ln>
        </p:spPr>
      </p:sp>
      <p:sp>
        <p:nvSpPr>
          <p:cNvPr id="22" name="Shape 19"/>
          <p:cNvSpPr/>
          <p:nvPr/>
        </p:nvSpPr>
        <p:spPr>
          <a:xfrm flipV="1">
            <a:off x="3566160" y="4937760"/>
            <a:ext cx="548640" cy="457200"/>
          </a:xfrm>
          <a:prstGeom prst="line">
            <a:avLst/>
          </a:prstGeom>
          <a:noFill/>
          <a:ln w="19050">
            <a:solidFill>
              <a:srgbClr val="0E6E7A"/>
            </a:solidFill>
            <a:prstDash val="solid"/>
          </a:ln>
        </p:spPr>
      </p:sp>
      <p:sp>
        <p:nvSpPr>
          <p:cNvPr id="23" name="Shape 20"/>
          <p:cNvSpPr/>
          <p:nvPr/>
        </p:nvSpPr>
        <p:spPr>
          <a:xfrm>
            <a:off x="4114800" y="4937760"/>
            <a:ext cx="548640" cy="457200"/>
          </a:xfrm>
          <a:prstGeom prst="line">
            <a:avLst/>
          </a:prstGeom>
          <a:noFill/>
          <a:ln w="19050">
            <a:solidFill>
              <a:srgbClr val="1E2A30"/>
            </a:solidFill>
            <a:prstDash val="solid"/>
          </a:ln>
        </p:spPr>
      </p:sp>
      <p:sp>
        <p:nvSpPr>
          <p:cNvPr id="24" name="Shape 21"/>
          <p:cNvSpPr/>
          <p:nvPr/>
        </p:nvSpPr>
        <p:spPr>
          <a:xfrm flipV="1">
            <a:off x="4114800" y="4937760"/>
            <a:ext cx="548640" cy="457200"/>
          </a:xfrm>
          <a:prstGeom prst="line">
            <a:avLst/>
          </a:prstGeom>
          <a:noFill/>
          <a:ln w="19050">
            <a:solidFill>
              <a:srgbClr val="0E6E7A"/>
            </a:solidFill>
            <a:prstDash val="solid"/>
          </a:ln>
        </p:spPr>
      </p:sp>
      <p:sp>
        <p:nvSpPr>
          <p:cNvPr id="25" name="Shape 22"/>
          <p:cNvSpPr/>
          <p:nvPr/>
        </p:nvSpPr>
        <p:spPr>
          <a:xfrm>
            <a:off x="4663440" y="4937760"/>
            <a:ext cx="548640" cy="457200"/>
          </a:xfrm>
          <a:prstGeom prst="line">
            <a:avLst/>
          </a:prstGeom>
          <a:noFill/>
          <a:ln w="19050">
            <a:solidFill>
              <a:srgbClr val="1E2A30"/>
            </a:solidFill>
            <a:prstDash val="solid"/>
          </a:ln>
        </p:spPr>
      </p:sp>
      <p:sp>
        <p:nvSpPr>
          <p:cNvPr id="26" name="Shape 23"/>
          <p:cNvSpPr/>
          <p:nvPr/>
        </p:nvSpPr>
        <p:spPr>
          <a:xfrm flipV="1">
            <a:off x="4663440" y="4937760"/>
            <a:ext cx="548640" cy="457200"/>
          </a:xfrm>
          <a:prstGeom prst="line">
            <a:avLst/>
          </a:prstGeom>
          <a:noFill/>
          <a:ln w="19050">
            <a:solidFill>
              <a:srgbClr val="0E6E7A"/>
            </a:solidFill>
            <a:prstDash val="solid"/>
          </a:ln>
        </p:spPr>
      </p:sp>
      <p:sp>
        <p:nvSpPr>
          <p:cNvPr id="27" name="Text 24"/>
          <p:cNvSpPr txBox="1"/>
          <p:nvPr/>
        </p:nvSpPr>
        <p:spPr>
          <a:xfrm>
            <a:off x="548640" y="5486400"/>
            <a:ext cx="5394960" cy="320040"/>
          </a:xfrm>
          <a:prstGeom prst="rect">
            <a:avLst/>
          </a:prstGeom>
          <a:noFill/>
          <a:ln/>
        </p:spPr>
        <p:txBody>
          <a:bodyPr wrap="square" lIns="0" tIns="0" rIns="0" bIns="0" rtlCol="0" anchor="t"/>
          <a:lstStyle/>
          <a:p>
            <a:pPr indent="0" marL="0">
              <a:buNone/>
            </a:pPr>
            <a:r>
              <a:rPr lang="en-US" sz="1200" dirty="0">
                <a:solidFill>
                  <a:srgbClr val="66737C"/>
                </a:solidFill>
                <a:latin typeface="맑은 고딕" pitchFamily="34" charset="0"/>
                <a:ea typeface="맑은 고딕" pitchFamily="34" charset="-122"/>
                <a:cs typeface="맑은 고딕" pitchFamily="34" charset="-120"/>
              </a:rPr>
              <a:t>꼬임 구조가 간섭을 상쇄</a:t>
            </a:r>
            <a:endParaRPr lang="en-US" sz="1200" dirty="0"/>
          </a:p>
        </p:txBody>
      </p:sp>
      <p:sp>
        <p:nvSpPr>
          <p:cNvPr id="28" name="Shape 25"/>
          <p:cNvSpPr/>
          <p:nvPr/>
        </p:nvSpPr>
        <p:spPr>
          <a:xfrm>
            <a:off x="6492240" y="5166360"/>
            <a:ext cx="4846320" cy="914"/>
          </a:xfrm>
          <a:prstGeom prst="line">
            <a:avLst/>
          </a:prstGeom>
          <a:noFill/>
          <a:ln w="38100">
            <a:solidFill>
              <a:srgbClr val="0E6E7A"/>
            </a:solidFill>
            <a:prstDash val="solid"/>
          </a:ln>
        </p:spPr>
      </p:sp>
      <p:sp>
        <p:nvSpPr>
          <p:cNvPr id="29" name="Shape 26"/>
          <p:cNvSpPr/>
          <p:nvPr/>
        </p:nvSpPr>
        <p:spPr>
          <a:xfrm>
            <a:off x="6492240" y="5029200"/>
            <a:ext cx="4846320" cy="914"/>
          </a:xfrm>
          <a:prstGeom prst="line">
            <a:avLst/>
          </a:prstGeom>
          <a:noFill/>
          <a:ln w="12700">
            <a:solidFill>
              <a:srgbClr val="9AA5AD"/>
            </a:solidFill>
            <a:prstDash val="solid"/>
          </a:ln>
        </p:spPr>
      </p:sp>
      <p:sp>
        <p:nvSpPr>
          <p:cNvPr id="30" name="Shape 27"/>
          <p:cNvSpPr/>
          <p:nvPr/>
        </p:nvSpPr>
        <p:spPr>
          <a:xfrm>
            <a:off x="6492240" y="5303520"/>
            <a:ext cx="4846320" cy="914"/>
          </a:xfrm>
          <a:prstGeom prst="line">
            <a:avLst/>
          </a:prstGeom>
          <a:noFill/>
          <a:ln w="12700">
            <a:solidFill>
              <a:srgbClr val="9AA5AD"/>
            </a:solidFill>
            <a:prstDash val="solid"/>
          </a:ln>
        </p:spPr>
      </p:sp>
      <p:sp>
        <p:nvSpPr>
          <p:cNvPr id="31" name="Text 28"/>
          <p:cNvSpPr txBox="1"/>
          <p:nvPr/>
        </p:nvSpPr>
        <p:spPr>
          <a:xfrm>
            <a:off x="6245352" y="5486400"/>
            <a:ext cx="5394960" cy="320040"/>
          </a:xfrm>
          <a:prstGeom prst="rect">
            <a:avLst/>
          </a:prstGeom>
          <a:noFill/>
          <a:ln/>
        </p:spPr>
        <p:txBody>
          <a:bodyPr wrap="square" lIns="0" tIns="0" rIns="0" bIns="0" rtlCol="0" anchor="t"/>
          <a:lstStyle/>
          <a:p>
            <a:pPr indent="0" marL="0">
              <a:buNone/>
            </a:pPr>
            <a:r>
              <a:rPr lang="en-US" sz="1200" dirty="0">
                <a:solidFill>
                  <a:srgbClr val="66737C"/>
                </a:solidFill>
                <a:latin typeface="맑은 고딕" pitchFamily="34" charset="0"/>
                <a:ea typeface="맑은 고딕" pitchFamily="34" charset="-122"/>
                <a:cs typeface="맑은 고딕" pitchFamily="34" charset="-120"/>
              </a:rPr>
              <a:t>코어(빛) · 클래딩 구조</a:t>
            </a:r>
            <a:endParaRPr lang="en-US" sz="12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100BASE-TX 읽는 법</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Shape 2"/>
          <p:cNvSpPr/>
          <p:nvPr/>
        </p:nvSpPr>
        <p:spPr>
          <a:xfrm>
            <a:off x="548640" y="1371600"/>
            <a:ext cx="3566160" cy="1188720"/>
          </a:xfrm>
          <a:prstGeom prst="roundRect">
            <a:avLst>
              <a:gd name="adj" fmla="val 6154"/>
            </a:avLst>
          </a:prstGeom>
          <a:solidFill>
            <a:srgbClr val="E6F1F2"/>
          </a:solidFill>
          <a:ln w="19050">
            <a:solidFill>
              <a:srgbClr val="0E6E7A"/>
            </a:solidFill>
            <a:prstDash val="solid"/>
          </a:ln>
        </p:spPr>
      </p:sp>
      <p:sp>
        <p:nvSpPr>
          <p:cNvPr id="6" name="Text 3"/>
          <p:cNvSpPr txBox="1"/>
          <p:nvPr/>
        </p:nvSpPr>
        <p:spPr>
          <a:xfrm>
            <a:off x="548640" y="1371600"/>
            <a:ext cx="3566160" cy="1188720"/>
          </a:xfrm>
          <a:prstGeom prst="rect">
            <a:avLst/>
          </a:prstGeom>
          <a:noFill/>
          <a:ln/>
        </p:spPr>
        <p:txBody>
          <a:bodyPr wrap="square" lIns="0" tIns="0" rIns="0" bIns="0" rtlCol="0" anchor="ctr"/>
          <a:lstStyle/>
          <a:p>
            <a:pPr algn="ctr" indent="0" marL="0">
              <a:buNone/>
            </a:pPr>
            <a:r>
              <a:rPr lang="en-US" sz="4400" b="1" dirty="0">
                <a:solidFill>
                  <a:srgbClr val="1E2A30"/>
                </a:solidFill>
                <a:latin typeface="Consolas" pitchFamily="34" charset="0"/>
                <a:ea typeface="Consolas" pitchFamily="34" charset="-122"/>
                <a:cs typeface="Consolas" pitchFamily="34" charset="-120"/>
              </a:rPr>
              <a:t>100</a:t>
            </a:r>
            <a:endParaRPr lang="en-US" sz="4400" dirty="0"/>
          </a:p>
        </p:txBody>
      </p:sp>
      <p:sp>
        <p:nvSpPr>
          <p:cNvPr id="7" name="Shape 4"/>
          <p:cNvSpPr/>
          <p:nvPr/>
        </p:nvSpPr>
        <p:spPr>
          <a:xfrm>
            <a:off x="2331720" y="2606040"/>
            <a:ext cx="914" cy="411480"/>
          </a:xfrm>
          <a:prstGeom prst="line">
            <a:avLst/>
          </a:prstGeom>
          <a:noFill/>
          <a:ln w="19050">
            <a:solidFill>
              <a:srgbClr val="0E6E7A"/>
            </a:solidFill>
            <a:prstDash val="solid"/>
            <a:tailEnd type="triangle"/>
          </a:ln>
        </p:spPr>
      </p:sp>
      <p:sp>
        <p:nvSpPr>
          <p:cNvPr id="8" name="Text 5"/>
          <p:cNvSpPr txBox="1"/>
          <p:nvPr/>
        </p:nvSpPr>
        <p:spPr>
          <a:xfrm>
            <a:off x="548640" y="3063240"/>
            <a:ext cx="3566160" cy="411480"/>
          </a:xfrm>
          <a:prstGeom prst="rect">
            <a:avLst/>
          </a:prstGeom>
          <a:noFill/>
          <a:ln/>
        </p:spPr>
        <p:txBody>
          <a:bodyPr wrap="square" lIns="0" tIns="0" rIns="0" bIns="0" rtlCol="0" anchor="t"/>
          <a:lstStyle/>
          <a:p>
            <a:pPr algn="ctr" indent="0" marL="0">
              <a:buNone/>
            </a:pPr>
            <a:r>
              <a:rPr lang="en-US" sz="1700" b="1" dirty="0">
                <a:solidFill>
                  <a:srgbClr val="1E2A30"/>
                </a:solidFill>
                <a:latin typeface="맑은 고딕" pitchFamily="34" charset="0"/>
                <a:ea typeface="맑은 고딕" pitchFamily="34" charset="-122"/>
                <a:cs typeface="맑은 고딕" pitchFamily="34" charset="-120"/>
              </a:rPr>
              <a:t>전송 속도</a:t>
            </a:r>
            <a:endParaRPr lang="en-US" sz="1700" dirty="0"/>
          </a:p>
        </p:txBody>
      </p:sp>
      <p:sp>
        <p:nvSpPr>
          <p:cNvPr id="9" name="Text 6"/>
          <p:cNvSpPr txBox="1"/>
          <p:nvPr/>
        </p:nvSpPr>
        <p:spPr>
          <a:xfrm>
            <a:off x="548640" y="3520440"/>
            <a:ext cx="3566160" cy="822960"/>
          </a:xfrm>
          <a:prstGeom prst="rect">
            <a:avLst/>
          </a:prstGeom>
          <a:noFill/>
          <a:ln/>
        </p:spPr>
        <p:txBody>
          <a:bodyPr wrap="square" lIns="0" tIns="0" rIns="0" bIns="0" rtlCol="0" anchor="t"/>
          <a:lstStyle/>
          <a:p>
            <a:pPr algn="ctr" indent="0" marL="0">
              <a:buNone/>
            </a:pPr>
            <a:r>
              <a:rPr lang="en-US" sz="1500" dirty="0">
                <a:solidFill>
                  <a:srgbClr val="1E2A30"/>
                </a:solidFill>
                <a:latin typeface="맑은 고딕" pitchFamily="34" charset="0"/>
                <a:ea typeface="맑은 고딕" pitchFamily="34" charset="-122"/>
                <a:cs typeface="맑은 고딕" pitchFamily="34" charset="-120"/>
              </a:rPr>
              <a:t>100 Mbps</a:t>
            </a:r>
            <a:endParaRPr lang="en-US" sz="1500" dirty="0"/>
          </a:p>
        </p:txBody>
      </p:sp>
      <p:sp>
        <p:nvSpPr>
          <p:cNvPr id="10" name="Shape 7"/>
          <p:cNvSpPr/>
          <p:nvPr/>
        </p:nvSpPr>
        <p:spPr>
          <a:xfrm>
            <a:off x="4297680" y="1371600"/>
            <a:ext cx="3566160" cy="1188720"/>
          </a:xfrm>
          <a:prstGeom prst="roundRect">
            <a:avLst>
              <a:gd name="adj" fmla="val 6154"/>
            </a:avLst>
          </a:prstGeom>
          <a:solidFill>
            <a:srgbClr val="E6F1F2"/>
          </a:solidFill>
          <a:ln w="19050">
            <a:solidFill>
              <a:srgbClr val="0E6E7A"/>
            </a:solidFill>
            <a:prstDash val="solid"/>
          </a:ln>
        </p:spPr>
      </p:sp>
      <p:sp>
        <p:nvSpPr>
          <p:cNvPr id="11" name="Text 8"/>
          <p:cNvSpPr txBox="1"/>
          <p:nvPr/>
        </p:nvSpPr>
        <p:spPr>
          <a:xfrm>
            <a:off x="4297680" y="1371600"/>
            <a:ext cx="3566160" cy="1188720"/>
          </a:xfrm>
          <a:prstGeom prst="rect">
            <a:avLst/>
          </a:prstGeom>
          <a:noFill/>
          <a:ln/>
        </p:spPr>
        <p:txBody>
          <a:bodyPr wrap="square" lIns="0" tIns="0" rIns="0" bIns="0" rtlCol="0" anchor="ctr"/>
          <a:lstStyle/>
          <a:p>
            <a:pPr algn="ctr" indent="0" marL="0">
              <a:buNone/>
            </a:pPr>
            <a:r>
              <a:rPr lang="en-US" sz="4400" b="1" dirty="0">
                <a:solidFill>
                  <a:srgbClr val="1E2A30"/>
                </a:solidFill>
                <a:latin typeface="Consolas" pitchFamily="34" charset="0"/>
                <a:ea typeface="Consolas" pitchFamily="34" charset="-122"/>
                <a:cs typeface="Consolas" pitchFamily="34" charset="-120"/>
              </a:rPr>
              <a:t>BASE</a:t>
            </a:r>
            <a:endParaRPr lang="en-US" sz="4400" dirty="0"/>
          </a:p>
        </p:txBody>
      </p:sp>
      <p:sp>
        <p:nvSpPr>
          <p:cNvPr id="12" name="Shape 9"/>
          <p:cNvSpPr/>
          <p:nvPr/>
        </p:nvSpPr>
        <p:spPr>
          <a:xfrm>
            <a:off x="6080760" y="2606040"/>
            <a:ext cx="914" cy="411480"/>
          </a:xfrm>
          <a:prstGeom prst="line">
            <a:avLst/>
          </a:prstGeom>
          <a:noFill/>
          <a:ln w="19050">
            <a:solidFill>
              <a:srgbClr val="0E6E7A"/>
            </a:solidFill>
            <a:prstDash val="solid"/>
            <a:tailEnd type="triangle"/>
          </a:ln>
        </p:spPr>
      </p:sp>
      <p:sp>
        <p:nvSpPr>
          <p:cNvPr id="13" name="Text 10"/>
          <p:cNvSpPr txBox="1"/>
          <p:nvPr/>
        </p:nvSpPr>
        <p:spPr>
          <a:xfrm>
            <a:off x="4297680" y="3063240"/>
            <a:ext cx="3566160" cy="411480"/>
          </a:xfrm>
          <a:prstGeom prst="rect">
            <a:avLst/>
          </a:prstGeom>
          <a:noFill/>
          <a:ln/>
        </p:spPr>
        <p:txBody>
          <a:bodyPr wrap="square" lIns="0" tIns="0" rIns="0" bIns="0" rtlCol="0" anchor="t"/>
          <a:lstStyle/>
          <a:p>
            <a:pPr algn="ctr" indent="0" marL="0">
              <a:buNone/>
            </a:pPr>
            <a:r>
              <a:rPr lang="en-US" sz="1700" b="1" dirty="0">
                <a:solidFill>
                  <a:srgbClr val="1E2A30"/>
                </a:solidFill>
                <a:latin typeface="맑은 고딕" pitchFamily="34" charset="0"/>
                <a:ea typeface="맑은 고딕" pitchFamily="34" charset="-122"/>
                <a:cs typeface="맑은 고딕" pitchFamily="34" charset="-120"/>
              </a:rPr>
              <a:t>전송 방식</a:t>
            </a:r>
            <a:endParaRPr lang="en-US" sz="1700" dirty="0"/>
          </a:p>
        </p:txBody>
      </p:sp>
      <p:sp>
        <p:nvSpPr>
          <p:cNvPr id="14" name="Text 11"/>
          <p:cNvSpPr txBox="1"/>
          <p:nvPr/>
        </p:nvSpPr>
        <p:spPr>
          <a:xfrm>
            <a:off x="4297680" y="3520440"/>
            <a:ext cx="3566160" cy="822960"/>
          </a:xfrm>
          <a:prstGeom prst="rect">
            <a:avLst/>
          </a:prstGeom>
          <a:noFill/>
          <a:ln/>
        </p:spPr>
        <p:txBody>
          <a:bodyPr wrap="square" lIns="0" tIns="0" rIns="0" bIns="0" rtlCol="0" anchor="t"/>
          <a:lstStyle/>
          <a:p>
            <a:pPr algn="ctr" indent="0" marL="0">
              <a:buNone/>
            </a:pPr>
            <a:r>
              <a:rPr lang="en-US" sz="1500" dirty="0">
                <a:solidFill>
                  <a:srgbClr val="1E2A30"/>
                </a:solidFill>
                <a:latin typeface="맑은 고딕" pitchFamily="34" charset="0"/>
                <a:ea typeface="맑은 고딕" pitchFamily="34" charset="-122"/>
                <a:cs typeface="맑은 고딕" pitchFamily="34" charset="-120"/>
              </a:rPr>
              <a:t>베이스밴드(기저대역)</a:t>
            </a:r>
            <a:endParaRPr lang="en-US" sz="1500" dirty="0"/>
          </a:p>
          <a:p>
            <a:pPr algn="ctr" indent="0" marL="0">
              <a:buNone/>
            </a:pPr>
            <a:r>
              <a:rPr lang="en-US" sz="1500" dirty="0">
                <a:solidFill>
                  <a:srgbClr val="1E2A30"/>
                </a:solidFill>
                <a:latin typeface="맑은 고딕" pitchFamily="34" charset="0"/>
                <a:ea typeface="맑은 고딕" pitchFamily="34" charset="-122"/>
                <a:cs typeface="맑은 고딕" pitchFamily="34" charset="-120"/>
              </a:rPr>
              <a:t>변조하지 않음</a:t>
            </a:r>
            <a:endParaRPr lang="en-US" sz="1500" dirty="0"/>
          </a:p>
        </p:txBody>
      </p:sp>
      <p:sp>
        <p:nvSpPr>
          <p:cNvPr id="15" name="Shape 12"/>
          <p:cNvSpPr/>
          <p:nvPr/>
        </p:nvSpPr>
        <p:spPr>
          <a:xfrm>
            <a:off x="8046720" y="1371600"/>
            <a:ext cx="3566160" cy="1188720"/>
          </a:xfrm>
          <a:prstGeom prst="roundRect">
            <a:avLst>
              <a:gd name="adj" fmla="val 6154"/>
            </a:avLst>
          </a:prstGeom>
          <a:solidFill>
            <a:srgbClr val="E6F1F2"/>
          </a:solidFill>
          <a:ln w="19050">
            <a:solidFill>
              <a:srgbClr val="0E6E7A"/>
            </a:solidFill>
            <a:prstDash val="solid"/>
          </a:ln>
        </p:spPr>
      </p:sp>
      <p:sp>
        <p:nvSpPr>
          <p:cNvPr id="16" name="Text 13"/>
          <p:cNvSpPr txBox="1"/>
          <p:nvPr/>
        </p:nvSpPr>
        <p:spPr>
          <a:xfrm>
            <a:off x="8046720" y="1371600"/>
            <a:ext cx="3566160" cy="1188720"/>
          </a:xfrm>
          <a:prstGeom prst="rect">
            <a:avLst/>
          </a:prstGeom>
          <a:noFill/>
          <a:ln/>
        </p:spPr>
        <p:txBody>
          <a:bodyPr wrap="square" lIns="0" tIns="0" rIns="0" bIns="0" rtlCol="0" anchor="ctr"/>
          <a:lstStyle/>
          <a:p>
            <a:pPr algn="ctr" indent="0" marL="0">
              <a:buNone/>
            </a:pPr>
            <a:r>
              <a:rPr lang="en-US" sz="4400" b="1" dirty="0">
                <a:solidFill>
                  <a:srgbClr val="1E2A30"/>
                </a:solidFill>
                <a:latin typeface="Consolas" pitchFamily="34" charset="0"/>
                <a:ea typeface="Consolas" pitchFamily="34" charset="-122"/>
                <a:cs typeface="Consolas" pitchFamily="34" charset="-120"/>
              </a:rPr>
              <a:t>-TX</a:t>
            </a:r>
            <a:endParaRPr lang="en-US" sz="4400" dirty="0"/>
          </a:p>
        </p:txBody>
      </p:sp>
      <p:sp>
        <p:nvSpPr>
          <p:cNvPr id="17" name="Shape 14"/>
          <p:cNvSpPr/>
          <p:nvPr/>
        </p:nvSpPr>
        <p:spPr>
          <a:xfrm>
            <a:off x="9829800" y="2606040"/>
            <a:ext cx="914" cy="411480"/>
          </a:xfrm>
          <a:prstGeom prst="line">
            <a:avLst/>
          </a:prstGeom>
          <a:noFill/>
          <a:ln w="19050">
            <a:solidFill>
              <a:srgbClr val="0E6E7A"/>
            </a:solidFill>
            <a:prstDash val="solid"/>
            <a:tailEnd type="triangle"/>
          </a:ln>
        </p:spPr>
      </p:sp>
      <p:sp>
        <p:nvSpPr>
          <p:cNvPr id="18" name="Text 15"/>
          <p:cNvSpPr txBox="1"/>
          <p:nvPr/>
        </p:nvSpPr>
        <p:spPr>
          <a:xfrm>
            <a:off x="8046720" y="3063240"/>
            <a:ext cx="3566160" cy="411480"/>
          </a:xfrm>
          <a:prstGeom prst="rect">
            <a:avLst/>
          </a:prstGeom>
          <a:noFill/>
          <a:ln/>
        </p:spPr>
        <p:txBody>
          <a:bodyPr wrap="square" lIns="0" tIns="0" rIns="0" bIns="0" rtlCol="0" anchor="t"/>
          <a:lstStyle/>
          <a:p>
            <a:pPr algn="ctr" indent="0" marL="0">
              <a:buNone/>
            </a:pPr>
            <a:r>
              <a:rPr lang="en-US" sz="1700" b="1" dirty="0">
                <a:solidFill>
                  <a:srgbClr val="1E2A30"/>
                </a:solidFill>
                <a:latin typeface="맑은 고딕" pitchFamily="34" charset="0"/>
                <a:ea typeface="맑은 고딕" pitchFamily="34" charset="-122"/>
                <a:cs typeface="맑은 고딕" pitchFamily="34" charset="-120"/>
              </a:rPr>
              <a:t>전송 매체</a:t>
            </a:r>
            <a:endParaRPr lang="en-US" sz="1700" dirty="0"/>
          </a:p>
        </p:txBody>
      </p:sp>
      <p:sp>
        <p:nvSpPr>
          <p:cNvPr id="19" name="Text 16"/>
          <p:cNvSpPr txBox="1"/>
          <p:nvPr/>
        </p:nvSpPr>
        <p:spPr>
          <a:xfrm>
            <a:off x="8046720" y="3520440"/>
            <a:ext cx="3566160" cy="822960"/>
          </a:xfrm>
          <a:prstGeom prst="rect">
            <a:avLst/>
          </a:prstGeom>
          <a:noFill/>
          <a:ln/>
        </p:spPr>
        <p:txBody>
          <a:bodyPr wrap="square" lIns="0" tIns="0" rIns="0" bIns="0" rtlCol="0" anchor="t"/>
          <a:lstStyle/>
          <a:p>
            <a:pPr algn="ctr" indent="0" marL="0">
              <a:buNone/>
            </a:pPr>
            <a:r>
              <a:rPr lang="en-US" sz="1500" dirty="0">
                <a:solidFill>
                  <a:srgbClr val="1E2A30"/>
                </a:solidFill>
                <a:latin typeface="맑은 고딕" pitchFamily="34" charset="0"/>
                <a:ea typeface="맑은 고딕" pitchFamily="34" charset="-122"/>
                <a:cs typeface="맑은 고딕" pitchFamily="34" charset="-120"/>
              </a:rPr>
              <a:t>꼬임선(TP)</a:t>
            </a:r>
            <a:endParaRPr lang="en-US" sz="1500" dirty="0"/>
          </a:p>
          <a:p>
            <a:pPr algn="ctr" indent="0" marL="0">
              <a:buNone/>
            </a:pPr>
            <a:r>
              <a:rPr lang="en-US" sz="1500" dirty="0">
                <a:solidFill>
                  <a:srgbClr val="1E2A30"/>
                </a:solidFill>
                <a:latin typeface="맑은 고딕" pitchFamily="34" charset="0"/>
                <a:ea typeface="맑은 고딕" pitchFamily="34" charset="-122"/>
                <a:cs typeface="맑은 고딕" pitchFamily="34" charset="-120"/>
              </a:rPr>
              <a:t>최대 100 m</a:t>
            </a:r>
            <a:endParaRPr lang="en-US" sz="15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11091672" cy="914400"/>
        </p:xfrm>
        <a:graphic>
          <a:graphicData uri="http://schemas.openxmlformats.org/drawingml/2006/table">
            <a:tbl>
              <a:tblPr/>
              <a:tblGrid>
                <a:gridCol w="3657600"/>
                <a:gridCol w="3200400"/>
                <a:gridCol w="4233672"/>
              </a:tblGrid>
              <a:tr h="329184">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규격</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속도</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매체</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329184">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10BASE-T</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10 Mbps</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꼬임선</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100BASE-TX</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100 Mbps</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꼬임선 (Cat5)</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329184">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1000BASE-T</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 Gbps</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꼬임선 (Cat5e 이상)</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329184">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1000BASE-SX / LX</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1 Gbps</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광섬유</a:t>
                      </a:r>
                      <a:endParaRPr lang="en-US" sz="13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bl>
          </a:graphicData>
        </a:graphic>
      </p:graphicFrame>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케이블 3종 — 다이렉트 · 크로스오버 · 롤오버</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Shape 2"/>
          <p:cNvSpPr/>
          <p:nvPr/>
        </p:nvSpPr>
        <p:spPr>
          <a:xfrm>
            <a:off x="548640" y="1325880"/>
            <a:ext cx="3566160" cy="3657600"/>
          </a:xfrm>
          <a:prstGeom prst="roundRect">
            <a:avLst>
              <a:gd name="adj" fmla="val 2051"/>
            </a:avLst>
          </a:prstGeom>
          <a:solidFill>
            <a:srgbClr val="FFFFFF"/>
          </a:solidFill>
          <a:ln w="12700">
            <a:solidFill>
              <a:srgbClr val="9AA5AD"/>
            </a:solidFill>
            <a:prstDash val="solid"/>
          </a:ln>
        </p:spPr>
      </p:sp>
      <p:sp>
        <p:nvSpPr>
          <p:cNvPr id="6" name="Text 3"/>
          <p:cNvSpPr txBox="1"/>
          <p:nvPr/>
        </p:nvSpPr>
        <p:spPr>
          <a:xfrm>
            <a:off x="777240" y="1463040"/>
            <a:ext cx="3108960" cy="457200"/>
          </a:xfrm>
          <a:prstGeom prst="rect">
            <a:avLst/>
          </a:prstGeom>
          <a:noFill/>
          <a:ln/>
        </p:spPr>
        <p:txBody>
          <a:bodyPr wrap="square" lIns="0" tIns="0" rIns="0" bIns="0" rtlCol="0" anchor="t"/>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다이렉트 (Straight)</a:t>
            </a:r>
            <a:endParaRPr lang="en-US" sz="1800" dirty="0"/>
          </a:p>
        </p:txBody>
      </p:sp>
      <p:sp>
        <p:nvSpPr>
          <p:cNvPr id="7" name="Text 4"/>
          <p:cNvSpPr txBox="1"/>
          <p:nvPr/>
        </p:nvSpPr>
        <p:spPr>
          <a:xfrm>
            <a:off x="777240" y="1965960"/>
            <a:ext cx="3108960" cy="41148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568B ↔ 568B (양쪽 같음)</a:t>
            </a:r>
            <a:endParaRPr lang="en-US" sz="1400" dirty="0"/>
          </a:p>
        </p:txBody>
      </p:sp>
      <p:sp>
        <p:nvSpPr>
          <p:cNvPr id="8" name="Shape 5"/>
          <p:cNvSpPr/>
          <p:nvPr/>
        </p:nvSpPr>
        <p:spPr>
          <a:xfrm>
            <a:off x="1371600" y="2560320"/>
            <a:ext cx="1920240" cy="914"/>
          </a:xfrm>
          <a:prstGeom prst="line">
            <a:avLst/>
          </a:prstGeom>
          <a:noFill/>
          <a:ln w="15875">
            <a:solidFill>
              <a:srgbClr val="1E2A30"/>
            </a:solidFill>
            <a:prstDash val="solid"/>
          </a:ln>
        </p:spPr>
      </p:sp>
      <p:sp>
        <p:nvSpPr>
          <p:cNvPr id="9" name="Shape 6"/>
          <p:cNvSpPr/>
          <p:nvPr/>
        </p:nvSpPr>
        <p:spPr>
          <a:xfrm>
            <a:off x="1371600" y="2816352"/>
            <a:ext cx="1920240" cy="914"/>
          </a:xfrm>
          <a:prstGeom prst="line">
            <a:avLst/>
          </a:prstGeom>
          <a:noFill/>
          <a:ln w="15875">
            <a:solidFill>
              <a:srgbClr val="1E2A30"/>
            </a:solidFill>
            <a:prstDash val="solid"/>
          </a:ln>
        </p:spPr>
      </p:sp>
      <p:sp>
        <p:nvSpPr>
          <p:cNvPr id="10" name="Shape 7"/>
          <p:cNvSpPr/>
          <p:nvPr/>
        </p:nvSpPr>
        <p:spPr>
          <a:xfrm>
            <a:off x="1371600" y="3072384"/>
            <a:ext cx="1920240" cy="914"/>
          </a:xfrm>
          <a:prstGeom prst="line">
            <a:avLst/>
          </a:prstGeom>
          <a:noFill/>
          <a:ln w="15875">
            <a:solidFill>
              <a:srgbClr val="1E2A30"/>
            </a:solidFill>
            <a:prstDash val="solid"/>
          </a:ln>
        </p:spPr>
      </p:sp>
      <p:sp>
        <p:nvSpPr>
          <p:cNvPr id="11" name="Shape 8"/>
          <p:cNvSpPr/>
          <p:nvPr/>
        </p:nvSpPr>
        <p:spPr>
          <a:xfrm>
            <a:off x="1371600" y="3328416"/>
            <a:ext cx="1920240" cy="914"/>
          </a:xfrm>
          <a:prstGeom prst="line">
            <a:avLst/>
          </a:prstGeom>
          <a:noFill/>
          <a:ln w="15875">
            <a:solidFill>
              <a:srgbClr val="1E2A30"/>
            </a:solidFill>
            <a:prstDash val="solid"/>
          </a:ln>
        </p:spPr>
      </p:sp>
      <p:sp>
        <p:nvSpPr>
          <p:cNvPr id="12" name="Shape 9"/>
          <p:cNvSpPr/>
          <p:nvPr/>
        </p:nvSpPr>
        <p:spPr>
          <a:xfrm>
            <a:off x="1005840" y="2468880"/>
            <a:ext cx="365760" cy="960120"/>
          </a:xfrm>
          <a:prstGeom prst="roundRect">
            <a:avLst>
              <a:gd name="adj" fmla="val 20000"/>
            </a:avLst>
          </a:prstGeom>
          <a:solidFill>
            <a:srgbClr val="F4F6F7"/>
          </a:solidFill>
          <a:ln w="12700">
            <a:solidFill>
              <a:srgbClr val="1E2A30"/>
            </a:solidFill>
            <a:prstDash val="solid"/>
          </a:ln>
        </p:spPr>
      </p:sp>
      <p:sp>
        <p:nvSpPr>
          <p:cNvPr id="13" name="Shape 10"/>
          <p:cNvSpPr/>
          <p:nvPr/>
        </p:nvSpPr>
        <p:spPr>
          <a:xfrm>
            <a:off x="3291840" y="2468880"/>
            <a:ext cx="365760" cy="960120"/>
          </a:xfrm>
          <a:prstGeom prst="roundRect">
            <a:avLst>
              <a:gd name="adj" fmla="val 20000"/>
            </a:avLst>
          </a:prstGeom>
          <a:solidFill>
            <a:srgbClr val="F4F6F7"/>
          </a:solidFill>
          <a:ln w="12700">
            <a:solidFill>
              <a:srgbClr val="1E2A30"/>
            </a:solidFill>
            <a:prstDash val="solid"/>
          </a:ln>
        </p:spPr>
      </p:sp>
      <p:sp>
        <p:nvSpPr>
          <p:cNvPr id="14" name="Text 11"/>
          <p:cNvSpPr txBox="1"/>
          <p:nvPr/>
        </p:nvSpPr>
        <p:spPr>
          <a:xfrm>
            <a:off x="777240" y="3657600"/>
            <a:ext cx="3108960" cy="411480"/>
          </a:xfrm>
          <a:prstGeom prst="rect">
            <a:avLst/>
          </a:prstGeom>
          <a:noFill/>
          <a:ln/>
        </p:spPr>
        <p:txBody>
          <a:bodyPr wrap="square" lIns="0" tIns="0" rIns="0" bIns="0" rtlCol="0" anchor="t"/>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다른 종류 장비 연결</a:t>
            </a:r>
            <a:endParaRPr lang="en-US" sz="1500" dirty="0"/>
          </a:p>
        </p:txBody>
      </p:sp>
      <p:sp>
        <p:nvSpPr>
          <p:cNvPr id="15" name="Text 12"/>
          <p:cNvSpPr txBox="1"/>
          <p:nvPr/>
        </p:nvSpPr>
        <p:spPr>
          <a:xfrm>
            <a:off x="777240" y="4069080"/>
            <a:ext cx="3108960" cy="822960"/>
          </a:xfrm>
          <a:prstGeom prst="rect">
            <a:avLst/>
          </a:prstGeom>
          <a:noFill/>
          <a:ln/>
        </p:spPr>
        <p:txBody>
          <a:bodyPr wrap="square" lIns="0" tIns="0" rIns="0" bIns="0" rtlCol="0" anchor="t"/>
          <a:lstStyle/>
          <a:p>
            <a:pPr indent="0" marL="0">
              <a:buNone/>
            </a:pPr>
            <a:r>
              <a:rPr lang="en-US" sz="1300" dirty="0">
                <a:solidFill>
                  <a:srgbClr val="1E2A30"/>
                </a:solidFill>
                <a:latin typeface="맑은 고딕" pitchFamily="34" charset="0"/>
                <a:ea typeface="맑은 고딕" pitchFamily="34" charset="-122"/>
                <a:cs typeface="맑은 고딕" pitchFamily="34" charset="-120"/>
              </a:rPr>
              <a:t>PC ↔ 스위치 · 스위치 ↔ 라우터</a:t>
            </a:r>
            <a:endParaRPr lang="en-US" sz="1300" dirty="0"/>
          </a:p>
        </p:txBody>
      </p:sp>
      <p:sp>
        <p:nvSpPr>
          <p:cNvPr id="16" name="Shape 13"/>
          <p:cNvSpPr/>
          <p:nvPr/>
        </p:nvSpPr>
        <p:spPr>
          <a:xfrm>
            <a:off x="4297680" y="1325880"/>
            <a:ext cx="3566160" cy="3657600"/>
          </a:xfrm>
          <a:prstGeom prst="roundRect">
            <a:avLst>
              <a:gd name="adj" fmla="val 2051"/>
            </a:avLst>
          </a:prstGeom>
          <a:solidFill>
            <a:srgbClr val="E6F1F2"/>
          </a:solidFill>
          <a:ln w="12700">
            <a:solidFill>
              <a:srgbClr val="0E6E7A"/>
            </a:solidFill>
            <a:prstDash val="solid"/>
          </a:ln>
        </p:spPr>
      </p:sp>
      <p:sp>
        <p:nvSpPr>
          <p:cNvPr id="17" name="Text 14"/>
          <p:cNvSpPr txBox="1"/>
          <p:nvPr/>
        </p:nvSpPr>
        <p:spPr>
          <a:xfrm>
            <a:off x="4526280" y="1463040"/>
            <a:ext cx="3108960" cy="457200"/>
          </a:xfrm>
          <a:prstGeom prst="rect">
            <a:avLst/>
          </a:prstGeom>
          <a:noFill/>
          <a:ln/>
        </p:spPr>
        <p:txBody>
          <a:bodyPr wrap="square" lIns="0" tIns="0" rIns="0" bIns="0" rtlCol="0" anchor="t"/>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크로스오버 (Crossover)</a:t>
            </a:r>
            <a:endParaRPr lang="en-US" sz="1800" dirty="0"/>
          </a:p>
        </p:txBody>
      </p:sp>
      <p:sp>
        <p:nvSpPr>
          <p:cNvPr id="18" name="Text 15"/>
          <p:cNvSpPr txBox="1"/>
          <p:nvPr/>
        </p:nvSpPr>
        <p:spPr>
          <a:xfrm>
            <a:off x="4526280" y="1965960"/>
            <a:ext cx="3108960" cy="41148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568A ↔ 568B (송수신 교차)</a:t>
            </a:r>
            <a:endParaRPr lang="en-US" sz="1400" dirty="0"/>
          </a:p>
        </p:txBody>
      </p:sp>
      <p:sp>
        <p:nvSpPr>
          <p:cNvPr id="19" name="Shape 16"/>
          <p:cNvSpPr/>
          <p:nvPr/>
        </p:nvSpPr>
        <p:spPr>
          <a:xfrm>
            <a:off x="5120640" y="2560320"/>
            <a:ext cx="1920240" cy="512064"/>
          </a:xfrm>
          <a:prstGeom prst="line">
            <a:avLst/>
          </a:prstGeom>
          <a:noFill/>
          <a:ln w="15875">
            <a:solidFill>
              <a:srgbClr val="1E2A30"/>
            </a:solidFill>
            <a:prstDash val="solid"/>
          </a:ln>
        </p:spPr>
      </p:sp>
      <p:sp>
        <p:nvSpPr>
          <p:cNvPr id="20" name="Shape 17"/>
          <p:cNvSpPr/>
          <p:nvPr/>
        </p:nvSpPr>
        <p:spPr>
          <a:xfrm>
            <a:off x="5120640" y="2816352"/>
            <a:ext cx="1920240" cy="512064"/>
          </a:xfrm>
          <a:prstGeom prst="line">
            <a:avLst/>
          </a:prstGeom>
          <a:noFill/>
          <a:ln w="15875">
            <a:solidFill>
              <a:srgbClr val="1E2A30"/>
            </a:solidFill>
            <a:prstDash val="solid"/>
          </a:ln>
        </p:spPr>
      </p:sp>
      <p:sp>
        <p:nvSpPr>
          <p:cNvPr id="21" name="Shape 18"/>
          <p:cNvSpPr/>
          <p:nvPr/>
        </p:nvSpPr>
        <p:spPr>
          <a:xfrm flipV="1">
            <a:off x="5120640" y="2560320"/>
            <a:ext cx="1920240" cy="512064"/>
          </a:xfrm>
          <a:prstGeom prst="line">
            <a:avLst/>
          </a:prstGeom>
          <a:noFill/>
          <a:ln w="15875">
            <a:solidFill>
              <a:srgbClr val="1E2A30"/>
            </a:solidFill>
            <a:prstDash val="solid"/>
          </a:ln>
        </p:spPr>
      </p:sp>
      <p:sp>
        <p:nvSpPr>
          <p:cNvPr id="22" name="Shape 19"/>
          <p:cNvSpPr/>
          <p:nvPr/>
        </p:nvSpPr>
        <p:spPr>
          <a:xfrm flipV="1">
            <a:off x="5120640" y="2816352"/>
            <a:ext cx="1920240" cy="512064"/>
          </a:xfrm>
          <a:prstGeom prst="line">
            <a:avLst/>
          </a:prstGeom>
          <a:noFill/>
          <a:ln w="15875">
            <a:solidFill>
              <a:srgbClr val="1E2A30"/>
            </a:solidFill>
            <a:prstDash val="solid"/>
          </a:ln>
        </p:spPr>
      </p:sp>
      <p:sp>
        <p:nvSpPr>
          <p:cNvPr id="23" name="Shape 20"/>
          <p:cNvSpPr/>
          <p:nvPr/>
        </p:nvSpPr>
        <p:spPr>
          <a:xfrm>
            <a:off x="4754880" y="2468880"/>
            <a:ext cx="365760" cy="960120"/>
          </a:xfrm>
          <a:prstGeom prst="roundRect">
            <a:avLst>
              <a:gd name="adj" fmla="val 20000"/>
            </a:avLst>
          </a:prstGeom>
          <a:solidFill>
            <a:srgbClr val="F4F6F7"/>
          </a:solidFill>
          <a:ln w="12700">
            <a:solidFill>
              <a:srgbClr val="1E2A30"/>
            </a:solidFill>
            <a:prstDash val="solid"/>
          </a:ln>
        </p:spPr>
      </p:sp>
      <p:sp>
        <p:nvSpPr>
          <p:cNvPr id="24" name="Shape 21"/>
          <p:cNvSpPr/>
          <p:nvPr/>
        </p:nvSpPr>
        <p:spPr>
          <a:xfrm>
            <a:off x="7040880" y="2468880"/>
            <a:ext cx="365760" cy="960120"/>
          </a:xfrm>
          <a:prstGeom prst="roundRect">
            <a:avLst>
              <a:gd name="adj" fmla="val 20000"/>
            </a:avLst>
          </a:prstGeom>
          <a:solidFill>
            <a:srgbClr val="F4F6F7"/>
          </a:solidFill>
          <a:ln w="12700">
            <a:solidFill>
              <a:srgbClr val="1E2A30"/>
            </a:solidFill>
            <a:prstDash val="solid"/>
          </a:ln>
        </p:spPr>
      </p:sp>
      <p:sp>
        <p:nvSpPr>
          <p:cNvPr id="25" name="Text 22"/>
          <p:cNvSpPr txBox="1"/>
          <p:nvPr/>
        </p:nvSpPr>
        <p:spPr>
          <a:xfrm>
            <a:off x="4526280" y="3657600"/>
            <a:ext cx="3108960" cy="411480"/>
          </a:xfrm>
          <a:prstGeom prst="rect">
            <a:avLst/>
          </a:prstGeom>
          <a:noFill/>
          <a:ln/>
        </p:spPr>
        <p:txBody>
          <a:bodyPr wrap="square" lIns="0" tIns="0" rIns="0" bIns="0" rtlCol="0" anchor="t"/>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같은 종류 장비 연결</a:t>
            </a:r>
            <a:endParaRPr lang="en-US" sz="1500" dirty="0"/>
          </a:p>
        </p:txBody>
      </p:sp>
      <p:sp>
        <p:nvSpPr>
          <p:cNvPr id="26" name="Text 23"/>
          <p:cNvSpPr txBox="1"/>
          <p:nvPr/>
        </p:nvSpPr>
        <p:spPr>
          <a:xfrm>
            <a:off x="4526280" y="4069080"/>
            <a:ext cx="3108960" cy="822960"/>
          </a:xfrm>
          <a:prstGeom prst="rect">
            <a:avLst/>
          </a:prstGeom>
          <a:noFill/>
          <a:ln/>
        </p:spPr>
        <p:txBody>
          <a:bodyPr wrap="square" lIns="0" tIns="0" rIns="0" bIns="0" rtlCol="0" anchor="t"/>
          <a:lstStyle/>
          <a:p>
            <a:pPr indent="0" marL="0">
              <a:buNone/>
            </a:pPr>
            <a:r>
              <a:rPr lang="en-US" sz="1300" dirty="0">
                <a:solidFill>
                  <a:srgbClr val="1E2A30"/>
                </a:solidFill>
                <a:latin typeface="맑은 고딕" pitchFamily="34" charset="0"/>
                <a:ea typeface="맑은 고딕" pitchFamily="34" charset="-122"/>
                <a:cs typeface="맑은 고딕" pitchFamily="34" charset="-120"/>
              </a:rPr>
              <a:t>DTE-DTE (PC↔PC, PC↔라우터)</a:t>
            </a:r>
            <a:endParaRPr lang="en-US" sz="1300" dirty="0"/>
          </a:p>
          <a:p>
            <a:pPr indent="0" marL="0">
              <a:buNone/>
            </a:pPr>
            <a:r>
              <a:rPr lang="en-US" sz="1300" dirty="0">
                <a:solidFill>
                  <a:srgbClr val="1E2A30"/>
                </a:solidFill>
                <a:latin typeface="맑은 고딕" pitchFamily="34" charset="0"/>
                <a:ea typeface="맑은 고딕" pitchFamily="34" charset="-122"/>
                <a:cs typeface="맑은 고딕" pitchFamily="34" charset="-120"/>
              </a:rPr>
              <a:t>DCE-DCE (스위치↔스위치)</a:t>
            </a:r>
            <a:endParaRPr lang="en-US" sz="1300" dirty="0"/>
          </a:p>
        </p:txBody>
      </p:sp>
      <p:sp>
        <p:nvSpPr>
          <p:cNvPr id="27" name="Shape 24"/>
          <p:cNvSpPr/>
          <p:nvPr/>
        </p:nvSpPr>
        <p:spPr>
          <a:xfrm>
            <a:off x="8046720" y="1325880"/>
            <a:ext cx="3566160" cy="3657600"/>
          </a:xfrm>
          <a:prstGeom prst="roundRect">
            <a:avLst>
              <a:gd name="adj" fmla="val 2051"/>
            </a:avLst>
          </a:prstGeom>
          <a:solidFill>
            <a:srgbClr val="FFFFFF"/>
          </a:solidFill>
          <a:ln w="12700">
            <a:solidFill>
              <a:srgbClr val="9AA5AD"/>
            </a:solidFill>
            <a:prstDash val="solid"/>
          </a:ln>
        </p:spPr>
      </p:sp>
      <p:sp>
        <p:nvSpPr>
          <p:cNvPr id="28" name="Text 25"/>
          <p:cNvSpPr txBox="1"/>
          <p:nvPr/>
        </p:nvSpPr>
        <p:spPr>
          <a:xfrm>
            <a:off x="8275320" y="1463040"/>
            <a:ext cx="3108960" cy="457200"/>
          </a:xfrm>
          <a:prstGeom prst="rect">
            <a:avLst/>
          </a:prstGeom>
          <a:noFill/>
          <a:ln/>
        </p:spPr>
        <p:txBody>
          <a:bodyPr wrap="square" lIns="0" tIns="0" rIns="0" bIns="0" rtlCol="0" anchor="t"/>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롤오버 (Rollover)</a:t>
            </a:r>
            <a:endParaRPr lang="en-US" sz="1800" dirty="0"/>
          </a:p>
        </p:txBody>
      </p:sp>
      <p:sp>
        <p:nvSpPr>
          <p:cNvPr id="29" name="Text 26"/>
          <p:cNvSpPr txBox="1"/>
          <p:nvPr/>
        </p:nvSpPr>
        <p:spPr>
          <a:xfrm>
            <a:off x="8275320" y="1965960"/>
            <a:ext cx="3108960" cy="411480"/>
          </a:xfrm>
          <a:prstGeom prst="rect">
            <a:avLst/>
          </a:prstGeom>
          <a:noFill/>
          <a:ln/>
        </p:spPr>
        <p:txBody>
          <a:bodyPr wrap="square" lIns="0" tIns="0" rIns="0" bIns="0" rtlCol="0" anchor="t"/>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핀 순서 완전 반대 (1↔8)</a:t>
            </a:r>
            <a:endParaRPr lang="en-US" sz="1400" dirty="0"/>
          </a:p>
        </p:txBody>
      </p:sp>
      <p:sp>
        <p:nvSpPr>
          <p:cNvPr id="30" name="Shape 27"/>
          <p:cNvSpPr/>
          <p:nvPr/>
        </p:nvSpPr>
        <p:spPr>
          <a:xfrm>
            <a:off x="8869680" y="2560320"/>
            <a:ext cx="1920240" cy="768096"/>
          </a:xfrm>
          <a:prstGeom prst="line">
            <a:avLst/>
          </a:prstGeom>
          <a:noFill/>
          <a:ln w="15875">
            <a:solidFill>
              <a:srgbClr val="1E2A30"/>
            </a:solidFill>
            <a:prstDash val="solid"/>
          </a:ln>
        </p:spPr>
      </p:sp>
      <p:sp>
        <p:nvSpPr>
          <p:cNvPr id="31" name="Shape 28"/>
          <p:cNvSpPr/>
          <p:nvPr/>
        </p:nvSpPr>
        <p:spPr>
          <a:xfrm>
            <a:off x="8869680" y="2816352"/>
            <a:ext cx="1920240" cy="256032"/>
          </a:xfrm>
          <a:prstGeom prst="line">
            <a:avLst/>
          </a:prstGeom>
          <a:noFill/>
          <a:ln w="15875">
            <a:solidFill>
              <a:srgbClr val="1E2A30"/>
            </a:solidFill>
            <a:prstDash val="solid"/>
          </a:ln>
        </p:spPr>
      </p:sp>
      <p:sp>
        <p:nvSpPr>
          <p:cNvPr id="32" name="Shape 29"/>
          <p:cNvSpPr/>
          <p:nvPr/>
        </p:nvSpPr>
        <p:spPr>
          <a:xfrm flipV="1">
            <a:off x="8869680" y="2816352"/>
            <a:ext cx="1920240" cy="256032"/>
          </a:xfrm>
          <a:prstGeom prst="line">
            <a:avLst/>
          </a:prstGeom>
          <a:noFill/>
          <a:ln w="15875">
            <a:solidFill>
              <a:srgbClr val="1E2A30"/>
            </a:solidFill>
            <a:prstDash val="solid"/>
          </a:ln>
        </p:spPr>
      </p:sp>
      <p:sp>
        <p:nvSpPr>
          <p:cNvPr id="33" name="Shape 30"/>
          <p:cNvSpPr/>
          <p:nvPr/>
        </p:nvSpPr>
        <p:spPr>
          <a:xfrm flipV="1">
            <a:off x="8869680" y="2560320"/>
            <a:ext cx="1920240" cy="768096"/>
          </a:xfrm>
          <a:prstGeom prst="line">
            <a:avLst/>
          </a:prstGeom>
          <a:noFill/>
          <a:ln w="15875">
            <a:solidFill>
              <a:srgbClr val="1E2A30"/>
            </a:solidFill>
            <a:prstDash val="solid"/>
          </a:ln>
        </p:spPr>
      </p:sp>
      <p:sp>
        <p:nvSpPr>
          <p:cNvPr id="34" name="Shape 31"/>
          <p:cNvSpPr/>
          <p:nvPr/>
        </p:nvSpPr>
        <p:spPr>
          <a:xfrm>
            <a:off x="8503920" y="2468880"/>
            <a:ext cx="365760" cy="960120"/>
          </a:xfrm>
          <a:prstGeom prst="roundRect">
            <a:avLst>
              <a:gd name="adj" fmla="val 20000"/>
            </a:avLst>
          </a:prstGeom>
          <a:solidFill>
            <a:srgbClr val="F4F6F7"/>
          </a:solidFill>
          <a:ln w="12700">
            <a:solidFill>
              <a:srgbClr val="1E2A30"/>
            </a:solidFill>
            <a:prstDash val="solid"/>
          </a:ln>
        </p:spPr>
      </p:sp>
      <p:sp>
        <p:nvSpPr>
          <p:cNvPr id="35" name="Shape 32"/>
          <p:cNvSpPr/>
          <p:nvPr/>
        </p:nvSpPr>
        <p:spPr>
          <a:xfrm>
            <a:off x="10789920" y="2468880"/>
            <a:ext cx="365760" cy="960120"/>
          </a:xfrm>
          <a:prstGeom prst="roundRect">
            <a:avLst>
              <a:gd name="adj" fmla="val 20000"/>
            </a:avLst>
          </a:prstGeom>
          <a:solidFill>
            <a:srgbClr val="F4F6F7"/>
          </a:solidFill>
          <a:ln w="12700">
            <a:solidFill>
              <a:srgbClr val="1E2A30"/>
            </a:solidFill>
            <a:prstDash val="solid"/>
          </a:ln>
        </p:spPr>
      </p:sp>
      <p:sp>
        <p:nvSpPr>
          <p:cNvPr id="36" name="Text 33"/>
          <p:cNvSpPr txBox="1"/>
          <p:nvPr/>
        </p:nvSpPr>
        <p:spPr>
          <a:xfrm>
            <a:off x="8275320" y="3657600"/>
            <a:ext cx="3108960" cy="411480"/>
          </a:xfrm>
          <a:prstGeom prst="rect">
            <a:avLst/>
          </a:prstGeom>
          <a:noFill/>
          <a:ln/>
        </p:spPr>
        <p:txBody>
          <a:bodyPr wrap="square" lIns="0" tIns="0" rIns="0" bIns="0" rtlCol="0" anchor="t"/>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콘솔 케이블</a:t>
            </a:r>
            <a:endParaRPr lang="en-US" sz="1500" dirty="0"/>
          </a:p>
        </p:txBody>
      </p:sp>
      <p:sp>
        <p:nvSpPr>
          <p:cNvPr id="37" name="Text 34"/>
          <p:cNvSpPr txBox="1"/>
          <p:nvPr/>
        </p:nvSpPr>
        <p:spPr>
          <a:xfrm>
            <a:off x="8275320" y="4069080"/>
            <a:ext cx="3108960" cy="822960"/>
          </a:xfrm>
          <a:prstGeom prst="rect">
            <a:avLst/>
          </a:prstGeom>
          <a:noFill/>
          <a:ln/>
        </p:spPr>
        <p:txBody>
          <a:bodyPr wrap="square" lIns="0" tIns="0" rIns="0" bIns="0" rtlCol="0" anchor="t"/>
          <a:lstStyle/>
          <a:p>
            <a:pPr indent="0" marL="0">
              <a:buNone/>
            </a:pPr>
            <a:r>
              <a:rPr lang="en-US" sz="1300" dirty="0">
                <a:solidFill>
                  <a:srgbClr val="1E2A30"/>
                </a:solidFill>
                <a:latin typeface="맑은 고딕" pitchFamily="34" charset="0"/>
                <a:ea typeface="맑은 고딕" pitchFamily="34" charset="-122"/>
                <a:cs typeface="맑은 고딕" pitchFamily="34" charset="-120"/>
              </a:rPr>
              <a:t>PC ↔ 장비 콘솔 포트 (초기 설정)</a:t>
            </a:r>
            <a:endParaRPr lang="en-US" sz="1300" dirty="0"/>
          </a:p>
        </p:txBody>
      </p:sp>
      <p:sp>
        <p:nvSpPr>
          <p:cNvPr id="38" name="Shape 35"/>
          <p:cNvSpPr/>
          <p:nvPr/>
        </p:nvSpPr>
        <p:spPr>
          <a:xfrm>
            <a:off x="548640" y="5303520"/>
            <a:ext cx="11091672" cy="457200"/>
          </a:xfrm>
          <a:prstGeom prst="roundRect">
            <a:avLst>
              <a:gd name="adj" fmla="val 16000"/>
            </a:avLst>
          </a:prstGeom>
          <a:solidFill>
            <a:srgbClr val="E6F1F2"/>
          </a:solidFill>
          <a:ln w="12700">
            <a:solidFill>
              <a:srgbClr val="E6F1F2"/>
            </a:solidFill>
            <a:prstDash val="solid"/>
          </a:ln>
        </p:spPr>
      </p:sp>
      <p:sp>
        <p:nvSpPr>
          <p:cNvPr id="39" name="Text 36"/>
          <p:cNvSpPr txBox="1"/>
          <p:nvPr/>
        </p:nvSpPr>
        <p:spPr>
          <a:xfrm>
            <a:off x="777240" y="530352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같은 종류끼리 = 크로스오버 / 다른 종류 = 다이렉트 / 장비 설정 = 롤오버(콘솔)</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케이블 제작 표준 TIA/EIA 568-A · 568-B</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399032"/>
                <a:gridCol w="1211580"/>
                <a:gridCol w="1211580"/>
                <a:gridCol w="1211580"/>
                <a:gridCol w="1211580"/>
                <a:gridCol w="1211580"/>
                <a:gridCol w="1211580"/>
                <a:gridCol w="1211580"/>
                <a:gridCol w="1211580"/>
              </a:tblGrid>
              <a:tr h="548640">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핀</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1</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2</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3</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4</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5</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6</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7</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8</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548640">
                <a:tc>
                  <a:txBody>
                    <a:bodyP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568-B</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주황흰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주황</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녹색흰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파랑</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파랑흰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녹색</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갈색흰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갈색</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r h="548640">
                <a:tc>
                  <a:txBody>
                    <a:bodyP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568-A</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녹색흰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녹색</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주황흰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파랑</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파랑흰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주황</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갈색흰</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갈색</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48640">
                <a:tc>
                  <a:txBody>
                    <a:bodyPr/>
                    <a:lstStyle/>
                    <a:p>
                      <a:pPr indent="0" marL="0">
                        <a:buNone/>
                      </a:pPr>
                      <a:r>
                        <a:rPr lang="en-US" sz="1500" b="1" dirty="0">
                          <a:solidFill>
                            <a:srgbClr val="1E2A30"/>
                          </a:solidFill>
                          <a:latin typeface="맑은 고딕" pitchFamily="34" charset="0"/>
                          <a:ea typeface="맑은 고딕" pitchFamily="34" charset="-122"/>
                          <a:cs typeface="맑은 고딕" pitchFamily="34" charset="-120"/>
                        </a:rPr>
                        <a:t>용도</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송신+</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송신−</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수신+</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수신−</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3840480"/>
            <a:ext cx="5394960" cy="1737360"/>
          </a:xfrm>
          <a:prstGeom prst="roundRect">
            <a:avLst>
              <a:gd name="adj" fmla="val 4211"/>
            </a:avLst>
          </a:prstGeom>
          <a:solidFill>
            <a:srgbClr val="F4F6F7"/>
          </a:solidFill>
          <a:ln w="12700">
            <a:solidFill>
              <a:srgbClr val="9AA5AD"/>
            </a:solidFill>
            <a:prstDash val="solid"/>
          </a:ln>
        </p:spPr>
      </p:sp>
      <p:sp>
        <p:nvSpPr>
          <p:cNvPr id="7" name="Text 3"/>
          <p:cNvSpPr txBox="1"/>
          <p:nvPr/>
        </p:nvSpPr>
        <p:spPr>
          <a:xfrm>
            <a:off x="731520" y="397764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외우는 법 (568-B)</a:t>
            </a:r>
            <a:endParaRPr lang="en-US" sz="1600" dirty="0"/>
          </a:p>
        </p:txBody>
      </p:sp>
      <p:sp>
        <p:nvSpPr>
          <p:cNvPr id="8" name="Text 4"/>
          <p:cNvSpPr txBox="1"/>
          <p:nvPr/>
        </p:nvSpPr>
        <p:spPr>
          <a:xfrm>
            <a:off x="731520" y="4434840"/>
            <a:ext cx="5029200" cy="10332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주황 쌍 → 녹색흰 → 파랑 쌍(4·5) → 녹색 → 갈색 쌍</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568-A = 568-B 에서 주황 쌍 ↔ 녹색 쌍 교환</a:t>
            </a:r>
            <a:endParaRPr lang="en-US" sz="1400" dirty="0"/>
          </a:p>
        </p:txBody>
      </p:sp>
      <p:sp>
        <p:nvSpPr>
          <p:cNvPr id="9" name="Shape 5"/>
          <p:cNvSpPr/>
          <p:nvPr/>
        </p:nvSpPr>
        <p:spPr>
          <a:xfrm>
            <a:off x="6245352" y="3840480"/>
            <a:ext cx="5394960" cy="1737360"/>
          </a:xfrm>
          <a:prstGeom prst="roundRect">
            <a:avLst>
              <a:gd name="adj" fmla="val 4211"/>
            </a:avLst>
          </a:prstGeom>
          <a:solidFill>
            <a:srgbClr val="FFFFFF"/>
          </a:solidFill>
          <a:ln w="12700">
            <a:solidFill>
              <a:srgbClr val="9AA5AD"/>
            </a:solidFill>
            <a:prstDash val="solid"/>
          </a:ln>
        </p:spPr>
      </p:sp>
      <p:sp>
        <p:nvSpPr>
          <p:cNvPr id="10" name="Text 6"/>
          <p:cNvSpPr txBox="1"/>
          <p:nvPr/>
        </p:nvSpPr>
        <p:spPr>
          <a:xfrm>
            <a:off x="6428232" y="3977640"/>
            <a:ext cx="5029200"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조합</a:t>
            </a:r>
            <a:endParaRPr lang="en-US" sz="1600" dirty="0"/>
          </a:p>
        </p:txBody>
      </p:sp>
      <p:sp>
        <p:nvSpPr>
          <p:cNvPr id="11" name="Text 7"/>
          <p:cNvSpPr txBox="1"/>
          <p:nvPr/>
        </p:nvSpPr>
        <p:spPr>
          <a:xfrm>
            <a:off x="6428232" y="4434840"/>
            <a:ext cx="5029200" cy="103327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B ↔ B (또는 A ↔ A) = 다이렉트</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A ↔ B = 크로스오버</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100BASE-TX 사용 핀: 1·2(송신), 3·6(수신)</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PART 5 확인 문제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5 · 장비와 매체</a:t>
            </a:r>
            <a:endParaRPr lang="en-US" sz="1100" dirty="0"/>
          </a:p>
        </p:txBody>
      </p:sp>
      <p:sp>
        <p:nvSpPr>
          <p:cNvPr id="5" name="Shape 2"/>
          <p:cNvSpPr/>
          <p:nvPr/>
        </p:nvSpPr>
        <p:spPr>
          <a:xfrm>
            <a:off x="548640" y="1325880"/>
            <a:ext cx="11091672" cy="841248"/>
          </a:xfrm>
          <a:prstGeom prst="roundRect">
            <a:avLst>
              <a:gd name="adj" fmla="val 8696"/>
            </a:avLst>
          </a:prstGeom>
          <a:solidFill>
            <a:srgbClr val="F4F6F7"/>
          </a:solidFill>
          <a:ln w="12700">
            <a:solidFill>
              <a:srgbClr val="9AA5AD"/>
            </a:solidFill>
            <a:prstDash val="solid"/>
          </a:ln>
        </p:spPr>
      </p:sp>
      <p:sp>
        <p:nvSpPr>
          <p:cNvPr id="6" name="Shape 3"/>
          <p:cNvSpPr/>
          <p:nvPr/>
        </p:nvSpPr>
        <p:spPr>
          <a:xfrm>
            <a:off x="777240" y="1517904"/>
            <a:ext cx="457200" cy="457200"/>
          </a:xfrm>
          <a:prstGeom prst="ellipse">
            <a:avLst/>
          </a:prstGeom>
          <a:solidFill>
            <a:srgbClr val="0E6E7A"/>
          </a:solidFill>
          <a:ln w="12700">
            <a:solidFill>
              <a:srgbClr val="0E6E7A"/>
            </a:solidFill>
            <a:prstDash val="solid"/>
          </a:ln>
        </p:spPr>
      </p:sp>
      <p:sp>
        <p:nvSpPr>
          <p:cNvPr id="7" name="Text 4"/>
          <p:cNvSpPr txBox="1"/>
          <p:nvPr/>
        </p:nvSpPr>
        <p:spPr>
          <a:xfrm>
            <a:off x="777240" y="1517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Q1</a:t>
            </a:r>
            <a:endParaRPr lang="en-US" sz="1200" dirty="0"/>
          </a:p>
        </p:txBody>
      </p:sp>
      <p:sp>
        <p:nvSpPr>
          <p:cNvPr id="8" name="Text 5"/>
          <p:cNvSpPr txBox="1"/>
          <p:nvPr/>
        </p:nvSpPr>
        <p:spPr>
          <a:xfrm>
            <a:off x="1463040" y="1325880"/>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허브와 스위치를 계층 · 전달 방식 · 충돌 영역 수로 비교하시오.</a:t>
            </a:r>
            <a:endParaRPr lang="en-US" sz="1600" dirty="0"/>
          </a:p>
        </p:txBody>
      </p:sp>
      <p:sp>
        <p:nvSpPr>
          <p:cNvPr id="9" name="Shape 6"/>
          <p:cNvSpPr/>
          <p:nvPr/>
        </p:nvSpPr>
        <p:spPr>
          <a:xfrm>
            <a:off x="548640" y="2350008"/>
            <a:ext cx="11091672" cy="841248"/>
          </a:xfrm>
          <a:prstGeom prst="roundRect">
            <a:avLst>
              <a:gd name="adj" fmla="val 8696"/>
            </a:avLst>
          </a:prstGeom>
          <a:solidFill>
            <a:srgbClr val="FFFFFF"/>
          </a:solidFill>
          <a:ln w="12700">
            <a:solidFill>
              <a:srgbClr val="9AA5AD"/>
            </a:solidFill>
            <a:prstDash val="solid"/>
          </a:ln>
        </p:spPr>
      </p:sp>
      <p:sp>
        <p:nvSpPr>
          <p:cNvPr id="10" name="Shape 7"/>
          <p:cNvSpPr/>
          <p:nvPr/>
        </p:nvSpPr>
        <p:spPr>
          <a:xfrm>
            <a:off x="777240" y="2542032"/>
            <a:ext cx="457200" cy="457200"/>
          </a:xfrm>
          <a:prstGeom prst="ellipse">
            <a:avLst/>
          </a:prstGeom>
          <a:solidFill>
            <a:srgbClr val="0E6E7A"/>
          </a:solidFill>
          <a:ln w="12700">
            <a:solidFill>
              <a:srgbClr val="0E6E7A"/>
            </a:solidFill>
            <a:prstDash val="solid"/>
          </a:ln>
        </p:spPr>
      </p:sp>
      <p:sp>
        <p:nvSpPr>
          <p:cNvPr id="11" name="Text 8"/>
          <p:cNvSpPr txBox="1"/>
          <p:nvPr/>
        </p:nvSpPr>
        <p:spPr>
          <a:xfrm>
            <a:off x="777240" y="25420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Q2</a:t>
            </a:r>
            <a:endParaRPr lang="en-US" sz="1200" dirty="0"/>
          </a:p>
        </p:txBody>
      </p:sp>
      <p:sp>
        <p:nvSpPr>
          <p:cNvPr id="12" name="Text 9"/>
          <p:cNvSpPr txBox="1"/>
          <p:nvPr/>
        </p:nvSpPr>
        <p:spPr>
          <a:xfrm>
            <a:off x="1463040" y="2350008"/>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디지털 신호를 아날로그 전송로로 보내는 장비와, 디지털 전송로로 보내는 장비는?</a:t>
            </a:r>
            <a:endParaRPr lang="en-US" sz="1600" dirty="0"/>
          </a:p>
        </p:txBody>
      </p:sp>
      <p:sp>
        <p:nvSpPr>
          <p:cNvPr id="13" name="Shape 10"/>
          <p:cNvSpPr/>
          <p:nvPr/>
        </p:nvSpPr>
        <p:spPr>
          <a:xfrm>
            <a:off x="548640" y="3374136"/>
            <a:ext cx="11091672" cy="841248"/>
          </a:xfrm>
          <a:prstGeom prst="roundRect">
            <a:avLst>
              <a:gd name="adj" fmla="val 8696"/>
            </a:avLst>
          </a:prstGeom>
          <a:solidFill>
            <a:srgbClr val="F4F6F7"/>
          </a:solidFill>
          <a:ln w="12700">
            <a:solidFill>
              <a:srgbClr val="9AA5AD"/>
            </a:solidFill>
            <a:prstDash val="solid"/>
          </a:ln>
        </p:spPr>
      </p:sp>
      <p:sp>
        <p:nvSpPr>
          <p:cNvPr id="14" name="Shape 11"/>
          <p:cNvSpPr/>
          <p:nvPr/>
        </p:nvSpPr>
        <p:spPr>
          <a:xfrm>
            <a:off x="777240" y="3566160"/>
            <a:ext cx="457200" cy="457200"/>
          </a:xfrm>
          <a:prstGeom prst="ellipse">
            <a:avLst/>
          </a:prstGeom>
          <a:solidFill>
            <a:srgbClr val="0E6E7A"/>
          </a:solidFill>
          <a:ln w="12700">
            <a:solidFill>
              <a:srgbClr val="0E6E7A"/>
            </a:solidFill>
            <a:prstDash val="solid"/>
          </a:ln>
        </p:spPr>
      </p:sp>
      <p:sp>
        <p:nvSpPr>
          <p:cNvPr id="15" name="Text 12"/>
          <p:cNvSpPr txBox="1"/>
          <p:nvPr/>
        </p:nvSpPr>
        <p:spPr>
          <a:xfrm>
            <a:off x="777240" y="3566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Q3</a:t>
            </a:r>
            <a:endParaRPr lang="en-US" sz="1200" dirty="0"/>
          </a:p>
        </p:txBody>
      </p:sp>
      <p:sp>
        <p:nvSpPr>
          <p:cNvPr id="16" name="Text 13"/>
          <p:cNvSpPr txBox="1"/>
          <p:nvPr/>
        </p:nvSpPr>
        <p:spPr>
          <a:xfrm>
            <a:off x="1463040" y="3374136"/>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충돌 영역과 브로드캐스트 영역을 모두 분리하는 장비는? 부하 분산을 하는 장비는?</a:t>
            </a:r>
            <a:endParaRPr lang="en-US" sz="1600" dirty="0"/>
          </a:p>
        </p:txBody>
      </p:sp>
      <p:sp>
        <p:nvSpPr>
          <p:cNvPr id="17" name="Shape 14"/>
          <p:cNvSpPr/>
          <p:nvPr/>
        </p:nvSpPr>
        <p:spPr>
          <a:xfrm>
            <a:off x="548640" y="4398264"/>
            <a:ext cx="11091672" cy="841248"/>
          </a:xfrm>
          <a:prstGeom prst="roundRect">
            <a:avLst>
              <a:gd name="adj" fmla="val 8696"/>
            </a:avLst>
          </a:prstGeom>
          <a:solidFill>
            <a:srgbClr val="FFFFFF"/>
          </a:solidFill>
          <a:ln w="12700">
            <a:solidFill>
              <a:srgbClr val="9AA5AD"/>
            </a:solidFill>
            <a:prstDash val="solid"/>
          </a:ln>
        </p:spPr>
      </p:sp>
      <p:sp>
        <p:nvSpPr>
          <p:cNvPr id="18" name="Shape 15"/>
          <p:cNvSpPr/>
          <p:nvPr/>
        </p:nvSpPr>
        <p:spPr>
          <a:xfrm>
            <a:off x="777240" y="4590288"/>
            <a:ext cx="457200" cy="457200"/>
          </a:xfrm>
          <a:prstGeom prst="ellipse">
            <a:avLst/>
          </a:prstGeom>
          <a:solidFill>
            <a:srgbClr val="0E6E7A"/>
          </a:solidFill>
          <a:ln w="12700">
            <a:solidFill>
              <a:srgbClr val="0E6E7A"/>
            </a:solidFill>
            <a:prstDash val="solid"/>
          </a:ln>
        </p:spPr>
      </p:sp>
      <p:sp>
        <p:nvSpPr>
          <p:cNvPr id="19" name="Text 16"/>
          <p:cNvSpPr txBox="1"/>
          <p:nvPr/>
        </p:nvSpPr>
        <p:spPr>
          <a:xfrm>
            <a:off x="777240" y="459028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Q4</a:t>
            </a:r>
            <a:endParaRPr lang="en-US" sz="1200" dirty="0"/>
          </a:p>
        </p:txBody>
      </p:sp>
      <p:sp>
        <p:nvSpPr>
          <p:cNvPr id="20" name="Text 17"/>
          <p:cNvSpPr txBox="1"/>
          <p:nvPr/>
        </p:nvSpPr>
        <p:spPr>
          <a:xfrm>
            <a:off x="1463040" y="4398264"/>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100BASE-TX 에서 100, BASE, TX 의 의미를 쓰시오.</a:t>
            </a:r>
            <a:endParaRPr lang="en-US" sz="1600" dirty="0"/>
          </a:p>
        </p:txBody>
      </p:sp>
      <p:sp>
        <p:nvSpPr>
          <p:cNvPr id="21" name="Shape 18"/>
          <p:cNvSpPr/>
          <p:nvPr/>
        </p:nvSpPr>
        <p:spPr>
          <a:xfrm>
            <a:off x="548640" y="5422392"/>
            <a:ext cx="11091672" cy="841248"/>
          </a:xfrm>
          <a:prstGeom prst="roundRect">
            <a:avLst>
              <a:gd name="adj" fmla="val 8696"/>
            </a:avLst>
          </a:prstGeom>
          <a:solidFill>
            <a:srgbClr val="F4F6F7"/>
          </a:solidFill>
          <a:ln w="12700">
            <a:solidFill>
              <a:srgbClr val="9AA5AD"/>
            </a:solidFill>
            <a:prstDash val="solid"/>
          </a:ln>
        </p:spPr>
      </p:sp>
      <p:sp>
        <p:nvSpPr>
          <p:cNvPr id="22" name="Shape 19"/>
          <p:cNvSpPr/>
          <p:nvPr/>
        </p:nvSpPr>
        <p:spPr>
          <a:xfrm>
            <a:off x="777240" y="5614416"/>
            <a:ext cx="457200" cy="457200"/>
          </a:xfrm>
          <a:prstGeom prst="ellipse">
            <a:avLst/>
          </a:prstGeom>
          <a:solidFill>
            <a:srgbClr val="0E6E7A"/>
          </a:solidFill>
          <a:ln w="12700">
            <a:solidFill>
              <a:srgbClr val="0E6E7A"/>
            </a:solidFill>
            <a:prstDash val="solid"/>
          </a:ln>
        </p:spPr>
      </p:sp>
      <p:sp>
        <p:nvSpPr>
          <p:cNvPr id="23" name="Text 20"/>
          <p:cNvSpPr txBox="1"/>
          <p:nvPr/>
        </p:nvSpPr>
        <p:spPr>
          <a:xfrm>
            <a:off x="777240" y="5614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Q5</a:t>
            </a:r>
            <a:endParaRPr lang="en-US" sz="1200" dirty="0"/>
          </a:p>
        </p:txBody>
      </p:sp>
      <p:sp>
        <p:nvSpPr>
          <p:cNvPr id="24" name="Text 21"/>
          <p:cNvSpPr txBox="1"/>
          <p:nvPr/>
        </p:nvSpPr>
        <p:spPr>
          <a:xfrm>
            <a:off x="1463040" y="5422392"/>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PC 와 PC 를 직접 연결할 때 쓰는 케이블과, 라우터 초기 설정에 쓰는 케이블은?</a:t>
            </a:r>
            <a:endParaRPr lang="en-US" sz="1600" dirty="0"/>
          </a:p>
        </p:txBody>
      </p:sp>
      <p:sp>
        <p:nvSpPr>
          <p:cNvPr id="25" name="Text 22"/>
          <p:cNvSpPr txBox="1"/>
          <p:nvPr/>
        </p:nvSpPr>
        <p:spPr>
          <a:xfrm>
            <a:off x="5486400" y="6382512"/>
            <a:ext cx="5394960" cy="274320"/>
          </a:xfrm>
          <a:prstGeom prst="rect">
            <a:avLst/>
          </a:prstGeom>
          <a:noFill/>
          <a:ln/>
        </p:spPr>
        <p:txBody>
          <a:bodyPr wrap="square" lIns="0" tIns="0" rIns="0" bIns="0" rtlCol="0" anchor="t"/>
          <a:lstStyle/>
          <a:p>
            <a:pPr algn="r" indent="0" marL="0">
              <a:buNone/>
            </a:pPr>
            <a:r>
              <a:rPr lang="en-US" sz="1000" dirty="0">
                <a:solidFill>
                  <a:srgbClr val="66737C"/>
                </a:solidFill>
                <a:latin typeface="맑은 고딕" pitchFamily="34" charset="0"/>
                <a:ea typeface="맑은 고딕" pitchFamily="34" charset="-122"/>
                <a:cs typeface="맑은 고딕" pitchFamily="34" charset="-120"/>
              </a:rPr>
              <a:t>정답과 해설은 발표자 노트에 있습니다</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5486400" cy="1097280"/>
          </a:xfrm>
          <a:prstGeom prst="rect">
            <a:avLst/>
          </a:prstGeom>
          <a:noFill/>
          <a:ln/>
        </p:spPr>
        <p:txBody>
          <a:bodyPr wrap="square" lIns="0" tIns="0" rIns="0" bIns="0" rtlCol="0" anchor="b"/>
          <a:lstStyle/>
          <a:p>
            <a:pPr indent="0" marL="0">
              <a:buNone/>
            </a:pPr>
            <a:r>
              <a:rPr lang="en-US" sz="5400" b="1" dirty="0">
                <a:solidFill>
                  <a:srgbClr val="7FB2B8"/>
                </a:solidFill>
                <a:latin typeface="맑은 고딕" pitchFamily="34" charset="0"/>
                <a:ea typeface="맑은 고딕" pitchFamily="34" charset="-122"/>
                <a:cs typeface="맑은 고딕" pitchFamily="34" charset="-120"/>
              </a:rPr>
              <a:t>PART 6</a:t>
            </a:r>
            <a:endParaRPr lang="en-US" sz="5400" dirty="0"/>
          </a:p>
        </p:txBody>
      </p:sp>
      <p:sp>
        <p:nvSpPr>
          <p:cNvPr id="3" name="Text 0"/>
          <p:cNvSpPr/>
          <p:nvPr>
            <p:ph idx="101" type="title" hasCustomPrompt="1"/>
          </p:nvPr>
        </p:nvSpPr>
        <p:spPr>
          <a:xfrm>
            <a:off x="731520" y="2560320"/>
            <a:ext cx="10698480" cy="100584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라우팅과 네트워크 보안 기초</a:t>
            </a:r>
            <a:endParaRPr lang="en-US" sz="3800" dirty="0"/>
          </a:p>
        </p:txBody>
      </p:sp>
      <p:sp>
        <p:nvSpPr>
          <p:cNvPr id="4" name="Text 0"/>
          <p:cNvSpPr/>
          <p:nvPr>
            <p:ph idx="102" type="body" hasCustomPrompt="1"/>
          </p:nvPr>
        </p:nvSpPr>
        <p:spPr>
          <a:xfrm>
            <a:off x="731520" y="3749040"/>
            <a:ext cx="10698480"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라우팅: 정적 vs 동적, 라우팅 프로토콜</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ACL · 방화벽 · 화이트리스트/블랙리스트</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VLAN · NAT(SNAT/DNAT) · DoS · IPS/WIPS</a:t>
            </a:r>
            <a:endParaRPr lang="en-US" sz="17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라우팅 — 패킷이 갈 길을 정하는 일</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6 · 라우팅·보안</a:t>
            </a:r>
            <a:endParaRPr lang="en-US" sz="1100" dirty="0"/>
          </a:p>
        </p:txBody>
      </p:sp>
      <p:sp>
        <p:nvSpPr>
          <p:cNvPr id="5" name="Shape 2"/>
          <p:cNvSpPr/>
          <p:nvPr/>
        </p:nvSpPr>
        <p:spPr>
          <a:xfrm>
            <a:off x="548640" y="1965960"/>
            <a:ext cx="1463040" cy="731520"/>
          </a:xfrm>
          <a:prstGeom prst="roundRect">
            <a:avLst>
              <a:gd name="adj" fmla="val 10000"/>
            </a:avLst>
          </a:prstGeom>
          <a:solidFill>
            <a:srgbClr val="F4F6F7"/>
          </a:solidFill>
          <a:ln w="12700">
            <a:solidFill>
              <a:srgbClr val="1E2A30"/>
            </a:solidFill>
            <a:prstDash val="solid"/>
          </a:ln>
        </p:spPr>
      </p:sp>
      <p:sp>
        <p:nvSpPr>
          <p:cNvPr id="6" name="Text 3"/>
          <p:cNvSpPr txBox="1"/>
          <p:nvPr/>
        </p:nvSpPr>
        <p:spPr>
          <a:xfrm>
            <a:off x="548640" y="1965960"/>
            <a:ext cx="1463040" cy="73152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출발</a:t>
            </a:r>
            <a:endParaRPr lang="en-US" sz="1400" dirty="0"/>
          </a:p>
        </p:txBody>
      </p:sp>
      <p:sp>
        <p:nvSpPr>
          <p:cNvPr id="7" name="Shape 4"/>
          <p:cNvSpPr/>
          <p:nvPr/>
        </p:nvSpPr>
        <p:spPr>
          <a:xfrm>
            <a:off x="9966960" y="1965960"/>
            <a:ext cx="1673352" cy="731520"/>
          </a:xfrm>
          <a:prstGeom prst="roundRect">
            <a:avLst>
              <a:gd name="adj" fmla="val 10000"/>
            </a:avLst>
          </a:prstGeom>
          <a:solidFill>
            <a:srgbClr val="F4F6F7"/>
          </a:solidFill>
          <a:ln w="12700">
            <a:solidFill>
              <a:srgbClr val="1E2A30"/>
            </a:solidFill>
            <a:prstDash val="solid"/>
          </a:ln>
        </p:spPr>
      </p:sp>
      <p:sp>
        <p:nvSpPr>
          <p:cNvPr id="8" name="Text 5"/>
          <p:cNvSpPr txBox="1"/>
          <p:nvPr/>
        </p:nvSpPr>
        <p:spPr>
          <a:xfrm>
            <a:off x="9966960" y="1965960"/>
            <a:ext cx="1673352" cy="73152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목적지</a:t>
            </a:r>
            <a:endParaRPr lang="en-US" sz="1400" dirty="0"/>
          </a:p>
        </p:txBody>
      </p:sp>
      <p:sp>
        <p:nvSpPr>
          <p:cNvPr id="9" name="Shape 6"/>
          <p:cNvSpPr/>
          <p:nvPr/>
        </p:nvSpPr>
        <p:spPr>
          <a:xfrm>
            <a:off x="3017520" y="1920240"/>
            <a:ext cx="1097280" cy="822960"/>
          </a:xfrm>
          <a:prstGeom prst="ellipse">
            <a:avLst/>
          </a:prstGeom>
          <a:solidFill>
            <a:srgbClr val="FFFFFF"/>
          </a:solidFill>
          <a:ln w="15875">
            <a:solidFill>
              <a:srgbClr val="1E2A30"/>
            </a:solidFill>
            <a:prstDash val="solid"/>
          </a:ln>
        </p:spPr>
      </p:sp>
      <p:sp>
        <p:nvSpPr>
          <p:cNvPr id="10" name="Text 7"/>
          <p:cNvSpPr txBox="1"/>
          <p:nvPr/>
        </p:nvSpPr>
        <p:spPr>
          <a:xfrm>
            <a:off x="3017520" y="1920240"/>
            <a:ext cx="1097280" cy="82296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R1</a:t>
            </a:r>
            <a:endParaRPr lang="en-US" sz="1400" dirty="0"/>
          </a:p>
        </p:txBody>
      </p:sp>
      <p:sp>
        <p:nvSpPr>
          <p:cNvPr id="11" name="Shape 8"/>
          <p:cNvSpPr/>
          <p:nvPr/>
        </p:nvSpPr>
        <p:spPr>
          <a:xfrm>
            <a:off x="5394960" y="1371600"/>
            <a:ext cx="1097280" cy="822960"/>
          </a:xfrm>
          <a:prstGeom prst="ellipse">
            <a:avLst/>
          </a:prstGeom>
          <a:solidFill>
            <a:srgbClr val="E6F1F2"/>
          </a:solidFill>
          <a:ln w="15875">
            <a:solidFill>
              <a:srgbClr val="0E6E7A"/>
            </a:solidFill>
            <a:prstDash val="solid"/>
          </a:ln>
        </p:spPr>
      </p:sp>
      <p:sp>
        <p:nvSpPr>
          <p:cNvPr id="12" name="Text 9"/>
          <p:cNvSpPr txBox="1"/>
          <p:nvPr/>
        </p:nvSpPr>
        <p:spPr>
          <a:xfrm>
            <a:off x="5394960" y="1371600"/>
            <a:ext cx="1097280" cy="82296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R2</a:t>
            </a:r>
            <a:endParaRPr lang="en-US" sz="1400" dirty="0"/>
          </a:p>
        </p:txBody>
      </p:sp>
      <p:sp>
        <p:nvSpPr>
          <p:cNvPr id="13" name="Shape 10"/>
          <p:cNvSpPr/>
          <p:nvPr/>
        </p:nvSpPr>
        <p:spPr>
          <a:xfrm>
            <a:off x="5394960" y="2560320"/>
            <a:ext cx="1097280" cy="822960"/>
          </a:xfrm>
          <a:prstGeom prst="ellipse">
            <a:avLst/>
          </a:prstGeom>
          <a:solidFill>
            <a:srgbClr val="FFFFFF"/>
          </a:solidFill>
          <a:ln w="15875">
            <a:solidFill>
              <a:srgbClr val="1E2A30"/>
            </a:solidFill>
            <a:prstDash val="solid"/>
          </a:ln>
        </p:spPr>
      </p:sp>
      <p:sp>
        <p:nvSpPr>
          <p:cNvPr id="14" name="Text 11"/>
          <p:cNvSpPr txBox="1"/>
          <p:nvPr/>
        </p:nvSpPr>
        <p:spPr>
          <a:xfrm>
            <a:off x="5394960" y="2560320"/>
            <a:ext cx="1097280" cy="82296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R3</a:t>
            </a:r>
            <a:endParaRPr lang="en-US" sz="1400" dirty="0"/>
          </a:p>
        </p:txBody>
      </p:sp>
      <p:sp>
        <p:nvSpPr>
          <p:cNvPr id="15" name="Shape 12"/>
          <p:cNvSpPr/>
          <p:nvPr/>
        </p:nvSpPr>
        <p:spPr>
          <a:xfrm>
            <a:off x="7772400" y="1920240"/>
            <a:ext cx="1097280" cy="822960"/>
          </a:xfrm>
          <a:prstGeom prst="ellipse">
            <a:avLst/>
          </a:prstGeom>
          <a:solidFill>
            <a:srgbClr val="E6F1F2"/>
          </a:solidFill>
          <a:ln w="15875">
            <a:solidFill>
              <a:srgbClr val="0E6E7A"/>
            </a:solidFill>
            <a:prstDash val="solid"/>
          </a:ln>
        </p:spPr>
      </p:sp>
      <p:sp>
        <p:nvSpPr>
          <p:cNvPr id="16" name="Text 13"/>
          <p:cNvSpPr txBox="1"/>
          <p:nvPr/>
        </p:nvSpPr>
        <p:spPr>
          <a:xfrm>
            <a:off x="7772400" y="1920240"/>
            <a:ext cx="1097280" cy="82296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R4</a:t>
            </a:r>
            <a:endParaRPr lang="en-US" sz="1400" dirty="0"/>
          </a:p>
        </p:txBody>
      </p:sp>
      <p:sp>
        <p:nvSpPr>
          <p:cNvPr id="17" name="Shape 14"/>
          <p:cNvSpPr/>
          <p:nvPr/>
        </p:nvSpPr>
        <p:spPr>
          <a:xfrm>
            <a:off x="2011680" y="2331720"/>
            <a:ext cx="1005840" cy="914"/>
          </a:xfrm>
          <a:prstGeom prst="line">
            <a:avLst/>
          </a:prstGeom>
          <a:noFill/>
          <a:ln w="19050">
            <a:solidFill>
              <a:srgbClr val="1E2A30"/>
            </a:solidFill>
            <a:prstDash val="solid"/>
          </a:ln>
        </p:spPr>
      </p:sp>
      <p:sp>
        <p:nvSpPr>
          <p:cNvPr id="18" name="Shape 15"/>
          <p:cNvSpPr/>
          <p:nvPr/>
        </p:nvSpPr>
        <p:spPr>
          <a:xfrm flipV="1">
            <a:off x="4114800" y="1828800"/>
            <a:ext cx="1280160" cy="365760"/>
          </a:xfrm>
          <a:prstGeom prst="line">
            <a:avLst/>
          </a:prstGeom>
          <a:noFill/>
          <a:ln w="31750">
            <a:solidFill>
              <a:srgbClr val="0E6E7A"/>
            </a:solidFill>
            <a:prstDash val="solid"/>
          </a:ln>
        </p:spPr>
      </p:sp>
      <p:sp>
        <p:nvSpPr>
          <p:cNvPr id="19" name="Shape 16"/>
          <p:cNvSpPr/>
          <p:nvPr/>
        </p:nvSpPr>
        <p:spPr>
          <a:xfrm>
            <a:off x="4114800" y="2468880"/>
            <a:ext cx="1280160" cy="548640"/>
          </a:xfrm>
          <a:prstGeom prst="line">
            <a:avLst/>
          </a:prstGeom>
          <a:noFill/>
          <a:ln w="19050">
            <a:solidFill>
              <a:srgbClr val="1E2A30"/>
            </a:solidFill>
            <a:prstDash val="solid"/>
          </a:ln>
        </p:spPr>
      </p:sp>
      <p:sp>
        <p:nvSpPr>
          <p:cNvPr id="20" name="Shape 17"/>
          <p:cNvSpPr/>
          <p:nvPr/>
        </p:nvSpPr>
        <p:spPr>
          <a:xfrm>
            <a:off x="6492240" y="1828800"/>
            <a:ext cx="1280160" cy="365760"/>
          </a:xfrm>
          <a:prstGeom prst="line">
            <a:avLst/>
          </a:prstGeom>
          <a:noFill/>
          <a:ln w="31750">
            <a:solidFill>
              <a:srgbClr val="0E6E7A"/>
            </a:solidFill>
            <a:prstDash val="solid"/>
          </a:ln>
        </p:spPr>
      </p:sp>
      <p:sp>
        <p:nvSpPr>
          <p:cNvPr id="21" name="Shape 18"/>
          <p:cNvSpPr/>
          <p:nvPr/>
        </p:nvSpPr>
        <p:spPr>
          <a:xfrm flipV="1">
            <a:off x="6492240" y="2468880"/>
            <a:ext cx="1280160" cy="548640"/>
          </a:xfrm>
          <a:prstGeom prst="line">
            <a:avLst/>
          </a:prstGeom>
          <a:noFill/>
          <a:ln w="19050">
            <a:solidFill>
              <a:srgbClr val="1E2A30"/>
            </a:solidFill>
            <a:prstDash val="solid"/>
          </a:ln>
        </p:spPr>
      </p:sp>
      <p:sp>
        <p:nvSpPr>
          <p:cNvPr id="22" name="Shape 19"/>
          <p:cNvSpPr/>
          <p:nvPr/>
        </p:nvSpPr>
        <p:spPr>
          <a:xfrm>
            <a:off x="8869680" y="2331720"/>
            <a:ext cx="1097280" cy="914"/>
          </a:xfrm>
          <a:prstGeom prst="line">
            <a:avLst/>
          </a:prstGeom>
          <a:noFill/>
          <a:ln w="19050">
            <a:solidFill>
              <a:srgbClr val="1E2A30"/>
            </a:solidFill>
            <a:prstDash val="solid"/>
          </a:ln>
        </p:spPr>
      </p:sp>
      <p:sp>
        <p:nvSpPr>
          <p:cNvPr id="23" name="Text 20"/>
          <p:cNvSpPr txBox="1"/>
          <p:nvPr/>
        </p:nvSpPr>
        <p:spPr>
          <a:xfrm>
            <a:off x="3017520" y="3429000"/>
            <a:ext cx="5852160" cy="274320"/>
          </a:xfrm>
          <a:prstGeom prst="rect">
            <a:avLst/>
          </a:prstGeom>
          <a:noFill/>
          <a:ln/>
        </p:spPr>
        <p:txBody>
          <a:bodyPr wrap="square" lIns="0" tIns="0" rIns="0" bIns="0" rtlCol="0" anchor="t"/>
          <a:lstStyle/>
          <a:p>
            <a:pPr algn="ctr" indent="0" marL="0">
              <a:buNone/>
            </a:pPr>
            <a:r>
              <a:rPr lang="en-US" sz="1300" dirty="0">
                <a:solidFill>
                  <a:srgbClr val="66737C"/>
                </a:solidFill>
                <a:latin typeface="맑은 고딕" pitchFamily="34" charset="0"/>
                <a:ea typeface="맑은 고딕" pitchFamily="34" charset="-122"/>
                <a:cs typeface="맑은 고딕" pitchFamily="34" charset="-120"/>
              </a:rPr>
              <a:t>라우터가 라우팅 테이블을 보고 다음 경로를 선택</a:t>
            </a:r>
            <a:endParaRPr lang="en-US" sz="1300" dirty="0"/>
          </a:p>
        </p:txBody>
      </p:sp>
      <p:sp>
        <p:nvSpPr>
          <p:cNvPr id="24" name="Shape 21"/>
          <p:cNvSpPr/>
          <p:nvPr/>
        </p:nvSpPr>
        <p:spPr>
          <a:xfrm>
            <a:off x="548640" y="3794760"/>
            <a:ext cx="5394960" cy="2011680"/>
          </a:xfrm>
          <a:prstGeom prst="roundRect">
            <a:avLst>
              <a:gd name="adj" fmla="val 3636"/>
            </a:avLst>
          </a:prstGeom>
          <a:solidFill>
            <a:srgbClr val="FFFFFF"/>
          </a:solidFill>
          <a:ln w="12700">
            <a:solidFill>
              <a:srgbClr val="9AA5AD"/>
            </a:solidFill>
            <a:prstDash val="solid"/>
          </a:ln>
        </p:spPr>
      </p:sp>
      <p:sp>
        <p:nvSpPr>
          <p:cNvPr id="25" name="Text 22"/>
          <p:cNvSpPr txBox="1"/>
          <p:nvPr/>
        </p:nvSpPr>
        <p:spPr>
          <a:xfrm>
            <a:off x="731520" y="393192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정적 (Static) 라우팅</a:t>
            </a:r>
            <a:endParaRPr lang="en-US" sz="1800" dirty="0"/>
          </a:p>
        </p:txBody>
      </p:sp>
      <p:sp>
        <p:nvSpPr>
          <p:cNvPr id="26" name="Text 23"/>
          <p:cNvSpPr txBox="1"/>
          <p:nvPr/>
        </p:nvSpPr>
        <p:spPr>
          <a:xfrm>
            <a:off x="731520" y="4389120"/>
            <a:ext cx="5029200" cy="130759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관리자가 직접 경로 입력</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고정적 · 변하지 않음</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소규모 · 보안상 안전 · 부하 적음</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장애 시 자동 우회 불가</a:t>
            </a:r>
            <a:endParaRPr lang="en-US" sz="1400" dirty="0"/>
          </a:p>
        </p:txBody>
      </p:sp>
      <p:sp>
        <p:nvSpPr>
          <p:cNvPr id="27" name="Shape 24"/>
          <p:cNvSpPr/>
          <p:nvPr/>
        </p:nvSpPr>
        <p:spPr>
          <a:xfrm>
            <a:off x="6245352" y="3794760"/>
            <a:ext cx="5394960" cy="2011680"/>
          </a:xfrm>
          <a:prstGeom prst="roundRect">
            <a:avLst>
              <a:gd name="adj" fmla="val 3636"/>
            </a:avLst>
          </a:prstGeom>
          <a:solidFill>
            <a:srgbClr val="E6F1F2"/>
          </a:solidFill>
          <a:ln w="12700">
            <a:solidFill>
              <a:srgbClr val="0E6E7A"/>
            </a:solidFill>
            <a:prstDash val="solid"/>
          </a:ln>
        </p:spPr>
      </p:sp>
      <p:sp>
        <p:nvSpPr>
          <p:cNvPr id="28" name="Text 25"/>
          <p:cNvSpPr txBox="1"/>
          <p:nvPr/>
        </p:nvSpPr>
        <p:spPr>
          <a:xfrm>
            <a:off x="6428232" y="393192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동적 (Dynamic) 라우팅</a:t>
            </a:r>
            <a:endParaRPr lang="en-US" sz="1800" dirty="0"/>
          </a:p>
        </p:txBody>
      </p:sp>
      <p:sp>
        <p:nvSpPr>
          <p:cNvPr id="29" name="Text 26"/>
          <p:cNvSpPr txBox="1"/>
          <p:nvPr/>
        </p:nvSpPr>
        <p:spPr>
          <a:xfrm>
            <a:off x="6428232" y="4389120"/>
            <a:ext cx="5029200" cy="130759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라우팅 프로토콜이 자동 관리</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변화에 따라 경로 갱신</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대규모 · 장애 시 자동 우회</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RIP · OSPF · BGP</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패킷 통제 — ACL과 방화벽</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6 · 라우팅·보안</a:t>
            </a:r>
            <a:endParaRPr lang="en-US" sz="1100" dirty="0"/>
          </a:p>
        </p:txBody>
      </p:sp>
      <p:sp>
        <p:nvSpPr>
          <p:cNvPr id="5" name="Shape 2"/>
          <p:cNvSpPr/>
          <p:nvPr/>
        </p:nvSpPr>
        <p:spPr>
          <a:xfrm>
            <a:off x="548640" y="1554480"/>
            <a:ext cx="2103120" cy="1097280"/>
          </a:xfrm>
          <a:prstGeom prst="roundRect">
            <a:avLst>
              <a:gd name="adj" fmla="val 6667"/>
            </a:avLst>
          </a:prstGeom>
          <a:solidFill>
            <a:srgbClr val="F4F6F7"/>
          </a:solidFill>
          <a:ln w="12700">
            <a:solidFill>
              <a:srgbClr val="1E2A30"/>
            </a:solidFill>
            <a:prstDash val="solid"/>
          </a:ln>
        </p:spPr>
      </p:sp>
      <p:sp>
        <p:nvSpPr>
          <p:cNvPr id="6" name="Text 3"/>
          <p:cNvSpPr txBox="1"/>
          <p:nvPr/>
        </p:nvSpPr>
        <p:spPr>
          <a:xfrm>
            <a:off x="548640" y="1554480"/>
            <a:ext cx="2103120" cy="109728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외부</a:t>
            </a:r>
            <a:endParaRPr lang="en-US" sz="1600" dirty="0"/>
          </a:p>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패킷</a:t>
            </a:r>
            <a:endParaRPr lang="en-US" sz="1600" dirty="0"/>
          </a:p>
        </p:txBody>
      </p:sp>
      <p:sp>
        <p:nvSpPr>
          <p:cNvPr id="7" name="Shape 4"/>
          <p:cNvSpPr/>
          <p:nvPr/>
        </p:nvSpPr>
        <p:spPr>
          <a:xfrm>
            <a:off x="3657600" y="1325880"/>
            <a:ext cx="1280160" cy="1554480"/>
          </a:xfrm>
          <a:prstGeom prst="roundRect">
            <a:avLst>
              <a:gd name="adj" fmla="val 5714"/>
            </a:avLst>
          </a:prstGeom>
          <a:solidFill>
            <a:srgbClr val="E6F1F2"/>
          </a:solidFill>
          <a:ln w="25400">
            <a:solidFill>
              <a:srgbClr val="0E6E7A"/>
            </a:solidFill>
            <a:prstDash val="solid"/>
          </a:ln>
        </p:spPr>
      </p:sp>
      <p:sp>
        <p:nvSpPr>
          <p:cNvPr id="8" name="Text 5"/>
          <p:cNvSpPr txBox="1"/>
          <p:nvPr/>
        </p:nvSpPr>
        <p:spPr>
          <a:xfrm>
            <a:off x="3657600" y="1325880"/>
            <a:ext cx="1280160" cy="1554480"/>
          </a:xfrm>
          <a:prstGeom prst="rect">
            <a:avLst/>
          </a:prstGeom>
          <a:noFill/>
          <a:ln/>
        </p:spPr>
        <p:txBody>
          <a:bodyPr wrap="square" lIns="0" tIns="0" rIns="0" bIns="0" rtlCol="0" anchor="ctr"/>
          <a:lstStyle/>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방화벽</a:t>
            </a:r>
            <a:endParaRPr lang="en-US" sz="1500" dirty="0"/>
          </a:p>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ACL</a:t>
            </a:r>
            <a:endParaRPr lang="en-US" sz="1500" dirty="0"/>
          </a:p>
        </p:txBody>
      </p:sp>
      <p:sp>
        <p:nvSpPr>
          <p:cNvPr id="9" name="Shape 6"/>
          <p:cNvSpPr/>
          <p:nvPr/>
        </p:nvSpPr>
        <p:spPr>
          <a:xfrm>
            <a:off x="6035040" y="1554480"/>
            <a:ext cx="2103120" cy="1097280"/>
          </a:xfrm>
          <a:prstGeom prst="roundRect">
            <a:avLst>
              <a:gd name="adj" fmla="val 6667"/>
            </a:avLst>
          </a:prstGeom>
          <a:solidFill>
            <a:srgbClr val="FFFFFF"/>
          </a:solidFill>
          <a:ln w="12700">
            <a:solidFill>
              <a:srgbClr val="1E2A30"/>
            </a:solidFill>
            <a:prstDash val="solid"/>
          </a:ln>
        </p:spPr>
      </p:sp>
      <p:sp>
        <p:nvSpPr>
          <p:cNvPr id="10" name="Text 7"/>
          <p:cNvSpPr txBox="1"/>
          <p:nvPr/>
        </p:nvSpPr>
        <p:spPr>
          <a:xfrm>
            <a:off x="6035040" y="1554480"/>
            <a:ext cx="2103120" cy="109728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내부</a:t>
            </a:r>
            <a:endParaRPr lang="en-US" sz="1600" dirty="0"/>
          </a:p>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네트워크</a:t>
            </a:r>
            <a:endParaRPr lang="en-US" sz="1600" dirty="0"/>
          </a:p>
        </p:txBody>
      </p:sp>
      <p:sp>
        <p:nvSpPr>
          <p:cNvPr id="11" name="Shape 8"/>
          <p:cNvSpPr/>
          <p:nvPr/>
        </p:nvSpPr>
        <p:spPr>
          <a:xfrm>
            <a:off x="2651760" y="1828800"/>
            <a:ext cx="1005840" cy="914"/>
          </a:xfrm>
          <a:prstGeom prst="line">
            <a:avLst/>
          </a:prstGeom>
          <a:noFill/>
          <a:ln w="19050">
            <a:solidFill>
              <a:srgbClr val="1E2A30"/>
            </a:solidFill>
            <a:prstDash val="solid"/>
            <a:tailEnd type="triangle"/>
          </a:ln>
        </p:spPr>
      </p:sp>
      <p:sp>
        <p:nvSpPr>
          <p:cNvPr id="12" name="Shape 9"/>
          <p:cNvSpPr/>
          <p:nvPr/>
        </p:nvSpPr>
        <p:spPr>
          <a:xfrm>
            <a:off x="4937760" y="1828800"/>
            <a:ext cx="1097280" cy="914"/>
          </a:xfrm>
          <a:prstGeom prst="line">
            <a:avLst/>
          </a:prstGeom>
          <a:noFill/>
          <a:ln w="19050">
            <a:solidFill>
              <a:srgbClr val="0E6E7A"/>
            </a:solidFill>
            <a:prstDash val="solid"/>
            <a:tailEnd type="triangle"/>
          </a:ln>
        </p:spPr>
      </p:sp>
      <p:sp>
        <p:nvSpPr>
          <p:cNvPr id="13" name="Text 10"/>
          <p:cNvSpPr txBox="1"/>
          <p:nvPr/>
        </p:nvSpPr>
        <p:spPr>
          <a:xfrm>
            <a:off x="4983480" y="1463040"/>
            <a:ext cx="1005840" cy="320040"/>
          </a:xfrm>
          <a:prstGeom prst="rect">
            <a:avLst/>
          </a:prstGeom>
          <a:noFill/>
          <a:ln/>
        </p:spPr>
        <p:txBody>
          <a:bodyPr wrap="square" lIns="0" tIns="0" rIns="0" bIns="0" rtlCol="0" anchor="t"/>
          <a:lstStyle/>
          <a:p>
            <a:pPr algn="ctr" indent="0" marL="0">
              <a:buNone/>
            </a:pPr>
            <a:r>
              <a:rPr lang="en-US" sz="1200" b="1" dirty="0">
                <a:solidFill>
                  <a:srgbClr val="0E6E7A"/>
                </a:solidFill>
                <a:latin typeface="맑은 고딕" pitchFamily="34" charset="0"/>
                <a:ea typeface="맑은 고딕" pitchFamily="34" charset="-122"/>
                <a:cs typeface="맑은 고딕" pitchFamily="34" charset="-120"/>
              </a:rPr>
              <a:t>허용</a:t>
            </a:r>
            <a:endParaRPr lang="en-US" sz="1200" dirty="0"/>
          </a:p>
        </p:txBody>
      </p:sp>
      <p:sp>
        <p:nvSpPr>
          <p:cNvPr id="14" name="Shape 11"/>
          <p:cNvSpPr/>
          <p:nvPr/>
        </p:nvSpPr>
        <p:spPr>
          <a:xfrm>
            <a:off x="2651760" y="2377440"/>
            <a:ext cx="914400" cy="914"/>
          </a:xfrm>
          <a:prstGeom prst="line">
            <a:avLst/>
          </a:prstGeom>
          <a:noFill/>
          <a:ln w="19050">
            <a:solidFill>
              <a:srgbClr val="1E2A30"/>
            </a:solidFill>
            <a:prstDash val="solid"/>
            <a:tailEnd type="triangle"/>
          </a:ln>
        </p:spPr>
      </p:sp>
      <p:sp>
        <p:nvSpPr>
          <p:cNvPr id="15" name="Text 12"/>
          <p:cNvSpPr txBox="1"/>
          <p:nvPr/>
        </p:nvSpPr>
        <p:spPr>
          <a:xfrm>
            <a:off x="3611880" y="2926080"/>
            <a:ext cx="1371600" cy="320040"/>
          </a:xfrm>
          <a:prstGeom prst="rect">
            <a:avLst/>
          </a:prstGeom>
          <a:noFill/>
          <a:ln/>
        </p:spPr>
        <p:txBody>
          <a:bodyPr wrap="square" lIns="0" tIns="0" rIns="0" bIns="0" rtlCol="0" anchor="t"/>
          <a:lstStyle/>
          <a:p>
            <a:pPr algn="ctr" indent="0" marL="0">
              <a:buNone/>
            </a:pPr>
            <a:r>
              <a:rPr lang="en-US" sz="1200" b="1" dirty="0">
                <a:solidFill>
                  <a:srgbClr val="1E2A30"/>
                </a:solidFill>
                <a:latin typeface="맑은 고딕" pitchFamily="34" charset="0"/>
                <a:ea typeface="맑은 고딕" pitchFamily="34" charset="-122"/>
                <a:cs typeface="맑은 고딕" pitchFamily="34" charset="-120"/>
              </a:rPr>
              <a:t>× 차단</a:t>
            </a:r>
            <a:endParaRPr lang="en-US" sz="1200" dirty="0"/>
          </a:p>
        </p:txBody>
      </p:sp>
      <p:sp>
        <p:nvSpPr>
          <p:cNvPr id="16" name="Shape 13"/>
          <p:cNvSpPr/>
          <p:nvPr/>
        </p:nvSpPr>
        <p:spPr>
          <a:xfrm>
            <a:off x="8503920" y="1325880"/>
            <a:ext cx="3136392" cy="1600200"/>
          </a:xfrm>
          <a:prstGeom prst="roundRect">
            <a:avLst>
              <a:gd name="adj" fmla="val 4571"/>
            </a:avLst>
          </a:prstGeom>
          <a:solidFill>
            <a:srgbClr val="FFFFFF"/>
          </a:solidFill>
          <a:ln w="12700">
            <a:solidFill>
              <a:srgbClr val="9AA5AD"/>
            </a:solidFill>
            <a:prstDash val="solid"/>
          </a:ln>
        </p:spPr>
      </p:sp>
      <p:sp>
        <p:nvSpPr>
          <p:cNvPr id="17" name="Text 14"/>
          <p:cNvSpPr txBox="1"/>
          <p:nvPr/>
        </p:nvSpPr>
        <p:spPr>
          <a:xfrm>
            <a:off x="8686800" y="1463040"/>
            <a:ext cx="277063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ACL</a:t>
            </a:r>
            <a:endParaRPr lang="en-US" sz="1600" dirty="0"/>
          </a:p>
        </p:txBody>
      </p:sp>
      <p:sp>
        <p:nvSpPr>
          <p:cNvPr id="18" name="Text 15"/>
          <p:cNvSpPr txBox="1"/>
          <p:nvPr/>
        </p:nvSpPr>
        <p:spPr>
          <a:xfrm>
            <a:off x="8686800" y="1920240"/>
            <a:ext cx="2770632" cy="8961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패킷 통과/차단 규칙 목록</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인터페이스에 적용</a:t>
            </a:r>
            <a:endParaRPr lang="en-US" sz="1400" dirty="0"/>
          </a:p>
        </p:txBody>
      </p:sp>
      <p:sp>
        <p:nvSpPr>
          <p:cNvPr id="19" name="Shape 16"/>
          <p:cNvSpPr/>
          <p:nvPr/>
        </p:nvSpPr>
        <p:spPr>
          <a:xfrm>
            <a:off x="548640" y="3520440"/>
            <a:ext cx="5394960" cy="2240280"/>
          </a:xfrm>
          <a:prstGeom prst="roundRect">
            <a:avLst>
              <a:gd name="adj" fmla="val 3265"/>
            </a:avLst>
          </a:prstGeom>
          <a:solidFill>
            <a:srgbClr val="E6F1F2"/>
          </a:solidFill>
          <a:ln w="12700">
            <a:solidFill>
              <a:srgbClr val="0E6E7A"/>
            </a:solidFill>
            <a:prstDash val="solid"/>
          </a:ln>
        </p:spPr>
      </p:sp>
      <p:sp>
        <p:nvSpPr>
          <p:cNvPr id="20" name="Text 17"/>
          <p:cNvSpPr txBox="1"/>
          <p:nvPr/>
        </p:nvSpPr>
        <p:spPr>
          <a:xfrm>
            <a:off x="731520" y="365760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화이트리스트 (Whitelist)</a:t>
            </a:r>
            <a:endParaRPr lang="en-US" sz="1800" dirty="0"/>
          </a:p>
        </p:txBody>
      </p:sp>
      <p:sp>
        <p:nvSpPr>
          <p:cNvPr id="21" name="Text 18"/>
          <p:cNvSpPr txBox="1"/>
          <p:nvPr/>
        </p:nvSpPr>
        <p:spPr>
          <a:xfrm>
            <a:off x="731520" y="4114800"/>
            <a:ext cx="5029200" cy="1536192"/>
          </a:xfrm>
          <a:prstGeom prst="rect">
            <a:avLst/>
          </a:prstGeom>
          <a:noFill/>
          <a:ln/>
        </p:spPr>
        <p:txBody>
          <a:bodyPr wrap="square" lIns="0" tIns="0" rIns="0" bIns="0" rtlCol="0" anchor="t"/>
          <a:lstStyle/>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허용 목록 — 목록에 있는 것만 통과</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나머지는 모두 차단</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보안 강함 · 관리 부담 큼</a:t>
            </a:r>
            <a:endParaRPr lang="en-US" sz="1400" dirty="0"/>
          </a:p>
        </p:txBody>
      </p:sp>
      <p:sp>
        <p:nvSpPr>
          <p:cNvPr id="22" name="Shape 19"/>
          <p:cNvSpPr/>
          <p:nvPr/>
        </p:nvSpPr>
        <p:spPr>
          <a:xfrm>
            <a:off x="6245352" y="3520440"/>
            <a:ext cx="5394960" cy="2240280"/>
          </a:xfrm>
          <a:prstGeom prst="roundRect">
            <a:avLst>
              <a:gd name="adj" fmla="val 3265"/>
            </a:avLst>
          </a:prstGeom>
          <a:solidFill>
            <a:srgbClr val="FFFFFF"/>
          </a:solidFill>
          <a:ln w="12700">
            <a:solidFill>
              <a:srgbClr val="9AA5AD"/>
            </a:solidFill>
            <a:prstDash val="solid"/>
          </a:ln>
        </p:spPr>
      </p:sp>
      <p:sp>
        <p:nvSpPr>
          <p:cNvPr id="23" name="Text 20"/>
          <p:cNvSpPr txBox="1"/>
          <p:nvPr/>
        </p:nvSpPr>
        <p:spPr>
          <a:xfrm>
            <a:off x="6428232" y="365760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블랙리스트 (Blacklist)</a:t>
            </a:r>
            <a:endParaRPr lang="en-US" sz="1800" dirty="0"/>
          </a:p>
        </p:txBody>
      </p:sp>
      <p:sp>
        <p:nvSpPr>
          <p:cNvPr id="24" name="Text 21"/>
          <p:cNvSpPr txBox="1"/>
          <p:nvPr/>
        </p:nvSpPr>
        <p:spPr>
          <a:xfrm>
            <a:off x="6428232" y="4114800"/>
            <a:ext cx="5029200" cy="1536192"/>
          </a:xfrm>
          <a:prstGeom prst="rect">
            <a:avLst/>
          </a:prstGeom>
          <a:noFill/>
          <a:ln/>
        </p:spPr>
        <p:txBody>
          <a:bodyPr wrap="square" lIns="0" tIns="0" rIns="0" bIns="0" rtlCol="0" anchor="t"/>
          <a:lstStyle/>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차단 목록 — 목록에 있는 것만 차단</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나머지는 모두 통과</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편리 · 새로운 공격에 약함</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VLAN — 스위치 하나를 논리적으로 나누기</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6 · 라우팅·보안</a:t>
            </a:r>
            <a:endParaRPr lang="en-US" sz="1100" dirty="0"/>
          </a:p>
        </p:txBody>
      </p:sp>
      <p:sp>
        <p:nvSpPr>
          <p:cNvPr id="5" name="Shape 2"/>
          <p:cNvSpPr/>
          <p:nvPr/>
        </p:nvSpPr>
        <p:spPr>
          <a:xfrm>
            <a:off x="548640" y="1371600"/>
            <a:ext cx="6766560" cy="731520"/>
          </a:xfrm>
          <a:prstGeom prst="roundRect">
            <a:avLst>
              <a:gd name="adj" fmla="val 10000"/>
            </a:avLst>
          </a:prstGeom>
          <a:solidFill>
            <a:srgbClr val="F4F6F7"/>
          </a:solidFill>
          <a:ln w="19050">
            <a:solidFill>
              <a:srgbClr val="1E2A30"/>
            </a:solidFill>
            <a:prstDash val="solid"/>
          </a:ln>
        </p:spPr>
      </p:sp>
      <p:sp>
        <p:nvSpPr>
          <p:cNvPr id="6" name="Text 3"/>
          <p:cNvSpPr txBox="1"/>
          <p:nvPr/>
        </p:nvSpPr>
        <p:spPr>
          <a:xfrm>
            <a:off x="548640" y="1371600"/>
            <a:ext cx="6766560" cy="73152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스위치 1대 (물리적으로 하나)</a:t>
            </a:r>
            <a:endParaRPr lang="en-US" sz="1600" dirty="0"/>
          </a:p>
        </p:txBody>
      </p:sp>
      <p:sp>
        <p:nvSpPr>
          <p:cNvPr id="7" name="Shape 4"/>
          <p:cNvSpPr/>
          <p:nvPr/>
        </p:nvSpPr>
        <p:spPr>
          <a:xfrm>
            <a:off x="548640" y="2468880"/>
            <a:ext cx="3291840" cy="2194560"/>
          </a:xfrm>
          <a:prstGeom prst="roundRect">
            <a:avLst>
              <a:gd name="adj" fmla="val 3333"/>
            </a:avLst>
          </a:prstGeom>
          <a:solidFill>
            <a:srgbClr val="E6F1F2"/>
          </a:solidFill>
          <a:ln w="12700">
            <a:solidFill>
              <a:srgbClr val="0E6E7A"/>
            </a:solidFill>
            <a:prstDash val="dash"/>
          </a:ln>
        </p:spPr>
      </p:sp>
      <p:sp>
        <p:nvSpPr>
          <p:cNvPr id="8" name="Text 5"/>
          <p:cNvSpPr txBox="1"/>
          <p:nvPr/>
        </p:nvSpPr>
        <p:spPr>
          <a:xfrm>
            <a:off x="548640" y="2560320"/>
            <a:ext cx="3291840" cy="411480"/>
          </a:xfrm>
          <a:prstGeom prst="rect">
            <a:avLst/>
          </a:prstGeom>
          <a:noFill/>
          <a:ln/>
        </p:spPr>
        <p:txBody>
          <a:bodyPr wrap="square" lIns="0" tIns="0" rIns="0" bIns="0" rtlCol="0" anchor="t"/>
          <a:lstStyle/>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VLAN 10 · 영업부</a:t>
            </a:r>
            <a:endParaRPr lang="en-US" sz="1500" dirty="0"/>
          </a:p>
        </p:txBody>
      </p:sp>
      <p:sp>
        <p:nvSpPr>
          <p:cNvPr id="9" name="Shape 6"/>
          <p:cNvSpPr/>
          <p:nvPr/>
        </p:nvSpPr>
        <p:spPr>
          <a:xfrm>
            <a:off x="822960" y="3291840"/>
            <a:ext cx="731520" cy="548640"/>
          </a:xfrm>
          <a:prstGeom prst="roundRect">
            <a:avLst>
              <a:gd name="adj" fmla="val 13333"/>
            </a:avLst>
          </a:prstGeom>
          <a:solidFill>
            <a:srgbClr val="FFFFFF"/>
          </a:solidFill>
          <a:ln w="12700">
            <a:solidFill>
              <a:srgbClr val="1E2A30"/>
            </a:solidFill>
            <a:prstDash val="solid"/>
          </a:ln>
        </p:spPr>
      </p:sp>
      <p:sp>
        <p:nvSpPr>
          <p:cNvPr id="10" name="Text 7"/>
          <p:cNvSpPr txBox="1"/>
          <p:nvPr/>
        </p:nvSpPr>
        <p:spPr>
          <a:xfrm>
            <a:off x="822960" y="3291840"/>
            <a:ext cx="73152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a:t>
            </a:r>
            <a:endParaRPr lang="en-US" sz="1200" dirty="0"/>
          </a:p>
        </p:txBody>
      </p:sp>
      <p:sp>
        <p:nvSpPr>
          <p:cNvPr id="11" name="Shape 8"/>
          <p:cNvSpPr/>
          <p:nvPr/>
        </p:nvSpPr>
        <p:spPr>
          <a:xfrm>
            <a:off x="1188720" y="2103120"/>
            <a:ext cx="914" cy="1188720"/>
          </a:xfrm>
          <a:prstGeom prst="line">
            <a:avLst/>
          </a:prstGeom>
          <a:noFill/>
          <a:ln w="12700">
            <a:solidFill>
              <a:srgbClr val="9AA5AD"/>
            </a:solidFill>
            <a:prstDash val="solid"/>
          </a:ln>
        </p:spPr>
      </p:sp>
      <p:sp>
        <p:nvSpPr>
          <p:cNvPr id="12" name="Shape 9"/>
          <p:cNvSpPr/>
          <p:nvPr/>
        </p:nvSpPr>
        <p:spPr>
          <a:xfrm>
            <a:off x="1828800" y="3291840"/>
            <a:ext cx="731520" cy="548640"/>
          </a:xfrm>
          <a:prstGeom prst="roundRect">
            <a:avLst>
              <a:gd name="adj" fmla="val 13333"/>
            </a:avLst>
          </a:prstGeom>
          <a:solidFill>
            <a:srgbClr val="FFFFFF"/>
          </a:solidFill>
          <a:ln w="12700">
            <a:solidFill>
              <a:srgbClr val="1E2A30"/>
            </a:solidFill>
            <a:prstDash val="solid"/>
          </a:ln>
        </p:spPr>
      </p:sp>
      <p:sp>
        <p:nvSpPr>
          <p:cNvPr id="13" name="Text 10"/>
          <p:cNvSpPr txBox="1"/>
          <p:nvPr/>
        </p:nvSpPr>
        <p:spPr>
          <a:xfrm>
            <a:off x="1828800" y="3291840"/>
            <a:ext cx="73152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a:t>
            </a:r>
            <a:endParaRPr lang="en-US" sz="1200" dirty="0"/>
          </a:p>
        </p:txBody>
      </p:sp>
      <p:sp>
        <p:nvSpPr>
          <p:cNvPr id="14" name="Shape 11"/>
          <p:cNvSpPr/>
          <p:nvPr/>
        </p:nvSpPr>
        <p:spPr>
          <a:xfrm>
            <a:off x="2194560" y="2103120"/>
            <a:ext cx="914" cy="1188720"/>
          </a:xfrm>
          <a:prstGeom prst="line">
            <a:avLst/>
          </a:prstGeom>
          <a:noFill/>
          <a:ln w="12700">
            <a:solidFill>
              <a:srgbClr val="9AA5AD"/>
            </a:solidFill>
            <a:prstDash val="solid"/>
          </a:ln>
        </p:spPr>
      </p:sp>
      <p:sp>
        <p:nvSpPr>
          <p:cNvPr id="15" name="Shape 12"/>
          <p:cNvSpPr/>
          <p:nvPr/>
        </p:nvSpPr>
        <p:spPr>
          <a:xfrm>
            <a:off x="2834640" y="3291840"/>
            <a:ext cx="731520" cy="548640"/>
          </a:xfrm>
          <a:prstGeom prst="roundRect">
            <a:avLst>
              <a:gd name="adj" fmla="val 13333"/>
            </a:avLst>
          </a:prstGeom>
          <a:solidFill>
            <a:srgbClr val="FFFFFF"/>
          </a:solidFill>
          <a:ln w="12700">
            <a:solidFill>
              <a:srgbClr val="1E2A30"/>
            </a:solidFill>
            <a:prstDash val="solid"/>
          </a:ln>
        </p:spPr>
      </p:sp>
      <p:sp>
        <p:nvSpPr>
          <p:cNvPr id="16" name="Text 13"/>
          <p:cNvSpPr txBox="1"/>
          <p:nvPr/>
        </p:nvSpPr>
        <p:spPr>
          <a:xfrm>
            <a:off x="2834640" y="3291840"/>
            <a:ext cx="73152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a:t>
            </a:r>
            <a:endParaRPr lang="en-US" sz="1200" dirty="0"/>
          </a:p>
        </p:txBody>
      </p:sp>
      <p:sp>
        <p:nvSpPr>
          <p:cNvPr id="17" name="Shape 14"/>
          <p:cNvSpPr/>
          <p:nvPr/>
        </p:nvSpPr>
        <p:spPr>
          <a:xfrm>
            <a:off x="3200400" y="2103120"/>
            <a:ext cx="914" cy="1188720"/>
          </a:xfrm>
          <a:prstGeom prst="line">
            <a:avLst/>
          </a:prstGeom>
          <a:noFill/>
          <a:ln w="12700">
            <a:solidFill>
              <a:srgbClr val="9AA5AD"/>
            </a:solidFill>
            <a:prstDash val="solid"/>
          </a:ln>
        </p:spPr>
      </p:sp>
      <p:sp>
        <p:nvSpPr>
          <p:cNvPr id="18" name="Text 15"/>
          <p:cNvSpPr txBox="1"/>
          <p:nvPr/>
        </p:nvSpPr>
        <p:spPr>
          <a:xfrm>
            <a:off x="548640" y="4069080"/>
            <a:ext cx="3291840" cy="365760"/>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브로드캐스트는 이 안에서만</a:t>
            </a:r>
            <a:endParaRPr lang="en-US" sz="1200" dirty="0"/>
          </a:p>
        </p:txBody>
      </p:sp>
      <p:sp>
        <p:nvSpPr>
          <p:cNvPr id="19" name="Shape 16"/>
          <p:cNvSpPr/>
          <p:nvPr/>
        </p:nvSpPr>
        <p:spPr>
          <a:xfrm>
            <a:off x="4023360" y="2468880"/>
            <a:ext cx="3291840" cy="2194560"/>
          </a:xfrm>
          <a:prstGeom prst="roundRect">
            <a:avLst>
              <a:gd name="adj" fmla="val 3333"/>
            </a:avLst>
          </a:prstGeom>
          <a:solidFill>
            <a:srgbClr val="FFFFFF"/>
          </a:solidFill>
          <a:ln w="12700">
            <a:solidFill>
              <a:srgbClr val="0E6E7A"/>
            </a:solidFill>
            <a:prstDash val="dash"/>
          </a:ln>
        </p:spPr>
      </p:sp>
      <p:sp>
        <p:nvSpPr>
          <p:cNvPr id="20" name="Text 17"/>
          <p:cNvSpPr txBox="1"/>
          <p:nvPr/>
        </p:nvSpPr>
        <p:spPr>
          <a:xfrm>
            <a:off x="4023360" y="2560320"/>
            <a:ext cx="3291840" cy="411480"/>
          </a:xfrm>
          <a:prstGeom prst="rect">
            <a:avLst/>
          </a:prstGeom>
          <a:noFill/>
          <a:ln/>
        </p:spPr>
        <p:txBody>
          <a:bodyPr wrap="square" lIns="0" tIns="0" rIns="0" bIns="0" rtlCol="0" anchor="t"/>
          <a:lstStyle/>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VLAN 20 · 기술부</a:t>
            </a:r>
            <a:endParaRPr lang="en-US" sz="1500" dirty="0"/>
          </a:p>
        </p:txBody>
      </p:sp>
      <p:sp>
        <p:nvSpPr>
          <p:cNvPr id="21" name="Shape 18"/>
          <p:cNvSpPr/>
          <p:nvPr/>
        </p:nvSpPr>
        <p:spPr>
          <a:xfrm>
            <a:off x="4297680" y="3291840"/>
            <a:ext cx="731520" cy="548640"/>
          </a:xfrm>
          <a:prstGeom prst="roundRect">
            <a:avLst>
              <a:gd name="adj" fmla="val 13333"/>
            </a:avLst>
          </a:prstGeom>
          <a:solidFill>
            <a:srgbClr val="FFFFFF"/>
          </a:solidFill>
          <a:ln w="12700">
            <a:solidFill>
              <a:srgbClr val="1E2A30"/>
            </a:solidFill>
            <a:prstDash val="solid"/>
          </a:ln>
        </p:spPr>
      </p:sp>
      <p:sp>
        <p:nvSpPr>
          <p:cNvPr id="22" name="Text 19"/>
          <p:cNvSpPr txBox="1"/>
          <p:nvPr/>
        </p:nvSpPr>
        <p:spPr>
          <a:xfrm>
            <a:off x="4297680" y="3291840"/>
            <a:ext cx="73152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a:t>
            </a:r>
            <a:endParaRPr lang="en-US" sz="1200" dirty="0"/>
          </a:p>
        </p:txBody>
      </p:sp>
      <p:sp>
        <p:nvSpPr>
          <p:cNvPr id="23" name="Shape 20"/>
          <p:cNvSpPr/>
          <p:nvPr/>
        </p:nvSpPr>
        <p:spPr>
          <a:xfrm>
            <a:off x="4663440" y="2103120"/>
            <a:ext cx="914" cy="1188720"/>
          </a:xfrm>
          <a:prstGeom prst="line">
            <a:avLst/>
          </a:prstGeom>
          <a:noFill/>
          <a:ln w="12700">
            <a:solidFill>
              <a:srgbClr val="9AA5AD"/>
            </a:solidFill>
            <a:prstDash val="solid"/>
          </a:ln>
        </p:spPr>
      </p:sp>
      <p:sp>
        <p:nvSpPr>
          <p:cNvPr id="24" name="Shape 21"/>
          <p:cNvSpPr/>
          <p:nvPr/>
        </p:nvSpPr>
        <p:spPr>
          <a:xfrm>
            <a:off x="5303520" y="3291840"/>
            <a:ext cx="731520" cy="548640"/>
          </a:xfrm>
          <a:prstGeom prst="roundRect">
            <a:avLst>
              <a:gd name="adj" fmla="val 13333"/>
            </a:avLst>
          </a:prstGeom>
          <a:solidFill>
            <a:srgbClr val="FFFFFF"/>
          </a:solidFill>
          <a:ln w="12700">
            <a:solidFill>
              <a:srgbClr val="1E2A30"/>
            </a:solidFill>
            <a:prstDash val="solid"/>
          </a:ln>
        </p:spPr>
      </p:sp>
      <p:sp>
        <p:nvSpPr>
          <p:cNvPr id="25" name="Text 22"/>
          <p:cNvSpPr txBox="1"/>
          <p:nvPr/>
        </p:nvSpPr>
        <p:spPr>
          <a:xfrm>
            <a:off x="5303520" y="3291840"/>
            <a:ext cx="73152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a:t>
            </a:r>
            <a:endParaRPr lang="en-US" sz="1200" dirty="0"/>
          </a:p>
        </p:txBody>
      </p:sp>
      <p:sp>
        <p:nvSpPr>
          <p:cNvPr id="26" name="Shape 23"/>
          <p:cNvSpPr/>
          <p:nvPr/>
        </p:nvSpPr>
        <p:spPr>
          <a:xfrm>
            <a:off x="5669280" y="2103120"/>
            <a:ext cx="914" cy="1188720"/>
          </a:xfrm>
          <a:prstGeom prst="line">
            <a:avLst/>
          </a:prstGeom>
          <a:noFill/>
          <a:ln w="12700">
            <a:solidFill>
              <a:srgbClr val="9AA5AD"/>
            </a:solidFill>
            <a:prstDash val="solid"/>
          </a:ln>
        </p:spPr>
      </p:sp>
      <p:sp>
        <p:nvSpPr>
          <p:cNvPr id="27" name="Shape 24"/>
          <p:cNvSpPr/>
          <p:nvPr/>
        </p:nvSpPr>
        <p:spPr>
          <a:xfrm>
            <a:off x="6309360" y="3291840"/>
            <a:ext cx="731520" cy="548640"/>
          </a:xfrm>
          <a:prstGeom prst="roundRect">
            <a:avLst>
              <a:gd name="adj" fmla="val 13333"/>
            </a:avLst>
          </a:prstGeom>
          <a:solidFill>
            <a:srgbClr val="FFFFFF"/>
          </a:solidFill>
          <a:ln w="12700">
            <a:solidFill>
              <a:srgbClr val="1E2A30"/>
            </a:solidFill>
            <a:prstDash val="solid"/>
          </a:ln>
        </p:spPr>
      </p:sp>
      <p:sp>
        <p:nvSpPr>
          <p:cNvPr id="28" name="Text 25"/>
          <p:cNvSpPr txBox="1"/>
          <p:nvPr/>
        </p:nvSpPr>
        <p:spPr>
          <a:xfrm>
            <a:off x="6309360" y="3291840"/>
            <a:ext cx="731520" cy="548640"/>
          </a:xfrm>
          <a:prstGeom prst="rect">
            <a:avLst/>
          </a:prstGeom>
          <a:noFill/>
          <a:ln/>
        </p:spPr>
        <p:txBody>
          <a:bodyPr wrap="square" lIns="0" tIns="0" rIns="0" bIns="0" rtlCol="0" anchor="ctr"/>
          <a:lstStyle/>
          <a:p>
            <a:pPr algn="ctr" indent="0" marL="0">
              <a:buNone/>
            </a:pPr>
            <a:r>
              <a:rPr lang="en-US" sz="1200" dirty="0">
                <a:solidFill>
                  <a:srgbClr val="1E2A30"/>
                </a:solidFill>
                <a:latin typeface="맑은 고딕" pitchFamily="34" charset="0"/>
                <a:ea typeface="맑은 고딕" pitchFamily="34" charset="-122"/>
                <a:cs typeface="맑은 고딕" pitchFamily="34" charset="-120"/>
              </a:rPr>
              <a:t>PC</a:t>
            </a:r>
            <a:endParaRPr lang="en-US" sz="1200" dirty="0"/>
          </a:p>
        </p:txBody>
      </p:sp>
      <p:sp>
        <p:nvSpPr>
          <p:cNvPr id="29" name="Shape 26"/>
          <p:cNvSpPr/>
          <p:nvPr/>
        </p:nvSpPr>
        <p:spPr>
          <a:xfrm>
            <a:off x="6675120" y="2103120"/>
            <a:ext cx="914" cy="1188720"/>
          </a:xfrm>
          <a:prstGeom prst="line">
            <a:avLst/>
          </a:prstGeom>
          <a:noFill/>
          <a:ln w="12700">
            <a:solidFill>
              <a:srgbClr val="9AA5AD"/>
            </a:solidFill>
            <a:prstDash val="solid"/>
          </a:ln>
        </p:spPr>
      </p:sp>
      <p:sp>
        <p:nvSpPr>
          <p:cNvPr id="30" name="Text 27"/>
          <p:cNvSpPr txBox="1"/>
          <p:nvPr/>
        </p:nvSpPr>
        <p:spPr>
          <a:xfrm>
            <a:off x="4023360" y="4069080"/>
            <a:ext cx="3291840" cy="365760"/>
          </a:xfrm>
          <a:prstGeom prst="rect">
            <a:avLst/>
          </a:prstGeom>
          <a:noFill/>
          <a:ln/>
        </p:spPr>
        <p:txBody>
          <a:bodyPr wrap="square" lIns="0" tIns="0" rIns="0" bIns="0" rtlCol="0" anchor="t"/>
          <a:lstStyle/>
          <a:p>
            <a:pPr algn="ctr" indent="0" marL="0">
              <a:buNone/>
            </a:pPr>
            <a:r>
              <a:rPr lang="en-US" sz="1200" dirty="0">
                <a:solidFill>
                  <a:srgbClr val="66737C"/>
                </a:solidFill>
                <a:latin typeface="맑은 고딕" pitchFamily="34" charset="0"/>
                <a:ea typeface="맑은 고딕" pitchFamily="34" charset="-122"/>
                <a:cs typeface="맑은 고딕" pitchFamily="34" charset="-120"/>
              </a:rPr>
              <a:t>브로드캐스트는 이 안에서만</a:t>
            </a:r>
            <a:endParaRPr lang="en-US" sz="1200" dirty="0"/>
          </a:p>
        </p:txBody>
      </p:sp>
      <p:sp>
        <p:nvSpPr>
          <p:cNvPr id="31" name="Shape 28"/>
          <p:cNvSpPr/>
          <p:nvPr/>
        </p:nvSpPr>
        <p:spPr>
          <a:xfrm>
            <a:off x="7680960" y="1371600"/>
            <a:ext cx="3959352" cy="3291840"/>
          </a:xfrm>
          <a:prstGeom prst="roundRect">
            <a:avLst>
              <a:gd name="adj" fmla="val 2222"/>
            </a:avLst>
          </a:prstGeom>
          <a:solidFill>
            <a:srgbClr val="FFFFFF"/>
          </a:solidFill>
          <a:ln w="12700">
            <a:solidFill>
              <a:srgbClr val="9AA5AD"/>
            </a:solidFill>
            <a:prstDash val="solid"/>
          </a:ln>
        </p:spPr>
      </p:sp>
      <p:sp>
        <p:nvSpPr>
          <p:cNvPr id="32" name="Text 29"/>
          <p:cNvSpPr txBox="1"/>
          <p:nvPr/>
        </p:nvSpPr>
        <p:spPr>
          <a:xfrm>
            <a:off x="7863840" y="1508760"/>
            <a:ext cx="359359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VLAN 의 효과</a:t>
            </a:r>
            <a:endParaRPr lang="en-US" sz="1600" dirty="0"/>
          </a:p>
        </p:txBody>
      </p:sp>
      <p:sp>
        <p:nvSpPr>
          <p:cNvPr id="33" name="Text 30"/>
          <p:cNvSpPr txBox="1"/>
          <p:nvPr/>
        </p:nvSpPr>
        <p:spPr>
          <a:xfrm>
            <a:off x="7863840" y="1965960"/>
            <a:ext cx="3593592" cy="258775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가상 = 논리적</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브로드캐스트 영역 분리 → 성능 향상</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부서 간 접근 통제 → 보안 향상</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VLAN 간 통신은 라우터 / L3 스위치</a:t>
            </a:r>
            <a:endParaRPr lang="en-US" sz="1400" dirty="0"/>
          </a:p>
        </p:txBody>
      </p:sp>
      <p:sp>
        <p:nvSpPr>
          <p:cNvPr id="34" name="Shape 31"/>
          <p:cNvSpPr/>
          <p:nvPr/>
        </p:nvSpPr>
        <p:spPr>
          <a:xfrm>
            <a:off x="548640" y="5120640"/>
            <a:ext cx="11091672" cy="457200"/>
          </a:xfrm>
          <a:prstGeom prst="roundRect">
            <a:avLst>
              <a:gd name="adj" fmla="val 16000"/>
            </a:avLst>
          </a:prstGeom>
          <a:solidFill>
            <a:srgbClr val="E6F1F2"/>
          </a:solidFill>
          <a:ln w="12700">
            <a:solidFill>
              <a:srgbClr val="E6F1F2"/>
            </a:solidFill>
            <a:prstDash val="solid"/>
          </a:ln>
        </p:spPr>
      </p:sp>
      <p:sp>
        <p:nvSpPr>
          <p:cNvPr id="35" name="Text 32"/>
          <p:cNvSpPr txBox="1"/>
          <p:nvPr/>
        </p:nvSpPr>
        <p:spPr>
          <a:xfrm>
            <a:off x="777240" y="512064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물리적으로 하나, 논리적으로 여럿 — 스위치에서 네트워크를 분리할 때 사용</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NAT — 네트워크 주소 변환</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6 · 라우팅·보안</a:t>
            </a:r>
            <a:endParaRPr lang="en-US" sz="1100" dirty="0"/>
          </a:p>
        </p:txBody>
      </p:sp>
      <p:sp>
        <p:nvSpPr>
          <p:cNvPr id="5" name="Shape 2"/>
          <p:cNvSpPr/>
          <p:nvPr/>
        </p:nvSpPr>
        <p:spPr>
          <a:xfrm>
            <a:off x="548640" y="1554480"/>
            <a:ext cx="2743200" cy="1371600"/>
          </a:xfrm>
          <a:prstGeom prst="roundRect">
            <a:avLst>
              <a:gd name="adj" fmla="val 5333"/>
            </a:avLst>
          </a:prstGeom>
          <a:solidFill>
            <a:srgbClr val="F4F6F7"/>
          </a:solidFill>
          <a:ln w="12700">
            <a:solidFill>
              <a:srgbClr val="1E2A30"/>
            </a:solidFill>
            <a:prstDash val="solid"/>
          </a:ln>
        </p:spPr>
      </p:sp>
      <p:sp>
        <p:nvSpPr>
          <p:cNvPr id="6" name="Text 3"/>
          <p:cNvSpPr txBox="1"/>
          <p:nvPr/>
        </p:nvSpPr>
        <p:spPr>
          <a:xfrm>
            <a:off x="548640" y="1554480"/>
            <a:ext cx="2743200" cy="137160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내부 (Private)</a:t>
            </a:r>
            <a:endParaRPr lang="en-US" sz="1600" dirty="0"/>
          </a:p>
          <a:p>
            <a:pPr algn="ctr" indent="0" marL="0">
              <a:buNone/>
            </a:pPr>
            <a:r>
              <a:rPr lang="en-US" sz="1600" dirty="0">
                <a:solidFill>
                  <a:srgbClr val="1E2A30"/>
                </a:solidFill>
                <a:latin typeface="Consolas" pitchFamily="34" charset="0"/>
                <a:ea typeface="Consolas" pitchFamily="34" charset="-122"/>
                <a:cs typeface="Consolas" pitchFamily="34" charset="-120"/>
              </a:rPr>
              <a:t>10.10.34.1</a:t>
            </a:r>
            <a:endParaRPr lang="en-US" sz="1600" dirty="0"/>
          </a:p>
        </p:txBody>
      </p:sp>
      <p:sp>
        <p:nvSpPr>
          <p:cNvPr id="7" name="Shape 4"/>
          <p:cNvSpPr/>
          <p:nvPr/>
        </p:nvSpPr>
        <p:spPr>
          <a:xfrm>
            <a:off x="4480560" y="1325880"/>
            <a:ext cx="3200400" cy="1828800"/>
          </a:xfrm>
          <a:prstGeom prst="roundRect">
            <a:avLst>
              <a:gd name="adj" fmla="val 4000"/>
            </a:avLst>
          </a:prstGeom>
          <a:solidFill>
            <a:srgbClr val="E6F1F2"/>
          </a:solidFill>
          <a:ln w="25400">
            <a:solidFill>
              <a:srgbClr val="0E6E7A"/>
            </a:solidFill>
            <a:prstDash val="solid"/>
          </a:ln>
        </p:spPr>
      </p:sp>
      <p:sp>
        <p:nvSpPr>
          <p:cNvPr id="8" name="Text 5"/>
          <p:cNvSpPr txBox="1"/>
          <p:nvPr/>
        </p:nvSpPr>
        <p:spPr>
          <a:xfrm>
            <a:off x="4480560" y="1371600"/>
            <a:ext cx="3200400" cy="411480"/>
          </a:xfrm>
          <a:prstGeom prst="rect">
            <a:avLst/>
          </a:prstGeom>
          <a:noFill/>
          <a:ln/>
        </p:spPr>
        <p:txBody>
          <a:bodyPr wrap="square" lIns="0" tIns="0" rIns="0" bIns="0" rtlCol="0" anchor="t"/>
          <a:lstStyle/>
          <a:p>
            <a:pPr algn="ctr" indent="0" marL="0">
              <a:buNone/>
            </a:pPr>
            <a:r>
              <a:rPr lang="en-US" sz="1500" b="1" dirty="0">
                <a:solidFill>
                  <a:srgbClr val="0E6E7A"/>
                </a:solidFill>
                <a:latin typeface="맑은 고딕" pitchFamily="34" charset="0"/>
                <a:ea typeface="맑은 고딕" pitchFamily="34" charset="-122"/>
                <a:cs typeface="맑은 고딕" pitchFamily="34" charset="-120"/>
              </a:rPr>
              <a:t>NAT 라우터 (공유기)</a:t>
            </a:r>
            <a:endParaRPr lang="en-US" sz="1500" dirty="0"/>
          </a:p>
        </p:txBody>
      </p:sp>
      <p:sp>
        <p:nvSpPr>
          <p:cNvPr id="9" name="Text 6"/>
          <p:cNvSpPr txBox="1"/>
          <p:nvPr/>
        </p:nvSpPr>
        <p:spPr>
          <a:xfrm>
            <a:off x="4480560" y="1828800"/>
            <a:ext cx="3200400" cy="1097280"/>
          </a:xfrm>
          <a:prstGeom prst="rect">
            <a:avLst/>
          </a:prstGeom>
          <a:noFill/>
          <a:ln/>
        </p:spPr>
        <p:txBody>
          <a:bodyPr wrap="square" lIns="0" tIns="0" rIns="0" bIns="0" rtlCol="0" anchor="ctr"/>
          <a:lstStyle/>
          <a:p>
            <a:pPr algn="ctr" indent="0" marL="0">
              <a:buNone/>
            </a:pPr>
            <a:r>
              <a:rPr lang="en-US" sz="1400" dirty="0">
                <a:solidFill>
                  <a:srgbClr val="1E2A30"/>
                </a:solidFill>
                <a:latin typeface="Consolas" pitchFamily="34" charset="0"/>
                <a:ea typeface="Consolas" pitchFamily="34" charset="-122"/>
                <a:cs typeface="Consolas" pitchFamily="34" charset="-120"/>
              </a:rPr>
              <a:t>변환표</a:t>
            </a:r>
            <a:endParaRPr lang="en-US" sz="1400" dirty="0"/>
          </a:p>
          <a:p>
            <a:pPr algn="ctr" indent="0" marL="0">
              <a:buNone/>
            </a:pPr>
            <a:r>
              <a:rPr lang="en-US" sz="1400" dirty="0">
                <a:solidFill>
                  <a:srgbClr val="1E2A30"/>
                </a:solidFill>
                <a:latin typeface="Consolas" pitchFamily="34" charset="0"/>
                <a:ea typeface="Consolas" pitchFamily="34" charset="-122"/>
                <a:cs typeface="Consolas" pitchFamily="34" charset="-120"/>
              </a:rPr>
              <a:t>10.10.34.1 ↔ 1.2.3.4</a:t>
            </a:r>
            <a:endParaRPr lang="en-US" sz="1400" dirty="0"/>
          </a:p>
        </p:txBody>
      </p:sp>
      <p:sp>
        <p:nvSpPr>
          <p:cNvPr id="10" name="Shape 7"/>
          <p:cNvSpPr/>
          <p:nvPr/>
        </p:nvSpPr>
        <p:spPr>
          <a:xfrm>
            <a:off x="8897112" y="1554480"/>
            <a:ext cx="2743200" cy="1371600"/>
          </a:xfrm>
          <a:prstGeom prst="roundRect">
            <a:avLst>
              <a:gd name="adj" fmla="val 5333"/>
            </a:avLst>
          </a:prstGeom>
          <a:solidFill>
            <a:srgbClr val="FFFFFF"/>
          </a:solidFill>
          <a:ln w="12700">
            <a:solidFill>
              <a:srgbClr val="1E2A30"/>
            </a:solidFill>
            <a:prstDash val="solid"/>
          </a:ln>
        </p:spPr>
      </p:sp>
      <p:sp>
        <p:nvSpPr>
          <p:cNvPr id="11" name="Text 8"/>
          <p:cNvSpPr txBox="1"/>
          <p:nvPr/>
        </p:nvSpPr>
        <p:spPr>
          <a:xfrm>
            <a:off x="8897112" y="1554480"/>
            <a:ext cx="2743200" cy="1371600"/>
          </a:xfrm>
          <a:prstGeom prst="rect">
            <a:avLst/>
          </a:prstGeom>
          <a:noFill/>
          <a:ln/>
        </p:spPr>
        <p:txBody>
          <a:bodyPr wrap="square" lIns="0" tIns="0" rIns="0" bIns="0" rtlCol="0" anchor="ctr"/>
          <a:lstStyle/>
          <a:p>
            <a:pPr algn="ctr" indent="0" marL="0">
              <a:buNone/>
            </a:pPr>
            <a:r>
              <a:rPr lang="en-US" sz="1600" b="1" dirty="0">
                <a:solidFill>
                  <a:srgbClr val="1E2A30"/>
                </a:solidFill>
                <a:latin typeface="맑은 고딕" pitchFamily="34" charset="0"/>
                <a:ea typeface="맑은 고딕" pitchFamily="34" charset="-122"/>
                <a:cs typeface="맑은 고딕" pitchFamily="34" charset="-120"/>
              </a:rPr>
              <a:t>인터넷 (Public)</a:t>
            </a:r>
            <a:endParaRPr lang="en-US" sz="1600" dirty="0"/>
          </a:p>
          <a:p>
            <a:pPr algn="ctr" indent="0" marL="0">
              <a:buNone/>
            </a:pPr>
            <a:r>
              <a:rPr lang="en-US" sz="1600" dirty="0">
                <a:solidFill>
                  <a:srgbClr val="1E2A30"/>
                </a:solidFill>
                <a:latin typeface="Consolas" pitchFamily="34" charset="0"/>
                <a:ea typeface="Consolas" pitchFamily="34" charset="-122"/>
                <a:cs typeface="Consolas" pitchFamily="34" charset="-120"/>
              </a:rPr>
              <a:t>1.2.3.4</a:t>
            </a:r>
            <a:endParaRPr lang="en-US" sz="1600" dirty="0"/>
          </a:p>
        </p:txBody>
      </p:sp>
      <p:sp>
        <p:nvSpPr>
          <p:cNvPr id="12" name="Shape 9"/>
          <p:cNvSpPr/>
          <p:nvPr/>
        </p:nvSpPr>
        <p:spPr>
          <a:xfrm>
            <a:off x="3291840" y="2240280"/>
            <a:ext cx="1188720" cy="914"/>
          </a:xfrm>
          <a:prstGeom prst="line">
            <a:avLst/>
          </a:prstGeom>
          <a:noFill/>
          <a:ln w="19050">
            <a:solidFill>
              <a:srgbClr val="1E2A30"/>
            </a:solidFill>
            <a:prstDash val="solid"/>
            <a:headEnd type="triangle"/>
            <a:tailEnd type="triangle"/>
          </a:ln>
        </p:spPr>
      </p:sp>
      <p:sp>
        <p:nvSpPr>
          <p:cNvPr id="13" name="Shape 10"/>
          <p:cNvSpPr/>
          <p:nvPr/>
        </p:nvSpPr>
        <p:spPr>
          <a:xfrm>
            <a:off x="7680960" y="2240280"/>
            <a:ext cx="1216152" cy="914"/>
          </a:xfrm>
          <a:prstGeom prst="line">
            <a:avLst/>
          </a:prstGeom>
          <a:noFill/>
          <a:ln w="19050">
            <a:solidFill>
              <a:srgbClr val="1E2A30"/>
            </a:solidFill>
            <a:prstDash val="solid"/>
            <a:headEnd type="triangle"/>
            <a:tailEnd type="triangle"/>
          </a:ln>
        </p:spPr>
      </p:sp>
      <p:sp>
        <p:nvSpPr>
          <p:cNvPr id="14" name="Shape 11"/>
          <p:cNvSpPr/>
          <p:nvPr/>
        </p:nvSpPr>
        <p:spPr>
          <a:xfrm>
            <a:off x="548640" y="3429000"/>
            <a:ext cx="5394960" cy="1828800"/>
          </a:xfrm>
          <a:prstGeom prst="roundRect">
            <a:avLst>
              <a:gd name="adj" fmla="val 4000"/>
            </a:avLst>
          </a:prstGeom>
          <a:solidFill>
            <a:srgbClr val="FFFFFF"/>
          </a:solidFill>
          <a:ln w="12700">
            <a:solidFill>
              <a:srgbClr val="9AA5AD"/>
            </a:solidFill>
            <a:prstDash val="solid"/>
          </a:ln>
        </p:spPr>
      </p:sp>
      <p:sp>
        <p:nvSpPr>
          <p:cNvPr id="15" name="Text 12"/>
          <p:cNvSpPr txBox="1"/>
          <p:nvPr/>
        </p:nvSpPr>
        <p:spPr>
          <a:xfrm>
            <a:off x="731520" y="356616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SNAT (Source NAT)</a:t>
            </a:r>
            <a:endParaRPr lang="en-US" sz="1800" dirty="0"/>
          </a:p>
        </p:txBody>
      </p:sp>
      <p:sp>
        <p:nvSpPr>
          <p:cNvPr id="16" name="Text 13"/>
          <p:cNvSpPr txBox="1"/>
          <p:nvPr/>
        </p:nvSpPr>
        <p:spPr>
          <a:xfrm>
            <a:off x="731520" y="4023360"/>
            <a:ext cx="5029200" cy="11247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출발지(Source) 주소를 변환</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내부 → 외부로 나갈 때</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공유기 인터넷 공유</a:t>
            </a:r>
            <a:endParaRPr lang="en-US" sz="1400" dirty="0"/>
          </a:p>
        </p:txBody>
      </p:sp>
      <p:sp>
        <p:nvSpPr>
          <p:cNvPr id="17" name="Shape 14"/>
          <p:cNvSpPr/>
          <p:nvPr/>
        </p:nvSpPr>
        <p:spPr>
          <a:xfrm>
            <a:off x="6245352" y="3429000"/>
            <a:ext cx="5394960" cy="1828800"/>
          </a:xfrm>
          <a:prstGeom prst="roundRect">
            <a:avLst>
              <a:gd name="adj" fmla="val 4000"/>
            </a:avLst>
          </a:prstGeom>
          <a:solidFill>
            <a:srgbClr val="E6F1F2"/>
          </a:solidFill>
          <a:ln w="12700">
            <a:solidFill>
              <a:srgbClr val="0E6E7A"/>
            </a:solidFill>
            <a:prstDash val="solid"/>
          </a:ln>
        </p:spPr>
      </p:sp>
      <p:sp>
        <p:nvSpPr>
          <p:cNvPr id="18" name="Text 15"/>
          <p:cNvSpPr txBox="1"/>
          <p:nvPr/>
        </p:nvSpPr>
        <p:spPr>
          <a:xfrm>
            <a:off x="6428232" y="356616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DNAT (Destination NAT)</a:t>
            </a:r>
            <a:endParaRPr lang="en-US" sz="1800" dirty="0"/>
          </a:p>
        </p:txBody>
      </p:sp>
      <p:sp>
        <p:nvSpPr>
          <p:cNvPr id="19" name="Text 16"/>
          <p:cNvSpPr txBox="1"/>
          <p:nvPr/>
        </p:nvSpPr>
        <p:spPr>
          <a:xfrm>
            <a:off x="6428232" y="4023360"/>
            <a:ext cx="5029200" cy="11247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목적지(Destination) 주소를 변환</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외부 → 내부로 들어올 때</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예: 포트포워딩 (VMware 실습)</a:t>
            </a:r>
            <a:endParaRPr lang="en-US" sz="1400" dirty="0"/>
          </a:p>
        </p:txBody>
      </p:sp>
      <p:sp>
        <p:nvSpPr>
          <p:cNvPr id="20" name="Shape 17"/>
          <p:cNvSpPr/>
          <p:nvPr/>
        </p:nvSpPr>
        <p:spPr>
          <a:xfrm>
            <a:off x="548640" y="5532120"/>
            <a:ext cx="11091672" cy="457200"/>
          </a:xfrm>
          <a:prstGeom prst="roundRect">
            <a:avLst>
              <a:gd name="adj" fmla="val 16000"/>
            </a:avLst>
          </a:prstGeom>
          <a:solidFill>
            <a:srgbClr val="E6F1F2"/>
          </a:solidFill>
          <a:ln w="12700">
            <a:solidFill>
              <a:srgbClr val="E6F1F2"/>
            </a:solidFill>
            <a:prstDash val="solid"/>
          </a:ln>
        </p:spPr>
      </p:sp>
      <p:sp>
        <p:nvSpPr>
          <p:cNvPr id="21" name="Text 18"/>
          <p:cNvSpPr txBox="1"/>
          <p:nvPr/>
        </p:nvSpPr>
        <p:spPr>
          <a:xfrm>
            <a:off x="777240" y="553212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효과: 공인 IP 절약 + 내부 주소 숨김(보안)</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위협과 방어 — DoS · IPS · WIPS</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6 · 라우팅·보안</a:t>
            </a:r>
            <a:endParaRPr lang="en-US" sz="1100" dirty="0"/>
          </a:p>
        </p:txBody>
      </p:sp>
      <p:sp>
        <p:nvSpPr>
          <p:cNvPr id="5" name="Shape 2"/>
          <p:cNvSpPr/>
          <p:nvPr/>
        </p:nvSpPr>
        <p:spPr>
          <a:xfrm>
            <a:off x="548640" y="1325880"/>
            <a:ext cx="5394960" cy="4023360"/>
          </a:xfrm>
          <a:prstGeom prst="roundRect">
            <a:avLst>
              <a:gd name="adj" fmla="val 1818"/>
            </a:avLst>
          </a:prstGeom>
          <a:solidFill>
            <a:srgbClr val="FFFFFF"/>
          </a:solidFill>
          <a:ln w="12700">
            <a:solidFill>
              <a:srgbClr val="9AA5AD"/>
            </a:solidFill>
            <a:prstDash val="solid"/>
          </a:ln>
        </p:spPr>
      </p:sp>
      <p:sp>
        <p:nvSpPr>
          <p:cNvPr id="6" name="Text 3"/>
          <p:cNvSpPr txBox="1"/>
          <p:nvPr/>
        </p:nvSpPr>
        <p:spPr>
          <a:xfrm>
            <a:off x="731520" y="1463040"/>
            <a:ext cx="5029200" cy="384048"/>
          </a:xfrm>
          <a:prstGeom prst="rect">
            <a:avLst/>
          </a:prstGeom>
          <a:noFill/>
          <a:ln/>
        </p:spPr>
        <p:txBody>
          <a:bodyPr wrap="square" lIns="0" tIns="0" rIns="0" bIns="0" rtlCol="0" anchor="ctr"/>
          <a:lstStyle/>
          <a:p>
            <a:pPr indent="0" marL="0">
              <a:buNone/>
            </a:pPr>
            <a:r>
              <a:rPr lang="en-US" sz="1900" b="1" dirty="0">
                <a:solidFill>
                  <a:srgbClr val="1E2A30"/>
                </a:solidFill>
                <a:latin typeface="맑은 고딕" pitchFamily="34" charset="0"/>
                <a:ea typeface="맑은 고딕" pitchFamily="34" charset="-122"/>
                <a:cs typeface="맑은 고딕" pitchFamily="34" charset="-120"/>
              </a:rPr>
              <a:t>DoS (서비스 거부 공격)</a:t>
            </a:r>
            <a:endParaRPr lang="en-US" sz="1900" dirty="0"/>
          </a:p>
        </p:txBody>
      </p:sp>
      <p:sp>
        <p:nvSpPr>
          <p:cNvPr id="7" name="Text 4"/>
          <p:cNvSpPr txBox="1"/>
          <p:nvPr/>
        </p:nvSpPr>
        <p:spPr>
          <a:xfrm>
            <a:off x="731520" y="1920240"/>
            <a:ext cx="5029200" cy="3319272"/>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다수의 요청을 특정 서버에 동시에 보냄</a:t>
            </a:r>
            <a:endParaRPr lang="en-US" sz="1500" dirty="0"/>
          </a:p>
          <a:p>
            <a:pPr marL="177800" indent="-177800">
              <a:spcAft>
                <a:spcPts val="400"/>
              </a:spcAft>
              <a:buSzPct val="100000"/>
              <a:buChar char="•"/>
            </a:pPr>
            <a:r>
              <a:rPr lang="en-US" sz="1500" b="1" dirty="0">
                <a:solidFill>
                  <a:srgbClr val="1E2A30"/>
                </a:solidFill>
                <a:latin typeface="맑은 고딕" pitchFamily="34" charset="0"/>
                <a:ea typeface="맑은 고딕" pitchFamily="34" charset="-122"/>
                <a:cs typeface="맑은 고딕" pitchFamily="34" charset="-120"/>
              </a:rPr>
              <a:t>자원 고갈 → 정상 서비스 불가</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CPU · 메모리 · 대역폭 · 연결 수</a:t>
            </a:r>
            <a:endParaRPr lang="en-US" sz="1500" dirty="0"/>
          </a:p>
          <a:p>
            <a:pPr marL="177800" indent="-177800">
              <a:spcAft>
                <a:spcPts val="400"/>
              </a:spcAft>
              <a:buSzPct val="100000"/>
              <a:buChar char="•"/>
            </a:pPr>
            <a:r>
              <a:rPr lang="en-US" sz="1500" dirty="0">
                <a:solidFill>
                  <a:srgbClr val="1E2A30"/>
                </a:solidFill>
                <a:latin typeface="맑은 고딕" pitchFamily="34" charset="0"/>
                <a:ea typeface="맑은 고딕" pitchFamily="34" charset="-122"/>
                <a:cs typeface="맑은 고딕" pitchFamily="34" charset="-120"/>
              </a:rPr>
              <a:t>여러 대가 동시에 하면 DDoS</a:t>
            </a:r>
            <a:endParaRPr lang="en-US" sz="1500" dirty="0"/>
          </a:p>
        </p:txBody>
      </p:sp>
      <p:sp>
        <p:nvSpPr>
          <p:cNvPr id="8" name="Shape 5"/>
          <p:cNvSpPr/>
          <p:nvPr/>
        </p:nvSpPr>
        <p:spPr>
          <a:xfrm>
            <a:off x="914400" y="4114800"/>
            <a:ext cx="3017520" cy="548640"/>
          </a:xfrm>
          <a:prstGeom prst="line">
            <a:avLst/>
          </a:prstGeom>
          <a:noFill/>
          <a:ln w="12700">
            <a:solidFill>
              <a:srgbClr val="9AA5AD"/>
            </a:solidFill>
            <a:prstDash val="solid"/>
            <a:tailEnd type="triangle"/>
          </a:ln>
        </p:spPr>
      </p:sp>
      <p:sp>
        <p:nvSpPr>
          <p:cNvPr id="9" name="Shape 6"/>
          <p:cNvSpPr/>
          <p:nvPr/>
        </p:nvSpPr>
        <p:spPr>
          <a:xfrm>
            <a:off x="1188720" y="4297680"/>
            <a:ext cx="2743200" cy="365760"/>
          </a:xfrm>
          <a:prstGeom prst="line">
            <a:avLst/>
          </a:prstGeom>
          <a:noFill/>
          <a:ln w="12700">
            <a:solidFill>
              <a:srgbClr val="9AA5AD"/>
            </a:solidFill>
            <a:prstDash val="solid"/>
            <a:tailEnd type="triangle"/>
          </a:ln>
        </p:spPr>
      </p:sp>
      <p:sp>
        <p:nvSpPr>
          <p:cNvPr id="10" name="Shape 7"/>
          <p:cNvSpPr/>
          <p:nvPr/>
        </p:nvSpPr>
        <p:spPr>
          <a:xfrm>
            <a:off x="1463040" y="4114800"/>
            <a:ext cx="2468880" cy="548640"/>
          </a:xfrm>
          <a:prstGeom prst="line">
            <a:avLst/>
          </a:prstGeom>
          <a:noFill/>
          <a:ln w="12700">
            <a:solidFill>
              <a:srgbClr val="9AA5AD"/>
            </a:solidFill>
            <a:prstDash val="solid"/>
            <a:tailEnd type="triangle"/>
          </a:ln>
        </p:spPr>
      </p:sp>
      <p:sp>
        <p:nvSpPr>
          <p:cNvPr id="11" name="Shape 8"/>
          <p:cNvSpPr/>
          <p:nvPr/>
        </p:nvSpPr>
        <p:spPr>
          <a:xfrm>
            <a:off x="1737360" y="4297680"/>
            <a:ext cx="2194560" cy="365760"/>
          </a:xfrm>
          <a:prstGeom prst="line">
            <a:avLst/>
          </a:prstGeom>
          <a:noFill/>
          <a:ln w="12700">
            <a:solidFill>
              <a:srgbClr val="9AA5AD"/>
            </a:solidFill>
            <a:prstDash val="solid"/>
            <a:tailEnd type="triangle"/>
          </a:ln>
        </p:spPr>
      </p:sp>
      <p:sp>
        <p:nvSpPr>
          <p:cNvPr id="12" name="Shape 9"/>
          <p:cNvSpPr/>
          <p:nvPr/>
        </p:nvSpPr>
        <p:spPr>
          <a:xfrm>
            <a:off x="2011680" y="4114800"/>
            <a:ext cx="1920240" cy="548640"/>
          </a:xfrm>
          <a:prstGeom prst="line">
            <a:avLst/>
          </a:prstGeom>
          <a:noFill/>
          <a:ln w="12700">
            <a:solidFill>
              <a:srgbClr val="9AA5AD"/>
            </a:solidFill>
            <a:prstDash val="solid"/>
            <a:tailEnd type="triangle"/>
          </a:ln>
        </p:spPr>
      </p:sp>
      <p:sp>
        <p:nvSpPr>
          <p:cNvPr id="13" name="Shape 10"/>
          <p:cNvSpPr/>
          <p:nvPr/>
        </p:nvSpPr>
        <p:spPr>
          <a:xfrm>
            <a:off x="3977640" y="4343400"/>
            <a:ext cx="1645920" cy="685800"/>
          </a:xfrm>
          <a:prstGeom prst="roundRect">
            <a:avLst>
              <a:gd name="adj" fmla="val 10667"/>
            </a:avLst>
          </a:prstGeom>
          <a:solidFill>
            <a:srgbClr val="E6F1F2"/>
          </a:solidFill>
          <a:ln w="12700">
            <a:solidFill>
              <a:srgbClr val="0E6E7A"/>
            </a:solidFill>
            <a:prstDash val="solid"/>
          </a:ln>
        </p:spPr>
      </p:sp>
      <p:sp>
        <p:nvSpPr>
          <p:cNvPr id="14" name="Text 11"/>
          <p:cNvSpPr txBox="1"/>
          <p:nvPr/>
        </p:nvSpPr>
        <p:spPr>
          <a:xfrm>
            <a:off x="3977640" y="4343400"/>
            <a:ext cx="1645920" cy="685800"/>
          </a:xfrm>
          <a:prstGeom prst="rect">
            <a:avLst/>
          </a:prstGeom>
          <a:noFill/>
          <a:ln/>
        </p:spPr>
        <p:txBody>
          <a:bodyPr wrap="square" lIns="0" tIns="0" rIns="0" bIns="0" rtlCol="0" anchor="ctr"/>
          <a:lstStyle/>
          <a:p>
            <a:pPr algn="ctr" indent="0" marL="0">
              <a:buNone/>
            </a:pPr>
            <a:r>
              <a:rPr lang="en-US" sz="1400" b="1" dirty="0">
                <a:solidFill>
                  <a:srgbClr val="1E2A30"/>
                </a:solidFill>
                <a:latin typeface="맑은 고딕" pitchFamily="34" charset="0"/>
                <a:ea typeface="맑은 고딕" pitchFamily="34" charset="-122"/>
                <a:cs typeface="맑은 고딕" pitchFamily="34" charset="-120"/>
              </a:rPr>
              <a:t>서버</a:t>
            </a:r>
            <a:endParaRPr lang="en-US" sz="1400" dirty="0"/>
          </a:p>
        </p:txBody>
      </p:sp>
      <p:sp>
        <p:nvSpPr>
          <p:cNvPr id="15" name="Shape 12"/>
          <p:cNvSpPr/>
          <p:nvPr/>
        </p:nvSpPr>
        <p:spPr>
          <a:xfrm>
            <a:off x="6245352" y="1325880"/>
            <a:ext cx="5394960" cy="1874520"/>
          </a:xfrm>
          <a:prstGeom prst="roundRect">
            <a:avLst>
              <a:gd name="adj" fmla="val 3902"/>
            </a:avLst>
          </a:prstGeom>
          <a:solidFill>
            <a:srgbClr val="E6F1F2"/>
          </a:solidFill>
          <a:ln w="12700">
            <a:solidFill>
              <a:srgbClr val="0E6E7A"/>
            </a:solidFill>
            <a:prstDash val="solid"/>
          </a:ln>
        </p:spPr>
      </p:sp>
      <p:sp>
        <p:nvSpPr>
          <p:cNvPr id="16" name="Text 13"/>
          <p:cNvSpPr txBox="1"/>
          <p:nvPr/>
        </p:nvSpPr>
        <p:spPr>
          <a:xfrm>
            <a:off x="6428232" y="146304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IPS (침입 방지 시스템)</a:t>
            </a:r>
            <a:endParaRPr lang="en-US" sz="1800" dirty="0"/>
          </a:p>
        </p:txBody>
      </p:sp>
      <p:sp>
        <p:nvSpPr>
          <p:cNvPr id="17" name="Text 14"/>
          <p:cNvSpPr txBox="1"/>
          <p:nvPr/>
        </p:nvSpPr>
        <p:spPr>
          <a:xfrm>
            <a:off x="6428232" y="1920240"/>
            <a:ext cx="5029200" cy="117043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유선 네트워크의 공격 탐지 + 차단</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IDS 는 탐지만, IPS 는 차단까지</a:t>
            </a:r>
            <a:endParaRPr lang="en-US" sz="1400" dirty="0"/>
          </a:p>
        </p:txBody>
      </p:sp>
      <p:sp>
        <p:nvSpPr>
          <p:cNvPr id="18" name="Shape 15"/>
          <p:cNvSpPr/>
          <p:nvPr/>
        </p:nvSpPr>
        <p:spPr>
          <a:xfrm>
            <a:off x="6245352" y="3474720"/>
            <a:ext cx="5394960" cy="1874520"/>
          </a:xfrm>
          <a:prstGeom prst="roundRect">
            <a:avLst>
              <a:gd name="adj" fmla="val 3902"/>
            </a:avLst>
          </a:prstGeom>
          <a:solidFill>
            <a:srgbClr val="FFFFFF"/>
          </a:solidFill>
          <a:ln w="12700">
            <a:solidFill>
              <a:srgbClr val="9AA5AD"/>
            </a:solidFill>
            <a:prstDash val="solid"/>
          </a:ln>
        </p:spPr>
      </p:sp>
      <p:sp>
        <p:nvSpPr>
          <p:cNvPr id="19" name="Text 16"/>
          <p:cNvSpPr txBox="1"/>
          <p:nvPr/>
        </p:nvSpPr>
        <p:spPr>
          <a:xfrm>
            <a:off x="6428232" y="361188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WIPS (무선 IPS)</a:t>
            </a:r>
            <a:endParaRPr lang="en-US" sz="1800" dirty="0"/>
          </a:p>
        </p:txBody>
      </p:sp>
      <p:sp>
        <p:nvSpPr>
          <p:cNvPr id="20" name="Text 17"/>
          <p:cNvSpPr txBox="1"/>
          <p:nvPr/>
        </p:nvSpPr>
        <p:spPr>
          <a:xfrm>
            <a:off x="6428232" y="4069080"/>
            <a:ext cx="5029200" cy="117043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무선랜(Wireless LAN) 보호</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불법 AP · 비인가 단말 접속 탐지/차단</a:t>
            </a:r>
            <a:endParaRPr lang="en-US" sz="1400" dirty="0"/>
          </a:p>
        </p:txBody>
      </p:sp>
      <p:sp>
        <p:nvSpPr>
          <p:cNvPr id="21" name="Shape 18"/>
          <p:cNvSpPr/>
          <p:nvPr/>
        </p:nvSpPr>
        <p:spPr>
          <a:xfrm>
            <a:off x="548640" y="5623560"/>
            <a:ext cx="11091672" cy="457200"/>
          </a:xfrm>
          <a:prstGeom prst="roundRect">
            <a:avLst>
              <a:gd name="adj" fmla="val 16000"/>
            </a:avLst>
          </a:prstGeom>
          <a:solidFill>
            <a:srgbClr val="E6F1F2"/>
          </a:solidFill>
          <a:ln w="12700">
            <a:solidFill>
              <a:srgbClr val="E6F1F2"/>
            </a:solidFill>
            <a:prstDash val="solid"/>
          </a:ln>
        </p:spPr>
      </p:sp>
      <p:sp>
        <p:nvSpPr>
          <p:cNvPr id="22" name="Text 19"/>
          <p:cNvSpPr txBox="1"/>
          <p:nvPr/>
        </p:nvSpPr>
        <p:spPr>
          <a:xfrm>
            <a:off x="777240" y="562356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LAN = 근거리 통신망(유선), 무선랜 = 전파 사용 → 별도 보호(WIPS) 필요</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PART 6 확인 문제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6 · 라우팅·보안</a:t>
            </a:r>
            <a:endParaRPr lang="en-US" sz="1100" dirty="0"/>
          </a:p>
        </p:txBody>
      </p:sp>
      <p:sp>
        <p:nvSpPr>
          <p:cNvPr id="5" name="Shape 2"/>
          <p:cNvSpPr/>
          <p:nvPr/>
        </p:nvSpPr>
        <p:spPr>
          <a:xfrm>
            <a:off x="548640" y="1325880"/>
            <a:ext cx="11091672" cy="841248"/>
          </a:xfrm>
          <a:prstGeom prst="roundRect">
            <a:avLst>
              <a:gd name="adj" fmla="val 8696"/>
            </a:avLst>
          </a:prstGeom>
          <a:solidFill>
            <a:srgbClr val="F4F6F7"/>
          </a:solidFill>
          <a:ln w="12700">
            <a:solidFill>
              <a:srgbClr val="9AA5AD"/>
            </a:solidFill>
            <a:prstDash val="solid"/>
          </a:ln>
        </p:spPr>
      </p:sp>
      <p:sp>
        <p:nvSpPr>
          <p:cNvPr id="6" name="Shape 3"/>
          <p:cNvSpPr/>
          <p:nvPr/>
        </p:nvSpPr>
        <p:spPr>
          <a:xfrm>
            <a:off x="777240" y="1517904"/>
            <a:ext cx="457200" cy="457200"/>
          </a:xfrm>
          <a:prstGeom prst="ellipse">
            <a:avLst/>
          </a:prstGeom>
          <a:solidFill>
            <a:srgbClr val="0E6E7A"/>
          </a:solidFill>
          <a:ln w="12700">
            <a:solidFill>
              <a:srgbClr val="0E6E7A"/>
            </a:solidFill>
            <a:prstDash val="solid"/>
          </a:ln>
        </p:spPr>
      </p:sp>
      <p:sp>
        <p:nvSpPr>
          <p:cNvPr id="7" name="Text 4"/>
          <p:cNvSpPr txBox="1"/>
          <p:nvPr/>
        </p:nvSpPr>
        <p:spPr>
          <a:xfrm>
            <a:off x="777240" y="1517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Q1</a:t>
            </a:r>
            <a:endParaRPr lang="en-US" sz="1200" dirty="0"/>
          </a:p>
        </p:txBody>
      </p:sp>
      <p:sp>
        <p:nvSpPr>
          <p:cNvPr id="8" name="Text 5"/>
          <p:cNvSpPr txBox="1"/>
          <p:nvPr/>
        </p:nvSpPr>
        <p:spPr>
          <a:xfrm>
            <a:off x="1463040" y="1325880"/>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관리자가 직접 경로를 입력하는 라우팅과, 프로그램이 자동으로 경로를 관리하는 라우팅을 각각 무엇이라 하는가?</a:t>
            </a:r>
            <a:endParaRPr lang="en-US" sz="1600" dirty="0"/>
          </a:p>
        </p:txBody>
      </p:sp>
      <p:sp>
        <p:nvSpPr>
          <p:cNvPr id="9" name="Shape 6"/>
          <p:cNvSpPr/>
          <p:nvPr/>
        </p:nvSpPr>
        <p:spPr>
          <a:xfrm>
            <a:off x="548640" y="2350008"/>
            <a:ext cx="11091672" cy="841248"/>
          </a:xfrm>
          <a:prstGeom prst="roundRect">
            <a:avLst>
              <a:gd name="adj" fmla="val 8696"/>
            </a:avLst>
          </a:prstGeom>
          <a:solidFill>
            <a:srgbClr val="FFFFFF"/>
          </a:solidFill>
          <a:ln w="12700">
            <a:solidFill>
              <a:srgbClr val="9AA5AD"/>
            </a:solidFill>
            <a:prstDash val="solid"/>
          </a:ln>
        </p:spPr>
      </p:sp>
      <p:sp>
        <p:nvSpPr>
          <p:cNvPr id="10" name="Shape 7"/>
          <p:cNvSpPr/>
          <p:nvPr/>
        </p:nvSpPr>
        <p:spPr>
          <a:xfrm>
            <a:off x="777240" y="2542032"/>
            <a:ext cx="457200" cy="457200"/>
          </a:xfrm>
          <a:prstGeom prst="ellipse">
            <a:avLst/>
          </a:prstGeom>
          <a:solidFill>
            <a:srgbClr val="0E6E7A"/>
          </a:solidFill>
          <a:ln w="12700">
            <a:solidFill>
              <a:srgbClr val="0E6E7A"/>
            </a:solidFill>
            <a:prstDash val="solid"/>
          </a:ln>
        </p:spPr>
      </p:sp>
      <p:sp>
        <p:nvSpPr>
          <p:cNvPr id="11" name="Text 8"/>
          <p:cNvSpPr txBox="1"/>
          <p:nvPr/>
        </p:nvSpPr>
        <p:spPr>
          <a:xfrm>
            <a:off x="777240" y="25420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Q2</a:t>
            </a:r>
            <a:endParaRPr lang="en-US" sz="1200" dirty="0"/>
          </a:p>
        </p:txBody>
      </p:sp>
      <p:sp>
        <p:nvSpPr>
          <p:cNvPr id="12" name="Text 9"/>
          <p:cNvSpPr txBox="1"/>
          <p:nvPr/>
        </p:nvSpPr>
        <p:spPr>
          <a:xfrm>
            <a:off x="1463040" y="2350008"/>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패킷의 통과/차단 규칙을 만들어 인터페이스에 적용하는 것은?</a:t>
            </a:r>
            <a:endParaRPr lang="en-US" sz="1600" dirty="0"/>
          </a:p>
        </p:txBody>
      </p:sp>
      <p:sp>
        <p:nvSpPr>
          <p:cNvPr id="13" name="Shape 10"/>
          <p:cNvSpPr/>
          <p:nvPr/>
        </p:nvSpPr>
        <p:spPr>
          <a:xfrm>
            <a:off x="548640" y="3374136"/>
            <a:ext cx="11091672" cy="841248"/>
          </a:xfrm>
          <a:prstGeom prst="roundRect">
            <a:avLst>
              <a:gd name="adj" fmla="val 8696"/>
            </a:avLst>
          </a:prstGeom>
          <a:solidFill>
            <a:srgbClr val="F4F6F7"/>
          </a:solidFill>
          <a:ln w="12700">
            <a:solidFill>
              <a:srgbClr val="9AA5AD"/>
            </a:solidFill>
            <a:prstDash val="solid"/>
          </a:ln>
        </p:spPr>
      </p:sp>
      <p:sp>
        <p:nvSpPr>
          <p:cNvPr id="14" name="Shape 11"/>
          <p:cNvSpPr/>
          <p:nvPr/>
        </p:nvSpPr>
        <p:spPr>
          <a:xfrm>
            <a:off x="777240" y="3566160"/>
            <a:ext cx="457200" cy="457200"/>
          </a:xfrm>
          <a:prstGeom prst="ellipse">
            <a:avLst/>
          </a:prstGeom>
          <a:solidFill>
            <a:srgbClr val="0E6E7A"/>
          </a:solidFill>
          <a:ln w="12700">
            <a:solidFill>
              <a:srgbClr val="0E6E7A"/>
            </a:solidFill>
            <a:prstDash val="solid"/>
          </a:ln>
        </p:spPr>
      </p:sp>
      <p:sp>
        <p:nvSpPr>
          <p:cNvPr id="15" name="Text 12"/>
          <p:cNvSpPr txBox="1"/>
          <p:nvPr/>
        </p:nvSpPr>
        <p:spPr>
          <a:xfrm>
            <a:off x="777240" y="3566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Q3</a:t>
            </a:r>
            <a:endParaRPr lang="en-US" sz="1200" dirty="0"/>
          </a:p>
        </p:txBody>
      </p:sp>
      <p:sp>
        <p:nvSpPr>
          <p:cNvPr id="16" name="Text 13"/>
          <p:cNvSpPr txBox="1"/>
          <p:nvPr/>
        </p:nvSpPr>
        <p:spPr>
          <a:xfrm>
            <a:off x="1463040" y="3374136"/>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'허용 목록에 있는 것만 통과'시키는 방식은 화이트리스트인가 블랙리스트인가?</a:t>
            </a:r>
            <a:endParaRPr lang="en-US" sz="1600" dirty="0"/>
          </a:p>
        </p:txBody>
      </p:sp>
      <p:sp>
        <p:nvSpPr>
          <p:cNvPr id="17" name="Shape 14"/>
          <p:cNvSpPr/>
          <p:nvPr/>
        </p:nvSpPr>
        <p:spPr>
          <a:xfrm>
            <a:off x="548640" y="4398264"/>
            <a:ext cx="11091672" cy="841248"/>
          </a:xfrm>
          <a:prstGeom prst="roundRect">
            <a:avLst>
              <a:gd name="adj" fmla="val 8696"/>
            </a:avLst>
          </a:prstGeom>
          <a:solidFill>
            <a:srgbClr val="FFFFFF"/>
          </a:solidFill>
          <a:ln w="12700">
            <a:solidFill>
              <a:srgbClr val="9AA5AD"/>
            </a:solidFill>
            <a:prstDash val="solid"/>
          </a:ln>
        </p:spPr>
      </p:sp>
      <p:sp>
        <p:nvSpPr>
          <p:cNvPr id="18" name="Shape 15"/>
          <p:cNvSpPr/>
          <p:nvPr/>
        </p:nvSpPr>
        <p:spPr>
          <a:xfrm>
            <a:off x="777240" y="4590288"/>
            <a:ext cx="457200" cy="457200"/>
          </a:xfrm>
          <a:prstGeom prst="ellipse">
            <a:avLst/>
          </a:prstGeom>
          <a:solidFill>
            <a:srgbClr val="0E6E7A"/>
          </a:solidFill>
          <a:ln w="12700">
            <a:solidFill>
              <a:srgbClr val="0E6E7A"/>
            </a:solidFill>
            <a:prstDash val="solid"/>
          </a:ln>
        </p:spPr>
      </p:sp>
      <p:sp>
        <p:nvSpPr>
          <p:cNvPr id="19" name="Text 16"/>
          <p:cNvSpPr txBox="1"/>
          <p:nvPr/>
        </p:nvSpPr>
        <p:spPr>
          <a:xfrm>
            <a:off x="777240" y="459028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Q4</a:t>
            </a:r>
            <a:endParaRPr lang="en-US" sz="1200" dirty="0"/>
          </a:p>
        </p:txBody>
      </p:sp>
      <p:sp>
        <p:nvSpPr>
          <p:cNvPr id="20" name="Text 17"/>
          <p:cNvSpPr txBox="1"/>
          <p:nvPr/>
        </p:nvSpPr>
        <p:spPr>
          <a:xfrm>
            <a:off x="1463040" y="4398264"/>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외부에서 공인 IP:포트로 들어온 요청을 내부 서버로 보내 주는 NAT 의 종류는?</a:t>
            </a:r>
            <a:endParaRPr lang="en-US" sz="1600" dirty="0"/>
          </a:p>
        </p:txBody>
      </p:sp>
      <p:sp>
        <p:nvSpPr>
          <p:cNvPr id="21" name="Shape 18"/>
          <p:cNvSpPr/>
          <p:nvPr/>
        </p:nvSpPr>
        <p:spPr>
          <a:xfrm>
            <a:off x="548640" y="5422392"/>
            <a:ext cx="11091672" cy="841248"/>
          </a:xfrm>
          <a:prstGeom prst="roundRect">
            <a:avLst>
              <a:gd name="adj" fmla="val 8696"/>
            </a:avLst>
          </a:prstGeom>
          <a:solidFill>
            <a:srgbClr val="F4F6F7"/>
          </a:solidFill>
          <a:ln w="12700">
            <a:solidFill>
              <a:srgbClr val="9AA5AD"/>
            </a:solidFill>
            <a:prstDash val="solid"/>
          </a:ln>
        </p:spPr>
      </p:sp>
      <p:sp>
        <p:nvSpPr>
          <p:cNvPr id="22" name="Shape 19"/>
          <p:cNvSpPr/>
          <p:nvPr/>
        </p:nvSpPr>
        <p:spPr>
          <a:xfrm>
            <a:off x="777240" y="5614416"/>
            <a:ext cx="457200" cy="457200"/>
          </a:xfrm>
          <a:prstGeom prst="ellipse">
            <a:avLst/>
          </a:prstGeom>
          <a:solidFill>
            <a:srgbClr val="0E6E7A"/>
          </a:solidFill>
          <a:ln w="12700">
            <a:solidFill>
              <a:srgbClr val="0E6E7A"/>
            </a:solidFill>
            <a:prstDash val="solid"/>
          </a:ln>
        </p:spPr>
      </p:sp>
      <p:sp>
        <p:nvSpPr>
          <p:cNvPr id="23" name="Text 20"/>
          <p:cNvSpPr txBox="1"/>
          <p:nvPr/>
        </p:nvSpPr>
        <p:spPr>
          <a:xfrm>
            <a:off x="777240" y="5614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Q5</a:t>
            </a:r>
            <a:endParaRPr lang="en-US" sz="1200" dirty="0"/>
          </a:p>
        </p:txBody>
      </p:sp>
      <p:sp>
        <p:nvSpPr>
          <p:cNvPr id="24" name="Text 21"/>
          <p:cNvSpPr txBox="1"/>
          <p:nvPr/>
        </p:nvSpPr>
        <p:spPr>
          <a:xfrm>
            <a:off x="1463040" y="5422392"/>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다수의 요청으로 서버 자원을 고갈시켜 서비스를 못 하게 하는 공격은?</a:t>
            </a:r>
            <a:endParaRPr lang="en-US" sz="1600" dirty="0"/>
          </a:p>
        </p:txBody>
      </p:sp>
      <p:sp>
        <p:nvSpPr>
          <p:cNvPr id="25" name="Text 22"/>
          <p:cNvSpPr txBox="1"/>
          <p:nvPr/>
        </p:nvSpPr>
        <p:spPr>
          <a:xfrm>
            <a:off x="5486400" y="6382512"/>
            <a:ext cx="5394960" cy="274320"/>
          </a:xfrm>
          <a:prstGeom prst="rect">
            <a:avLst/>
          </a:prstGeom>
          <a:noFill/>
          <a:ln/>
        </p:spPr>
        <p:txBody>
          <a:bodyPr wrap="square" lIns="0" tIns="0" rIns="0" bIns="0" rtlCol="0" anchor="t"/>
          <a:lstStyle/>
          <a:p>
            <a:pPr algn="r" indent="0" marL="0">
              <a:buNone/>
            </a:pPr>
            <a:r>
              <a:rPr lang="en-US" sz="1000" dirty="0">
                <a:solidFill>
                  <a:srgbClr val="66737C"/>
                </a:solidFill>
                <a:latin typeface="맑은 고딕" pitchFamily="34" charset="0"/>
                <a:ea typeface="맑은 고딕" pitchFamily="34" charset="-122"/>
                <a:cs typeface="맑은 고딕" pitchFamily="34" charset="-120"/>
              </a:rPr>
              <a:t>정답과 해설은 발표자 노트에 있습니다</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5486400" cy="1097280"/>
          </a:xfrm>
          <a:prstGeom prst="rect">
            <a:avLst/>
          </a:prstGeom>
          <a:noFill/>
          <a:ln/>
        </p:spPr>
        <p:txBody>
          <a:bodyPr wrap="square" lIns="0" tIns="0" rIns="0" bIns="0" rtlCol="0" anchor="b"/>
          <a:lstStyle/>
          <a:p>
            <a:pPr indent="0" marL="0">
              <a:buNone/>
            </a:pPr>
            <a:r>
              <a:rPr lang="en-US" sz="5400" b="1" dirty="0">
                <a:solidFill>
                  <a:srgbClr val="7FB2B8"/>
                </a:solidFill>
                <a:latin typeface="맑은 고딕" pitchFamily="34" charset="0"/>
                <a:ea typeface="맑은 고딕" pitchFamily="34" charset="-122"/>
                <a:cs typeface="맑은 고딕" pitchFamily="34" charset="-120"/>
              </a:rPr>
              <a:t>PART 7</a:t>
            </a:r>
            <a:endParaRPr lang="en-US" sz="5400" dirty="0"/>
          </a:p>
        </p:txBody>
      </p:sp>
      <p:sp>
        <p:nvSpPr>
          <p:cNvPr id="3" name="Text 0"/>
          <p:cNvSpPr/>
          <p:nvPr>
            <p:ph idx="101" type="title" hasCustomPrompt="1"/>
          </p:nvPr>
        </p:nvSpPr>
        <p:spPr>
          <a:xfrm>
            <a:off x="731520" y="2560320"/>
            <a:ext cx="10698480" cy="100584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네트워크 점검 명령어</a:t>
            </a:r>
            <a:endParaRPr lang="en-US" sz="3800" dirty="0"/>
          </a:p>
        </p:txBody>
      </p:sp>
      <p:sp>
        <p:nvSpPr>
          <p:cNvPr id="4" name="Text 0"/>
          <p:cNvSpPr/>
          <p:nvPr>
            <p:ph idx="102" type="body" hasCustomPrompt="1"/>
          </p:nvPr>
        </p:nvSpPr>
        <p:spPr>
          <a:xfrm>
            <a:off x="731520" y="3749040"/>
            <a:ext cx="10698480"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GUI 와 CLI, PC 에 IP 를 설정하는 방법</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질문별 명령어: ipconfig · ping · tracert · nslookup · arp · netstat · route · nbtstat</a:t>
            </a:r>
            <a:endParaRPr lang="en-US" sz="1700" dirty="0"/>
          </a:p>
          <a:p>
            <a:pPr marL="342900" indent="-342900">
              <a:spcAft>
                <a:spcPts val="600"/>
              </a:spcAft>
              <a:buSzPct val="100000"/>
              <a:buChar char="•"/>
            </a:pPr>
            <a:r>
              <a:rPr lang="en-US" sz="1700" dirty="0">
                <a:solidFill>
                  <a:srgbClr val="CFE3E5"/>
                </a:solidFill>
                <a:latin typeface="맑은 고딕" pitchFamily="34" charset="0"/>
                <a:ea typeface="맑은 고딕" pitchFamily="34" charset="-122"/>
                <a:cs typeface="맑은 고딕" pitchFamily="34" charset="-120"/>
              </a:rPr>
              <a:t>Windows ↔ Linux 대응, 장애 진단 순서</a:t>
            </a:r>
            <a:endParaRPr lang="en-US" sz="17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GUI 와 CLI, 그리고 IP 설정 방법</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7 · 점검 명령어</a:t>
            </a:r>
            <a:endParaRPr lang="en-US" sz="1100" dirty="0"/>
          </a:p>
        </p:txBody>
      </p:sp>
      <p:sp>
        <p:nvSpPr>
          <p:cNvPr id="5" name="Shape 2"/>
          <p:cNvSpPr/>
          <p:nvPr/>
        </p:nvSpPr>
        <p:spPr>
          <a:xfrm>
            <a:off x="548640" y="1325880"/>
            <a:ext cx="3566160" cy="1645920"/>
          </a:xfrm>
          <a:prstGeom prst="roundRect">
            <a:avLst>
              <a:gd name="adj" fmla="val 4444"/>
            </a:avLst>
          </a:prstGeom>
          <a:solidFill>
            <a:srgbClr val="FFFFFF"/>
          </a:solidFill>
          <a:ln w="12700">
            <a:solidFill>
              <a:srgbClr val="9AA5AD"/>
            </a:solidFill>
            <a:prstDash val="solid"/>
          </a:ln>
        </p:spPr>
      </p:sp>
      <p:sp>
        <p:nvSpPr>
          <p:cNvPr id="6" name="Text 3"/>
          <p:cNvSpPr txBox="1"/>
          <p:nvPr/>
        </p:nvSpPr>
        <p:spPr>
          <a:xfrm>
            <a:off x="731520" y="1463040"/>
            <a:ext cx="3200400" cy="384048"/>
          </a:xfrm>
          <a:prstGeom prst="rect">
            <a:avLst/>
          </a:prstGeom>
          <a:noFill/>
          <a:ln/>
        </p:spPr>
        <p:txBody>
          <a:bodyPr wrap="square" lIns="0" tIns="0" rIns="0" bIns="0" rtlCol="0" anchor="ctr"/>
          <a:lstStyle/>
          <a:p>
            <a:pPr indent="0" marL="0">
              <a:buNone/>
            </a:pPr>
            <a:r>
              <a:rPr lang="en-US" sz="2000" b="1" dirty="0">
                <a:solidFill>
                  <a:srgbClr val="1E2A30"/>
                </a:solidFill>
                <a:latin typeface="맑은 고딕" pitchFamily="34" charset="0"/>
                <a:ea typeface="맑은 고딕" pitchFamily="34" charset="-122"/>
                <a:cs typeface="맑은 고딕" pitchFamily="34" charset="-120"/>
              </a:rPr>
              <a:t>GUI</a:t>
            </a:r>
            <a:endParaRPr lang="en-US" sz="2000" dirty="0"/>
          </a:p>
        </p:txBody>
      </p:sp>
      <p:sp>
        <p:nvSpPr>
          <p:cNvPr id="7" name="Text 4"/>
          <p:cNvSpPr txBox="1"/>
          <p:nvPr/>
        </p:nvSpPr>
        <p:spPr>
          <a:xfrm>
            <a:off x="731520" y="1920240"/>
            <a:ext cx="3200400" cy="94183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Graphic User Interface</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아이콘 · 마우스로 조작</a:t>
            </a:r>
            <a:endParaRPr lang="en-US" sz="1400" dirty="0"/>
          </a:p>
        </p:txBody>
      </p:sp>
      <p:sp>
        <p:nvSpPr>
          <p:cNvPr id="8" name="Shape 5"/>
          <p:cNvSpPr/>
          <p:nvPr/>
        </p:nvSpPr>
        <p:spPr>
          <a:xfrm>
            <a:off x="548640" y="3154680"/>
            <a:ext cx="3566160" cy="1645920"/>
          </a:xfrm>
          <a:prstGeom prst="roundRect">
            <a:avLst>
              <a:gd name="adj" fmla="val 4444"/>
            </a:avLst>
          </a:prstGeom>
          <a:solidFill>
            <a:srgbClr val="E6F1F2"/>
          </a:solidFill>
          <a:ln w="12700">
            <a:solidFill>
              <a:srgbClr val="0E6E7A"/>
            </a:solidFill>
            <a:prstDash val="solid"/>
          </a:ln>
        </p:spPr>
      </p:sp>
      <p:sp>
        <p:nvSpPr>
          <p:cNvPr id="9" name="Text 6"/>
          <p:cNvSpPr txBox="1"/>
          <p:nvPr/>
        </p:nvSpPr>
        <p:spPr>
          <a:xfrm>
            <a:off x="731520" y="3291840"/>
            <a:ext cx="3200400" cy="384048"/>
          </a:xfrm>
          <a:prstGeom prst="rect">
            <a:avLst/>
          </a:prstGeom>
          <a:noFill/>
          <a:ln/>
        </p:spPr>
        <p:txBody>
          <a:bodyPr wrap="square" lIns="0" tIns="0" rIns="0" bIns="0" rtlCol="0" anchor="ctr"/>
          <a:lstStyle/>
          <a:p>
            <a:pPr indent="0" marL="0">
              <a:buNone/>
            </a:pPr>
            <a:r>
              <a:rPr lang="en-US" sz="2000" b="1" dirty="0">
                <a:solidFill>
                  <a:srgbClr val="1E2A30"/>
                </a:solidFill>
                <a:latin typeface="맑은 고딕" pitchFamily="34" charset="0"/>
                <a:ea typeface="맑은 고딕" pitchFamily="34" charset="-122"/>
                <a:cs typeface="맑은 고딕" pitchFamily="34" charset="-120"/>
              </a:rPr>
              <a:t>CLI</a:t>
            </a:r>
            <a:endParaRPr lang="en-US" sz="2000" dirty="0"/>
          </a:p>
        </p:txBody>
      </p:sp>
      <p:sp>
        <p:nvSpPr>
          <p:cNvPr id="10" name="Text 7"/>
          <p:cNvSpPr txBox="1"/>
          <p:nvPr/>
        </p:nvSpPr>
        <p:spPr>
          <a:xfrm>
            <a:off x="731520" y="3749040"/>
            <a:ext cx="3200400" cy="94183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Command Line Interface</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명령어로 조작 (서버 · 장비)</a:t>
            </a:r>
            <a:endParaRPr lang="en-US" sz="1400" dirty="0"/>
          </a:p>
        </p:txBody>
      </p:sp>
      <p:sp>
        <p:nvSpPr>
          <p:cNvPr id="11" name="Text 8"/>
          <p:cNvSpPr txBox="1"/>
          <p:nvPr/>
        </p:nvSpPr>
        <p:spPr>
          <a:xfrm>
            <a:off x="4480560" y="1325880"/>
            <a:ext cx="7132320" cy="411480"/>
          </a:xfrm>
          <a:prstGeom prst="rect">
            <a:avLst/>
          </a:prstGeom>
          <a:noFill/>
          <a:ln/>
        </p:spPr>
        <p:txBody>
          <a:bodyPr wrap="square" lIns="0" tIns="0" rIns="0" bIns="0" rtlCol="0" anchor="t"/>
          <a:lstStyle/>
          <a:p>
            <a:pPr indent="0" marL="0">
              <a:buNone/>
            </a:pPr>
            <a:r>
              <a:rPr lang="en-US" sz="1700" b="1" dirty="0">
                <a:solidFill>
                  <a:srgbClr val="1E2A30"/>
                </a:solidFill>
                <a:latin typeface="맑은 고딕" pitchFamily="34" charset="0"/>
                <a:ea typeface="맑은 고딕" pitchFamily="34" charset="-122"/>
                <a:cs typeface="맑은 고딕" pitchFamily="34" charset="-120"/>
              </a:rPr>
              <a:t>PC 에 IP 설정하는 3가지 방법</a:t>
            </a:r>
            <a:endParaRPr lang="en-US" sz="1700" dirty="0"/>
          </a:p>
        </p:txBody>
      </p:sp>
      <p:sp>
        <p:nvSpPr>
          <p:cNvPr id="12" name="Shape 9"/>
          <p:cNvSpPr/>
          <p:nvPr/>
        </p:nvSpPr>
        <p:spPr>
          <a:xfrm>
            <a:off x="4480560" y="1965960"/>
            <a:ext cx="457200" cy="457200"/>
          </a:xfrm>
          <a:prstGeom prst="ellipse">
            <a:avLst/>
          </a:prstGeom>
          <a:solidFill>
            <a:srgbClr val="0E6E7A"/>
          </a:solidFill>
          <a:ln w="12700">
            <a:solidFill>
              <a:srgbClr val="0E6E7A"/>
            </a:solidFill>
            <a:prstDash val="solid"/>
          </a:ln>
        </p:spPr>
      </p:sp>
      <p:sp>
        <p:nvSpPr>
          <p:cNvPr id="13" name="Text 10"/>
          <p:cNvSpPr txBox="1"/>
          <p:nvPr/>
        </p:nvSpPr>
        <p:spPr>
          <a:xfrm>
            <a:off x="4480560" y="19659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14" name="Text 11"/>
          <p:cNvSpPr txBox="1"/>
          <p:nvPr/>
        </p:nvSpPr>
        <p:spPr>
          <a:xfrm>
            <a:off x="5074920" y="1828800"/>
            <a:ext cx="1828800" cy="731520"/>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제어판</a:t>
            </a:r>
            <a:endParaRPr lang="en-US" sz="1600" dirty="0"/>
          </a:p>
        </p:txBody>
      </p:sp>
      <p:sp>
        <p:nvSpPr>
          <p:cNvPr id="15" name="Text 12"/>
          <p:cNvSpPr txBox="1"/>
          <p:nvPr/>
        </p:nvSpPr>
        <p:spPr>
          <a:xfrm>
            <a:off x="6949440" y="1828800"/>
            <a:ext cx="4690872" cy="822960"/>
          </a:xfrm>
          <a:prstGeom prst="rect">
            <a:avLst/>
          </a:prstGeom>
          <a:noFill/>
          <a:ln/>
        </p:spPr>
        <p:txBody>
          <a:bodyPr wrap="square" lIns="0" tIns="0" rIns="0" bIns="0" rtlCol="0" anchor="ct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네트워크 연결 → 어댑터 → 속성 → 인터넷 프로토콜(IPv4) → 속성</a:t>
            </a:r>
            <a:endParaRPr lang="en-US" sz="1300" dirty="0"/>
          </a:p>
        </p:txBody>
      </p:sp>
      <p:sp>
        <p:nvSpPr>
          <p:cNvPr id="16" name="Shape 13"/>
          <p:cNvSpPr/>
          <p:nvPr/>
        </p:nvSpPr>
        <p:spPr>
          <a:xfrm>
            <a:off x="4480560" y="2953512"/>
            <a:ext cx="457200" cy="457200"/>
          </a:xfrm>
          <a:prstGeom prst="ellipse">
            <a:avLst/>
          </a:prstGeom>
          <a:solidFill>
            <a:srgbClr val="0E6E7A"/>
          </a:solidFill>
          <a:ln w="12700">
            <a:solidFill>
              <a:srgbClr val="0E6E7A"/>
            </a:solidFill>
            <a:prstDash val="solid"/>
          </a:ln>
        </p:spPr>
      </p:sp>
      <p:sp>
        <p:nvSpPr>
          <p:cNvPr id="17" name="Text 14"/>
          <p:cNvSpPr txBox="1"/>
          <p:nvPr/>
        </p:nvSpPr>
        <p:spPr>
          <a:xfrm>
            <a:off x="4480560" y="2953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18" name="Text 15"/>
          <p:cNvSpPr txBox="1"/>
          <p:nvPr/>
        </p:nvSpPr>
        <p:spPr>
          <a:xfrm>
            <a:off x="5074920" y="2816352"/>
            <a:ext cx="1828800" cy="731520"/>
          </a:xfrm>
          <a:prstGeom prst="rect">
            <a:avLst/>
          </a:prstGeom>
          <a:noFill/>
          <a:ln/>
        </p:spPr>
        <p:txBody>
          <a:bodyPr wrap="square" lIns="0" tIns="0" rIns="0" bIns="0" rtlCol="0" anchor="ctr"/>
          <a:lstStyle/>
          <a:p>
            <a:pPr indent="0" marL="0">
              <a:buNone/>
            </a:pPr>
            <a:r>
              <a:rPr lang="en-US" sz="1600" b="1" dirty="0">
                <a:solidFill>
                  <a:srgbClr val="1E2A30"/>
                </a:solidFill>
                <a:latin typeface="Consolas" pitchFamily="34" charset="0"/>
                <a:ea typeface="Consolas" pitchFamily="34" charset="-122"/>
                <a:cs typeface="Consolas" pitchFamily="34" charset="-120"/>
              </a:rPr>
              <a:t>ncpa.cpl</a:t>
            </a:r>
            <a:endParaRPr lang="en-US" sz="1600" dirty="0"/>
          </a:p>
        </p:txBody>
      </p:sp>
      <p:sp>
        <p:nvSpPr>
          <p:cNvPr id="19" name="Text 16"/>
          <p:cNvSpPr txBox="1"/>
          <p:nvPr/>
        </p:nvSpPr>
        <p:spPr>
          <a:xfrm>
            <a:off x="6949440" y="2816352"/>
            <a:ext cx="4690872" cy="822960"/>
          </a:xfrm>
          <a:prstGeom prst="rect">
            <a:avLst/>
          </a:prstGeom>
          <a:noFill/>
          <a:ln/>
        </p:spPr>
        <p:txBody>
          <a:bodyPr wrap="square" lIns="0" tIns="0" rIns="0" bIns="0" rtlCol="0" anchor="ctr"/>
          <a:lstStyle/>
          <a:p>
            <a:pPr indent="0" marL="0">
              <a:buNone/>
            </a:pPr>
            <a:r>
              <a:rPr lang="en-US" sz="1300" dirty="0">
                <a:solidFill>
                  <a:srgbClr val="1E2A30"/>
                </a:solidFill>
                <a:latin typeface="맑은 고딕" pitchFamily="34" charset="0"/>
                <a:ea typeface="맑은 고딕" pitchFamily="34" charset="-122"/>
                <a:cs typeface="맑은 고딕" pitchFamily="34" charset="-120"/>
              </a:rPr>
              <a:t>실행(Win+R) 창에 입력 → 네트워크 연결 창 바로 열림</a:t>
            </a:r>
            <a:endParaRPr lang="en-US" sz="1300" dirty="0"/>
          </a:p>
        </p:txBody>
      </p:sp>
      <p:sp>
        <p:nvSpPr>
          <p:cNvPr id="20" name="Shape 17"/>
          <p:cNvSpPr/>
          <p:nvPr/>
        </p:nvSpPr>
        <p:spPr>
          <a:xfrm>
            <a:off x="4480560" y="3941064"/>
            <a:ext cx="457200" cy="457200"/>
          </a:xfrm>
          <a:prstGeom prst="ellipse">
            <a:avLst/>
          </a:prstGeom>
          <a:solidFill>
            <a:srgbClr val="0E6E7A"/>
          </a:solidFill>
          <a:ln w="12700">
            <a:solidFill>
              <a:srgbClr val="0E6E7A"/>
            </a:solidFill>
            <a:prstDash val="solid"/>
          </a:ln>
        </p:spPr>
      </p:sp>
      <p:sp>
        <p:nvSpPr>
          <p:cNvPr id="21" name="Text 18"/>
          <p:cNvSpPr txBox="1"/>
          <p:nvPr/>
        </p:nvSpPr>
        <p:spPr>
          <a:xfrm>
            <a:off x="4480560" y="39410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22" name="Text 19"/>
          <p:cNvSpPr txBox="1"/>
          <p:nvPr/>
        </p:nvSpPr>
        <p:spPr>
          <a:xfrm>
            <a:off x="5074920" y="3803904"/>
            <a:ext cx="1828800" cy="731520"/>
          </a:xfrm>
          <a:prstGeom prst="rect">
            <a:avLst/>
          </a:prstGeom>
          <a:noFill/>
          <a:ln/>
        </p:spPr>
        <p:txBody>
          <a:bodyPr wrap="square" lIns="0" tIns="0" rIns="0" bIns="0" rtlCol="0" anchor="ctr"/>
          <a:lstStyle/>
          <a:p>
            <a:pPr indent="0" marL="0">
              <a:buNone/>
            </a:pPr>
            <a:r>
              <a:rPr lang="en-US" sz="1600" b="1" dirty="0">
                <a:solidFill>
                  <a:srgbClr val="1E2A30"/>
                </a:solidFill>
                <a:latin typeface="Consolas" pitchFamily="34" charset="0"/>
                <a:ea typeface="Consolas" pitchFamily="34" charset="-122"/>
                <a:cs typeface="Consolas" pitchFamily="34" charset="-120"/>
              </a:rPr>
              <a:t>netsh</a:t>
            </a:r>
            <a:endParaRPr lang="en-US" sz="1600" dirty="0"/>
          </a:p>
        </p:txBody>
      </p:sp>
      <p:sp>
        <p:nvSpPr>
          <p:cNvPr id="23" name="Text 20"/>
          <p:cNvSpPr txBox="1"/>
          <p:nvPr/>
        </p:nvSpPr>
        <p:spPr>
          <a:xfrm>
            <a:off x="6949440" y="3803904"/>
            <a:ext cx="4690872" cy="822960"/>
          </a:xfrm>
          <a:prstGeom prst="rect">
            <a:avLst/>
          </a:prstGeom>
          <a:noFill/>
          <a:ln/>
        </p:spPr>
        <p:txBody>
          <a:bodyPr wrap="square" lIns="0" tIns="0" rIns="0" bIns="0" rtlCol="0" anchor="ctr"/>
          <a:lstStyle/>
          <a:p>
            <a:pPr indent="0" marL="0">
              <a:buNone/>
            </a:pPr>
            <a:r>
              <a:rPr lang="en-US" sz="1300" dirty="0">
                <a:solidFill>
                  <a:srgbClr val="1E2A30"/>
                </a:solidFill>
                <a:latin typeface="Consolas" pitchFamily="34" charset="0"/>
                <a:ea typeface="Consolas" pitchFamily="34" charset="-122"/>
                <a:cs typeface="Consolas" pitchFamily="34" charset="-120"/>
              </a:rPr>
              <a:t>netsh interface ip set address "이더넷" static 192.168.0.10 255.255.255.0 192.168.0.1</a:t>
            </a:r>
            <a:endParaRPr lang="en-US" sz="1300" dirty="0"/>
          </a:p>
        </p:txBody>
      </p:sp>
      <p:sp>
        <p:nvSpPr>
          <p:cNvPr id="24" name="Shape 21"/>
          <p:cNvSpPr/>
          <p:nvPr/>
        </p:nvSpPr>
        <p:spPr>
          <a:xfrm>
            <a:off x="4480560" y="4892040"/>
            <a:ext cx="3520440" cy="868680"/>
          </a:xfrm>
          <a:prstGeom prst="roundRect">
            <a:avLst>
              <a:gd name="adj" fmla="val 8421"/>
            </a:avLst>
          </a:prstGeom>
          <a:solidFill>
            <a:srgbClr val="F4F6F7"/>
          </a:solidFill>
          <a:ln w="12700">
            <a:solidFill>
              <a:srgbClr val="9AA5AD"/>
            </a:solidFill>
            <a:prstDash val="solid"/>
          </a:ln>
        </p:spPr>
      </p:sp>
      <p:sp>
        <p:nvSpPr>
          <p:cNvPr id="25" name="Text 22"/>
          <p:cNvSpPr txBox="1"/>
          <p:nvPr/>
        </p:nvSpPr>
        <p:spPr>
          <a:xfrm>
            <a:off x="4663440" y="5029200"/>
            <a:ext cx="3154680" cy="621792"/>
          </a:xfrm>
          <a:prstGeom prst="rect">
            <a:avLst/>
          </a:prstGeom>
          <a:noFill/>
          <a:ln/>
        </p:spPr>
        <p:txBody>
          <a:bodyPr wrap="square" lIns="0" tIns="0" rIns="0" bIns="0" rtlCol="0" anchor="t"/>
          <a:lstStyle/>
          <a:p>
            <a:pPr indent="0" marL="0">
              <a:spcAft>
                <a:spcPts val="400"/>
              </a:spcAft>
              <a:buNone/>
            </a:pPr>
            <a:r>
              <a:rPr lang="en-US" sz="1400" b="1" dirty="0">
                <a:solidFill>
                  <a:srgbClr val="1E2A30"/>
                </a:solidFill>
                <a:latin typeface="맑은 고딕" pitchFamily="34" charset="0"/>
                <a:ea typeface="맑은 고딕" pitchFamily="34" charset="-122"/>
                <a:cs typeface="맑은 고딕" pitchFamily="34" charset="-120"/>
              </a:rPr>
              <a:t>자동 (Dynamic) — DHCP 서버</a:t>
            </a:r>
            <a:endParaRPr lang="en-US" sz="1400" dirty="0"/>
          </a:p>
        </p:txBody>
      </p:sp>
      <p:sp>
        <p:nvSpPr>
          <p:cNvPr id="26" name="Shape 23"/>
          <p:cNvSpPr/>
          <p:nvPr/>
        </p:nvSpPr>
        <p:spPr>
          <a:xfrm>
            <a:off x="8119872" y="4892040"/>
            <a:ext cx="3520440" cy="868680"/>
          </a:xfrm>
          <a:prstGeom prst="roundRect">
            <a:avLst>
              <a:gd name="adj" fmla="val 8421"/>
            </a:avLst>
          </a:prstGeom>
          <a:solidFill>
            <a:srgbClr val="F4F6F7"/>
          </a:solidFill>
          <a:ln w="12700">
            <a:solidFill>
              <a:srgbClr val="9AA5AD"/>
            </a:solidFill>
            <a:prstDash val="solid"/>
          </a:ln>
        </p:spPr>
      </p:sp>
      <p:sp>
        <p:nvSpPr>
          <p:cNvPr id="27" name="Text 24"/>
          <p:cNvSpPr txBox="1"/>
          <p:nvPr/>
        </p:nvSpPr>
        <p:spPr>
          <a:xfrm>
            <a:off x="8302752" y="5029200"/>
            <a:ext cx="3154680" cy="621792"/>
          </a:xfrm>
          <a:prstGeom prst="rect">
            <a:avLst/>
          </a:prstGeom>
          <a:noFill/>
          <a:ln/>
        </p:spPr>
        <p:txBody>
          <a:bodyPr wrap="square" lIns="0" tIns="0" rIns="0" bIns="0" rtlCol="0" anchor="t"/>
          <a:lstStyle/>
          <a:p>
            <a:pPr indent="0" marL="0">
              <a:spcAft>
                <a:spcPts val="400"/>
              </a:spcAft>
              <a:buNone/>
            </a:pPr>
            <a:r>
              <a:rPr lang="en-US" sz="1400" b="1" dirty="0">
                <a:solidFill>
                  <a:srgbClr val="1E2A30"/>
                </a:solidFill>
                <a:latin typeface="맑은 고딕" pitchFamily="34" charset="0"/>
                <a:ea typeface="맑은 고딕" pitchFamily="34" charset="-122"/>
                <a:cs typeface="맑은 고딕" pitchFamily="34" charset="-120"/>
              </a:rPr>
              <a:t>수동 (Static) — 관리자 설정</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어떤 질문에 어떤 명령어? — 명령어 지도</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7 · 점검 명령어</a:t>
            </a:r>
            <a:endParaRPr lang="en-US" sz="1100" dirty="0"/>
          </a:p>
        </p:txBody>
      </p:sp>
      <p:sp>
        <p:nvSpPr>
          <p:cNvPr id="5" name="Shape 2"/>
          <p:cNvSpPr/>
          <p:nvPr/>
        </p:nvSpPr>
        <p:spPr>
          <a:xfrm>
            <a:off x="548640" y="1371600"/>
            <a:ext cx="2651760" cy="1965960"/>
          </a:xfrm>
          <a:prstGeom prst="roundRect">
            <a:avLst>
              <a:gd name="adj" fmla="val 3721"/>
            </a:avLst>
          </a:prstGeom>
          <a:solidFill>
            <a:srgbClr val="E6F1F2"/>
          </a:solidFill>
          <a:ln w="12700">
            <a:solidFill>
              <a:srgbClr val="0E6E7A"/>
            </a:solidFill>
            <a:prstDash val="solid"/>
          </a:ln>
        </p:spPr>
      </p:sp>
      <p:sp>
        <p:nvSpPr>
          <p:cNvPr id="6" name="Text 3"/>
          <p:cNvSpPr txBox="1"/>
          <p:nvPr/>
        </p:nvSpPr>
        <p:spPr>
          <a:xfrm>
            <a:off x="731520" y="1554480"/>
            <a:ext cx="2286000" cy="548640"/>
          </a:xfrm>
          <a:prstGeom prst="rect">
            <a:avLst/>
          </a:prstGeom>
          <a:noFill/>
          <a:ln/>
        </p:spPr>
        <p:txBody>
          <a:bodyPr wrap="square" lIns="0" tIns="0" rIns="0" bIns="0" rtlCol="0" anchor="t"/>
          <a:lstStyle/>
          <a:p>
            <a:pPr indent="0" marL="0">
              <a:buNone/>
            </a:pPr>
            <a:r>
              <a:rPr lang="en-US" sz="2200" b="1" dirty="0">
                <a:solidFill>
                  <a:srgbClr val="0E6E7A"/>
                </a:solidFill>
                <a:latin typeface="Consolas" pitchFamily="34" charset="0"/>
                <a:ea typeface="Consolas" pitchFamily="34" charset="-122"/>
                <a:cs typeface="Consolas" pitchFamily="34" charset="-120"/>
              </a:rPr>
              <a:t>ipconfig</a:t>
            </a:r>
            <a:endParaRPr lang="en-US" sz="2200" dirty="0"/>
          </a:p>
        </p:txBody>
      </p:sp>
      <p:sp>
        <p:nvSpPr>
          <p:cNvPr id="7" name="Text 4"/>
          <p:cNvSpPr txBox="1"/>
          <p:nvPr/>
        </p:nvSpPr>
        <p:spPr>
          <a:xfrm>
            <a:off x="731520" y="2240280"/>
            <a:ext cx="2286000" cy="91440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내 IP · 마스크 · 게이트웨이 · DNS 는?</a:t>
            </a:r>
            <a:endParaRPr lang="en-US" sz="1500" dirty="0"/>
          </a:p>
        </p:txBody>
      </p:sp>
      <p:sp>
        <p:nvSpPr>
          <p:cNvPr id="8" name="Shape 5"/>
          <p:cNvSpPr/>
          <p:nvPr/>
        </p:nvSpPr>
        <p:spPr>
          <a:xfrm>
            <a:off x="3364992" y="1371600"/>
            <a:ext cx="2651760" cy="1965960"/>
          </a:xfrm>
          <a:prstGeom prst="roundRect">
            <a:avLst>
              <a:gd name="adj" fmla="val 3721"/>
            </a:avLst>
          </a:prstGeom>
          <a:solidFill>
            <a:srgbClr val="E6F1F2"/>
          </a:solidFill>
          <a:ln w="12700">
            <a:solidFill>
              <a:srgbClr val="0E6E7A"/>
            </a:solidFill>
            <a:prstDash val="solid"/>
          </a:ln>
        </p:spPr>
      </p:sp>
      <p:sp>
        <p:nvSpPr>
          <p:cNvPr id="9" name="Text 6"/>
          <p:cNvSpPr txBox="1"/>
          <p:nvPr/>
        </p:nvSpPr>
        <p:spPr>
          <a:xfrm>
            <a:off x="3547872" y="1554480"/>
            <a:ext cx="2286000" cy="548640"/>
          </a:xfrm>
          <a:prstGeom prst="rect">
            <a:avLst/>
          </a:prstGeom>
          <a:noFill/>
          <a:ln/>
        </p:spPr>
        <p:txBody>
          <a:bodyPr wrap="square" lIns="0" tIns="0" rIns="0" bIns="0" rtlCol="0" anchor="t"/>
          <a:lstStyle/>
          <a:p>
            <a:pPr indent="0" marL="0">
              <a:buNone/>
            </a:pPr>
            <a:r>
              <a:rPr lang="en-US" sz="2200" b="1" dirty="0">
                <a:solidFill>
                  <a:srgbClr val="0E6E7A"/>
                </a:solidFill>
                <a:latin typeface="Consolas" pitchFamily="34" charset="0"/>
                <a:ea typeface="Consolas" pitchFamily="34" charset="-122"/>
                <a:cs typeface="Consolas" pitchFamily="34" charset="-120"/>
              </a:rPr>
              <a:t>ping</a:t>
            </a:r>
            <a:endParaRPr lang="en-US" sz="2200" dirty="0"/>
          </a:p>
        </p:txBody>
      </p:sp>
      <p:sp>
        <p:nvSpPr>
          <p:cNvPr id="10" name="Text 7"/>
          <p:cNvSpPr txBox="1"/>
          <p:nvPr/>
        </p:nvSpPr>
        <p:spPr>
          <a:xfrm>
            <a:off x="3547872" y="2240280"/>
            <a:ext cx="2286000" cy="91440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상대 호스트와 연결되나?</a:t>
            </a:r>
            <a:endParaRPr lang="en-US" sz="1500" dirty="0"/>
          </a:p>
        </p:txBody>
      </p:sp>
      <p:sp>
        <p:nvSpPr>
          <p:cNvPr id="11" name="Shape 8"/>
          <p:cNvSpPr/>
          <p:nvPr/>
        </p:nvSpPr>
        <p:spPr>
          <a:xfrm>
            <a:off x="6181344" y="1371600"/>
            <a:ext cx="2651760" cy="1965960"/>
          </a:xfrm>
          <a:prstGeom prst="roundRect">
            <a:avLst>
              <a:gd name="adj" fmla="val 3721"/>
            </a:avLst>
          </a:prstGeom>
          <a:solidFill>
            <a:srgbClr val="E6F1F2"/>
          </a:solidFill>
          <a:ln w="12700">
            <a:solidFill>
              <a:srgbClr val="0E6E7A"/>
            </a:solidFill>
            <a:prstDash val="solid"/>
          </a:ln>
        </p:spPr>
      </p:sp>
      <p:sp>
        <p:nvSpPr>
          <p:cNvPr id="12" name="Text 9"/>
          <p:cNvSpPr txBox="1"/>
          <p:nvPr/>
        </p:nvSpPr>
        <p:spPr>
          <a:xfrm>
            <a:off x="6364224" y="1554480"/>
            <a:ext cx="2286000" cy="548640"/>
          </a:xfrm>
          <a:prstGeom prst="rect">
            <a:avLst/>
          </a:prstGeom>
          <a:noFill/>
          <a:ln/>
        </p:spPr>
        <p:txBody>
          <a:bodyPr wrap="square" lIns="0" tIns="0" rIns="0" bIns="0" rtlCol="0" anchor="t"/>
          <a:lstStyle/>
          <a:p>
            <a:pPr indent="0" marL="0">
              <a:buNone/>
            </a:pPr>
            <a:r>
              <a:rPr lang="en-US" sz="2200" b="1" dirty="0">
                <a:solidFill>
                  <a:srgbClr val="0E6E7A"/>
                </a:solidFill>
                <a:latin typeface="Consolas" pitchFamily="34" charset="0"/>
                <a:ea typeface="Consolas" pitchFamily="34" charset="-122"/>
                <a:cs typeface="Consolas" pitchFamily="34" charset="-120"/>
              </a:rPr>
              <a:t>tracert</a:t>
            </a:r>
            <a:endParaRPr lang="en-US" sz="2200" dirty="0"/>
          </a:p>
        </p:txBody>
      </p:sp>
      <p:sp>
        <p:nvSpPr>
          <p:cNvPr id="13" name="Text 10"/>
          <p:cNvSpPr txBox="1"/>
          <p:nvPr/>
        </p:nvSpPr>
        <p:spPr>
          <a:xfrm>
            <a:off x="6364224" y="2240280"/>
            <a:ext cx="2286000" cy="91440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목적지까지 어떤 경로로 가나?</a:t>
            </a:r>
            <a:endParaRPr lang="en-US" sz="1500" dirty="0"/>
          </a:p>
        </p:txBody>
      </p:sp>
      <p:sp>
        <p:nvSpPr>
          <p:cNvPr id="14" name="Shape 11"/>
          <p:cNvSpPr/>
          <p:nvPr/>
        </p:nvSpPr>
        <p:spPr>
          <a:xfrm>
            <a:off x="8997696" y="1371600"/>
            <a:ext cx="2651760" cy="1965960"/>
          </a:xfrm>
          <a:prstGeom prst="roundRect">
            <a:avLst>
              <a:gd name="adj" fmla="val 3721"/>
            </a:avLst>
          </a:prstGeom>
          <a:solidFill>
            <a:srgbClr val="E6F1F2"/>
          </a:solidFill>
          <a:ln w="12700">
            <a:solidFill>
              <a:srgbClr val="0E6E7A"/>
            </a:solidFill>
            <a:prstDash val="solid"/>
          </a:ln>
        </p:spPr>
      </p:sp>
      <p:sp>
        <p:nvSpPr>
          <p:cNvPr id="15" name="Text 12"/>
          <p:cNvSpPr txBox="1"/>
          <p:nvPr/>
        </p:nvSpPr>
        <p:spPr>
          <a:xfrm>
            <a:off x="9180576" y="1554480"/>
            <a:ext cx="2286000" cy="548640"/>
          </a:xfrm>
          <a:prstGeom prst="rect">
            <a:avLst/>
          </a:prstGeom>
          <a:noFill/>
          <a:ln/>
        </p:spPr>
        <p:txBody>
          <a:bodyPr wrap="square" lIns="0" tIns="0" rIns="0" bIns="0" rtlCol="0" anchor="t"/>
          <a:lstStyle/>
          <a:p>
            <a:pPr indent="0" marL="0">
              <a:buNone/>
            </a:pPr>
            <a:r>
              <a:rPr lang="en-US" sz="2200" b="1" dirty="0">
                <a:solidFill>
                  <a:srgbClr val="0E6E7A"/>
                </a:solidFill>
                <a:latin typeface="Consolas" pitchFamily="34" charset="0"/>
                <a:ea typeface="Consolas" pitchFamily="34" charset="-122"/>
                <a:cs typeface="Consolas" pitchFamily="34" charset="-120"/>
              </a:rPr>
              <a:t>nslookup</a:t>
            </a:r>
            <a:endParaRPr lang="en-US" sz="2200" dirty="0"/>
          </a:p>
        </p:txBody>
      </p:sp>
      <p:sp>
        <p:nvSpPr>
          <p:cNvPr id="16" name="Text 13"/>
          <p:cNvSpPr txBox="1"/>
          <p:nvPr/>
        </p:nvSpPr>
        <p:spPr>
          <a:xfrm>
            <a:off x="9180576" y="2240280"/>
            <a:ext cx="2286000" cy="91440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이 도메인의 IP 는?</a:t>
            </a:r>
            <a:endParaRPr lang="en-US" sz="1500" dirty="0"/>
          </a:p>
        </p:txBody>
      </p:sp>
      <p:sp>
        <p:nvSpPr>
          <p:cNvPr id="17" name="Shape 14"/>
          <p:cNvSpPr/>
          <p:nvPr/>
        </p:nvSpPr>
        <p:spPr>
          <a:xfrm>
            <a:off x="548640" y="3566160"/>
            <a:ext cx="2651760" cy="1965960"/>
          </a:xfrm>
          <a:prstGeom prst="roundRect">
            <a:avLst>
              <a:gd name="adj" fmla="val 3721"/>
            </a:avLst>
          </a:prstGeom>
          <a:solidFill>
            <a:srgbClr val="FFFFFF"/>
          </a:solidFill>
          <a:ln w="12700">
            <a:solidFill>
              <a:srgbClr val="9AA5AD"/>
            </a:solidFill>
            <a:prstDash val="solid"/>
          </a:ln>
        </p:spPr>
      </p:sp>
      <p:sp>
        <p:nvSpPr>
          <p:cNvPr id="18" name="Text 15"/>
          <p:cNvSpPr txBox="1"/>
          <p:nvPr/>
        </p:nvSpPr>
        <p:spPr>
          <a:xfrm>
            <a:off x="731520" y="3749040"/>
            <a:ext cx="2286000" cy="548640"/>
          </a:xfrm>
          <a:prstGeom prst="rect">
            <a:avLst/>
          </a:prstGeom>
          <a:noFill/>
          <a:ln/>
        </p:spPr>
        <p:txBody>
          <a:bodyPr wrap="square" lIns="0" tIns="0" rIns="0" bIns="0" rtlCol="0" anchor="t"/>
          <a:lstStyle/>
          <a:p>
            <a:pPr indent="0" marL="0">
              <a:buNone/>
            </a:pPr>
            <a:r>
              <a:rPr lang="en-US" sz="2200" b="1" dirty="0">
                <a:solidFill>
                  <a:srgbClr val="0E6E7A"/>
                </a:solidFill>
                <a:latin typeface="Consolas" pitchFamily="34" charset="0"/>
                <a:ea typeface="Consolas" pitchFamily="34" charset="-122"/>
                <a:cs typeface="Consolas" pitchFamily="34" charset="-120"/>
              </a:rPr>
              <a:t>arp</a:t>
            </a:r>
            <a:endParaRPr lang="en-US" sz="2200" dirty="0"/>
          </a:p>
        </p:txBody>
      </p:sp>
      <p:sp>
        <p:nvSpPr>
          <p:cNvPr id="19" name="Text 16"/>
          <p:cNvSpPr txBox="1"/>
          <p:nvPr/>
        </p:nvSpPr>
        <p:spPr>
          <a:xfrm>
            <a:off x="731520" y="4434840"/>
            <a:ext cx="2286000" cy="91440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이 IP 의 MAC 주소는?</a:t>
            </a:r>
            <a:endParaRPr lang="en-US" sz="1500" dirty="0"/>
          </a:p>
        </p:txBody>
      </p:sp>
      <p:sp>
        <p:nvSpPr>
          <p:cNvPr id="20" name="Shape 17"/>
          <p:cNvSpPr/>
          <p:nvPr/>
        </p:nvSpPr>
        <p:spPr>
          <a:xfrm>
            <a:off x="3364992" y="3566160"/>
            <a:ext cx="2651760" cy="1965960"/>
          </a:xfrm>
          <a:prstGeom prst="roundRect">
            <a:avLst>
              <a:gd name="adj" fmla="val 3721"/>
            </a:avLst>
          </a:prstGeom>
          <a:solidFill>
            <a:srgbClr val="FFFFFF"/>
          </a:solidFill>
          <a:ln w="12700">
            <a:solidFill>
              <a:srgbClr val="9AA5AD"/>
            </a:solidFill>
            <a:prstDash val="solid"/>
          </a:ln>
        </p:spPr>
      </p:sp>
      <p:sp>
        <p:nvSpPr>
          <p:cNvPr id="21" name="Text 18"/>
          <p:cNvSpPr txBox="1"/>
          <p:nvPr/>
        </p:nvSpPr>
        <p:spPr>
          <a:xfrm>
            <a:off x="3547872" y="3749040"/>
            <a:ext cx="2286000" cy="548640"/>
          </a:xfrm>
          <a:prstGeom prst="rect">
            <a:avLst/>
          </a:prstGeom>
          <a:noFill/>
          <a:ln/>
        </p:spPr>
        <p:txBody>
          <a:bodyPr wrap="square" lIns="0" tIns="0" rIns="0" bIns="0" rtlCol="0" anchor="t"/>
          <a:lstStyle/>
          <a:p>
            <a:pPr indent="0" marL="0">
              <a:buNone/>
            </a:pPr>
            <a:r>
              <a:rPr lang="en-US" sz="2200" b="1" dirty="0">
                <a:solidFill>
                  <a:srgbClr val="0E6E7A"/>
                </a:solidFill>
                <a:latin typeface="Consolas" pitchFamily="34" charset="0"/>
                <a:ea typeface="Consolas" pitchFamily="34" charset="-122"/>
                <a:cs typeface="Consolas" pitchFamily="34" charset="-120"/>
              </a:rPr>
              <a:t>netstat</a:t>
            </a:r>
            <a:endParaRPr lang="en-US" sz="2200" dirty="0"/>
          </a:p>
        </p:txBody>
      </p:sp>
      <p:sp>
        <p:nvSpPr>
          <p:cNvPr id="22" name="Text 19"/>
          <p:cNvSpPr txBox="1"/>
          <p:nvPr/>
        </p:nvSpPr>
        <p:spPr>
          <a:xfrm>
            <a:off x="3547872" y="4434840"/>
            <a:ext cx="2286000" cy="91440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지금 열린 연결 · 포트는?</a:t>
            </a:r>
            <a:endParaRPr lang="en-US" sz="1500" dirty="0"/>
          </a:p>
        </p:txBody>
      </p:sp>
      <p:sp>
        <p:nvSpPr>
          <p:cNvPr id="23" name="Shape 20"/>
          <p:cNvSpPr/>
          <p:nvPr/>
        </p:nvSpPr>
        <p:spPr>
          <a:xfrm>
            <a:off x="6181344" y="3566160"/>
            <a:ext cx="2651760" cy="1965960"/>
          </a:xfrm>
          <a:prstGeom prst="roundRect">
            <a:avLst>
              <a:gd name="adj" fmla="val 3721"/>
            </a:avLst>
          </a:prstGeom>
          <a:solidFill>
            <a:srgbClr val="FFFFFF"/>
          </a:solidFill>
          <a:ln w="12700">
            <a:solidFill>
              <a:srgbClr val="9AA5AD"/>
            </a:solidFill>
            <a:prstDash val="solid"/>
          </a:ln>
        </p:spPr>
      </p:sp>
      <p:sp>
        <p:nvSpPr>
          <p:cNvPr id="24" name="Text 21"/>
          <p:cNvSpPr txBox="1"/>
          <p:nvPr/>
        </p:nvSpPr>
        <p:spPr>
          <a:xfrm>
            <a:off x="6364224" y="3749040"/>
            <a:ext cx="2286000" cy="548640"/>
          </a:xfrm>
          <a:prstGeom prst="rect">
            <a:avLst/>
          </a:prstGeom>
          <a:noFill/>
          <a:ln/>
        </p:spPr>
        <p:txBody>
          <a:bodyPr wrap="square" lIns="0" tIns="0" rIns="0" bIns="0" rtlCol="0" anchor="t"/>
          <a:lstStyle/>
          <a:p>
            <a:pPr indent="0" marL="0">
              <a:buNone/>
            </a:pPr>
            <a:r>
              <a:rPr lang="en-US" sz="2200" b="1" dirty="0">
                <a:solidFill>
                  <a:srgbClr val="0E6E7A"/>
                </a:solidFill>
                <a:latin typeface="Consolas" pitchFamily="34" charset="0"/>
                <a:ea typeface="Consolas" pitchFamily="34" charset="-122"/>
                <a:cs typeface="Consolas" pitchFamily="34" charset="-120"/>
              </a:rPr>
              <a:t>route</a:t>
            </a:r>
            <a:endParaRPr lang="en-US" sz="2200" dirty="0"/>
          </a:p>
        </p:txBody>
      </p:sp>
      <p:sp>
        <p:nvSpPr>
          <p:cNvPr id="25" name="Text 22"/>
          <p:cNvSpPr txBox="1"/>
          <p:nvPr/>
        </p:nvSpPr>
        <p:spPr>
          <a:xfrm>
            <a:off x="6364224" y="4434840"/>
            <a:ext cx="2286000" cy="91440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라우팅 테이블은?</a:t>
            </a:r>
            <a:endParaRPr lang="en-US" sz="1500" dirty="0"/>
          </a:p>
        </p:txBody>
      </p:sp>
      <p:sp>
        <p:nvSpPr>
          <p:cNvPr id="26" name="Shape 23"/>
          <p:cNvSpPr/>
          <p:nvPr/>
        </p:nvSpPr>
        <p:spPr>
          <a:xfrm>
            <a:off x="8997696" y="3566160"/>
            <a:ext cx="2651760" cy="1965960"/>
          </a:xfrm>
          <a:prstGeom prst="roundRect">
            <a:avLst>
              <a:gd name="adj" fmla="val 3721"/>
            </a:avLst>
          </a:prstGeom>
          <a:solidFill>
            <a:srgbClr val="FFFFFF"/>
          </a:solidFill>
          <a:ln w="12700">
            <a:solidFill>
              <a:srgbClr val="9AA5AD"/>
            </a:solidFill>
            <a:prstDash val="solid"/>
          </a:ln>
        </p:spPr>
      </p:sp>
      <p:sp>
        <p:nvSpPr>
          <p:cNvPr id="27" name="Text 24"/>
          <p:cNvSpPr txBox="1"/>
          <p:nvPr/>
        </p:nvSpPr>
        <p:spPr>
          <a:xfrm>
            <a:off x="9180576" y="3749040"/>
            <a:ext cx="2286000" cy="548640"/>
          </a:xfrm>
          <a:prstGeom prst="rect">
            <a:avLst/>
          </a:prstGeom>
          <a:noFill/>
          <a:ln/>
        </p:spPr>
        <p:txBody>
          <a:bodyPr wrap="square" lIns="0" tIns="0" rIns="0" bIns="0" rtlCol="0" anchor="t"/>
          <a:lstStyle/>
          <a:p>
            <a:pPr indent="0" marL="0">
              <a:buNone/>
            </a:pPr>
            <a:r>
              <a:rPr lang="en-US" sz="2200" b="1" dirty="0">
                <a:solidFill>
                  <a:srgbClr val="0E6E7A"/>
                </a:solidFill>
                <a:latin typeface="Consolas" pitchFamily="34" charset="0"/>
                <a:ea typeface="Consolas" pitchFamily="34" charset="-122"/>
                <a:cs typeface="Consolas" pitchFamily="34" charset="-120"/>
              </a:rPr>
              <a:t>nbtstat</a:t>
            </a:r>
            <a:endParaRPr lang="en-US" sz="2200" dirty="0"/>
          </a:p>
        </p:txBody>
      </p:sp>
      <p:sp>
        <p:nvSpPr>
          <p:cNvPr id="28" name="Text 25"/>
          <p:cNvSpPr txBox="1"/>
          <p:nvPr/>
        </p:nvSpPr>
        <p:spPr>
          <a:xfrm>
            <a:off x="9180576" y="4434840"/>
            <a:ext cx="2286000" cy="914400"/>
          </a:xfrm>
          <a:prstGeom prst="rect">
            <a:avLst/>
          </a:prstGeom>
          <a:noFill/>
          <a:ln/>
        </p:spPr>
        <p:txBody>
          <a:bodyPr wrap="square" lIns="0" tIns="0" rIns="0" bIns="0" rtlCol="0" anchor="t"/>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컴퓨터 이름(NetBIOS) ↔ IP 는?</a:t>
            </a:r>
            <a:endParaRPr lang="en-US" sz="1500" dirty="0"/>
          </a:p>
        </p:txBody>
      </p:sp>
      <p:sp>
        <p:nvSpPr>
          <p:cNvPr id="29" name="Text 26"/>
          <p:cNvSpPr txBox="1"/>
          <p:nvPr/>
        </p:nvSpPr>
        <p:spPr>
          <a:xfrm>
            <a:off x="548640" y="5852160"/>
            <a:ext cx="7315200" cy="320040"/>
          </a:xfrm>
          <a:prstGeom prst="rect">
            <a:avLst/>
          </a:prstGeom>
          <a:noFill/>
          <a:ln/>
        </p:spPr>
        <p:txBody>
          <a:bodyPr wrap="square" lIns="0" tIns="0" rIns="0" bIns="0" rtlCol="0" anchor="t"/>
          <a:lstStyle/>
          <a:p>
            <a:pPr indent="0" marL="0">
              <a:buNone/>
            </a:pPr>
            <a:r>
              <a:rPr lang="en-US" sz="1200" dirty="0">
                <a:solidFill>
                  <a:srgbClr val="66737C"/>
                </a:solidFill>
                <a:latin typeface="맑은 고딕" pitchFamily="34" charset="0"/>
                <a:ea typeface="맑은 고딕" pitchFamily="34" charset="-122"/>
                <a:cs typeface="맑은 고딕" pitchFamily="34" charset="-120"/>
              </a:rPr>
              <a:t>윗줄 4개 = 가장 자주 쓰는 기본 점검 명령</a:t>
            </a:r>
            <a:endParaRPr lang="en-US" sz="12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ipconfig — 내 PC 의 연결 정보</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7 · 점검 명령어</a:t>
            </a:r>
            <a:endParaRPr lang="en-US" sz="11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3017520"/>
                <a:gridCol w="4297680"/>
              </a:tblGrid>
              <a:tr h="457200">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옵션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기능</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457200">
                <a:tc>
                  <a:txBody>
                    <a:bodyPr/>
                    <a:lstStyle/>
                    <a:p>
                      <a:pPr indent="0" marL="0">
                        <a:buNone/>
                      </a:pPr>
                      <a:r>
                        <a:rPr lang="en-US" sz="1400" b="1" dirty="0">
                          <a:solidFill>
                            <a:srgbClr val="1E2A30"/>
                          </a:solidFill>
                          <a:latin typeface="Consolas" pitchFamily="34" charset="0"/>
                          <a:ea typeface="Consolas" pitchFamily="34" charset="-122"/>
                          <a:cs typeface="Consolas" pitchFamily="34" charset="-120"/>
                        </a:rPr>
                        <a:t>/all</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전체 구성 정보 (MAC · DHCP · DNS 포함)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r h="457200">
                <a:tc>
                  <a:txBody>
                    <a:bodyPr/>
                    <a:lstStyle/>
                    <a:p>
                      <a:pPr indent="0" marL="0">
                        <a:buNone/>
                      </a:pPr>
                      <a:r>
                        <a:rPr lang="en-US" sz="1400" dirty="0">
                          <a:solidFill>
                            <a:srgbClr val="1E2A30"/>
                          </a:solidFill>
                          <a:latin typeface="Consolas" pitchFamily="34" charset="0"/>
                          <a:ea typeface="Consolas" pitchFamily="34" charset="-122"/>
                          <a:cs typeface="Consolas" pitchFamily="34" charset="-120"/>
                        </a:rPr>
                        <a:t>/release  ·  /release6</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IPv4 · IPv6 주소 반납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57200">
                <a:tc>
                  <a:txBody>
                    <a:bodyPr/>
                    <a:lstStyle/>
                    <a:p>
                      <a:pPr indent="0" marL="0">
                        <a:buNone/>
                      </a:pPr>
                      <a:r>
                        <a:rPr lang="en-US" sz="1400" dirty="0">
                          <a:solidFill>
                            <a:srgbClr val="1E2A30"/>
                          </a:solidFill>
                          <a:latin typeface="Consolas" pitchFamily="34" charset="0"/>
                          <a:ea typeface="Consolas" pitchFamily="34" charset="-122"/>
                          <a:cs typeface="Consolas" pitchFamily="34" charset="-120"/>
                        </a:rPr>
                        <a:t>/renew  ·  /renew6</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IPv4 · IPv6 주소 갱신 (DHCP 에서 다시 받기)</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E2A30"/>
                          </a:solidFill>
                          <a:latin typeface="Consolas" pitchFamily="34" charset="0"/>
                          <a:ea typeface="Consolas" pitchFamily="34" charset="-122"/>
                          <a:cs typeface="Consolas" pitchFamily="34" charset="-120"/>
                        </a:rPr>
                        <a:t>/displaydns</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DNS 확인 캐시 내용 표시</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57200">
                <a:tc>
                  <a:txBody>
                    <a:bodyPr/>
                    <a:lstStyle/>
                    <a:p>
                      <a:pPr indent="0" marL="0">
                        <a:buNone/>
                      </a:pPr>
                      <a:r>
                        <a:rPr lang="en-US" sz="1400" b="1" dirty="0">
                          <a:solidFill>
                            <a:srgbClr val="1E2A30"/>
                          </a:solidFill>
                          <a:latin typeface="Consolas" pitchFamily="34" charset="0"/>
                          <a:ea typeface="Consolas" pitchFamily="34" charset="-122"/>
                          <a:cs typeface="Consolas" pitchFamily="34" charset="-120"/>
                        </a:rPr>
                        <a:t>/flushdns</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DNS 확인 캐시 삭제</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E6F1F2"/>
                    </a:solidFill>
                  </a:tcPr>
                </a:tc>
              </a:tr>
              <a:tr h="457200">
                <a:tc>
                  <a:txBody>
                    <a:bodyPr/>
                    <a:lstStyle/>
                    <a:p>
                      <a:pPr indent="0" marL="0">
                        <a:buNone/>
                      </a:pPr>
                      <a:r>
                        <a:rPr lang="en-US" sz="1400" dirty="0">
                          <a:solidFill>
                            <a:srgbClr val="1E2A30"/>
                          </a:solidFill>
                          <a:latin typeface="Consolas" pitchFamily="34" charset="0"/>
                          <a:ea typeface="Consolas" pitchFamily="34" charset="-122"/>
                          <a:cs typeface="Consolas" pitchFamily="34" charset="-120"/>
                        </a:rPr>
                        <a:t>/registerdns</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DHCP 임대 새로 고침 · DNS 이름 재등록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457200">
                <a:tc>
                  <a:txBody>
                    <a:bodyPr/>
                    <a:lstStyle/>
                    <a:p>
                      <a:pPr indent="0" marL="0">
                        <a:buNone/>
                      </a:pPr>
                      <a:r>
                        <a:rPr lang="en-US" sz="1400" dirty="0">
                          <a:solidFill>
                            <a:srgbClr val="1E2A30"/>
                          </a:solidFill>
                          <a:latin typeface="Consolas" pitchFamily="34" charset="0"/>
                          <a:ea typeface="Consolas" pitchFamily="34" charset="-122"/>
                          <a:cs typeface="Consolas" pitchFamily="34" charset="-120"/>
                        </a:rPr>
                        <a:t>/showclassid  ·  /setclassid</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DHCP 클래스 ID 표시 · 수정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bl>
          </a:graphicData>
        </a:graphic>
      </p:graphicFrame>
      <p:sp>
        <p:nvSpPr>
          <p:cNvPr id="6" name="Shape 2"/>
          <p:cNvSpPr/>
          <p:nvPr/>
        </p:nvSpPr>
        <p:spPr>
          <a:xfrm>
            <a:off x="8229600" y="1325880"/>
            <a:ext cx="3410712" cy="3657600"/>
          </a:xfrm>
          <a:prstGeom prst="roundRect">
            <a:avLst>
              <a:gd name="adj" fmla="val 2145"/>
            </a:avLst>
          </a:prstGeom>
          <a:solidFill>
            <a:srgbClr val="F4F6F7"/>
          </a:solidFill>
          <a:ln w="12700">
            <a:solidFill>
              <a:srgbClr val="9AA5AD"/>
            </a:solidFill>
            <a:prstDash val="solid"/>
          </a:ln>
        </p:spPr>
      </p:sp>
      <p:sp>
        <p:nvSpPr>
          <p:cNvPr id="7" name="Text 3"/>
          <p:cNvSpPr txBox="1"/>
          <p:nvPr/>
        </p:nvSpPr>
        <p:spPr>
          <a:xfrm>
            <a:off x="8412480" y="1463040"/>
            <a:ext cx="3044952" cy="384048"/>
          </a:xfrm>
          <a:prstGeom prst="rect">
            <a:avLst/>
          </a:prstGeom>
          <a:noFill/>
          <a:ln/>
        </p:spPr>
        <p:txBody>
          <a:bodyPr wrap="square" lIns="0" tIns="0" rIns="0" bIns="0" rtlCol="0" anchor="ctr"/>
          <a:lstStyle/>
          <a:p>
            <a:pPr indent="0" marL="0">
              <a:buNone/>
            </a:pPr>
            <a:r>
              <a:rPr lang="en-US" sz="1600" b="1" dirty="0">
                <a:solidFill>
                  <a:srgbClr val="1E2A30"/>
                </a:solidFill>
                <a:latin typeface="맑은 고딕" pitchFamily="34" charset="0"/>
                <a:ea typeface="맑은 고딕" pitchFamily="34" charset="-122"/>
                <a:cs typeface="맑은 고딕" pitchFamily="34" charset="-120"/>
              </a:rPr>
              <a:t>이렇게 읽는다</a:t>
            </a:r>
            <a:endParaRPr lang="en-US" sz="1600" dirty="0"/>
          </a:p>
        </p:txBody>
      </p:sp>
      <p:sp>
        <p:nvSpPr>
          <p:cNvPr id="8" name="Text 4"/>
          <p:cNvSpPr txBox="1"/>
          <p:nvPr/>
        </p:nvSpPr>
        <p:spPr>
          <a:xfrm>
            <a:off x="8412480" y="1920240"/>
            <a:ext cx="3044952" cy="2953512"/>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IPv4 주소 → 내 IP</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서브넷 마스크 → 네트워크 크기</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기본 게이트웨이 → 밖으로 나가는 문</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물리적 주소 → MAC (/all)</a:t>
            </a:r>
            <a:endParaRPr lang="en-US" sz="1400" dirty="0"/>
          </a:p>
          <a:p>
            <a:pPr marL="177800" indent="-177800">
              <a:spcAft>
                <a:spcPts val="400"/>
              </a:spcAft>
              <a:buSzPct val="100000"/>
              <a:buChar char="•"/>
            </a:pPr>
            <a:r>
              <a:rPr lang="en-US" sz="1400" b="1" dirty="0">
                <a:solidFill>
                  <a:srgbClr val="1E2A30"/>
                </a:solidFill>
                <a:latin typeface="맑은 고딕" pitchFamily="34" charset="0"/>
                <a:ea typeface="맑은 고딕" pitchFamily="34" charset="-122"/>
                <a:cs typeface="맑은 고딕" pitchFamily="34" charset="-120"/>
              </a:rPr>
              <a:t>169.254.x.x → DHCP 실패</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ping · tracert — 연결과 경로 확인</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7 · 점검 명령어</a:t>
            </a:r>
            <a:endParaRPr lang="en-US" sz="1100" dirty="0"/>
          </a:p>
        </p:txBody>
      </p:sp>
      <p:sp>
        <p:nvSpPr>
          <p:cNvPr id="5" name="Shape 2"/>
          <p:cNvSpPr/>
          <p:nvPr/>
        </p:nvSpPr>
        <p:spPr>
          <a:xfrm>
            <a:off x="548640" y="1325880"/>
            <a:ext cx="5394960" cy="4434840"/>
          </a:xfrm>
          <a:prstGeom prst="roundRect">
            <a:avLst>
              <a:gd name="adj" fmla="val 1649"/>
            </a:avLst>
          </a:prstGeom>
          <a:solidFill>
            <a:srgbClr val="E6F1F2"/>
          </a:solidFill>
          <a:ln w="12700">
            <a:solidFill>
              <a:srgbClr val="0E6E7A"/>
            </a:solidFill>
            <a:prstDash val="solid"/>
          </a:ln>
        </p:spPr>
      </p:sp>
      <p:sp>
        <p:nvSpPr>
          <p:cNvPr id="6" name="Text 3"/>
          <p:cNvSpPr txBox="1"/>
          <p:nvPr/>
        </p:nvSpPr>
        <p:spPr>
          <a:xfrm>
            <a:off x="731520" y="146304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ping — 연결 확인 (ICMP)</a:t>
            </a:r>
            <a:endParaRPr lang="en-US" sz="1800" dirty="0"/>
          </a:p>
        </p:txBody>
      </p:sp>
      <p:sp>
        <p:nvSpPr>
          <p:cNvPr id="7" name="Text 4"/>
          <p:cNvSpPr txBox="1"/>
          <p:nvPr/>
        </p:nvSpPr>
        <p:spPr>
          <a:xfrm>
            <a:off x="731520" y="1920240"/>
            <a:ext cx="5029200" cy="3730752"/>
          </a:xfrm>
          <a:prstGeom prst="rect">
            <a:avLst/>
          </a:prstGeom>
          <a:noFill/>
          <a:ln/>
        </p:spPr>
        <p:txBody>
          <a:bodyPr wrap="square" lIns="0" tIns="0" rIns="0" bIns="0" rtlCol="0" anchor="t"/>
          <a:lstStyle/>
          <a:p>
            <a:pPr marL="177800" indent="-177800">
              <a:spcAft>
                <a:spcPts val="400"/>
              </a:spcAft>
              <a:buSzPct val="100000"/>
              <a:buChar char="•"/>
            </a:pPr>
            <a:r>
              <a:rPr lang="en-US" sz="1400" b="1" dirty="0">
                <a:solidFill>
                  <a:srgbClr val="1E2A30"/>
                </a:solidFill>
                <a:latin typeface="Consolas" pitchFamily="34" charset="0"/>
                <a:ea typeface="Consolas" pitchFamily="34" charset="-122"/>
                <a:cs typeface="Consolas" pitchFamily="34" charset="-120"/>
              </a:rPr>
              <a:t>ping 8.8.8.8</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-t : 중지(Ctrl+C)까지 계속</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-n count : 보낼 횟수</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-l size : 보낼 데이터 크기</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-S srcaddr : 출발지 주소 지정</a:t>
            </a:r>
            <a:endParaRPr lang="en-US" sz="1400" dirty="0"/>
          </a:p>
          <a:p>
            <a:pPr marL="177800" indent="-177800">
              <a:spcAft>
                <a:spcPts val="400"/>
              </a:spcAft>
              <a:buSzPct val="100000"/>
              <a:buChar char="•"/>
            </a:pPr>
            <a:r>
              <a:rPr lang="en-US" sz="1400" dirty="0">
                <a:solidFill>
                  <a:srgbClr val="1E2A30"/>
                </a:solidFill>
                <a:latin typeface="Consolas" pitchFamily="34" charset="0"/>
                <a:ea typeface="Consolas" pitchFamily="34" charset="-122"/>
                <a:cs typeface="Consolas" pitchFamily="34" charset="-120"/>
              </a:rPr>
              <a:t>ping localhost -t</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 내 PC 의 TCP/IP 동작 점검</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주의: 방화벽이 ICMP 차단 시 실패 가능</a:t>
            </a:r>
            <a:endParaRPr lang="en-US" sz="1400" dirty="0"/>
          </a:p>
        </p:txBody>
      </p:sp>
      <p:sp>
        <p:nvSpPr>
          <p:cNvPr id="8" name="Shape 5"/>
          <p:cNvSpPr/>
          <p:nvPr/>
        </p:nvSpPr>
        <p:spPr>
          <a:xfrm>
            <a:off x="6245352" y="1325880"/>
            <a:ext cx="5394960" cy="4434840"/>
          </a:xfrm>
          <a:prstGeom prst="roundRect">
            <a:avLst>
              <a:gd name="adj" fmla="val 1649"/>
            </a:avLst>
          </a:prstGeom>
          <a:solidFill>
            <a:srgbClr val="FFFFFF"/>
          </a:solidFill>
          <a:ln w="12700">
            <a:solidFill>
              <a:srgbClr val="9AA5AD"/>
            </a:solidFill>
            <a:prstDash val="solid"/>
          </a:ln>
        </p:spPr>
      </p:sp>
      <p:sp>
        <p:nvSpPr>
          <p:cNvPr id="9" name="Text 6"/>
          <p:cNvSpPr txBox="1"/>
          <p:nvPr/>
        </p:nvSpPr>
        <p:spPr>
          <a:xfrm>
            <a:off x="6428232" y="1463040"/>
            <a:ext cx="5029200" cy="384048"/>
          </a:xfrm>
          <a:prstGeom prst="rect">
            <a:avLst/>
          </a:prstGeom>
          <a:noFill/>
          <a:ln/>
        </p:spPr>
        <p:txBody>
          <a:bodyPr wrap="square" lIns="0" tIns="0" rIns="0" bIns="0" rtlCol="0" anchor="ctr"/>
          <a:lstStyle/>
          <a:p>
            <a:pPr indent="0" marL="0">
              <a:buNone/>
            </a:pPr>
            <a:r>
              <a:rPr lang="en-US" sz="1800" b="1" dirty="0">
                <a:solidFill>
                  <a:srgbClr val="1E2A30"/>
                </a:solidFill>
                <a:latin typeface="맑은 고딕" pitchFamily="34" charset="0"/>
                <a:ea typeface="맑은 고딕" pitchFamily="34" charset="-122"/>
                <a:cs typeface="맑은 고딕" pitchFamily="34" charset="-120"/>
              </a:rPr>
              <a:t>tracert — 경로 추적</a:t>
            </a:r>
            <a:endParaRPr lang="en-US" sz="1800" dirty="0"/>
          </a:p>
        </p:txBody>
      </p:sp>
      <p:sp>
        <p:nvSpPr>
          <p:cNvPr id="10" name="Text 7"/>
          <p:cNvSpPr txBox="1"/>
          <p:nvPr/>
        </p:nvSpPr>
        <p:spPr>
          <a:xfrm>
            <a:off x="6428232" y="1920240"/>
            <a:ext cx="5029200" cy="3730752"/>
          </a:xfrm>
          <a:prstGeom prst="rect">
            <a:avLst/>
          </a:prstGeom>
          <a:noFill/>
          <a:ln/>
        </p:spPr>
        <p:txBody>
          <a:bodyPr wrap="square" lIns="0" tIns="0" rIns="0" bIns="0" rtlCol="0" anchor="t"/>
          <a:lstStyle/>
          <a:p>
            <a:pPr marL="177800" indent="-177800">
              <a:spcAft>
                <a:spcPts val="400"/>
              </a:spcAft>
              <a:buSzPct val="100000"/>
              <a:buChar char="•"/>
            </a:pPr>
            <a:r>
              <a:rPr lang="en-US" sz="1400" b="1" dirty="0">
                <a:solidFill>
                  <a:srgbClr val="1E2A30"/>
                </a:solidFill>
                <a:latin typeface="Consolas" pitchFamily="34" charset="0"/>
                <a:ea typeface="Consolas" pitchFamily="34" charset="-122"/>
                <a:cs typeface="Consolas" pitchFamily="34" charset="-120"/>
              </a:rPr>
              <a:t>tracert www.google.com</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목적지까지 거치는 라우터(홉) 표시</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구간별 응답 시간 표시</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어느 구간에서 끊기는지 확인</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-d : 이름 변환 생략 (빠름)</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-h : 최대 홉 수</a:t>
            </a:r>
            <a:endParaRPr lang="en-US" sz="1400" dirty="0"/>
          </a:p>
          <a:p>
            <a:pPr marL="177800" indent="-177800">
              <a:spcAft>
                <a:spcPts val="400"/>
              </a:spcAft>
              <a:buSzPct val="100000"/>
              <a:buChar char="•"/>
            </a:pPr>
            <a:r>
              <a:rPr lang="en-US" sz="1400" dirty="0">
                <a:solidFill>
                  <a:srgbClr val="1E2A30"/>
                </a:solidFill>
                <a:latin typeface="맑은 고딕" pitchFamily="34" charset="0"/>
                <a:ea typeface="맑은 고딕" pitchFamily="34" charset="-122"/>
                <a:cs typeface="맑은 고딕" pitchFamily="34" charset="-120"/>
              </a:rPr>
              <a:t>Linux: traceroute</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arp · netstat · route · nbtstat · nslookup</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7 · 점검 명령어</a:t>
            </a:r>
            <a:endParaRPr lang="en-US" sz="11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737360"/>
                <a:gridCol w="4572000"/>
                <a:gridCol w="4782312"/>
              </a:tblGrid>
              <a:tr h="566928">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명령</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기능</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대표 사용 예 · 옵션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566928">
                <a:tc>
                  <a:txBody>
                    <a:bodyPr/>
                    <a:lstStyle/>
                    <a:p>
                      <a:pPr indent="0" marL="0">
                        <a:buNone/>
                      </a:pPr>
                      <a:r>
                        <a:rPr lang="en-US" sz="1400" b="1" dirty="0">
                          <a:solidFill>
                            <a:srgbClr val="1E2A30"/>
                          </a:solidFill>
                          <a:latin typeface="Consolas" pitchFamily="34" charset="0"/>
                          <a:ea typeface="Consolas" pitchFamily="34" charset="-122"/>
                          <a:cs typeface="Consolas" pitchFamily="34" charset="-120"/>
                        </a:rPr>
                        <a:t>arp</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IP ↔ MAC 변환표(ARP 캐시) 표시·수정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arp -a  (-s 추가, -d 삭제)</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0"/>
                          </a:solidFill>
                          <a:latin typeface="Consolas" pitchFamily="34" charset="0"/>
                          <a:ea typeface="Consolas" pitchFamily="34" charset="-122"/>
                          <a:cs typeface="Consolas" pitchFamily="34" charset="-120"/>
                        </a:rPr>
                        <a:t>netstat</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현재 TCP/IP 연결 · 대기 포트 · 통계</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netstat -an  (-r 라우팅, -s 통계, -e 이더넷)</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66928">
                <a:tc>
                  <a:txBody>
                    <a:bodyPr/>
                    <a:lstStyle/>
                    <a:p>
                      <a:pPr indent="0" marL="0">
                        <a:buNone/>
                      </a:pPr>
                      <a:r>
                        <a:rPr lang="en-US" sz="1400" b="1" dirty="0">
                          <a:solidFill>
                            <a:srgbClr val="1E2A30"/>
                          </a:solidFill>
                          <a:latin typeface="Consolas" pitchFamily="34" charset="0"/>
                          <a:ea typeface="Consolas" pitchFamily="34" charset="-122"/>
                          <a:cs typeface="Consolas" pitchFamily="34" charset="-120"/>
                        </a:rPr>
                        <a:t>route</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라우팅 테이블 조회 · 조작</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route print  (add · delete · change, -p 영구)</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0"/>
                          </a:solidFill>
                          <a:latin typeface="Consolas" pitchFamily="34" charset="0"/>
                          <a:ea typeface="Consolas" pitchFamily="34" charset="-122"/>
                          <a:cs typeface="Consolas" pitchFamily="34" charset="-120"/>
                        </a:rPr>
                        <a:t>nbtstat</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NetBIOS 이름 ↔ IP 조회, 통계</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nbtstat -r  (-a 이름, -A IP)</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66928">
                <a:tc>
                  <a:txBody>
                    <a:bodyPr/>
                    <a:lstStyle/>
                    <a:p>
                      <a:pPr indent="0" marL="0">
                        <a:buNone/>
                      </a:pPr>
                      <a:r>
                        <a:rPr lang="en-US" sz="1400" b="1" dirty="0">
                          <a:solidFill>
                            <a:srgbClr val="1E2A30"/>
                          </a:solidFill>
                          <a:latin typeface="Consolas" pitchFamily="34" charset="0"/>
                          <a:ea typeface="Consolas" pitchFamily="34" charset="-122"/>
                          <a:cs typeface="Consolas" pitchFamily="34" charset="-120"/>
                        </a:rPr>
                        <a:t>nslookup</a:t>
                      </a:r>
                      <a:endParaRPr lang="en-US" sz="1400" dirty="0">
                        <a:latin typeface="Consolas" charset="0"/>
                        <a:ea typeface="Consolas" charset="0"/>
                        <a:cs typeface="Consolas"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도메인의 IP 주소 조회 (DNS 질의)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nslookup www.naver.com</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4892040"/>
            <a:ext cx="5394960" cy="914400"/>
          </a:xfrm>
          <a:prstGeom prst="roundRect">
            <a:avLst>
              <a:gd name="adj" fmla="val 8000"/>
            </a:avLst>
          </a:prstGeom>
          <a:solidFill>
            <a:srgbClr val="E6F1F2"/>
          </a:solidFill>
          <a:ln w="12700">
            <a:solidFill>
              <a:srgbClr val="0E6E7A"/>
            </a:solidFill>
            <a:prstDash val="solid"/>
          </a:ln>
        </p:spPr>
      </p:sp>
      <p:sp>
        <p:nvSpPr>
          <p:cNvPr id="7" name="Text 3"/>
          <p:cNvSpPr txBox="1"/>
          <p:nvPr/>
        </p:nvSpPr>
        <p:spPr>
          <a:xfrm>
            <a:off x="731520" y="5029200"/>
            <a:ext cx="5029200" cy="667512"/>
          </a:xfrm>
          <a:prstGeom prst="rect">
            <a:avLst/>
          </a:prstGeom>
          <a:noFill/>
          <a:ln/>
        </p:spPr>
        <p:txBody>
          <a:bodyPr wrap="square" lIns="0" tIns="0" rIns="0" bIns="0" rtlCol="0" anchor="t"/>
          <a:lstStyle/>
          <a:p>
            <a:pPr indent="0" marL="0">
              <a:spcAft>
                <a:spcPts val="400"/>
              </a:spcAft>
              <a:buNone/>
            </a:pPr>
            <a:r>
              <a:rPr lang="en-US" sz="1400" b="1" dirty="0">
                <a:solidFill>
                  <a:srgbClr val="1E2A30"/>
                </a:solidFill>
                <a:latin typeface="맑은 고딕" pitchFamily="34" charset="0"/>
                <a:ea typeface="맑은 고딕" pitchFamily="34" charset="-122"/>
                <a:cs typeface="맑은 고딕" pitchFamily="34" charset="-120"/>
              </a:rPr>
              <a:t>보안 점검: netstat -an 으로 수상한 연결 · 열린 포트 확인</a:t>
            </a:r>
            <a:endParaRPr lang="en-US" sz="1400" dirty="0"/>
          </a:p>
        </p:txBody>
      </p:sp>
      <p:sp>
        <p:nvSpPr>
          <p:cNvPr id="8" name="Shape 4"/>
          <p:cNvSpPr/>
          <p:nvPr/>
        </p:nvSpPr>
        <p:spPr>
          <a:xfrm>
            <a:off x="6245352" y="4892040"/>
            <a:ext cx="5394960" cy="914400"/>
          </a:xfrm>
          <a:prstGeom prst="roundRect">
            <a:avLst>
              <a:gd name="adj" fmla="val 8000"/>
            </a:avLst>
          </a:prstGeom>
          <a:solidFill>
            <a:srgbClr val="E6F1F2"/>
          </a:solidFill>
          <a:ln w="12700">
            <a:solidFill>
              <a:srgbClr val="0E6E7A"/>
            </a:solidFill>
            <a:prstDash val="solid"/>
          </a:ln>
        </p:spPr>
      </p:sp>
      <p:sp>
        <p:nvSpPr>
          <p:cNvPr id="9" name="Text 5"/>
          <p:cNvSpPr txBox="1"/>
          <p:nvPr/>
        </p:nvSpPr>
        <p:spPr>
          <a:xfrm>
            <a:off x="6428232" y="5029200"/>
            <a:ext cx="5029200" cy="667512"/>
          </a:xfrm>
          <a:prstGeom prst="rect">
            <a:avLst/>
          </a:prstGeom>
          <a:noFill/>
          <a:ln/>
        </p:spPr>
        <p:txBody>
          <a:bodyPr wrap="square" lIns="0" tIns="0" rIns="0" bIns="0" rtlCol="0" anchor="t"/>
          <a:lstStyle/>
          <a:p>
            <a:pPr indent="0" marL="0">
              <a:spcAft>
                <a:spcPts val="400"/>
              </a:spcAft>
              <a:buNone/>
            </a:pPr>
            <a:r>
              <a:rPr lang="en-US" sz="1400" b="1" dirty="0">
                <a:solidFill>
                  <a:srgbClr val="1E2A30"/>
                </a:solidFill>
                <a:latin typeface="맑은 고딕" pitchFamily="34" charset="0"/>
                <a:ea typeface="맑은 고딕" pitchFamily="34" charset="-122"/>
                <a:cs typeface="맑은 고딕" pitchFamily="34" charset="-120"/>
              </a:rPr>
              <a:t>보안 점검: arp -a 로 게이트웨이 MAC 변조(ARP 스푸핑) 확인</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Windows ↔ Linux 명령어 대응표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7 · 점검 명령어</a:t>
            </a:r>
            <a:endParaRPr lang="en-US" sz="11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743200"/>
                <a:gridCol w="4174236"/>
                <a:gridCol w="4174236"/>
              </a:tblGrid>
              <a:tr h="512064">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확인할 것</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Windows</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Linux</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0E6E7A"/>
                    </a:solidFill>
                  </a:tcPr>
                </a:tc>
              </a:tr>
              <a:tr h="512064">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내 IP 설정</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ipconfig  /  ipconfig /all</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ip a   (예전: ifconfig)</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연결 확인</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ping (기본 4회)</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ping -c 4   (기본은 무한)</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12064">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경로 추적</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tracert</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traceroute  ·  tracepath</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라우팅 테이블</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route print</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ip route   (예전: route -n)</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12064">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연결 · 포트</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netstat -an</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ss -tulnp   (예전: netstat)</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ARP 캐시</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arp -a</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ip neigh</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4F6F7"/>
                    </a:solidFill>
                  </a:tcPr>
                </a:tc>
              </a:tr>
              <a:tr h="512064">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DNS 조회</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nslookup</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c>
                  <a:txBody>
                    <a:bodyP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nslookup  ·  dig</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9AA5AD"/>
                      </a:solidFill>
                      <a:prstDash val="solid"/>
                      <a:round/>
                      <a:headEnd type="none" w="med" len="med"/>
                      <a:tailEnd type="none" w="med" len="med"/>
                    </a:lnL>
                    <a:lnR w="9525" cap="flat" cmpd="sng" algn="ctr">
                      <a:solidFill>
                        <a:srgbClr val="9AA5AD"/>
                      </a:solidFill>
                      <a:prstDash val="solid"/>
                      <a:round/>
                      <a:headEnd type="none" w="med" len="med"/>
                      <a:tailEnd type="none" w="med" len="med"/>
                    </a:lnR>
                    <a:lnT w="9525" cap="flat" cmpd="sng" algn="ctr">
                      <a:solidFill>
                        <a:srgbClr val="9AA5AD"/>
                      </a:solidFill>
                      <a:prstDash val="solid"/>
                      <a:round/>
                      <a:headEnd type="none" w="med" len="med"/>
                      <a:tailEnd type="none" w="med" len="med"/>
                    </a:lnT>
                    <a:lnB w="9525" cap="flat" cmpd="sng" algn="ctr">
                      <a:solidFill>
                        <a:srgbClr val="9AA5A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장애 진단 순서 — 안쪽에서 바깥쪽으로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7 · 점검 명령어</a:t>
            </a:r>
            <a:endParaRPr lang="en-US" sz="1100" dirty="0"/>
          </a:p>
        </p:txBody>
      </p:sp>
      <p:sp>
        <p:nvSpPr>
          <p:cNvPr id="5" name="Shape 2"/>
          <p:cNvSpPr/>
          <p:nvPr/>
        </p:nvSpPr>
        <p:spPr>
          <a:xfrm>
            <a:off x="548640" y="1417320"/>
            <a:ext cx="1719072" cy="3291840"/>
          </a:xfrm>
          <a:prstGeom prst="roundRect">
            <a:avLst>
              <a:gd name="adj" fmla="val 4255"/>
            </a:avLst>
          </a:prstGeom>
          <a:solidFill>
            <a:srgbClr val="F4F6F7"/>
          </a:solidFill>
          <a:ln w="12700">
            <a:solidFill>
              <a:srgbClr val="9AA5AD"/>
            </a:solidFill>
            <a:prstDash val="solid"/>
          </a:ln>
        </p:spPr>
      </p:sp>
      <p:sp>
        <p:nvSpPr>
          <p:cNvPr id="6" name="Shape 3"/>
          <p:cNvSpPr/>
          <p:nvPr/>
        </p:nvSpPr>
        <p:spPr>
          <a:xfrm>
            <a:off x="685800" y="1554480"/>
            <a:ext cx="457200" cy="457200"/>
          </a:xfrm>
          <a:prstGeom prst="ellipse">
            <a:avLst/>
          </a:prstGeom>
          <a:solidFill>
            <a:srgbClr val="0E6E7A"/>
          </a:solidFill>
          <a:ln w="12700">
            <a:solidFill>
              <a:srgbClr val="0E6E7A"/>
            </a:solidFill>
            <a:prstDash val="solid"/>
          </a:ln>
        </p:spPr>
      </p:sp>
      <p:sp>
        <p:nvSpPr>
          <p:cNvPr id="7" name="Text 4"/>
          <p:cNvSpPr txBox="1"/>
          <p:nvPr/>
        </p:nvSpPr>
        <p:spPr>
          <a:xfrm>
            <a:off x="68580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1</a:t>
            </a:r>
            <a:endParaRPr lang="en-US" sz="1600" dirty="0"/>
          </a:p>
        </p:txBody>
      </p:sp>
      <p:sp>
        <p:nvSpPr>
          <p:cNvPr id="8" name="Text 5"/>
          <p:cNvSpPr txBox="1"/>
          <p:nvPr/>
        </p:nvSpPr>
        <p:spPr>
          <a:xfrm>
            <a:off x="658368" y="2148840"/>
            <a:ext cx="1499616" cy="731520"/>
          </a:xfrm>
          <a:prstGeom prst="rect">
            <a:avLst/>
          </a:prstGeom>
          <a:noFill/>
          <a:ln/>
        </p:spPr>
        <p:txBody>
          <a:bodyPr wrap="square" lIns="0" tIns="0" rIns="0" bIns="0" rtlCol="0" anchor="t"/>
          <a:lstStyle/>
          <a:p>
            <a:pPr indent="0" marL="0">
              <a:buNone/>
            </a:pPr>
            <a:r>
              <a:rPr lang="en-US" sz="1400" b="1" dirty="0">
                <a:solidFill>
                  <a:srgbClr val="0E6E7A"/>
                </a:solidFill>
                <a:latin typeface="Consolas" pitchFamily="34" charset="0"/>
                <a:ea typeface="Consolas" pitchFamily="34" charset="-122"/>
                <a:cs typeface="Consolas" pitchFamily="34" charset="-120"/>
              </a:rPr>
              <a:t>ipconfig</a:t>
            </a:r>
            <a:endParaRPr lang="en-US" sz="1400" dirty="0"/>
          </a:p>
        </p:txBody>
      </p:sp>
      <p:sp>
        <p:nvSpPr>
          <p:cNvPr id="9" name="Text 6"/>
          <p:cNvSpPr txBox="1"/>
          <p:nvPr/>
        </p:nvSpPr>
        <p:spPr>
          <a:xfrm>
            <a:off x="658368" y="2926080"/>
            <a:ext cx="1499616" cy="731520"/>
          </a:xfrm>
          <a:prstGeom prst="rect">
            <a:avLst/>
          </a:prstGeom>
          <a:noFill/>
          <a:ln/>
        </p:spPr>
        <p:txBody>
          <a:bodyPr wrap="square" lIns="0" tIns="0" rIns="0" bIns="0" rtlCol="0" anchor="t"/>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내 IP 정상?</a:t>
            </a:r>
            <a:endParaRPr lang="en-US" sz="1400" dirty="0"/>
          </a:p>
        </p:txBody>
      </p:sp>
      <p:sp>
        <p:nvSpPr>
          <p:cNvPr id="10" name="Text 7"/>
          <p:cNvSpPr txBox="1"/>
          <p:nvPr/>
        </p:nvSpPr>
        <p:spPr>
          <a:xfrm>
            <a:off x="658368" y="3703320"/>
            <a:ext cx="1499616" cy="8686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169.254 → DHCP 문제</a:t>
            </a:r>
            <a:endParaRPr lang="en-US" sz="1300" dirty="0"/>
          </a:p>
        </p:txBody>
      </p:sp>
      <p:sp>
        <p:nvSpPr>
          <p:cNvPr id="11" name="Shape 8"/>
          <p:cNvSpPr/>
          <p:nvPr/>
        </p:nvSpPr>
        <p:spPr>
          <a:xfrm>
            <a:off x="2414016" y="1417320"/>
            <a:ext cx="1719072" cy="3291840"/>
          </a:xfrm>
          <a:prstGeom prst="roundRect">
            <a:avLst>
              <a:gd name="adj" fmla="val 4255"/>
            </a:avLst>
          </a:prstGeom>
          <a:solidFill>
            <a:srgbClr val="FFFFFF"/>
          </a:solidFill>
          <a:ln w="12700">
            <a:solidFill>
              <a:srgbClr val="9AA5AD"/>
            </a:solidFill>
            <a:prstDash val="solid"/>
          </a:ln>
        </p:spPr>
      </p:sp>
      <p:sp>
        <p:nvSpPr>
          <p:cNvPr id="12" name="Shape 9"/>
          <p:cNvSpPr/>
          <p:nvPr/>
        </p:nvSpPr>
        <p:spPr>
          <a:xfrm>
            <a:off x="2551176" y="1554480"/>
            <a:ext cx="457200" cy="457200"/>
          </a:xfrm>
          <a:prstGeom prst="ellipse">
            <a:avLst/>
          </a:prstGeom>
          <a:solidFill>
            <a:srgbClr val="0E6E7A"/>
          </a:solidFill>
          <a:ln w="12700">
            <a:solidFill>
              <a:srgbClr val="0E6E7A"/>
            </a:solidFill>
            <a:prstDash val="solid"/>
          </a:ln>
        </p:spPr>
      </p:sp>
      <p:sp>
        <p:nvSpPr>
          <p:cNvPr id="13" name="Text 10"/>
          <p:cNvSpPr txBox="1"/>
          <p:nvPr/>
        </p:nvSpPr>
        <p:spPr>
          <a:xfrm>
            <a:off x="2551176"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2</a:t>
            </a:r>
            <a:endParaRPr lang="en-US" sz="1600" dirty="0"/>
          </a:p>
        </p:txBody>
      </p:sp>
      <p:sp>
        <p:nvSpPr>
          <p:cNvPr id="14" name="Text 11"/>
          <p:cNvSpPr txBox="1"/>
          <p:nvPr/>
        </p:nvSpPr>
        <p:spPr>
          <a:xfrm>
            <a:off x="2523744" y="2148840"/>
            <a:ext cx="1499616" cy="731520"/>
          </a:xfrm>
          <a:prstGeom prst="rect">
            <a:avLst/>
          </a:prstGeom>
          <a:noFill/>
          <a:ln/>
        </p:spPr>
        <p:txBody>
          <a:bodyPr wrap="square" lIns="0" tIns="0" rIns="0" bIns="0" rtlCol="0" anchor="t"/>
          <a:lstStyle/>
          <a:p>
            <a:pPr indent="0" marL="0">
              <a:buNone/>
            </a:pPr>
            <a:r>
              <a:rPr lang="en-US" sz="1400" b="1" dirty="0">
                <a:solidFill>
                  <a:srgbClr val="0E6E7A"/>
                </a:solidFill>
                <a:latin typeface="Consolas" pitchFamily="34" charset="0"/>
                <a:ea typeface="Consolas" pitchFamily="34" charset="-122"/>
                <a:cs typeface="Consolas" pitchFamily="34" charset="-120"/>
              </a:rPr>
              <a:t>ping 127.0.0.1</a:t>
            </a:r>
            <a:endParaRPr lang="en-US" sz="1400" dirty="0"/>
          </a:p>
        </p:txBody>
      </p:sp>
      <p:sp>
        <p:nvSpPr>
          <p:cNvPr id="15" name="Text 12"/>
          <p:cNvSpPr txBox="1"/>
          <p:nvPr/>
        </p:nvSpPr>
        <p:spPr>
          <a:xfrm>
            <a:off x="2523744" y="2926080"/>
            <a:ext cx="1499616" cy="731520"/>
          </a:xfrm>
          <a:prstGeom prst="rect">
            <a:avLst/>
          </a:prstGeom>
          <a:noFill/>
          <a:ln/>
        </p:spPr>
        <p:txBody>
          <a:bodyPr wrap="square" lIns="0" tIns="0" rIns="0" bIns="0" rtlCol="0" anchor="t"/>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내 TCP/IP 정상?</a:t>
            </a:r>
            <a:endParaRPr lang="en-US" sz="1400" dirty="0"/>
          </a:p>
        </p:txBody>
      </p:sp>
      <p:sp>
        <p:nvSpPr>
          <p:cNvPr id="16" name="Text 13"/>
          <p:cNvSpPr txBox="1"/>
          <p:nvPr/>
        </p:nvSpPr>
        <p:spPr>
          <a:xfrm>
            <a:off x="2523744" y="3703320"/>
            <a:ext cx="1499616" cy="8686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실패 → OS·NIC 문제</a:t>
            </a:r>
            <a:endParaRPr lang="en-US" sz="1300" dirty="0"/>
          </a:p>
        </p:txBody>
      </p:sp>
      <p:sp>
        <p:nvSpPr>
          <p:cNvPr id="17" name="Shape 14"/>
          <p:cNvSpPr/>
          <p:nvPr/>
        </p:nvSpPr>
        <p:spPr>
          <a:xfrm>
            <a:off x="4279392" y="1417320"/>
            <a:ext cx="1719072" cy="3291840"/>
          </a:xfrm>
          <a:prstGeom prst="roundRect">
            <a:avLst>
              <a:gd name="adj" fmla="val 4255"/>
            </a:avLst>
          </a:prstGeom>
          <a:solidFill>
            <a:srgbClr val="F4F6F7"/>
          </a:solidFill>
          <a:ln w="12700">
            <a:solidFill>
              <a:srgbClr val="9AA5AD"/>
            </a:solidFill>
            <a:prstDash val="solid"/>
          </a:ln>
        </p:spPr>
      </p:sp>
      <p:sp>
        <p:nvSpPr>
          <p:cNvPr id="18" name="Shape 15"/>
          <p:cNvSpPr/>
          <p:nvPr/>
        </p:nvSpPr>
        <p:spPr>
          <a:xfrm>
            <a:off x="4416552" y="1554480"/>
            <a:ext cx="457200" cy="457200"/>
          </a:xfrm>
          <a:prstGeom prst="ellipse">
            <a:avLst/>
          </a:prstGeom>
          <a:solidFill>
            <a:srgbClr val="0E6E7A"/>
          </a:solidFill>
          <a:ln w="12700">
            <a:solidFill>
              <a:srgbClr val="0E6E7A"/>
            </a:solidFill>
            <a:prstDash val="solid"/>
          </a:ln>
        </p:spPr>
      </p:sp>
      <p:sp>
        <p:nvSpPr>
          <p:cNvPr id="19" name="Text 16"/>
          <p:cNvSpPr txBox="1"/>
          <p:nvPr/>
        </p:nvSpPr>
        <p:spPr>
          <a:xfrm>
            <a:off x="4416552"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3</a:t>
            </a:r>
            <a:endParaRPr lang="en-US" sz="1600" dirty="0"/>
          </a:p>
        </p:txBody>
      </p:sp>
      <p:sp>
        <p:nvSpPr>
          <p:cNvPr id="20" name="Text 17"/>
          <p:cNvSpPr txBox="1"/>
          <p:nvPr/>
        </p:nvSpPr>
        <p:spPr>
          <a:xfrm>
            <a:off x="4389120" y="2148840"/>
            <a:ext cx="1499616" cy="731520"/>
          </a:xfrm>
          <a:prstGeom prst="rect">
            <a:avLst/>
          </a:prstGeom>
          <a:noFill/>
          <a:ln/>
        </p:spPr>
        <p:txBody>
          <a:bodyPr wrap="square" lIns="0" tIns="0" rIns="0" bIns="0" rtlCol="0" anchor="t"/>
          <a:lstStyle/>
          <a:p>
            <a:pPr indent="0" marL="0">
              <a:buNone/>
            </a:pPr>
            <a:r>
              <a:rPr lang="en-US" sz="1400" b="1" dirty="0">
                <a:solidFill>
                  <a:srgbClr val="0E6E7A"/>
                </a:solidFill>
                <a:latin typeface="Consolas" pitchFamily="34" charset="0"/>
                <a:ea typeface="Consolas" pitchFamily="34" charset="-122"/>
                <a:cs typeface="Consolas" pitchFamily="34" charset="-120"/>
              </a:rPr>
              <a:t>ping 게이트웨이</a:t>
            </a:r>
            <a:endParaRPr lang="en-US" sz="1400" dirty="0"/>
          </a:p>
        </p:txBody>
      </p:sp>
      <p:sp>
        <p:nvSpPr>
          <p:cNvPr id="21" name="Text 18"/>
          <p:cNvSpPr txBox="1"/>
          <p:nvPr/>
        </p:nvSpPr>
        <p:spPr>
          <a:xfrm>
            <a:off x="4389120" y="2926080"/>
            <a:ext cx="1499616" cy="731520"/>
          </a:xfrm>
          <a:prstGeom prst="rect">
            <a:avLst/>
          </a:prstGeom>
          <a:noFill/>
          <a:ln/>
        </p:spPr>
        <p:txBody>
          <a:bodyPr wrap="square" lIns="0" tIns="0" rIns="0" bIns="0" rtlCol="0" anchor="t"/>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공유기까지?</a:t>
            </a:r>
            <a:endParaRPr lang="en-US" sz="1400" dirty="0"/>
          </a:p>
        </p:txBody>
      </p:sp>
      <p:sp>
        <p:nvSpPr>
          <p:cNvPr id="22" name="Text 19"/>
          <p:cNvSpPr txBox="1"/>
          <p:nvPr/>
        </p:nvSpPr>
        <p:spPr>
          <a:xfrm>
            <a:off x="4389120" y="3703320"/>
            <a:ext cx="1499616" cy="8686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실패 → 케이블·IP 설정</a:t>
            </a:r>
            <a:endParaRPr lang="en-US" sz="1300" dirty="0"/>
          </a:p>
        </p:txBody>
      </p:sp>
      <p:sp>
        <p:nvSpPr>
          <p:cNvPr id="23" name="Shape 20"/>
          <p:cNvSpPr/>
          <p:nvPr/>
        </p:nvSpPr>
        <p:spPr>
          <a:xfrm>
            <a:off x="6144768" y="1417320"/>
            <a:ext cx="1719072" cy="3291840"/>
          </a:xfrm>
          <a:prstGeom prst="roundRect">
            <a:avLst>
              <a:gd name="adj" fmla="val 4255"/>
            </a:avLst>
          </a:prstGeom>
          <a:solidFill>
            <a:srgbClr val="FFFFFF"/>
          </a:solidFill>
          <a:ln w="12700">
            <a:solidFill>
              <a:srgbClr val="9AA5AD"/>
            </a:solidFill>
            <a:prstDash val="solid"/>
          </a:ln>
        </p:spPr>
      </p:sp>
      <p:sp>
        <p:nvSpPr>
          <p:cNvPr id="24" name="Shape 21"/>
          <p:cNvSpPr/>
          <p:nvPr/>
        </p:nvSpPr>
        <p:spPr>
          <a:xfrm>
            <a:off x="6281928" y="1554480"/>
            <a:ext cx="457200" cy="457200"/>
          </a:xfrm>
          <a:prstGeom prst="ellipse">
            <a:avLst/>
          </a:prstGeom>
          <a:solidFill>
            <a:srgbClr val="0E6E7A"/>
          </a:solidFill>
          <a:ln w="12700">
            <a:solidFill>
              <a:srgbClr val="0E6E7A"/>
            </a:solidFill>
            <a:prstDash val="solid"/>
          </a:ln>
        </p:spPr>
      </p:sp>
      <p:sp>
        <p:nvSpPr>
          <p:cNvPr id="25" name="Text 22"/>
          <p:cNvSpPr txBox="1"/>
          <p:nvPr/>
        </p:nvSpPr>
        <p:spPr>
          <a:xfrm>
            <a:off x="6281928"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4</a:t>
            </a:r>
            <a:endParaRPr lang="en-US" sz="1600" dirty="0"/>
          </a:p>
        </p:txBody>
      </p:sp>
      <p:sp>
        <p:nvSpPr>
          <p:cNvPr id="26" name="Text 23"/>
          <p:cNvSpPr txBox="1"/>
          <p:nvPr/>
        </p:nvSpPr>
        <p:spPr>
          <a:xfrm>
            <a:off x="6254496" y="2148840"/>
            <a:ext cx="1499616" cy="731520"/>
          </a:xfrm>
          <a:prstGeom prst="rect">
            <a:avLst/>
          </a:prstGeom>
          <a:noFill/>
          <a:ln/>
        </p:spPr>
        <p:txBody>
          <a:bodyPr wrap="square" lIns="0" tIns="0" rIns="0" bIns="0" rtlCol="0" anchor="t"/>
          <a:lstStyle/>
          <a:p>
            <a:pPr indent="0" marL="0">
              <a:buNone/>
            </a:pPr>
            <a:r>
              <a:rPr lang="en-US" sz="1400" b="1" dirty="0">
                <a:solidFill>
                  <a:srgbClr val="0E6E7A"/>
                </a:solidFill>
                <a:latin typeface="Consolas" pitchFamily="34" charset="0"/>
                <a:ea typeface="Consolas" pitchFamily="34" charset="-122"/>
                <a:cs typeface="Consolas" pitchFamily="34" charset="-120"/>
              </a:rPr>
              <a:t>ping 8.8.8.8</a:t>
            </a:r>
            <a:endParaRPr lang="en-US" sz="1400" dirty="0"/>
          </a:p>
        </p:txBody>
      </p:sp>
      <p:sp>
        <p:nvSpPr>
          <p:cNvPr id="27" name="Text 24"/>
          <p:cNvSpPr txBox="1"/>
          <p:nvPr/>
        </p:nvSpPr>
        <p:spPr>
          <a:xfrm>
            <a:off x="6254496" y="2926080"/>
            <a:ext cx="1499616" cy="731520"/>
          </a:xfrm>
          <a:prstGeom prst="rect">
            <a:avLst/>
          </a:prstGeom>
          <a:noFill/>
          <a:ln/>
        </p:spPr>
        <p:txBody>
          <a:bodyPr wrap="square" lIns="0" tIns="0" rIns="0" bIns="0" rtlCol="0" anchor="t"/>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인터넷(IP)까지?</a:t>
            </a:r>
            <a:endParaRPr lang="en-US" sz="1400" dirty="0"/>
          </a:p>
        </p:txBody>
      </p:sp>
      <p:sp>
        <p:nvSpPr>
          <p:cNvPr id="28" name="Text 25"/>
          <p:cNvSpPr txBox="1"/>
          <p:nvPr/>
        </p:nvSpPr>
        <p:spPr>
          <a:xfrm>
            <a:off x="6254496" y="3703320"/>
            <a:ext cx="1499616" cy="8686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실패 → 게이트웨이·ISP</a:t>
            </a:r>
            <a:endParaRPr lang="en-US" sz="1300" dirty="0"/>
          </a:p>
        </p:txBody>
      </p:sp>
      <p:sp>
        <p:nvSpPr>
          <p:cNvPr id="29" name="Shape 26"/>
          <p:cNvSpPr/>
          <p:nvPr/>
        </p:nvSpPr>
        <p:spPr>
          <a:xfrm>
            <a:off x="8010144" y="1417320"/>
            <a:ext cx="1719072" cy="3291840"/>
          </a:xfrm>
          <a:prstGeom prst="roundRect">
            <a:avLst>
              <a:gd name="adj" fmla="val 4255"/>
            </a:avLst>
          </a:prstGeom>
          <a:solidFill>
            <a:srgbClr val="F4F6F7"/>
          </a:solidFill>
          <a:ln w="12700">
            <a:solidFill>
              <a:srgbClr val="9AA5AD"/>
            </a:solidFill>
            <a:prstDash val="solid"/>
          </a:ln>
        </p:spPr>
      </p:sp>
      <p:sp>
        <p:nvSpPr>
          <p:cNvPr id="30" name="Shape 27"/>
          <p:cNvSpPr/>
          <p:nvPr/>
        </p:nvSpPr>
        <p:spPr>
          <a:xfrm>
            <a:off x="8147304" y="1554480"/>
            <a:ext cx="457200" cy="457200"/>
          </a:xfrm>
          <a:prstGeom prst="ellipse">
            <a:avLst/>
          </a:prstGeom>
          <a:solidFill>
            <a:srgbClr val="0E6E7A"/>
          </a:solidFill>
          <a:ln w="12700">
            <a:solidFill>
              <a:srgbClr val="0E6E7A"/>
            </a:solidFill>
            <a:prstDash val="solid"/>
          </a:ln>
        </p:spPr>
      </p:sp>
      <p:sp>
        <p:nvSpPr>
          <p:cNvPr id="31" name="Text 28"/>
          <p:cNvSpPr txBox="1"/>
          <p:nvPr/>
        </p:nvSpPr>
        <p:spPr>
          <a:xfrm>
            <a:off x="8147304"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5</a:t>
            </a:r>
            <a:endParaRPr lang="en-US" sz="1600" dirty="0"/>
          </a:p>
        </p:txBody>
      </p:sp>
      <p:sp>
        <p:nvSpPr>
          <p:cNvPr id="32" name="Text 29"/>
          <p:cNvSpPr txBox="1"/>
          <p:nvPr/>
        </p:nvSpPr>
        <p:spPr>
          <a:xfrm>
            <a:off x="8119872" y="2148840"/>
            <a:ext cx="1499616" cy="731520"/>
          </a:xfrm>
          <a:prstGeom prst="rect">
            <a:avLst/>
          </a:prstGeom>
          <a:noFill/>
          <a:ln/>
        </p:spPr>
        <p:txBody>
          <a:bodyPr wrap="square" lIns="0" tIns="0" rIns="0" bIns="0" rtlCol="0" anchor="t"/>
          <a:lstStyle/>
          <a:p>
            <a:pPr indent="0" marL="0">
              <a:buNone/>
            </a:pPr>
            <a:r>
              <a:rPr lang="en-US" sz="1400" b="1" dirty="0">
                <a:solidFill>
                  <a:srgbClr val="0E6E7A"/>
                </a:solidFill>
                <a:latin typeface="Consolas" pitchFamily="34" charset="0"/>
                <a:ea typeface="Consolas" pitchFamily="34" charset="-122"/>
                <a:cs typeface="Consolas" pitchFamily="34" charset="-120"/>
              </a:rPr>
              <a:t>nslookup</a:t>
            </a:r>
            <a:endParaRPr lang="en-US" sz="1400" dirty="0"/>
          </a:p>
        </p:txBody>
      </p:sp>
      <p:sp>
        <p:nvSpPr>
          <p:cNvPr id="33" name="Text 30"/>
          <p:cNvSpPr txBox="1"/>
          <p:nvPr/>
        </p:nvSpPr>
        <p:spPr>
          <a:xfrm>
            <a:off x="8119872" y="2926080"/>
            <a:ext cx="1499616" cy="731520"/>
          </a:xfrm>
          <a:prstGeom prst="rect">
            <a:avLst/>
          </a:prstGeom>
          <a:noFill/>
          <a:ln/>
        </p:spPr>
        <p:txBody>
          <a:bodyPr wrap="square" lIns="0" tIns="0" rIns="0" bIns="0" rtlCol="0" anchor="t"/>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이름(DNS) 해석?</a:t>
            </a:r>
            <a:endParaRPr lang="en-US" sz="1400" dirty="0"/>
          </a:p>
        </p:txBody>
      </p:sp>
      <p:sp>
        <p:nvSpPr>
          <p:cNvPr id="34" name="Text 31"/>
          <p:cNvSpPr txBox="1"/>
          <p:nvPr/>
        </p:nvSpPr>
        <p:spPr>
          <a:xfrm>
            <a:off x="8119872" y="3703320"/>
            <a:ext cx="1499616" cy="8686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실패 → DNS 설정</a:t>
            </a:r>
            <a:endParaRPr lang="en-US" sz="1300" dirty="0"/>
          </a:p>
        </p:txBody>
      </p:sp>
      <p:sp>
        <p:nvSpPr>
          <p:cNvPr id="35" name="Shape 32"/>
          <p:cNvSpPr/>
          <p:nvPr/>
        </p:nvSpPr>
        <p:spPr>
          <a:xfrm>
            <a:off x="9875520" y="1417320"/>
            <a:ext cx="1719072" cy="3291840"/>
          </a:xfrm>
          <a:prstGeom prst="roundRect">
            <a:avLst>
              <a:gd name="adj" fmla="val 4255"/>
            </a:avLst>
          </a:prstGeom>
          <a:solidFill>
            <a:srgbClr val="FFFFFF"/>
          </a:solidFill>
          <a:ln w="12700">
            <a:solidFill>
              <a:srgbClr val="9AA5AD"/>
            </a:solidFill>
            <a:prstDash val="solid"/>
          </a:ln>
        </p:spPr>
      </p:sp>
      <p:sp>
        <p:nvSpPr>
          <p:cNvPr id="36" name="Shape 33"/>
          <p:cNvSpPr/>
          <p:nvPr/>
        </p:nvSpPr>
        <p:spPr>
          <a:xfrm>
            <a:off x="10012680" y="1554480"/>
            <a:ext cx="457200" cy="457200"/>
          </a:xfrm>
          <a:prstGeom prst="ellipse">
            <a:avLst/>
          </a:prstGeom>
          <a:solidFill>
            <a:srgbClr val="0E6E7A"/>
          </a:solidFill>
          <a:ln w="12700">
            <a:solidFill>
              <a:srgbClr val="0E6E7A"/>
            </a:solidFill>
            <a:prstDash val="solid"/>
          </a:ln>
        </p:spPr>
      </p:sp>
      <p:sp>
        <p:nvSpPr>
          <p:cNvPr id="37" name="Text 34"/>
          <p:cNvSpPr txBox="1"/>
          <p:nvPr/>
        </p:nvSpPr>
        <p:spPr>
          <a:xfrm>
            <a:off x="1001268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6</a:t>
            </a:r>
            <a:endParaRPr lang="en-US" sz="1600" dirty="0"/>
          </a:p>
        </p:txBody>
      </p:sp>
      <p:sp>
        <p:nvSpPr>
          <p:cNvPr id="38" name="Text 35"/>
          <p:cNvSpPr txBox="1"/>
          <p:nvPr/>
        </p:nvSpPr>
        <p:spPr>
          <a:xfrm>
            <a:off x="9985248" y="2148840"/>
            <a:ext cx="1499616" cy="731520"/>
          </a:xfrm>
          <a:prstGeom prst="rect">
            <a:avLst/>
          </a:prstGeom>
          <a:noFill/>
          <a:ln/>
        </p:spPr>
        <p:txBody>
          <a:bodyPr wrap="square" lIns="0" tIns="0" rIns="0" bIns="0" rtlCol="0" anchor="t"/>
          <a:lstStyle/>
          <a:p>
            <a:pPr indent="0" marL="0">
              <a:buNone/>
            </a:pPr>
            <a:r>
              <a:rPr lang="en-US" sz="1400" b="1" dirty="0">
                <a:solidFill>
                  <a:srgbClr val="0E6E7A"/>
                </a:solidFill>
                <a:latin typeface="Consolas" pitchFamily="34" charset="0"/>
                <a:ea typeface="Consolas" pitchFamily="34" charset="-122"/>
                <a:cs typeface="Consolas" pitchFamily="34" charset="-120"/>
              </a:rPr>
              <a:t>tracert</a:t>
            </a:r>
            <a:endParaRPr lang="en-US" sz="1400" dirty="0"/>
          </a:p>
        </p:txBody>
      </p:sp>
      <p:sp>
        <p:nvSpPr>
          <p:cNvPr id="39" name="Text 36"/>
          <p:cNvSpPr txBox="1"/>
          <p:nvPr/>
        </p:nvSpPr>
        <p:spPr>
          <a:xfrm>
            <a:off x="9985248" y="2926080"/>
            <a:ext cx="1499616" cy="731520"/>
          </a:xfrm>
          <a:prstGeom prst="rect">
            <a:avLst/>
          </a:prstGeom>
          <a:noFill/>
          <a:ln/>
        </p:spPr>
        <p:txBody>
          <a:bodyPr wrap="square" lIns="0" tIns="0" rIns="0" bIns="0" rtlCol="0" anchor="t"/>
          <a:lstStyle/>
          <a:p>
            <a:pPr indent="0" marL="0">
              <a:buNone/>
            </a:pPr>
            <a:r>
              <a:rPr lang="en-US" sz="1400" b="1" dirty="0">
                <a:solidFill>
                  <a:srgbClr val="1E2A30"/>
                </a:solidFill>
                <a:latin typeface="맑은 고딕" pitchFamily="34" charset="0"/>
                <a:ea typeface="맑은 고딕" pitchFamily="34" charset="-122"/>
                <a:cs typeface="맑은 고딕" pitchFamily="34" charset="-120"/>
              </a:rPr>
              <a:t>어디서 끊기나?</a:t>
            </a:r>
            <a:endParaRPr lang="en-US" sz="1400" dirty="0"/>
          </a:p>
        </p:txBody>
      </p:sp>
      <p:sp>
        <p:nvSpPr>
          <p:cNvPr id="40" name="Text 37"/>
          <p:cNvSpPr txBox="1"/>
          <p:nvPr/>
        </p:nvSpPr>
        <p:spPr>
          <a:xfrm>
            <a:off x="9985248" y="3703320"/>
            <a:ext cx="1499616" cy="868680"/>
          </a:xfrm>
          <a:prstGeom prst="rect">
            <a:avLst/>
          </a:prstGeom>
          <a:noFill/>
          <a:ln/>
        </p:spPr>
        <p:txBody>
          <a:bodyPr wrap="square" lIns="0" tIns="0" rIns="0" bIns="0" rtlCol="0" anchor="t"/>
          <a:lstStyle/>
          <a:p>
            <a:pPr indent="0" marL="0">
              <a:buNone/>
            </a:pPr>
            <a:r>
              <a:rPr lang="en-US" sz="1300" dirty="0">
                <a:solidFill>
                  <a:srgbClr val="66737C"/>
                </a:solidFill>
                <a:latin typeface="맑은 고딕" pitchFamily="34" charset="0"/>
                <a:ea typeface="맑은 고딕" pitchFamily="34" charset="-122"/>
                <a:cs typeface="맑은 고딕" pitchFamily="34" charset="-120"/>
              </a:rPr>
              <a:t>끊긴 홉 확인</a:t>
            </a:r>
            <a:endParaRPr lang="en-US" sz="1300" dirty="0"/>
          </a:p>
        </p:txBody>
      </p:sp>
      <p:sp>
        <p:nvSpPr>
          <p:cNvPr id="41" name="Shape 38"/>
          <p:cNvSpPr/>
          <p:nvPr/>
        </p:nvSpPr>
        <p:spPr>
          <a:xfrm>
            <a:off x="548640" y="4983480"/>
            <a:ext cx="11091672" cy="914"/>
          </a:xfrm>
          <a:prstGeom prst="line">
            <a:avLst/>
          </a:prstGeom>
          <a:noFill/>
          <a:ln w="25400">
            <a:solidFill>
              <a:srgbClr val="0E6E7A"/>
            </a:solidFill>
            <a:prstDash val="solid"/>
            <a:tailEnd type="triangle"/>
          </a:ln>
        </p:spPr>
      </p:sp>
      <p:sp>
        <p:nvSpPr>
          <p:cNvPr id="42" name="Text 39"/>
          <p:cNvSpPr txBox="1"/>
          <p:nvPr/>
        </p:nvSpPr>
        <p:spPr>
          <a:xfrm>
            <a:off x="548640" y="5074920"/>
            <a:ext cx="2743200" cy="320040"/>
          </a:xfrm>
          <a:prstGeom prst="rect">
            <a:avLst/>
          </a:prstGeom>
          <a:noFill/>
          <a:ln/>
        </p:spPr>
        <p:txBody>
          <a:bodyPr wrap="square" lIns="0" tIns="0" rIns="0" bIns="0" rtlCol="0" anchor="t"/>
          <a:lstStyle/>
          <a:p>
            <a:pPr indent="0" marL="0">
              <a:buNone/>
            </a:pPr>
            <a:r>
              <a:rPr lang="en-US" sz="1200" dirty="0">
                <a:solidFill>
                  <a:srgbClr val="66737C"/>
                </a:solidFill>
                <a:latin typeface="맑은 고딕" pitchFamily="34" charset="0"/>
                <a:ea typeface="맑은 고딕" pitchFamily="34" charset="-122"/>
                <a:cs typeface="맑은 고딕" pitchFamily="34" charset="-120"/>
              </a:rPr>
              <a:t>안쪽 (내 PC)</a:t>
            </a:r>
            <a:endParaRPr lang="en-US" sz="1200" dirty="0"/>
          </a:p>
        </p:txBody>
      </p:sp>
      <p:sp>
        <p:nvSpPr>
          <p:cNvPr id="43" name="Text 40"/>
          <p:cNvSpPr txBox="1"/>
          <p:nvPr/>
        </p:nvSpPr>
        <p:spPr>
          <a:xfrm>
            <a:off x="8869680" y="5074920"/>
            <a:ext cx="2743200" cy="320040"/>
          </a:xfrm>
          <a:prstGeom prst="rect">
            <a:avLst/>
          </a:prstGeom>
          <a:noFill/>
          <a:ln/>
        </p:spPr>
        <p:txBody>
          <a:bodyPr wrap="square" lIns="0" tIns="0" rIns="0" bIns="0" rtlCol="0" anchor="t"/>
          <a:lstStyle/>
          <a:p>
            <a:pPr algn="r" indent="0" marL="0">
              <a:buNone/>
            </a:pPr>
            <a:r>
              <a:rPr lang="en-US" sz="1200" dirty="0">
                <a:solidFill>
                  <a:srgbClr val="66737C"/>
                </a:solidFill>
                <a:latin typeface="맑은 고딕" pitchFamily="34" charset="0"/>
                <a:ea typeface="맑은 고딕" pitchFamily="34" charset="-122"/>
                <a:cs typeface="맑은 고딕" pitchFamily="34" charset="-120"/>
              </a:rPr>
              <a:t>바깥쪽 (인터넷)</a:t>
            </a:r>
            <a:endParaRPr lang="en-US" sz="1200" dirty="0"/>
          </a:p>
        </p:txBody>
      </p:sp>
      <p:sp>
        <p:nvSpPr>
          <p:cNvPr id="44" name="Shape 41"/>
          <p:cNvSpPr/>
          <p:nvPr/>
        </p:nvSpPr>
        <p:spPr>
          <a:xfrm>
            <a:off x="548640" y="5532120"/>
            <a:ext cx="11091672" cy="457200"/>
          </a:xfrm>
          <a:prstGeom prst="roundRect">
            <a:avLst>
              <a:gd name="adj" fmla="val 16000"/>
            </a:avLst>
          </a:prstGeom>
          <a:solidFill>
            <a:srgbClr val="E6F1F2"/>
          </a:solidFill>
          <a:ln w="12700">
            <a:solidFill>
              <a:srgbClr val="E6F1F2"/>
            </a:solidFill>
            <a:prstDash val="solid"/>
          </a:ln>
        </p:spPr>
      </p:sp>
      <p:sp>
        <p:nvSpPr>
          <p:cNvPr id="45" name="Text 42"/>
          <p:cNvSpPr txBox="1"/>
          <p:nvPr/>
        </p:nvSpPr>
        <p:spPr>
          <a:xfrm>
            <a:off x="777240" y="5532120"/>
            <a:ext cx="10698480" cy="457200"/>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핵심  </a:t>
            </a:r>
            <a:pPr indent="0" marL="0">
              <a:buNone/>
            </a:pPr>
            <a:r>
              <a:rPr lang="en-US" sz="1500" dirty="0">
                <a:solidFill>
                  <a:srgbClr val="1E2A30"/>
                </a:solidFill>
                <a:latin typeface="맑은 고딕" pitchFamily="34" charset="0"/>
                <a:ea typeface="맑은 고딕" pitchFamily="34" charset="-122"/>
                <a:cs typeface="맑은 고딕" pitchFamily="34" charset="-120"/>
              </a:rPr>
              <a:t>처음으로 실패한 단계 = 문제가 있는 곳</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PART 7 확인 문제</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PART 7 · 점검 명령어</a:t>
            </a:r>
            <a:endParaRPr lang="en-US" sz="1100" dirty="0"/>
          </a:p>
        </p:txBody>
      </p:sp>
      <p:sp>
        <p:nvSpPr>
          <p:cNvPr id="5" name="Shape 2"/>
          <p:cNvSpPr/>
          <p:nvPr/>
        </p:nvSpPr>
        <p:spPr>
          <a:xfrm>
            <a:off x="548640" y="1325880"/>
            <a:ext cx="11091672" cy="841248"/>
          </a:xfrm>
          <a:prstGeom prst="roundRect">
            <a:avLst>
              <a:gd name="adj" fmla="val 8696"/>
            </a:avLst>
          </a:prstGeom>
          <a:solidFill>
            <a:srgbClr val="F4F6F7"/>
          </a:solidFill>
          <a:ln w="12700">
            <a:solidFill>
              <a:srgbClr val="9AA5AD"/>
            </a:solidFill>
            <a:prstDash val="solid"/>
          </a:ln>
        </p:spPr>
      </p:sp>
      <p:sp>
        <p:nvSpPr>
          <p:cNvPr id="6" name="Shape 3"/>
          <p:cNvSpPr/>
          <p:nvPr/>
        </p:nvSpPr>
        <p:spPr>
          <a:xfrm>
            <a:off x="777240" y="1517904"/>
            <a:ext cx="457200" cy="457200"/>
          </a:xfrm>
          <a:prstGeom prst="ellipse">
            <a:avLst/>
          </a:prstGeom>
          <a:solidFill>
            <a:srgbClr val="0E6E7A"/>
          </a:solidFill>
          <a:ln w="12700">
            <a:solidFill>
              <a:srgbClr val="0E6E7A"/>
            </a:solidFill>
            <a:prstDash val="solid"/>
          </a:ln>
        </p:spPr>
      </p:sp>
      <p:sp>
        <p:nvSpPr>
          <p:cNvPr id="7" name="Text 4"/>
          <p:cNvSpPr txBox="1"/>
          <p:nvPr/>
        </p:nvSpPr>
        <p:spPr>
          <a:xfrm>
            <a:off x="777240" y="15179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Q1</a:t>
            </a:r>
            <a:endParaRPr lang="en-US" sz="1200" dirty="0"/>
          </a:p>
        </p:txBody>
      </p:sp>
      <p:sp>
        <p:nvSpPr>
          <p:cNvPr id="8" name="Text 5"/>
          <p:cNvSpPr txBox="1"/>
          <p:nvPr/>
        </p:nvSpPr>
        <p:spPr>
          <a:xfrm>
            <a:off x="1463040" y="1325880"/>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PC 의 MAC 주소, DHCP 사용 여부, DNS 서버까지 모두 확인하는 명령과 옵션은?</a:t>
            </a:r>
            <a:endParaRPr lang="en-US" sz="1600" dirty="0"/>
          </a:p>
        </p:txBody>
      </p:sp>
      <p:sp>
        <p:nvSpPr>
          <p:cNvPr id="9" name="Shape 6"/>
          <p:cNvSpPr/>
          <p:nvPr/>
        </p:nvSpPr>
        <p:spPr>
          <a:xfrm>
            <a:off x="548640" y="2350008"/>
            <a:ext cx="11091672" cy="841248"/>
          </a:xfrm>
          <a:prstGeom prst="roundRect">
            <a:avLst>
              <a:gd name="adj" fmla="val 8696"/>
            </a:avLst>
          </a:prstGeom>
          <a:solidFill>
            <a:srgbClr val="FFFFFF"/>
          </a:solidFill>
          <a:ln w="12700">
            <a:solidFill>
              <a:srgbClr val="9AA5AD"/>
            </a:solidFill>
            <a:prstDash val="solid"/>
          </a:ln>
        </p:spPr>
      </p:sp>
      <p:sp>
        <p:nvSpPr>
          <p:cNvPr id="10" name="Shape 7"/>
          <p:cNvSpPr/>
          <p:nvPr/>
        </p:nvSpPr>
        <p:spPr>
          <a:xfrm>
            <a:off x="777240" y="2542032"/>
            <a:ext cx="457200" cy="457200"/>
          </a:xfrm>
          <a:prstGeom prst="ellipse">
            <a:avLst/>
          </a:prstGeom>
          <a:solidFill>
            <a:srgbClr val="0E6E7A"/>
          </a:solidFill>
          <a:ln w="12700">
            <a:solidFill>
              <a:srgbClr val="0E6E7A"/>
            </a:solidFill>
            <a:prstDash val="solid"/>
          </a:ln>
        </p:spPr>
      </p:sp>
      <p:sp>
        <p:nvSpPr>
          <p:cNvPr id="11" name="Text 8"/>
          <p:cNvSpPr txBox="1"/>
          <p:nvPr/>
        </p:nvSpPr>
        <p:spPr>
          <a:xfrm>
            <a:off x="777240" y="254203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Q2</a:t>
            </a:r>
            <a:endParaRPr lang="en-US" sz="1200" dirty="0"/>
          </a:p>
        </p:txBody>
      </p:sp>
      <p:sp>
        <p:nvSpPr>
          <p:cNvPr id="12" name="Text 9"/>
          <p:cNvSpPr txBox="1"/>
          <p:nvPr/>
        </p:nvSpPr>
        <p:spPr>
          <a:xfrm>
            <a:off x="1463040" y="2350008"/>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DNS 캐시를 삭제하는 명령은? 도메인의 IP 를 조회하는 명령은?</a:t>
            </a:r>
            <a:endParaRPr lang="en-US" sz="1600" dirty="0"/>
          </a:p>
        </p:txBody>
      </p:sp>
      <p:sp>
        <p:nvSpPr>
          <p:cNvPr id="13" name="Shape 10"/>
          <p:cNvSpPr/>
          <p:nvPr/>
        </p:nvSpPr>
        <p:spPr>
          <a:xfrm>
            <a:off x="548640" y="3374136"/>
            <a:ext cx="11091672" cy="841248"/>
          </a:xfrm>
          <a:prstGeom prst="roundRect">
            <a:avLst>
              <a:gd name="adj" fmla="val 8696"/>
            </a:avLst>
          </a:prstGeom>
          <a:solidFill>
            <a:srgbClr val="F4F6F7"/>
          </a:solidFill>
          <a:ln w="12700">
            <a:solidFill>
              <a:srgbClr val="9AA5AD"/>
            </a:solidFill>
            <a:prstDash val="solid"/>
          </a:ln>
        </p:spPr>
      </p:sp>
      <p:sp>
        <p:nvSpPr>
          <p:cNvPr id="14" name="Shape 11"/>
          <p:cNvSpPr/>
          <p:nvPr/>
        </p:nvSpPr>
        <p:spPr>
          <a:xfrm>
            <a:off x="777240" y="3566160"/>
            <a:ext cx="457200" cy="457200"/>
          </a:xfrm>
          <a:prstGeom prst="ellipse">
            <a:avLst/>
          </a:prstGeom>
          <a:solidFill>
            <a:srgbClr val="0E6E7A"/>
          </a:solidFill>
          <a:ln w="12700">
            <a:solidFill>
              <a:srgbClr val="0E6E7A"/>
            </a:solidFill>
            <a:prstDash val="solid"/>
          </a:ln>
        </p:spPr>
      </p:sp>
      <p:sp>
        <p:nvSpPr>
          <p:cNvPr id="15" name="Text 12"/>
          <p:cNvSpPr txBox="1"/>
          <p:nvPr/>
        </p:nvSpPr>
        <p:spPr>
          <a:xfrm>
            <a:off x="777240" y="3566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Q3</a:t>
            </a:r>
            <a:endParaRPr lang="en-US" sz="1200" dirty="0"/>
          </a:p>
        </p:txBody>
      </p:sp>
      <p:sp>
        <p:nvSpPr>
          <p:cNvPr id="16" name="Text 13"/>
          <p:cNvSpPr txBox="1"/>
          <p:nvPr/>
        </p:nvSpPr>
        <p:spPr>
          <a:xfrm>
            <a:off x="1463040" y="3374136"/>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목적지까지 거쳐 가는 라우터와 구간별 응답 시간을 보여 주는 Windows 명령은? 리눅스에서는?</a:t>
            </a:r>
            <a:endParaRPr lang="en-US" sz="1600" dirty="0"/>
          </a:p>
        </p:txBody>
      </p:sp>
      <p:sp>
        <p:nvSpPr>
          <p:cNvPr id="17" name="Shape 14"/>
          <p:cNvSpPr/>
          <p:nvPr/>
        </p:nvSpPr>
        <p:spPr>
          <a:xfrm>
            <a:off x="548640" y="4398264"/>
            <a:ext cx="11091672" cy="841248"/>
          </a:xfrm>
          <a:prstGeom prst="roundRect">
            <a:avLst>
              <a:gd name="adj" fmla="val 8696"/>
            </a:avLst>
          </a:prstGeom>
          <a:solidFill>
            <a:srgbClr val="FFFFFF"/>
          </a:solidFill>
          <a:ln w="12700">
            <a:solidFill>
              <a:srgbClr val="9AA5AD"/>
            </a:solidFill>
            <a:prstDash val="solid"/>
          </a:ln>
        </p:spPr>
      </p:sp>
      <p:sp>
        <p:nvSpPr>
          <p:cNvPr id="18" name="Shape 15"/>
          <p:cNvSpPr/>
          <p:nvPr/>
        </p:nvSpPr>
        <p:spPr>
          <a:xfrm>
            <a:off x="777240" y="4590288"/>
            <a:ext cx="457200" cy="457200"/>
          </a:xfrm>
          <a:prstGeom prst="ellipse">
            <a:avLst/>
          </a:prstGeom>
          <a:solidFill>
            <a:srgbClr val="0E6E7A"/>
          </a:solidFill>
          <a:ln w="12700">
            <a:solidFill>
              <a:srgbClr val="0E6E7A"/>
            </a:solidFill>
            <a:prstDash val="solid"/>
          </a:ln>
        </p:spPr>
      </p:sp>
      <p:sp>
        <p:nvSpPr>
          <p:cNvPr id="19" name="Text 16"/>
          <p:cNvSpPr txBox="1"/>
          <p:nvPr/>
        </p:nvSpPr>
        <p:spPr>
          <a:xfrm>
            <a:off x="777240" y="459028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Q4</a:t>
            </a:r>
            <a:endParaRPr lang="en-US" sz="1200" dirty="0"/>
          </a:p>
        </p:txBody>
      </p:sp>
      <p:sp>
        <p:nvSpPr>
          <p:cNvPr id="20" name="Text 17"/>
          <p:cNvSpPr txBox="1"/>
          <p:nvPr/>
        </p:nvSpPr>
        <p:spPr>
          <a:xfrm>
            <a:off x="1463040" y="4398264"/>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현재 열린 연결과 대기 포트를 숫자 형식으로 모두 보여 주는 명령은?</a:t>
            </a:r>
            <a:endParaRPr lang="en-US" sz="1600" dirty="0"/>
          </a:p>
        </p:txBody>
      </p:sp>
      <p:sp>
        <p:nvSpPr>
          <p:cNvPr id="21" name="Shape 18"/>
          <p:cNvSpPr/>
          <p:nvPr/>
        </p:nvSpPr>
        <p:spPr>
          <a:xfrm>
            <a:off x="548640" y="5422392"/>
            <a:ext cx="11091672" cy="841248"/>
          </a:xfrm>
          <a:prstGeom prst="roundRect">
            <a:avLst>
              <a:gd name="adj" fmla="val 8696"/>
            </a:avLst>
          </a:prstGeom>
          <a:solidFill>
            <a:srgbClr val="F4F6F7"/>
          </a:solidFill>
          <a:ln w="12700">
            <a:solidFill>
              <a:srgbClr val="9AA5AD"/>
            </a:solidFill>
            <a:prstDash val="solid"/>
          </a:ln>
        </p:spPr>
      </p:sp>
      <p:sp>
        <p:nvSpPr>
          <p:cNvPr id="22" name="Shape 19"/>
          <p:cNvSpPr/>
          <p:nvPr/>
        </p:nvSpPr>
        <p:spPr>
          <a:xfrm>
            <a:off x="777240" y="5614416"/>
            <a:ext cx="457200" cy="457200"/>
          </a:xfrm>
          <a:prstGeom prst="ellipse">
            <a:avLst/>
          </a:prstGeom>
          <a:solidFill>
            <a:srgbClr val="0E6E7A"/>
          </a:solidFill>
          <a:ln w="12700">
            <a:solidFill>
              <a:srgbClr val="0E6E7A"/>
            </a:solidFill>
            <a:prstDash val="solid"/>
          </a:ln>
        </p:spPr>
      </p:sp>
      <p:sp>
        <p:nvSpPr>
          <p:cNvPr id="23" name="Text 20"/>
          <p:cNvSpPr txBox="1"/>
          <p:nvPr/>
        </p:nvSpPr>
        <p:spPr>
          <a:xfrm>
            <a:off x="777240" y="5614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Q5</a:t>
            </a:r>
            <a:endParaRPr lang="en-US" sz="1200" dirty="0"/>
          </a:p>
        </p:txBody>
      </p:sp>
      <p:sp>
        <p:nvSpPr>
          <p:cNvPr id="24" name="Text 21"/>
          <p:cNvSpPr txBox="1"/>
          <p:nvPr/>
        </p:nvSpPr>
        <p:spPr>
          <a:xfrm>
            <a:off x="1463040" y="5422392"/>
            <a:ext cx="9966960" cy="841248"/>
          </a:xfrm>
          <a:prstGeom prst="rect">
            <a:avLst/>
          </a:prstGeom>
          <a:noFill/>
          <a:ln/>
        </p:spPr>
        <p:txBody>
          <a:bodyPr wrap="square" lIns="0" tIns="0" rIns="0" bIns="0" rtlCol="0" anchor="ctr"/>
          <a:lstStyle/>
          <a:p>
            <a:pPr indent="0" marL="0">
              <a:buNone/>
            </a:pPr>
            <a:r>
              <a:rPr lang="en-US" sz="1600" dirty="0">
                <a:solidFill>
                  <a:srgbClr val="1E2A30"/>
                </a:solidFill>
                <a:latin typeface="맑은 고딕" pitchFamily="34" charset="0"/>
                <a:ea typeface="맑은 고딕" pitchFamily="34" charset="-122"/>
                <a:cs typeface="맑은 고딕" pitchFamily="34" charset="-120"/>
              </a:rPr>
              <a:t>ping 8.8.8.8 은 성공하는데 ping www.google.com 은 실패한다. 원인으로 가장 의심되는 것은?</a:t>
            </a:r>
            <a:endParaRPr lang="en-US" sz="1600" dirty="0"/>
          </a:p>
        </p:txBody>
      </p:sp>
      <p:sp>
        <p:nvSpPr>
          <p:cNvPr id="25" name="Text 22"/>
          <p:cNvSpPr txBox="1"/>
          <p:nvPr/>
        </p:nvSpPr>
        <p:spPr>
          <a:xfrm>
            <a:off x="5486400" y="6382512"/>
            <a:ext cx="5394960" cy="274320"/>
          </a:xfrm>
          <a:prstGeom prst="rect">
            <a:avLst/>
          </a:prstGeom>
          <a:noFill/>
          <a:ln/>
        </p:spPr>
        <p:txBody>
          <a:bodyPr wrap="square" lIns="0" tIns="0" rIns="0" bIns="0" rtlCol="0" anchor="t"/>
          <a:lstStyle/>
          <a:p>
            <a:pPr algn="r" indent="0" marL="0">
              <a:buNone/>
            </a:pPr>
            <a:r>
              <a:rPr lang="en-US" sz="1000" dirty="0">
                <a:solidFill>
                  <a:srgbClr val="66737C"/>
                </a:solidFill>
                <a:latin typeface="맑은 고딕" pitchFamily="34" charset="0"/>
                <a:ea typeface="맑은 고딕" pitchFamily="34" charset="-122"/>
                <a:cs typeface="맑은 고딕" pitchFamily="34" charset="-120"/>
              </a:rPr>
              <a:t>정답과 해설은 발표자 노트에 있습니다</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핵심 암기 노트 (1) — 숫자로 외우기</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정리</a:t>
            </a:r>
            <a:endParaRPr lang="en-US" sz="1100" dirty="0"/>
          </a:p>
        </p:txBody>
      </p:sp>
      <p:sp>
        <p:nvSpPr>
          <p:cNvPr id="5" name="Shape 2"/>
          <p:cNvSpPr/>
          <p:nvPr/>
        </p:nvSpPr>
        <p:spPr>
          <a:xfrm>
            <a:off x="548640" y="1325880"/>
            <a:ext cx="11091672" cy="438912"/>
          </a:xfrm>
          <a:prstGeom prst="roundRect">
            <a:avLst>
              <a:gd name="adj" fmla="val 16667"/>
            </a:avLst>
          </a:prstGeom>
          <a:solidFill>
            <a:srgbClr val="F4F6F7"/>
          </a:solidFill>
          <a:ln w="12700">
            <a:solidFill>
              <a:srgbClr val="F4F6F7"/>
            </a:solidFill>
            <a:prstDash val="solid"/>
          </a:ln>
        </p:spPr>
      </p:sp>
      <p:sp>
        <p:nvSpPr>
          <p:cNvPr id="6" name="Text 3"/>
          <p:cNvSpPr txBox="1"/>
          <p:nvPr/>
        </p:nvSpPr>
        <p:spPr>
          <a:xfrm>
            <a:off x="731520" y="1325880"/>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클래스 첫 옥텟</a:t>
            </a:r>
            <a:endParaRPr lang="en-US" sz="1500" dirty="0"/>
          </a:p>
        </p:txBody>
      </p:sp>
      <p:sp>
        <p:nvSpPr>
          <p:cNvPr id="7" name="Text 4"/>
          <p:cNvSpPr txBox="1"/>
          <p:nvPr/>
        </p:nvSpPr>
        <p:spPr>
          <a:xfrm>
            <a:off x="3566160" y="1325880"/>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A 0~127 · B 128~191 · C 192~223 · D 224~239 · E 240~255</a:t>
            </a:r>
            <a:endParaRPr lang="en-US" sz="1500" dirty="0"/>
          </a:p>
        </p:txBody>
      </p:sp>
      <p:sp>
        <p:nvSpPr>
          <p:cNvPr id="8" name="Shape 5"/>
          <p:cNvSpPr/>
          <p:nvPr/>
        </p:nvSpPr>
        <p:spPr>
          <a:xfrm>
            <a:off x="548640" y="1837944"/>
            <a:ext cx="11091672" cy="438912"/>
          </a:xfrm>
          <a:prstGeom prst="roundRect">
            <a:avLst>
              <a:gd name="adj" fmla="val 16667"/>
            </a:avLst>
          </a:prstGeom>
          <a:solidFill>
            <a:srgbClr val="FFFFFF"/>
          </a:solidFill>
          <a:ln w="12700">
            <a:solidFill>
              <a:srgbClr val="FFFFFF"/>
            </a:solidFill>
            <a:prstDash val="solid"/>
          </a:ln>
        </p:spPr>
      </p:sp>
      <p:sp>
        <p:nvSpPr>
          <p:cNvPr id="9" name="Text 6"/>
          <p:cNvSpPr txBox="1"/>
          <p:nvPr/>
        </p:nvSpPr>
        <p:spPr>
          <a:xfrm>
            <a:off x="731520" y="1837944"/>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사설 IP</a:t>
            </a:r>
            <a:endParaRPr lang="en-US" sz="1500" dirty="0"/>
          </a:p>
        </p:txBody>
      </p:sp>
      <p:sp>
        <p:nvSpPr>
          <p:cNvPr id="10" name="Text 7"/>
          <p:cNvSpPr txBox="1"/>
          <p:nvPr/>
        </p:nvSpPr>
        <p:spPr>
          <a:xfrm>
            <a:off x="3566160" y="1837944"/>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10.0.0.0/8 · 172.16.0.0/12 · 192.168.0.0/16</a:t>
            </a:r>
            <a:endParaRPr lang="en-US" sz="1500" dirty="0"/>
          </a:p>
        </p:txBody>
      </p:sp>
      <p:sp>
        <p:nvSpPr>
          <p:cNvPr id="11" name="Shape 8"/>
          <p:cNvSpPr/>
          <p:nvPr/>
        </p:nvSpPr>
        <p:spPr>
          <a:xfrm>
            <a:off x="548640" y="2350008"/>
            <a:ext cx="11091672" cy="438912"/>
          </a:xfrm>
          <a:prstGeom prst="roundRect">
            <a:avLst>
              <a:gd name="adj" fmla="val 16667"/>
            </a:avLst>
          </a:prstGeom>
          <a:solidFill>
            <a:srgbClr val="F4F6F7"/>
          </a:solidFill>
          <a:ln w="12700">
            <a:solidFill>
              <a:srgbClr val="F4F6F7"/>
            </a:solidFill>
            <a:prstDash val="solid"/>
          </a:ln>
        </p:spPr>
      </p:sp>
      <p:sp>
        <p:nvSpPr>
          <p:cNvPr id="12" name="Text 9"/>
          <p:cNvSpPr txBox="1"/>
          <p:nvPr/>
        </p:nvSpPr>
        <p:spPr>
          <a:xfrm>
            <a:off x="731520" y="2350008"/>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특수 주소</a:t>
            </a:r>
            <a:endParaRPr lang="en-US" sz="1500" dirty="0"/>
          </a:p>
        </p:txBody>
      </p:sp>
      <p:sp>
        <p:nvSpPr>
          <p:cNvPr id="13" name="Text 10"/>
          <p:cNvSpPr txBox="1"/>
          <p:nvPr/>
        </p:nvSpPr>
        <p:spPr>
          <a:xfrm>
            <a:off x="3566160" y="2350008"/>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169.254/16 링크 로컬 · 127.0.0.1 루프백</a:t>
            </a:r>
            <a:endParaRPr lang="en-US" sz="1500" dirty="0"/>
          </a:p>
        </p:txBody>
      </p:sp>
      <p:sp>
        <p:nvSpPr>
          <p:cNvPr id="14" name="Shape 11"/>
          <p:cNvSpPr/>
          <p:nvPr/>
        </p:nvSpPr>
        <p:spPr>
          <a:xfrm>
            <a:off x="548640" y="2862072"/>
            <a:ext cx="11091672" cy="438912"/>
          </a:xfrm>
          <a:prstGeom prst="roundRect">
            <a:avLst>
              <a:gd name="adj" fmla="val 16667"/>
            </a:avLst>
          </a:prstGeom>
          <a:solidFill>
            <a:srgbClr val="FFFFFF"/>
          </a:solidFill>
          <a:ln w="12700">
            <a:solidFill>
              <a:srgbClr val="FFFFFF"/>
            </a:solidFill>
            <a:prstDash val="solid"/>
          </a:ln>
        </p:spPr>
      </p:sp>
      <p:sp>
        <p:nvSpPr>
          <p:cNvPr id="15" name="Text 12"/>
          <p:cNvSpPr txBox="1"/>
          <p:nvPr/>
        </p:nvSpPr>
        <p:spPr>
          <a:xfrm>
            <a:off x="731520" y="2862072"/>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마스크 마지막 옥텟</a:t>
            </a:r>
            <a:endParaRPr lang="en-US" sz="1500" dirty="0"/>
          </a:p>
        </p:txBody>
      </p:sp>
      <p:sp>
        <p:nvSpPr>
          <p:cNvPr id="16" name="Text 13"/>
          <p:cNvSpPr txBox="1"/>
          <p:nvPr/>
        </p:nvSpPr>
        <p:spPr>
          <a:xfrm>
            <a:off x="3566160" y="2862072"/>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/25 128 · /26 192 · /27 224 · /28 240 · /29 248 · /30 252</a:t>
            </a:r>
            <a:endParaRPr lang="en-US" sz="1500" dirty="0"/>
          </a:p>
        </p:txBody>
      </p:sp>
      <p:sp>
        <p:nvSpPr>
          <p:cNvPr id="17" name="Shape 14"/>
          <p:cNvSpPr/>
          <p:nvPr/>
        </p:nvSpPr>
        <p:spPr>
          <a:xfrm>
            <a:off x="548640" y="3374136"/>
            <a:ext cx="11091672" cy="438912"/>
          </a:xfrm>
          <a:prstGeom prst="roundRect">
            <a:avLst>
              <a:gd name="adj" fmla="val 16667"/>
            </a:avLst>
          </a:prstGeom>
          <a:solidFill>
            <a:srgbClr val="F4F6F7"/>
          </a:solidFill>
          <a:ln w="12700">
            <a:solidFill>
              <a:srgbClr val="F4F6F7"/>
            </a:solidFill>
            <a:prstDash val="solid"/>
          </a:ln>
        </p:spPr>
      </p:sp>
      <p:sp>
        <p:nvSpPr>
          <p:cNvPr id="18" name="Text 15"/>
          <p:cNvSpPr txBox="1"/>
          <p:nvPr/>
        </p:nvSpPr>
        <p:spPr>
          <a:xfrm>
            <a:off x="731520" y="3374136"/>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호스트 수</a:t>
            </a:r>
            <a:endParaRPr lang="en-US" sz="1500" dirty="0"/>
          </a:p>
        </p:txBody>
      </p:sp>
      <p:sp>
        <p:nvSpPr>
          <p:cNvPr id="19" name="Text 16"/>
          <p:cNvSpPr txBox="1"/>
          <p:nvPr/>
        </p:nvSpPr>
        <p:spPr>
          <a:xfrm>
            <a:off x="3566160" y="3374136"/>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2^(호스트 비트) − 2  (네트워크 · 브로드캐스트 제외)</a:t>
            </a:r>
            <a:endParaRPr lang="en-US" sz="1500" dirty="0"/>
          </a:p>
        </p:txBody>
      </p:sp>
      <p:sp>
        <p:nvSpPr>
          <p:cNvPr id="20" name="Shape 17"/>
          <p:cNvSpPr/>
          <p:nvPr/>
        </p:nvSpPr>
        <p:spPr>
          <a:xfrm>
            <a:off x="548640" y="3886200"/>
            <a:ext cx="11091672" cy="438912"/>
          </a:xfrm>
          <a:prstGeom prst="roundRect">
            <a:avLst>
              <a:gd name="adj" fmla="val 16667"/>
            </a:avLst>
          </a:prstGeom>
          <a:solidFill>
            <a:srgbClr val="FFFFFF"/>
          </a:solidFill>
          <a:ln w="12700">
            <a:solidFill>
              <a:srgbClr val="FFFFFF"/>
            </a:solidFill>
            <a:prstDash val="solid"/>
          </a:ln>
        </p:spPr>
      </p:sp>
      <p:sp>
        <p:nvSpPr>
          <p:cNvPr id="21" name="Text 18"/>
          <p:cNvSpPr txBox="1"/>
          <p:nvPr/>
        </p:nvSpPr>
        <p:spPr>
          <a:xfrm>
            <a:off x="731520" y="3886200"/>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B 클래스</a:t>
            </a:r>
            <a:endParaRPr lang="en-US" sz="1500" dirty="0"/>
          </a:p>
        </p:txBody>
      </p:sp>
      <p:sp>
        <p:nvSpPr>
          <p:cNvPr id="22" name="Text 19"/>
          <p:cNvSpPr txBox="1"/>
          <p:nvPr/>
        </p:nvSpPr>
        <p:spPr>
          <a:xfrm>
            <a:off x="3566160" y="3886200"/>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네트워크 2^14 개 · 호스트 2^16 − 2 대</a:t>
            </a:r>
            <a:endParaRPr lang="en-US" sz="1500" dirty="0"/>
          </a:p>
        </p:txBody>
      </p:sp>
      <p:sp>
        <p:nvSpPr>
          <p:cNvPr id="23" name="Shape 20"/>
          <p:cNvSpPr/>
          <p:nvPr/>
        </p:nvSpPr>
        <p:spPr>
          <a:xfrm>
            <a:off x="548640" y="4398264"/>
            <a:ext cx="11091672" cy="438912"/>
          </a:xfrm>
          <a:prstGeom prst="roundRect">
            <a:avLst>
              <a:gd name="adj" fmla="val 16667"/>
            </a:avLst>
          </a:prstGeom>
          <a:solidFill>
            <a:srgbClr val="F4F6F7"/>
          </a:solidFill>
          <a:ln w="12700">
            <a:solidFill>
              <a:srgbClr val="F4F6F7"/>
            </a:solidFill>
            <a:prstDash val="solid"/>
          </a:ln>
        </p:spPr>
      </p:sp>
      <p:sp>
        <p:nvSpPr>
          <p:cNvPr id="24" name="Text 21"/>
          <p:cNvSpPr txBox="1"/>
          <p:nvPr/>
        </p:nvSpPr>
        <p:spPr>
          <a:xfrm>
            <a:off x="731520" y="4398264"/>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ASN</a:t>
            </a:r>
            <a:endParaRPr lang="en-US" sz="1500" dirty="0"/>
          </a:p>
        </p:txBody>
      </p:sp>
      <p:sp>
        <p:nvSpPr>
          <p:cNvPr id="25" name="Text 22"/>
          <p:cNvSpPr txBox="1"/>
          <p:nvPr/>
        </p:nvSpPr>
        <p:spPr>
          <a:xfrm>
            <a:off x="3566160" y="4398264"/>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2바이트(16비트) → 4바이트(32비트)</a:t>
            </a:r>
            <a:endParaRPr lang="en-US" sz="1500" dirty="0"/>
          </a:p>
        </p:txBody>
      </p:sp>
      <p:sp>
        <p:nvSpPr>
          <p:cNvPr id="26" name="Shape 23"/>
          <p:cNvSpPr/>
          <p:nvPr/>
        </p:nvSpPr>
        <p:spPr>
          <a:xfrm>
            <a:off x="548640" y="4910328"/>
            <a:ext cx="11091672" cy="438912"/>
          </a:xfrm>
          <a:prstGeom prst="roundRect">
            <a:avLst>
              <a:gd name="adj" fmla="val 16667"/>
            </a:avLst>
          </a:prstGeom>
          <a:solidFill>
            <a:srgbClr val="FFFFFF"/>
          </a:solidFill>
          <a:ln w="12700">
            <a:solidFill>
              <a:srgbClr val="FFFFFF"/>
            </a:solidFill>
            <a:prstDash val="solid"/>
          </a:ln>
        </p:spPr>
      </p:sp>
      <p:sp>
        <p:nvSpPr>
          <p:cNvPr id="27" name="Text 24"/>
          <p:cNvSpPr txBox="1"/>
          <p:nvPr/>
        </p:nvSpPr>
        <p:spPr>
          <a:xfrm>
            <a:off x="731520" y="4910328"/>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100BASE-TX</a:t>
            </a:r>
            <a:endParaRPr lang="en-US" sz="1500" dirty="0"/>
          </a:p>
        </p:txBody>
      </p:sp>
      <p:sp>
        <p:nvSpPr>
          <p:cNvPr id="28" name="Text 25"/>
          <p:cNvSpPr txBox="1"/>
          <p:nvPr/>
        </p:nvSpPr>
        <p:spPr>
          <a:xfrm>
            <a:off x="3566160" y="4910328"/>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100Mbps · 베이스밴드 · 꼬임선 · 최대 100m</a:t>
            </a:r>
            <a:endParaRPr lang="en-US" sz="1500" dirty="0"/>
          </a:p>
        </p:txBody>
      </p:sp>
      <p:sp>
        <p:nvSpPr>
          <p:cNvPr id="29" name="Shape 26"/>
          <p:cNvSpPr/>
          <p:nvPr/>
        </p:nvSpPr>
        <p:spPr>
          <a:xfrm>
            <a:off x="548640" y="5422392"/>
            <a:ext cx="11091672" cy="438912"/>
          </a:xfrm>
          <a:prstGeom prst="roundRect">
            <a:avLst>
              <a:gd name="adj" fmla="val 16667"/>
            </a:avLst>
          </a:prstGeom>
          <a:solidFill>
            <a:srgbClr val="F4F6F7"/>
          </a:solidFill>
          <a:ln w="12700">
            <a:solidFill>
              <a:srgbClr val="F4F6F7"/>
            </a:solidFill>
            <a:prstDash val="solid"/>
          </a:ln>
        </p:spPr>
      </p:sp>
      <p:sp>
        <p:nvSpPr>
          <p:cNvPr id="30" name="Text 27"/>
          <p:cNvSpPr txBox="1"/>
          <p:nvPr/>
        </p:nvSpPr>
        <p:spPr>
          <a:xfrm>
            <a:off x="731520" y="5422392"/>
            <a:ext cx="2743200" cy="438912"/>
          </a:xfrm>
          <a:prstGeom prst="rect">
            <a:avLst/>
          </a:prstGeom>
          <a:noFill/>
          <a:ln/>
        </p:spPr>
        <p:txBody>
          <a:bodyPr wrap="square" lIns="0" tIns="0" rIns="0" bIns="0" rtlCol="0" anchor="ctr"/>
          <a:lstStyle/>
          <a:p>
            <a:pPr indent="0" marL="0">
              <a:buNone/>
            </a:pPr>
            <a:r>
              <a:rPr lang="en-US" sz="1500" b="1" dirty="0">
                <a:solidFill>
                  <a:srgbClr val="0E6E7A"/>
                </a:solidFill>
                <a:latin typeface="맑은 고딕" pitchFamily="34" charset="0"/>
                <a:ea typeface="맑은 고딕" pitchFamily="34" charset="-122"/>
                <a:cs typeface="맑은 고딕" pitchFamily="34" charset="-120"/>
              </a:rPr>
              <a:t>관문국</a:t>
            </a:r>
            <a:endParaRPr lang="en-US" sz="1500" dirty="0"/>
          </a:p>
        </p:txBody>
      </p:sp>
      <p:sp>
        <p:nvSpPr>
          <p:cNvPr id="31" name="Text 28"/>
          <p:cNvSpPr txBox="1"/>
          <p:nvPr/>
        </p:nvSpPr>
        <p:spPr>
          <a:xfrm>
            <a:off x="3566160" y="5422392"/>
            <a:ext cx="7955280" cy="438912"/>
          </a:xfrm>
          <a:prstGeom prst="rect">
            <a:avLst/>
          </a:prstGeom>
          <a:noFill/>
          <a:ln/>
        </p:spPr>
        <p:txBody>
          <a:bodyPr wrap="square" lIns="0" tIns="0" rIns="0" bIns="0" rtlCol="0" anchor="ctr"/>
          <a:lstStyle/>
          <a:p>
            <a:pPr indent="0" marL="0">
              <a:buNone/>
            </a:pPr>
            <a:r>
              <a:rPr lang="en-US" sz="1500" dirty="0">
                <a:solidFill>
                  <a:srgbClr val="1E2A30"/>
                </a:solidFill>
                <a:latin typeface="맑은 고딕" pitchFamily="34" charset="0"/>
                <a:ea typeface="맑은 고딕" pitchFamily="34" charset="-122"/>
                <a:cs typeface="맑은 고딕" pitchFamily="34" charset="-120"/>
              </a:rPr>
              <a:t>해저 케이블 99% 이상 · 위성 1% 미만</a:t>
            </a:r>
            <a:endParaRPr lang="en-US" sz="15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778240" cy="777240"/>
          </a:xfrm>
          <a:prstGeom prst="rect">
            <a:avLst/>
          </a:prstGeom>
          <a:noFill/>
          <a:ln/>
        </p:spPr>
        <p:txBody>
          <a:bodyPr wrap="square" lIns="0" tIns="0" rIns="0" bIns="0" rtlCol="0" anchor="ctr"/>
          <a:lstStyle/>
          <a:p>
            <a:pPr algn="l" indent="0" marL="0">
              <a:buNone/>
            </a:pPr>
            <a:r>
              <a:rPr lang="en-US" sz="2800" b="1" dirty="0">
                <a:solidFill>
                  <a:srgbClr val="1E2A30"/>
                </a:solidFill>
                <a:latin typeface="맑은 고딕" pitchFamily="34" charset="0"/>
                <a:ea typeface="맑은 고딕" pitchFamily="34" charset="-122"/>
                <a:cs typeface="맑은 고딕" pitchFamily="34" charset="-120"/>
              </a:rPr>
              <a:t>핵심 암기 노트 (2) — 짝으로 외우기</a:t>
            </a:r>
            <a:endParaRPr lang="en-US" sz="2800" dirty="0"/>
          </a:p>
        </p:txBody>
      </p:sp>
      <p:sp>
        <p:nvSpPr>
          <p:cNvPr id="3" name="Text 0"/>
          <p:cNvSpPr/>
          <p:nvPr>
            <p:ph idx="101" type="body" hasCustomPrompt="1"/>
          </p:nvPr>
        </p:nvSpPr>
        <p:spPr>
          <a:xfrm>
            <a:off x="9418320" y="457200"/>
            <a:ext cx="2240280" cy="457200"/>
          </a:xfrm>
          <a:prstGeom prst="rect">
            <a:avLst/>
          </a:prstGeom>
          <a:noFill/>
          <a:ln/>
        </p:spPr>
        <p:txBody>
          <a:bodyPr wrap="square" lIns="0" tIns="0" rIns="0" bIns="0" rtlCol="0" anchor="ctr"/>
          <a:lstStyle/>
          <a:p>
            <a:pPr algn="r" indent="0" marL="0">
              <a:buNone/>
            </a:pPr>
            <a:r>
              <a:rPr lang="en-US" sz="1100" b="1" dirty="0">
                <a:solidFill>
                  <a:srgbClr val="0E6E7A"/>
                </a:solidFill>
                <a:latin typeface="맑은 고딕" pitchFamily="34" charset="0"/>
                <a:ea typeface="맑은 고딕" pitchFamily="34" charset="-122"/>
                <a:cs typeface="맑은 고딕" pitchFamily="34" charset="-120"/>
              </a:rPr>
              <a:t>정리</a:t>
            </a:r>
            <a:endParaRPr lang="en-US" sz="1100" dirty="0"/>
          </a:p>
        </p:txBody>
      </p:sp>
      <p:sp>
        <p:nvSpPr>
          <p:cNvPr id="5" name="Shape 2"/>
          <p:cNvSpPr/>
          <p:nvPr/>
        </p:nvSpPr>
        <p:spPr>
          <a:xfrm>
            <a:off x="548640" y="1325880"/>
            <a:ext cx="11091672" cy="402336"/>
          </a:xfrm>
          <a:prstGeom prst="roundRect">
            <a:avLst>
              <a:gd name="adj" fmla="val 18182"/>
            </a:avLst>
          </a:prstGeom>
          <a:solidFill>
            <a:srgbClr val="F4F6F7"/>
          </a:solidFill>
          <a:ln w="12700">
            <a:solidFill>
              <a:srgbClr val="F4F6F7"/>
            </a:solidFill>
            <a:prstDash val="solid"/>
          </a:ln>
        </p:spPr>
      </p:sp>
      <p:sp>
        <p:nvSpPr>
          <p:cNvPr id="6" name="Text 3"/>
          <p:cNvSpPr txBox="1"/>
          <p:nvPr/>
        </p:nvSpPr>
        <p:spPr>
          <a:xfrm>
            <a:off x="731520" y="1325880"/>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OSI 아래부터</a:t>
            </a:r>
            <a:endParaRPr lang="en-US" sz="1400" dirty="0"/>
          </a:p>
        </p:txBody>
      </p:sp>
      <p:sp>
        <p:nvSpPr>
          <p:cNvPr id="7" name="Text 4"/>
          <p:cNvSpPr txBox="1"/>
          <p:nvPr/>
        </p:nvSpPr>
        <p:spPr>
          <a:xfrm>
            <a:off x="4297680" y="1325880"/>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물 · 데 · 네 · 전 · 세 · 표 · 응</a:t>
            </a:r>
            <a:endParaRPr lang="en-US" sz="1400" dirty="0"/>
          </a:p>
        </p:txBody>
      </p:sp>
      <p:sp>
        <p:nvSpPr>
          <p:cNvPr id="8" name="Shape 5"/>
          <p:cNvSpPr/>
          <p:nvPr/>
        </p:nvSpPr>
        <p:spPr>
          <a:xfrm>
            <a:off x="548640" y="1787652"/>
            <a:ext cx="11091672" cy="402336"/>
          </a:xfrm>
          <a:prstGeom prst="roundRect">
            <a:avLst>
              <a:gd name="adj" fmla="val 18182"/>
            </a:avLst>
          </a:prstGeom>
          <a:solidFill>
            <a:srgbClr val="FFFFFF"/>
          </a:solidFill>
          <a:ln w="12700">
            <a:solidFill>
              <a:srgbClr val="FFFFFF"/>
            </a:solidFill>
            <a:prstDash val="solid"/>
          </a:ln>
        </p:spPr>
      </p:sp>
      <p:sp>
        <p:nvSpPr>
          <p:cNvPr id="9" name="Text 6"/>
          <p:cNvSpPr txBox="1"/>
          <p:nvPr/>
        </p:nvSpPr>
        <p:spPr>
          <a:xfrm>
            <a:off x="731520" y="1787652"/>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PDU</a:t>
            </a:r>
            <a:endParaRPr lang="en-US" sz="1400" dirty="0"/>
          </a:p>
        </p:txBody>
      </p:sp>
      <p:sp>
        <p:nvSpPr>
          <p:cNvPr id="10" name="Text 7"/>
          <p:cNvSpPr txBox="1"/>
          <p:nvPr/>
        </p:nvSpPr>
        <p:spPr>
          <a:xfrm>
            <a:off x="4297680" y="1787652"/>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L4 세그먼트 · L3 패킷 · L2 프레임 · L1 비트</a:t>
            </a:r>
            <a:endParaRPr lang="en-US" sz="1400" dirty="0"/>
          </a:p>
        </p:txBody>
      </p:sp>
      <p:sp>
        <p:nvSpPr>
          <p:cNvPr id="11" name="Shape 8"/>
          <p:cNvSpPr/>
          <p:nvPr/>
        </p:nvSpPr>
        <p:spPr>
          <a:xfrm>
            <a:off x="548640" y="2249424"/>
            <a:ext cx="11091672" cy="402336"/>
          </a:xfrm>
          <a:prstGeom prst="roundRect">
            <a:avLst>
              <a:gd name="adj" fmla="val 18182"/>
            </a:avLst>
          </a:prstGeom>
          <a:solidFill>
            <a:srgbClr val="F4F6F7"/>
          </a:solidFill>
          <a:ln w="12700">
            <a:solidFill>
              <a:srgbClr val="F4F6F7"/>
            </a:solidFill>
            <a:prstDash val="solid"/>
          </a:ln>
        </p:spPr>
      </p:sp>
      <p:sp>
        <p:nvSpPr>
          <p:cNvPr id="12" name="Text 9"/>
          <p:cNvSpPr txBox="1"/>
          <p:nvPr/>
        </p:nvSpPr>
        <p:spPr>
          <a:xfrm>
            <a:off x="731520" y="2249424"/>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허브 / 스위치</a:t>
            </a:r>
            <a:endParaRPr lang="en-US" sz="1400" dirty="0"/>
          </a:p>
        </p:txBody>
      </p:sp>
      <p:sp>
        <p:nvSpPr>
          <p:cNvPr id="13" name="Text 10"/>
          <p:cNvSpPr txBox="1"/>
          <p:nvPr/>
        </p:nvSpPr>
        <p:spPr>
          <a:xfrm>
            <a:off x="4297680" y="2249424"/>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L1 · 충돌 영역 1개  /  L2 · 충돌 영역 = 포트 수</a:t>
            </a:r>
            <a:endParaRPr lang="en-US" sz="1400" dirty="0"/>
          </a:p>
        </p:txBody>
      </p:sp>
      <p:sp>
        <p:nvSpPr>
          <p:cNvPr id="14" name="Shape 11"/>
          <p:cNvSpPr/>
          <p:nvPr/>
        </p:nvSpPr>
        <p:spPr>
          <a:xfrm>
            <a:off x="548640" y="2711196"/>
            <a:ext cx="11091672" cy="402336"/>
          </a:xfrm>
          <a:prstGeom prst="roundRect">
            <a:avLst>
              <a:gd name="adj" fmla="val 18182"/>
            </a:avLst>
          </a:prstGeom>
          <a:solidFill>
            <a:srgbClr val="FFFFFF"/>
          </a:solidFill>
          <a:ln w="12700">
            <a:solidFill>
              <a:srgbClr val="FFFFFF"/>
            </a:solidFill>
            <a:prstDash val="solid"/>
          </a:ln>
        </p:spPr>
      </p:sp>
      <p:sp>
        <p:nvSpPr>
          <p:cNvPr id="15" name="Text 12"/>
          <p:cNvSpPr txBox="1"/>
          <p:nvPr/>
        </p:nvSpPr>
        <p:spPr>
          <a:xfrm>
            <a:off x="731520" y="2711196"/>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모뎀 / DSU</a:t>
            </a:r>
            <a:endParaRPr lang="en-US" sz="1400" dirty="0"/>
          </a:p>
        </p:txBody>
      </p:sp>
      <p:sp>
        <p:nvSpPr>
          <p:cNvPr id="16" name="Text 13"/>
          <p:cNvSpPr txBox="1"/>
          <p:nvPr/>
        </p:nvSpPr>
        <p:spPr>
          <a:xfrm>
            <a:off x="4297680" y="2711196"/>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아날로그 전송로  /  디지털 전송로</a:t>
            </a:r>
            <a:endParaRPr lang="en-US" sz="1400" dirty="0"/>
          </a:p>
        </p:txBody>
      </p:sp>
      <p:sp>
        <p:nvSpPr>
          <p:cNvPr id="17" name="Shape 14"/>
          <p:cNvSpPr/>
          <p:nvPr/>
        </p:nvSpPr>
        <p:spPr>
          <a:xfrm>
            <a:off x="548640" y="3172968"/>
            <a:ext cx="11091672" cy="402336"/>
          </a:xfrm>
          <a:prstGeom prst="roundRect">
            <a:avLst>
              <a:gd name="adj" fmla="val 18182"/>
            </a:avLst>
          </a:prstGeom>
          <a:solidFill>
            <a:srgbClr val="F4F6F7"/>
          </a:solidFill>
          <a:ln w="12700">
            <a:solidFill>
              <a:srgbClr val="F4F6F7"/>
            </a:solidFill>
            <a:prstDash val="solid"/>
          </a:ln>
        </p:spPr>
      </p:sp>
      <p:sp>
        <p:nvSpPr>
          <p:cNvPr id="18" name="Text 15"/>
          <p:cNvSpPr txBox="1"/>
          <p:nvPr/>
        </p:nvSpPr>
        <p:spPr>
          <a:xfrm>
            <a:off x="731520" y="3172968"/>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라우터 / L4 스위치</a:t>
            </a:r>
            <a:endParaRPr lang="en-US" sz="1400" dirty="0"/>
          </a:p>
        </p:txBody>
      </p:sp>
      <p:sp>
        <p:nvSpPr>
          <p:cNvPr id="19" name="Text 16"/>
          <p:cNvSpPr txBox="1"/>
          <p:nvPr/>
        </p:nvSpPr>
        <p:spPr>
          <a:xfrm>
            <a:off x="4297680" y="3172968"/>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브로드캐스트 영역 분리  /  로드밸런싱</a:t>
            </a:r>
            <a:endParaRPr lang="en-US" sz="1400" dirty="0"/>
          </a:p>
        </p:txBody>
      </p:sp>
      <p:sp>
        <p:nvSpPr>
          <p:cNvPr id="20" name="Shape 17"/>
          <p:cNvSpPr/>
          <p:nvPr/>
        </p:nvSpPr>
        <p:spPr>
          <a:xfrm>
            <a:off x="548640" y="3634740"/>
            <a:ext cx="11091672" cy="402336"/>
          </a:xfrm>
          <a:prstGeom prst="roundRect">
            <a:avLst>
              <a:gd name="adj" fmla="val 18182"/>
            </a:avLst>
          </a:prstGeom>
          <a:solidFill>
            <a:srgbClr val="FFFFFF"/>
          </a:solidFill>
          <a:ln w="12700">
            <a:solidFill>
              <a:srgbClr val="FFFFFF"/>
            </a:solidFill>
            <a:prstDash val="solid"/>
          </a:ln>
        </p:spPr>
      </p:sp>
      <p:sp>
        <p:nvSpPr>
          <p:cNvPr id="21" name="Text 18"/>
          <p:cNvSpPr txBox="1"/>
          <p:nvPr/>
        </p:nvSpPr>
        <p:spPr>
          <a:xfrm>
            <a:off x="731520" y="3634740"/>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다이렉트 / 크로스 / 롤오버</a:t>
            </a:r>
            <a:endParaRPr lang="en-US" sz="1400" dirty="0"/>
          </a:p>
        </p:txBody>
      </p:sp>
      <p:sp>
        <p:nvSpPr>
          <p:cNvPr id="22" name="Text 19"/>
          <p:cNvSpPr txBox="1"/>
          <p:nvPr/>
        </p:nvSpPr>
        <p:spPr>
          <a:xfrm>
            <a:off x="4297680" y="3634740"/>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다른 장비  /  같은 장비  /  콘솔</a:t>
            </a:r>
            <a:endParaRPr lang="en-US" sz="1400" dirty="0"/>
          </a:p>
        </p:txBody>
      </p:sp>
      <p:sp>
        <p:nvSpPr>
          <p:cNvPr id="23" name="Shape 20"/>
          <p:cNvSpPr/>
          <p:nvPr/>
        </p:nvSpPr>
        <p:spPr>
          <a:xfrm>
            <a:off x="548640" y="4096512"/>
            <a:ext cx="11091672" cy="402336"/>
          </a:xfrm>
          <a:prstGeom prst="roundRect">
            <a:avLst>
              <a:gd name="adj" fmla="val 18182"/>
            </a:avLst>
          </a:prstGeom>
          <a:solidFill>
            <a:srgbClr val="F4F6F7"/>
          </a:solidFill>
          <a:ln w="12700">
            <a:solidFill>
              <a:srgbClr val="F4F6F7"/>
            </a:solidFill>
            <a:prstDash val="solid"/>
          </a:ln>
        </p:spPr>
      </p:sp>
      <p:sp>
        <p:nvSpPr>
          <p:cNvPr id="24" name="Text 21"/>
          <p:cNvSpPr txBox="1"/>
          <p:nvPr/>
        </p:nvSpPr>
        <p:spPr>
          <a:xfrm>
            <a:off x="731520" y="4096512"/>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정적 / 동적 라우팅</a:t>
            </a:r>
            <a:endParaRPr lang="en-US" sz="1400" dirty="0"/>
          </a:p>
        </p:txBody>
      </p:sp>
      <p:sp>
        <p:nvSpPr>
          <p:cNvPr id="25" name="Text 22"/>
          <p:cNvSpPr txBox="1"/>
          <p:nvPr/>
        </p:nvSpPr>
        <p:spPr>
          <a:xfrm>
            <a:off x="4297680" y="4096512"/>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관리자 입력  /  라우팅 프로토콜 자동</a:t>
            </a:r>
            <a:endParaRPr lang="en-US" sz="1400" dirty="0"/>
          </a:p>
        </p:txBody>
      </p:sp>
      <p:sp>
        <p:nvSpPr>
          <p:cNvPr id="26" name="Shape 23"/>
          <p:cNvSpPr/>
          <p:nvPr/>
        </p:nvSpPr>
        <p:spPr>
          <a:xfrm>
            <a:off x="548640" y="4558284"/>
            <a:ext cx="11091672" cy="402336"/>
          </a:xfrm>
          <a:prstGeom prst="roundRect">
            <a:avLst>
              <a:gd name="adj" fmla="val 18182"/>
            </a:avLst>
          </a:prstGeom>
          <a:solidFill>
            <a:srgbClr val="FFFFFF"/>
          </a:solidFill>
          <a:ln w="12700">
            <a:solidFill>
              <a:srgbClr val="FFFFFF"/>
            </a:solidFill>
            <a:prstDash val="solid"/>
          </a:ln>
        </p:spPr>
      </p:sp>
      <p:sp>
        <p:nvSpPr>
          <p:cNvPr id="27" name="Text 24"/>
          <p:cNvSpPr txBox="1"/>
          <p:nvPr/>
        </p:nvSpPr>
        <p:spPr>
          <a:xfrm>
            <a:off x="731520" y="4558284"/>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화이트 / 블랙리스트</a:t>
            </a:r>
            <a:endParaRPr lang="en-US" sz="1400" dirty="0"/>
          </a:p>
        </p:txBody>
      </p:sp>
      <p:sp>
        <p:nvSpPr>
          <p:cNvPr id="28" name="Text 25"/>
          <p:cNvSpPr txBox="1"/>
          <p:nvPr/>
        </p:nvSpPr>
        <p:spPr>
          <a:xfrm>
            <a:off x="4297680" y="4558284"/>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허용 목록만 통과  /  차단 목록만 차단</a:t>
            </a:r>
            <a:endParaRPr lang="en-US" sz="1400" dirty="0"/>
          </a:p>
        </p:txBody>
      </p:sp>
      <p:sp>
        <p:nvSpPr>
          <p:cNvPr id="29" name="Shape 26"/>
          <p:cNvSpPr/>
          <p:nvPr/>
        </p:nvSpPr>
        <p:spPr>
          <a:xfrm>
            <a:off x="548640" y="5020056"/>
            <a:ext cx="11091672" cy="402336"/>
          </a:xfrm>
          <a:prstGeom prst="roundRect">
            <a:avLst>
              <a:gd name="adj" fmla="val 18182"/>
            </a:avLst>
          </a:prstGeom>
          <a:solidFill>
            <a:srgbClr val="F4F6F7"/>
          </a:solidFill>
          <a:ln w="12700">
            <a:solidFill>
              <a:srgbClr val="F4F6F7"/>
            </a:solidFill>
            <a:prstDash val="solid"/>
          </a:ln>
        </p:spPr>
      </p:sp>
      <p:sp>
        <p:nvSpPr>
          <p:cNvPr id="30" name="Text 27"/>
          <p:cNvSpPr txBox="1"/>
          <p:nvPr/>
        </p:nvSpPr>
        <p:spPr>
          <a:xfrm>
            <a:off x="731520" y="5020056"/>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SNAT / DNAT</a:t>
            </a:r>
            <a:endParaRPr lang="en-US" sz="1400" dirty="0"/>
          </a:p>
        </p:txBody>
      </p:sp>
      <p:sp>
        <p:nvSpPr>
          <p:cNvPr id="31" name="Text 28"/>
          <p:cNvSpPr txBox="1"/>
          <p:nvPr/>
        </p:nvSpPr>
        <p:spPr>
          <a:xfrm>
            <a:off x="4297680" y="5020056"/>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출발지 변환(나갈 때)  /  목적지 변환(들어올 때, 포트포워딩)</a:t>
            </a:r>
            <a:endParaRPr lang="en-US" sz="1400" dirty="0"/>
          </a:p>
        </p:txBody>
      </p:sp>
      <p:sp>
        <p:nvSpPr>
          <p:cNvPr id="32" name="Shape 29"/>
          <p:cNvSpPr/>
          <p:nvPr/>
        </p:nvSpPr>
        <p:spPr>
          <a:xfrm>
            <a:off x="548640" y="5481828"/>
            <a:ext cx="11091672" cy="402336"/>
          </a:xfrm>
          <a:prstGeom prst="roundRect">
            <a:avLst>
              <a:gd name="adj" fmla="val 18182"/>
            </a:avLst>
          </a:prstGeom>
          <a:solidFill>
            <a:srgbClr val="FFFFFF"/>
          </a:solidFill>
          <a:ln w="12700">
            <a:solidFill>
              <a:srgbClr val="FFFFFF"/>
            </a:solidFill>
            <a:prstDash val="solid"/>
          </a:ln>
        </p:spPr>
      </p:sp>
      <p:sp>
        <p:nvSpPr>
          <p:cNvPr id="33" name="Text 30"/>
          <p:cNvSpPr txBox="1"/>
          <p:nvPr/>
        </p:nvSpPr>
        <p:spPr>
          <a:xfrm>
            <a:off x="731520" y="5481828"/>
            <a:ext cx="3474720" cy="402336"/>
          </a:xfrm>
          <a:prstGeom prst="rect">
            <a:avLst/>
          </a:prstGeom>
          <a:noFill/>
          <a:ln/>
        </p:spPr>
        <p:txBody>
          <a:bodyPr wrap="square" lIns="0" tIns="0" rIns="0" bIns="0" rtlCol="0" anchor="ctr"/>
          <a:lstStyle/>
          <a:p>
            <a:pPr indent="0" marL="0">
              <a:buNone/>
            </a:pPr>
            <a:r>
              <a:rPr lang="en-US" sz="1400" b="1" dirty="0">
                <a:solidFill>
                  <a:srgbClr val="0E6E7A"/>
                </a:solidFill>
                <a:latin typeface="맑은 고딕" pitchFamily="34" charset="0"/>
                <a:ea typeface="맑은 고딕" pitchFamily="34" charset="-122"/>
                <a:cs typeface="맑은 고딕" pitchFamily="34" charset="-120"/>
              </a:rPr>
              <a:t>IDS / IPS</a:t>
            </a:r>
            <a:endParaRPr lang="en-US" sz="1400" dirty="0"/>
          </a:p>
        </p:txBody>
      </p:sp>
      <p:sp>
        <p:nvSpPr>
          <p:cNvPr id="34" name="Text 31"/>
          <p:cNvSpPr txBox="1"/>
          <p:nvPr/>
        </p:nvSpPr>
        <p:spPr>
          <a:xfrm>
            <a:off x="4297680" y="5481828"/>
            <a:ext cx="7223760" cy="402336"/>
          </a:xfrm>
          <a:prstGeom prst="rect">
            <a:avLst/>
          </a:prstGeom>
          <a:noFill/>
          <a:ln/>
        </p:spPr>
        <p:txBody>
          <a:bodyPr wrap="square" lIns="0" tIns="0" rIns="0" bIns="0" rtlCol="0" anchor="ctr"/>
          <a:lstStyle/>
          <a:p>
            <a:pPr indent="0" marL="0">
              <a:buNone/>
            </a:pPr>
            <a:r>
              <a:rPr lang="en-US" sz="1400" dirty="0">
                <a:solidFill>
                  <a:srgbClr val="1E2A30"/>
                </a:solidFill>
                <a:latin typeface="맑은 고딕" pitchFamily="34" charset="0"/>
                <a:ea typeface="맑은 고딕" pitchFamily="34" charset="-122"/>
                <a:cs typeface="맑은 고딕" pitchFamily="34" charset="-120"/>
              </a:rPr>
              <a:t>탐지만  /  탐지 + 차단</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6737C"/>
                </a:solidFill>
                <a:latin typeface="맑은 고딕"/>
                <a:ea typeface="맑은 고딕"/>
                <a:cs typeface="맑은 고딕"/>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188720"/>
          </a:xfrm>
          <a:prstGeom prst="rect">
            <a:avLst/>
          </a:prstGeom>
          <a:noFill/>
          <a:ln/>
        </p:spPr>
        <p:txBody>
          <a:bodyPr wrap="square" lIns="0" tIns="0" rIns="0" bIns="0" rtlCol="0" anchor="b"/>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정리와 다음 단계</a:t>
            </a:r>
            <a:endParaRPr lang="en-US" sz="4400" dirty="0"/>
          </a:p>
        </p:txBody>
      </p:sp>
      <p:sp>
        <p:nvSpPr>
          <p:cNvPr id="3" name="Text 0"/>
          <p:cNvSpPr/>
          <p:nvPr>
            <p:ph idx="101" type="body" hasCustomPrompt="1"/>
          </p:nvPr>
        </p:nvSpPr>
        <p:spPr>
          <a:xfrm>
            <a:off x="731520" y="3383280"/>
            <a:ext cx="10698480" cy="1463040"/>
          </a:xfrm>
          <a:prstGeom prst="rect">
            <a:avLst/>
          </a:prstGeom>
          <a:noFill/>
          <a:ln/>
        </p:spPr>
        <p:txBody>
          <a:bodyPr wrap="square" lIns="0" tIns="0" rIns="0" bIns="0" rtlCol="0" anchor="t"/>
          <a:lstStyle/>
          <a:p>
            <a:pPr indent="0" marL="0">
              <a:buNone/>
            </a:pPr>
            <a:r>
              <a:rPr lang="en-US" sz="1800" dirty="0">
                <a:solidFill>
                  <a:srgbClr val="CFE3E5"/>
                </a:solidFill>
                <a:latin typeface="맑은 고딕" pitchFamily="34" charset="0"/>
                <a:ea typeface="맑은 고딕" pitchFamily="34" charset="-122"/>
                <a:cs typeface="맑은 고딕" pitchFamily="34" charset="-120"/>
              </a:rPr>
              <a:t>네트워크 = 연결(토폴로지·매체·장비) + 약속(프로토콜·계층) + 주소(IP·MAC·도메인)</a:t>
            </a:r>
            <a:endParaRPr lang="en-US" sz="1800" dirty="0"/>
          </a:p>
          <a:p>
            <a:pPr indent="0" marL="0">
              <a:buNone/>
            </a:pPr>
            <a:r>
              <a:rPr lang="en-US" sz="1500" dirty="0">
                <a:solidFill>
                  <a:srgbClr val="9CC4C8"/>
                </a:solidFill>
                <a:latin typeface="맑은 고딕" pitchFamily="34" charset="0"/>
                <a:ea typeface="맑은 고딕" pitchFamily="34" charset="-122"/>
                <a:cs typeface="맑은 고딕" pitchFamily="34" charset="-120"/>
              </a:rPr>
              <a:t>다음 단계: 기출문제 풀이 → 틀린 부분 수험서 반복 읽기</a:t>
            </a:r>
            <a:endParaRPr lang="en-US" sz="1800" dirty="0"/>
          </a:p>
        </p:txBody>
      </p:sp>
    </p:spTree>
  </p:cSld>
  <p:clrMapOvr>
    <a:masterClrMapping/>
  </p:clrMapOvr>
</p:sld>
</file>

<file path=ppt/theme/theme1.xml><?xml version="1.0" encoding="utf-8"?>
<a:theme xmlns:a="http://schemas.openxmlformats.org/drawingml/2006/main" name="Network Basics">
  <a:themeElements>
    <a:clrScheme name="Network Basics">
      <a:dk1>
        <a:srgbClr val="1E2A30"/>
      </a:dk1>
      <a:lt1>
        <a:srgbClr val="FFFFFF"/>
      </a:lt1>
      <a:dk2>
        <a:srgbClr val="123A40"/>
      </a:dk2>
      <a:lt2>
        <a:srgbClr val="F4F6F7"/>
      </a:lt2>
      <a:accent1>
        <a:srgbClr val="0E6E7A"/>
      </a:accent1>
      <a:accent2>
        <a:srgbClr val="4A8F98"/>
      </a:accent2>
      <a:accent3>
        <a:srgbClr val="7FB2B8"/>
      </a:accent3>
      <a:accent4>
        <a:srgbClr val="66737C"/>
      </a:accent4>
      <a:accent5>
        <a:srgbClr val="9AA5AD"/>
      </a:accent5>
      <a:accent6>
        <a:srgbClr val="B8D4D7"/>
      </a:accent6>
      <a:hlink>
        <a:srgbClr val="0E6E7A"/>
      </a:hlink>
      <a:folHlink>
        <a:srgbClr val="4A8F98"/>
      </a:folHlink>
    </a:clrScheme>
    <a:fontScheme name="Network Basics">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네트워크 기초 이론</dc:title>
  <dc:subject>PptxGenJS Presentation</dc:subject>
  <dc:creator>Peridot</dc:creator>
  <cp:lastModifiedBy>Peridot</cp:lastModifiedBy>
  <cp:revision>1</cp:revision>
  <dcterms:created xsi:type="dcterms:W3CDTF">2026-10-12T14:11:41Z</dcterms:created>
  <dcterms:modified xsi:type="dcterms:W3CDTF">2026-10-12T14:11:41Z</dcterms:modified>
</cp:coreProperties>
</file>